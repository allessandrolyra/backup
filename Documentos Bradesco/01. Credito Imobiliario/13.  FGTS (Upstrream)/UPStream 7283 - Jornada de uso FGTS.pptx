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2" r:id="rId2"/>
    <p:sldId id="258" r:id="rId3"/>
    <p:sldId id="263" r:id="rId4"/>
    <p:sldId id="260" r:id="rId5"/>
    <p:sldId id="261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68" autoAdjust="0"/>
    <p:restoredTop sz="94660"/>
  </p:normalViewPr>
  <p:slideViewPr>
    <p:cSldViewPr snapToGrid="0">
      <p:cViewPr varScale="1">
        <p:scale>
          <a:sx n="88" d="100"/>
          <a:sy n="88" d="100"/>
        </p:scale>
        <p:origin x="24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AA7F4D-EC72-4E4F-904E-3F91321F6C79}" type="datetimeFigureOut">
              <a:rPr lang="pt-BR" smtClean="0"/>
              <a:t>17/04/2025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EDBC22-D9C3-47EC-B9A8-5DC2D992F2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7837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29E9A-FD1A-9D40-B596-0E8C8B4E631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882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6AF81-B973-4C21-8316-264275AE0AA9}" type="datetimeFigureOut">
              <a:rPr lang="pt-BR" smtClean="0"/>
              <a:t>17/04/2025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2A6C8-2F98-4FA0-A42A-E77C4A8A36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7818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6AF81-B973-4C21-8316-264275AE0AA9}" type="datetimeFigureOut">
              <a:rPr lang="pt-BR" smtClean="0"/>
              <a:t>17/04/2025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2A6C8-2F98-4FA0-A42A-E77C4A8A36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1861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6AF81-B973-4C21-8316-264275AE0AA9}" type="datetimeFigureOut">
              <a:rPr lang="pt-BR" smtClean="0"/>
              <a:t>17/04/2025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2A6C8-2F98-4FA0-A42A-E77C4A8A36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1742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6AF81-B973-4C21-8316-264275AE0AA9}" type="datetimeFigureOut">
              <a:rPr lang="pt-BR" smtClean="0"/>
              <a:t>17/04/2025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2A6C8-2F98-4FA0-A42A-E77C4A8A36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36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6AF81-B973-4C21-8316-264275AE0AA9}" type="datetimeFigureOut">
              <a:rPr lang="pt-BR" smtClean="0"/>
              <a:t>17/04/2025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2A6C8-2F98-4FA0-A42A-E77C4A8A36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2526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6AF81-B973-4C21-8316-264275AE0AA9}" type="datetimeFigureOut">
              <a:rPr lang="pt-BR" smtClean="0"/>
              <a:t>17/04/2025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2A6C8-2F98-4FA0-A42A-E77C4A8A36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9575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6AF81-B973-4C21-8316-264275AE0AA9}" type="datetimeFigureOut">
              <a:rPr lang="pt-BR" smtClean="0"/>
              <a:t>17/04/2025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2A6C8-2F98-4FA0-A42A-E77C4A8A36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4565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6AF81-B973-4C21-8316-264275AE0AA9}" type="datetimeFigureOut">
              <a:rPr lang="pt-BR" smtClean="0"/>
              <a:t>17/04/2025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2A6C8-2F98-4FA0-A42A-E77C4A8A36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5004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6AF81-B973-4C21-8316-264275AE0AA9}" type="datetimeFigureOut">
              <a:rPr lang="pt-BR" smtClean="0"/>
              <a:t>17/04/2025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2A6C8-2F98-4FA0-A42A-E77C4A8A36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5898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6AF81-B973-4C21-8316-264275AE0AA9}" type="datetimeFigureOut">
              <a:rPr lang="pt-BR" smtClean="0"/>
              <a:t>17/04/2025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2A6C8-2F98-4FA0-A42A-E77C4A8A36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4346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6AF81-B973-4C21-8316-264275AE0AA9}" type="datetimeFigureOut">
              <a:rPr lang="pt-BR" smtClean="0"/>
              <a:t>17/04/2025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2A6C8-2F98-4FA0-A42A-E77C4A8A36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45386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ra | INST | M1 TEM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6248EAB0-840E-504E-AE78-BE87B9C9527F}"/>
              </a:ext>
            </a:extLst>
          </p:cNvPr>
          <p:cNvSpPr/>
          <p:nvPr userDrawn="1"/>
        </p:nvSpPr>
        <p:spPr>
          <a:xfrm rot="10800000">
            <a:off x="-1" y="0"/>
            <a:ext cx="12192001" cy="865882"/>
          </a:xfrm>
          <a:prstGeom prst="rect">
            <a:avLst/>
          </a:prstGeom>
          <a:gradFill>
            <a:gsLst>
              <a:gs pos="65000">
                <a:srgbClr val="CC092F"/>
              </a:gs>
              <a:gs pos="40000">
                <a:srgbClr val="CC092F"/>
              </a:gs>
              <a:gs pos="0">
                <a:srgbClr val="CC092F"/>
              </a:gs>
              <a:gs pos="90000">
                <a:srgbClr val="B81570"/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50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6D5660D9-3346-4337-A3B4-74E7625F9979}"/>
              </a:ext>
            </a:extLst>
          </p:cNvPr>
          <p:cNvCxnSpPr>
            <a:cxnSpLocks/>
          </p:cNvCxnSpPr>
          <p:nvPr userDrawn="1"/>
        </p:nvCxnSpPr>
        <p:spPr>
          <a:xfrm flipV="1">
            <a:off x="-24420" y="227362"/>
            <a:ext cx="902353" cy="657479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m 3">
            <a:extLst>
              <a:ext uri="{FF2B5EF4-FFF2-40B4-BE49-F238E27FC236}">
                <a16:creationId xmlns:a16="http://schemas.microsoft.com/office/drawing/2014/main" id="{82AC81B2-2FE1-4408-BA7F-A4DFF6B5C3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6371" y="175281"/>
            <a:ext cx="1574480" cy="510931"/>
          </a:xfrm>
          <a:prstGeom prst="rect">
            <a:avLst/>
          </a:prstGeom>
        </p:spPr>
      </p:pic>
      <p:sp>
        <p:nvSpPr>
          <p:cNvPr id="7" name="Triângulo Retângulo 6">
            <a:extLst>
              <a:ext uri="{FF2B5EF4-FFF2-40B4-BE49-F238E27FC236}">
                <a16:creationId xmlns:a16="http://schemas.microsoft.com/office/drawing/2014/main" id="{A9EF8BA8-BB71-40E9-BE51-B32E81019447}"/>
              </a:ext>
            </a:extLst>
          </p:cNvPr>
          <p:cNvSpPr/>
          <p:nvPr userDrawn="1"/>
        </p:nvSpPr>
        <p:spPr>
          <a:xfrm rot="16200000">
            <a:off x="11292285" y="5958284"/>
            <a:ext cx="759217" cy="1040215"/>
          </a:xfrm>
          <a:prstGeom prst="rtTriangle">
            <a:avLst/>
          </a:prstGeom>
          <a:gradFill>
            <a:gsLst>
              <a:gs pos="80000">
                <a:srgbClr val="BE175A"/>
              </a:gs>
              <a:gs pos="99000">
                <a:srgbClr val="B81570"/>
              </a:gs>
              <a:gs pos="40000">
                <a:srgbClr val="CC092F"/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50"/>
          </a:p>
        </p:txBody>
      </p:sp>
    </p:spTree>
    <p:extLst>
      <p:ext uri="{BB962C8B-B14F-4D97-AF65-F5344CB8AC3E}">
        <p14:creationId xmlns:p14="http://schemas.microsoft.com/office/powerpoint/2010/main" val="3888481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06AF81-B973-4C21-8316-264275AE0AA9}" type="datetimeFigureOut">
              <a:rPr lang="pt-BR" smtClean="0"/>
              <a:t>17/04/2025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32A6C8-2F98-4FA0-A42A-E77C4A8A36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1839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tângulo 69">
            <a:extLst>
              <a:ext uri="{FF2B5EF4-FFF2-40B4-BE49-F238E27FC236}">
                <a16:creationId xmlns:a16="http://schemas.microsoft.com/office/drawing/2014/main" id="{C1B94A0D-AA1E-70C7-CEF8-9F4233037279}"/>
              </a:ext>
            </a:extLst>
          </p:cNvPr>
          <p:cNvSpPr/>
          <p:nvPr/>
        </p:nvSpPr>
        <p:spPr>
          <a:xfrm>
            <a:off x="490471" y="4068283"/>
            <a:ext cx="11701530" cy="1336690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0">
              <a:defRPr/>
            </a:pPr>
            <a:endParaRPr lang="pt-BR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1" name="Retângulo 70">
            <a:extLst>
              <a:ext uri="{FF2B5EF4-FFF2-40B4-BE49-F238E27FC236}">
                <a16:creationId xmlns:a16="http://schemas.microsoft.com/office/drawing/2014/main" id="{8F984C03-F959-E09B-956D-97983140032F}"/>
              </a:ext>
            </a:extLst>
          </p:cNvPr>
          <p:cNvSpPr/>
          <p:nvPr/>
        </p:nvSpPr>
        <p:spPr>
          <a:xfrm>
            <a:off x="481506" y="2298010"/>
            <a:ext cx="11710495" cy="848869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0">
              <a:defRPr/>
            </a:pPr>
            <a:endParaRPr lang="pt-BR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2" name="Retângulo: Cantos Arredondados 71">
            <a:extLst>
              <a:ext uri="{FF2B5EF4-FFF2-40B4-BE49-F238E27FC236}">
                <a16:creationId xmlns:a16="http://schemas.microsoft.com/office/drawing/2014/main" id="{94E1A23C-F5A8-8066-853F-4CFC8A57ABBC}"/>
              </a:ext>
            </a:extLst>
          </p:cNvPr>
          <p:cNvSpPr/>
          <p:nvPr/>
        </p:nvSpPr>
        <p:spPr>
          <a:xfrm>
            <a:off x="910193" y="1779878"/>
            <a:ext cx="535291" cy="280100"/>
          </a:xfrm>
          <a:prstGeom prst="round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0">
              <a:defRPr/>
            </a:pPr>
            <a:r>
              <a:rPr lang="pt-BR" sz="800" b="1" kern="0" dirty="0">
                <a:solidFill>
                  <a:prstClr val="white"/>
                </a:solidFill>
              </a:rPr>
              <a:t>INÍCIO</a:t>
            </a:r>
          </a:p>
        </p:txBody>
      </p:sp>
      <p:sp>
        <p:nvSpPr>
          <p:cNvPr id="73" name="Retângulo 72">
            <a:extLst>
              <a:ext uri="{FF2B5EF4-FFF2-40B4-BE49-F238E27FC236}">
                <a16:creationId xmlns:a16="http://schemas.microsoft.com/office/drawing/2014/main" id="{82F15380-C688-257E-2DAD-BC0C6FC8B7BC}"/>
              </a:ext>
            </a:extLst>
          </p:cNvPr>
          <p:cNvSpPr/>
          <p:nvPr/>
        </p:nvSpPr>
        <p:spPr>
          <a:xfrm>
            <a:off x="1758640" y="1685957"/>
            <a:ext cx="1151849" cy="467939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0">
              <a:defRPr/>
            </a:pPr>
            <a:r>
              <a:rPr lang="pt-BR" sz="800" kern="0" dirty="0">
                <a:solidFill>
                  <a:prstClr val="black"/>
                </a:solidFill>
              </a:rPr>
              <a:t>Procura o Bradesco para uso do FGTS na Amortização</a:t>
            </a:r>
          </a:p>
        </p:txBody>
      </p:sp>
      <p:sp>
        <p:nvSpPr>
          <p:cNvPr id="76" name="Retângulo 75">
            <a:extLst>
              <a:ext uri="{FF2B5EF4-FFF2-40B4-BE49-F238E27FC236}">
                <a16:creationId xmlns:a16="http://schemas.microsoft.com/office/drawing/2014/main" id="{B686FB9C-844B-1690-3243-B8BDDD964381}"/>
              </a:ext>
            </a:extLst>
          </p:cNvPr>
          <p:cNvSpPr/>
          <p:nvPr/>
        </p:nvSpPr>
        <p:spPr>
          <a:xfrm rot="16200000">
            <a:off x="211329" y="2572730"/>
            <a:ext cx="899883" cy="25196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0">
              <a:defRPr/>
            </a:pPr>
            <a:r>
              <a:rPr lang="pt-BR" sz="900" b="1" kern="0" dirty="0">
                <a:solidFill>
                  <a:prstClr val="black"/>
                </a:solidFill>
              </a:rPr>
              <a:t>GERENTE</a:t>
            </a:r>
          </a:p>
        </p:txBody>
      </p:sp>
      <p:sp>
        <p:nvSpPr>
          <p:cNvPr id="77" name="Retângulo 76">
            <a:extLst>
              <a:ext uri="{FF2B5EF4-FFF2-40B4-BE49-F238E27FC236}">
                <a16:creationId xmlns:a16="http://schemas.microsoft.com/office/drawing/2014/main" id="{7E417311-E7F9-5236-D3A3-05C0C1A7083F}"/>
              </a:ext>
            </a:extLst>
          </p:cNvPr>
          <p:cNvSpPr/>
          <p:nvPr/>
        </p:nvSpPr>
        <p:spPr>
          <a:xfrm rot="16200000">
            <a:off x="225727" y="3479489"/>
            <a:ext cx="871086" cy="25196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0">
              <a:defRPr/>
            </a:pPr>
            <a:r>
              <a:rPr lang="pt-BR" sz="900" b="1" kern="0" dirty="0">
                <a:solidFill>
                  <a:prstClr val="black"/>
                </a:solidFill>
              </a:rPr>
              <a:t>OPERAÇÕES</a:t>
            </a:r>
          </a:p>
        </p:txBody>
      </p:sp>
      <p:sp>
        <p:nvSpPr>
          <p:cNvPr id="78" name="Retângulo 77">
            <a:extLst>
              <a:ext uri="{FF2B5EF4-FFF2-40B4-BE49-F238E27FC236}">
                <a16:creationId xmlns:a16="http://schemas.microsoft.com/office/drawing/2014/main" id="{1374F089-5296-9CC8-99F4-60D0E9B126CA}"/>
              </a:ext>
            </a:extLst>
          </p:cNvPr>
          <p:cNvSpPr/>
          <p:nvPr/>
        </p:nvSpPr>
        <p:spPr>
          <a:xfrm rot="16200000">
            <a:off x="301318" y="4549261"/>
            <a:ext cx="719906" cy="25196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0">
              <a:defRPr/>
            </a:pPr>
            <a:r>
              <a:rPr lang="pt-BR" sz="900" b="1" kern="0" dirty="0">
                <a:solidFill>
                  <a:prstClr val="black"/>
                </a:solidFill>
              </a:rPr>
              <a:t>BPO</a:t>
            </a:r>
          </a:p>
        </p:txBody>
      </p:sp>
      <p:sp>
        <p:nvSpPr>
          <p:cNvPr id="79" name="Retângulo 78">
            <a:extLst>
              <a:ext uri="{FF2B5EF4-FFF2-40B4-BE49-F238E27FC236}">
                <a16:creationId xmlns:a16="http://schemas.microsoft.com/office/drawing/2014/main" id="{7637D864-57A4-C975-6FC8-AF1E18912DF3}"/>
              </a:ext>
            </a:extLst>
          </p:cNvPr>
          <p:cNvSpPr/>
          <p:nvPr/>
        </p:nvSpPr>
        <p:spPr>
          <a:xfrm>
            <a:off x="1790012" y="4516317"/>
            <a:ext cx="1100152" cy="431944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0">
              <a:defRPr/>
            </a:pPr>
            <a:r>
              <a:rPr lang="pt-BR" sz="800" kern="0" dirty="0">
                <a:solidFill>
                  <a:prstClr val="black"/>
                </a:solidFill>
              </a:rPr>
              <a:t>Recebe documentação por </a:t>
            </a:r>
            <a:r>
              <a:rPr lang="pt-BR" sz="800" kern="0" dirty="0" err="1">
                <a:solidFill>
                  <a:prstClr val="black"/>
                </a:solidFill>
              </a:rPr>
              <a:t>email</a:t>
            </a:r>
            <a:endParaRPr lang="pt-BR" sz="800" kern="0" dirty="0">
              <a:solidFill>
                <a:prstClr val="black"/>
              </a:solidFill>
            </a:endParaRPr>
          </a:p>
        </p:txBody>
      </p:sp>
      <p:cxnSp>
        <p:nvCxnSpPr>
          <p:cNvPr id="80" name="Conector de Seta Reta 79">
            <a:extLst>
              <a:ext uri="{FF2B5EF4-FFF2-40B4-BE49-F238E27FC236}">
                <a16:creationId xmlns:a16="http://schemas.microsoft.com/office/drawing/2014/main" id="{5BBB5EAA-DF79-8838-E82F-0EB3549127CF}"/>
              </a:ext>
            </a:extLst>
          </p:cNvPr>
          <p:cNvCxnSpPr>
            <a:cxnSpLocks/>
            <a:stCxn id="72" idx="3"/>
            <a:endCxn id="73" idx="1"/>
          </p:cNvCxnSpPr>
          <p:nvPr/>
        </p:nvCxnSpPr>
        <p:spPr>
          <a:xfrm>
            <a:off x="1445484" y="1919927"/>
            <a:ext cx="313156" cy="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86" name="Retângulo 85">
            <a:extLst>
              <a:ext uri="{FF2B5EF4-FFF2-40B4-BE49-F238E27FC236}">
                <a16:creationId xmlns:a16="http://schemas.microsoft.com/office/drawing/2014/main" id="{4A88C15B-D2E7-518F-74DA-CD44BA52CD08}"/>
              </a:ext>
            </a:extLst>
          </p:cNvPr>
          <p:cNvSpPr/>
          <p:nvPr/>
        </p:nvSpPr>
        <p:spPr>
          <a:xfrm>
            <a:off x="1925297" y="3634141"/>
            <a:ext cx="821725" cy="35697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0">
              <a:defRPr/>
            </a:pPr>
            <a:r>
              <a:rPr lang="pt-BR" sz="800" b="1" kern="0" dirty="0">
                <a:solidFill>
                  <a:prstClr val="white">
                    <a:lumMod val="95000"/>
                  </a:prstClr>
                </a:solidFill>
              </a:rPr>
              <a:t>SE correto?</a:t>
            </a:r>
          </a:p>
        </p:txBody>
      </p:sp>
      <p:sp>
        <p:nvSpPr>
          <p:cNvPr id="89" name="Retângulo 88">
            <a:extLst>
              <a:ext uri="{FF2B5EF4-FFF2-40B4-BE49-F238E27FC236}">
                <a16:creationId xmlns:a16="http://schemas.microsoft.com/office/drawing/2014/main" id="{ABD23081-6991-C038-64E7-6131D006AB68}"/>
              </a:ext>
            </a:extLst>
          </p:cNvPr>
          <p:cNvSpPr/>
          <p:nvPr/>
        </p:nvSpPr>
        <p:spPr>
          <a:xfrm>
            <a:off x="1758640" y="2596136"/>
            <a:ext cx="1151849" cy="431944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0">
              <a:defRPr/>
            </a:pPr>
            <a:r>
              <a:rPr lang="pt-BR" sz="800" kern="0" dirty="0">
                <a:solidFill>
                  <a:prstClr val="black"/>
                </a:solidFill>
              </a:rPr>
              <a:t>Entendo qual tipo de Amortização e baixa formulário</a:t>
            </a:r>
          </a:p>
        </p:txBody>
      </p:sp>
      <p:cxnSp>
        <p:nvCxnSpPr>
          <p:cNvPr id="99" name="Conector de Seta Reta 21">
            <a:extLst>
              <a:ext uri="{FF2B5EF4-FFF2-40B4-BE49-F238E27FC236}">
                <a16:creationId xmlns:a16="http://schemas.microsoft.com/office/drawing/2014/main" id="{45F9E1C9-9C6F-E2C2-97EF-55DD4F53E90A}"/>
              </a:ext>
            </a:extLst>
          </p:cNvPr>
          <p:cNvCxnSpPr>
            <a:cxnSpLocks/>
            <a:stCxn id="89" idx="3"/>
            <a:endCxn id="142" idx="1"/>
          </p:cNvCxnSpPr>
          <p:nvPr/>
        </p:nvCxnSpPr>
        <p:spPr>
          <a:xfrm>
            <a:off x="2910488" y="2812108"/>
            <a:ext cx="383520" cy="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23" name="Retângulo 122">
            <a:extLst>
              <a:ext uri="{FF2B5EF4-FFF2-40B4-BE49-F238E27FC236}">
                <a16:creationId xmlns:a16="http://schemas.microsoft.com/office/drawing/2014/main" id="{88131A68-EA17-D63D-598B-ADE0415AA89E}"/>
              </a:ext>
            </a:extLst>
          </p:cNvPr>
          <p:cNvSpPr/>
          <p:nvPr/>
        </p:nvSpPr>
        <p:spPr>
          <a:xfrm rot="16200000">
            <a:off x="301318" y="1796347"/>
            <a:ext cx="719906" cy="25196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0">
              <a:defRPr/>
            </a:pPr>
            <a:r>
              <a:rPr lang="pt-BR" sz="900" b="1" kern="0" dirty="0">
                <a:solidFill>
                  <a:prstClr val="black"/>
                </a:solidFill>
              </a:rPr>
              <a:t>CLIENTE</a:t>
            </a:r>
          </a:p>
        </p:txBody>
      </p:sp>
      <p:cxnSp>
        <p:nvCxnSpPr>
          <p:cNvPr id="131" name="Conector de Seta Reta 130">
            <a:extLst>
              <a:ext uri="{FF2B5EF4-FFF2-40B4-BE49-F238E27FC236}">
                <a16:creationId xmlns:a16="http://schemas.microsoft.com/office/drawing/2014/main" id="{7D5B895B-C357-4FB8-234B-736E40570B78}"/>
              </a:ext>
            </a:extLst>
          </p:cNvPr>
          <p:cNvCxnSpPr>
            <a:cxnSpLocks/>
            <a:stCxn id="73" idx="2"/>
            <a:endCxn id="89" idx="0"/>
          </p:cNvCxnSpPr>
          <p:nvPr/>
        </p:nvCxnSpPr>
        <p:spPr>
          <a:xfrm>
            <a:off x="2334564" y="2153897"/>
            <a:ext cx="0" cy="44224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36" name="Retângulo 135">
            <a:extLst>
              <a:ext uri="{FF2B5EF4-FFF2-40B4-BE49-F238E27FC236}">
                <a16:creationId xmlns:a16="http://schemas.microsoft.com/office/drawing/2014/main" id="{A5D9D816-B45F-A4F6-9EBD-2E2BB455D365}"/>
              </a:ext>
            </a:extLst>
          </p:cNvPr>
          <p:cNvSpPr/>
          <p:nvPr/>
        </p:nvSpPr>
        <p:spPr>
          <a:xfrm rot="16200000">
            <a:off x="225727" y="5774758"/>
            <a:ext cx="871086" cy="25196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0">
              <a:defRPr/>
            </a:pPr>
            <a:r>
              <a:rPr lang="pt-BR" sz="900" b="1" kern="0" dirty="0">
                <a:solidFill>
                  <a:prstClr val="black"/>
                </a:solidFill>
              </a:rPr>
              <a:t>CEF</a:t>
            </a:r>
          </a:p>
        </p:txBody>
      </p:sp>
      <p:sp>
        <p:nvSpPr>
          <p:cNvPr id="142" name="Retângulo 141">
            <a:extLst>
              <a:ext uri="{FF2B5EF4-FFF2-40B4-BE49-F238E27FC236}">
                <a16:creationId xmlns:a16="http://schemas.microsoft.com/office/drawing/2014/main" id="{9F38D41E-BDE7-E9E9-A66A-48A032C5956C}"/>
              </a:ext>
            </a:extLst>
          </p:cNvPr>
          <p:cNvSpPr/>
          <p:nvPr/>
        </p:nvSpPr>
        <p:spPr>
          <a:xfrm>
            <a:off x="3294009" y="2596136"/>
            <a:ext cx="1151849" cy="431944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0">
              <a:defRPr/>
            </a:pPr>
            <a:r>
              <a:rPr lang="pt-BR" sz="800" kern="0" dirty="0">
                <a:solidFill>
                  <a:prstClr val="black"/>
                </a:solidFill>
              </a:rPr>
              <a:t>Preenche  formulário com cliente e solicita documentação</a:t>
            </a:r>
          </a:p>
        </p:txBody>
      </p:sp>
      <p:sp>
        <p:nvSpPr>
          <p:cNvPr id="143" name="Retângulo 142">
            <a:extLst>
              <a:ext uri="{FF2B5EF4-FFF2-40B4-BE49-F238E27FC236}">
                <a16:creationId xmlns:a16="http://schemas.microsoft.com/office/drawing/2014/main" id="{62E239DF-0C8C-EB93-3C81-224090860354}"/>
              </a:ext>
            </a:extLst>
          </p:cNvPr>
          <p:cNvSpPr/>
          <p:nvPr/>
        </p:nvSpPr>
        <p:spPr>
          <a:xfrm>
            <a:off x="3314426" y="1665453"/>
            <a:ext cx="1118250" cy="431944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0">
              <a:defRPr/>
            </a:pPr>
            <a:r>
              <a:rPr lang="pt-BR" sz="800" kern="0" dirty="0">
                <a:solidFill>
                  <a:prstClr val="black"/>
                </a:solidFill>
              </a:rPr>
              <a:t>Cliente envia documentação* para o gerente</a:t>
            </a:r>
          </a:p>
        </p:txBody>
      </p:sp>
      <p:cxnSp>
        <p:nvCxnSpPr>
          <p:cNvPr id="146" name="Conector de Seta Reta 21">
            <a:extLst>
              <a:ext uri="{FF2B5EF4-FFF2-40B4-BE49-F238E27FC236}">
                <a16:creationId xmlns:a16="http://schemas.microsoft.com/office/drawing/2014/main" id="{AA9BCED6-53B9-686C-B04B-A3375CD13255}"/>
              </a:ext>
            </a:extLst>
          </p:cNvPr>
          <p:cNvCxnSpPr>
            <a:cxnSpLocks/>
            <a:stCxn id="142" idx="0"/>
            <a:endCxn id="143" idx="2"/>
          </p:cNvCxnSpPr>
          <p:nvPr/>
        </p:nvCxnSpPr>
        <p:spPr>
          <a:xfrm flipV="1">
            <a:off x="3869934" y="2097398"/>
            <a:ext cx="3618" cy="498739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51" name="Retângulo 150">
            <a:extLst>
              <a:ext uri="{FF2B5EF4-FFF2-40B4-BE49-F238E27FC236}">
                <a16:creationId xmlns:a16="http://schemas.microsoft.com/office/drawing/2014/main" id="{72A64882-C299-8E45-62AA-0835B956AA02}"/>
              </a:ext>
            </a:extLst>
          </p:cNvPr>
          <p:cNvSpPr/>
          <p:nvPr/>
        </p:nvSpPr>
        <p:spPr>
          <a:xfrm>
            <a:off x="4567502" y="2596136"/>
            <a:ext cx="1151849" cy="431944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0">
              <a:defRPr/>
            </a:pPr>
            <a:r>
              <a:rPr lang="pt-BR" sz="800" kern="0" dirty="0">
                <a:solidFill>
                  <a:prstClr val="black"/>
                </a:solidFill>
              </a:rPr>
              <a:t>Preenche solicitação no Portal ON (SE) e anexa documentos</a:t>
            </a:r>
          </a:p>
        </p:txBody>
      </p:sp>
      <p:cxnSp>
        <p:nvCxnSpPr>
          <p:cNvPr id="153" name="Conector angulado 2074">
            <a:extLst>
              <a:ext uri="{FF2B5EF4-FFF2-40B4-BE49-F238E27FC236}">
                <a16:creationId xmlns:a16="http://schemas.microsoft.com/office/drawing/2014/main" id="{86A65780-30D9-2C5D-5B51-742274A0A4ED}"/>
              </a:ext>
            </a:extLst>
          </p:cNvPr>
          <p:cNvCxnSpPr>
            <a:cxnSpLocks/>
            <a:stCxn id="143" idx="3"/>
            <a:endCxn id="151" idx="0"/>
          </p:cNvCxnSpPr>
          <p:nvPr/>
        </p:nvCxnSpPr>
        <p:spPr>
          <a:xfrm>
            <a:off x="4432677" y="1881426"/>
            <a:ext cx="710750" cy="714711"/>
          </a:xfrm>
          <a:prstGeom prst="bentConnector2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57" name="Conector angulado 2074">
            <a:extLst>
              <a:ext uri="{FF2B5EF4-FFF2-40B4-BE49-F238E27FC236}">
                <a16:creationId xmlns:a16="http://schemas.microsoft.com/office/drawing/2014/main" id="{88832F50-7A18-0DB8-492A-694254F4D917}"/>
              </a:ext>
            </a:extLst>
          </p:cNvPr>
          <p:cNvCxnSpPr>
            <a:cxnSpLocks/>
            <a:stCxn id="151" idx="2"/>
            <a:endCxn id="37" idx="0"/>
          </p:cNvCxnSpPr>
          <p:nvPr/>
        </p:nvCxnSpPr>
        <p:spPr>
          <a:xfrm rot="5400000">
            <a:off x="3517334" y="1850835"/>
            <a:ext cx="448848" cy="2803339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64" name="Retângulo 163">
            <a:extLst>
              <a:ext uri="{FF2B5EF4-FFF2-40B4-BE49-F238E27FC236}">
                <a16:creationId xmlns:a16="http://schemas.microsoft.com/office/drawing/2014/main" id="{78983DC7-9D45-7E43-E8F5-200E2E857C3B}"/>
              </a:ext>
            </a:extLst>
          </p:cNvPr>
          <p:cNvSpPr/>
          <p:nvPr/>
        </p:nvSpPr>
        <p:spPr>
          <a:xfrm>
            <a:off x="5607973" y="4893516"/>
            <a:ext cx="1210168" cy="431944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0">
              <a:defRPr/>
            </a:pPr>
            <a:r>
              <a:rPr lang="pt-BR" sz="800" kern="0" dirty="0">
                <a:solidFill>
                  <a:prstClr val="black"/>
                </a:solidFill>
              </a:rPr>
              <a:t>Abre ocorrência no CRIM ou SISCRED </a:t>
            </a:r>
          </a:p>
        </p:txBody>
      </p:sp>
      <p:sp>
        <p:nvSpPr>
          <p:cNvPr id="165" name="Fluxograma: Decisão 164">
            <a:extLst>
              <a:ext uri="{FF2B5EF4-FFF2-40B4-BE49-F238E27FC236}">
                <a16:creationId xmlns:a16="http://schemas.microsoft.com/office/drawing/2014/main" id="{B3DEF3B5-49DB-415A-1CF4-3775C22D7BE8}"/>
              </a:ext>
            </a:extLst>
          </p:cNvPr>
          <p:cNvSpPr/>
          <p:nvPr/>
        </p:nvSpPr>
        <p:spPr>
          <a:xfrm>
            <a:off x="3396243" y="4420360"/>
            <a:ext cx="899854" cy="624898"/>
          </a:xfrm>
          <a:prstGeom prst="flowChartDecision">
            <a:avLst/>
          </a:prstGeom>
          <a:solidFill>
            <a:srgbClr val="00206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0">
              <a:defRPr/>
            </a:pPr>
            <a:endParaRPr lang="pt-BR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6" name="Retângulo 165">
            <a:extLst>
              <a:ext uri="{FF2B5EF4-FFF2-40B4-BE49-F238E27FC236}">
                <a16:creationId xmlns:a16="http://schemas.microsoft.com/office/drawing/2014/main" id="{45EC20F4-F044-76A2-A753-38C1F7004AE8}"/>
              </a:ext>
            </a:extLst>
          </p:cNvPr>
          <p:cNvSpPr/>
          <p:nvPr/>
        </p:nvSpPr>
        <p:spPr>
          <a:xfrm>
            <a:off x="3435485" y="4573986"/>
            <a:ext cx="821725" cy="35697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0">
              <a:defRPr/>
            </a:pPr>
            <a:r>
              <a:rPr lang="pt-BR" sz="800" b="1" kern="0" dirty="0" err="1">
                <a:solidFill>
                  <a:prstClr val="white">
                    <a:lumMod val="95000"/>
                  </a:prstClr>
                </a:solidFill>
              </a:rPr>
              <a:t>Documenta-ção</a:t>
            </a:r>
            <a:r>
              <a:rPr lang="pt-BR" sz="800" b="1" kern="0" dirty="0">
                <a:solidFill>
                  <a:prstClr val="white">
                    <a:lumMod val="95000"/>
                  </a:prstClr>
                </a:solidFill>
              </a:rPr>
              <a:t> ok?</a:t>
            </a:r>
          </a:p>
        </p:txBody>
      </p:sp>
      <p:cxnSp>
        <p:nvCxnSpPr>
          <p:cNvPr id="167" name="Conector angulado 2074">
            <a:extLst>
              <a:ext uri="{FF2B5EF4-FFF2-40B4-BE49-F238E27FC236}">
                <a16:creationId xmlns:a16="http://schemas.microsoft.com/office/drawing/2014/main" id="{8BF7AE88-784F-0094-882C-E0D07F09AE9B}"/>
              </a:ext>
            </a:extLst>
          </p:cNvPr>
          <p:cNvCxnSpPr>
            <a:cxnSpLocks/>
            <a:stCxn id="165" idx="2"/>
            <a:endCxn id="164" idx="1"/>
          </p:cNvCxnSpPr>
          <p:nvPr/>
        </p:nvCxnSpPr>
        <p:spPr>
          <a:xfrm rot="16200000" flipH="1">
            <a:off x="4694956" y="4196471"/>
            <a:ext cx="64230" cy="1761804"/>
          </a:xfrm>
          <a:prstGeom prst="bentConnector2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0" name="Conector angulado 2074">
            <a:extLst>
              <a:ext uri="{FF2B5EF4-FFF2-40B4-BE49-F238E27FC236}">
                <a16:creationId xmlns:a16="http://schemas.microsoft.com/office/drawing/2014/main" id="{5C07F18A-A2FE-6CCF-AB71-118F2FBF96C6}"/>
              </a:ext>
            </a:extLst>
          </p:cNvPr>
          <p:cNvCxnSpPr>
            <a:cxnSpLocks/>
            <a:stCxn id="179" idx="0"/>
            <a:endCxn id="175" idx="2"/>
          </p:cNvCxnSpPr>
          <p:nvPr/>
        </p:nvCxnSpPr>
        <p:spPr>
          <a:xfrm rot="5400000" flipH="1" flipV="1">
            <a:off x="5697602" y="3527945"/>
            <a:ext cx="1216850" cy="217120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5" name="Retângulo 174">
            <a:extLst>
              <a:ext uri="{FF2B5EF4-FFF2-40B4-BE49-F238E27FC236}">
                <a16:creationId xmlns:a16="http://schemas.microsoft.com/office/drawing/2014/main" id="{7FFCECD2-D977-BC43-7CA0-72CEEC672896}"/>
              </a:ext>
            </a:extLst>
          </p:cNvPr>
          <p:cNvSpPr/>
          <p:nvPr/>
        </p:nvSpPr>
        <p:spPr>
          <a:xfrm>
            <a:off x="5838662" y="2596136"/>
            <a:ext cx="1151849" cy="431944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0">
              <a:defRPr/>
            </a:pPr>
            <a:r>
              <a:rPr lang="pt-BR" sz="800" kern="0" dirty="0">
                <a:solidFill>
                  <a:prstClr val="black"/>
                </a:solidFill>
              </a:rPr>
              <a:t>Solicita ao cliente pendência documentação</a:t>
            </a:r>
          </a:p>
        </p:txBody>
      </p:sp>
      <p:sp>
        <p:nvSpPr>
          <p:cNvPr id="178" name="Retângulo 177">
            <a:extLst>
              <a:ext uri="{FF2B5EF4-FFF2-40B4-BE49-F238E27FC236}">
                <a16:creationId xmlns:a16="http://schemas.microsoft.com/office/drawing/2014/main" id="{CE89B9A4-98D9-E77E-E76B-12ABFFEC4806}"/>
              </a:ext>
            </a:extLst>
          </p:cNvPr>
          <p:cNvSpPr/>
          <p:nvPr/>
        </p:nvSpPr>
        <p:spPr>
          <a:xfrm>
            <a:off x="4209571" y="4540424"/>
            <a:ext cx="400406" cy="18336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0">
              <a:defRPr/>
            </a:pPr>
            <a:r>
              <a:rPr lang="pt-BR" sz="800" kern="0" dirty="0">
                <a:solidFill>
                  <a:prstClr val="black"/>
                </a:solidFill>
              </a:rPr>
              <a:t>Não</a:t>
            </a:r>
          </a:p>
        </p:txBody>
      </p:sp>
      <p:sp>
        <p:nvSpPr>
          <p:cNvPr id="179" name="Retângulo 178">
            <a:extLst>
              <a:ext uri="{FF2B5EF4-FFF2-40B4-BE49-F238E27FC236}">
                <a16:creationId xmlns:a16="http://schemas.microsoft.com/office/drawing/2014/main" id="{BB980344-2C53-716E-2951-E1C341157553}"/>
              </a:ext>
            </a:extLst>
          </p:cNvPr>
          <p:cNvSpPr/>
          <p:nvPr/>
        </p:nvSpPr>
        <p:spPr>
          <a:xfrm>
            <a:off x="5621542" y="4244929"/>
            <a:ext cx="1151849" cy="431944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0">
              <a:defRPr/>
            </a:pPr>
            <a:r>
              <a:rPr lang="pt-BR" sz="800" kern="0" dirty="0">
                <a:solidFill>
                  <a:prstClr val="black"/>
                </a:solidFill>
              </a:rPr>
              <a:t>Envia e-mail gerente com pendência documentação</a:t>
            </a:r>
          </a:p>
        </p:txBody>
      </p:sp>
      <p:cxnSp>
        <p:nvCxnSpPr>
          <p:cNvPr id="181" name="Conector angulado 2074">
            <a:extLst>
              <a:ext uri="{FF2B5EF4-FFF2-40B4-BE49-F238E27FC236}">
                <a16:creationId xmlns:a16="http://schemas.microsoft.com/office/drawing/2014/main" id="{84D9F2AC-6DA1-422A-3A23-A4E025CFDBCC}"/>
              </a:ext>
            </a:extLst>
          </p:cNvPr>
          <p:cNvCxnSpPr>
            <a:cxnSpLocks/>
            <a:stCxn id="165" idx="3"/>
            <a:endCxn id="179" idx="1"/>
          </p:cNvCxnSpPr>
          <p:nvPr/>
        </p:nvCxnSpPr>
        <p:spPr>
          <a:xfrm flipV="1">
            <a:off x="4296097" y="4460902"/>
            <a:ext cx="1325445" cy="271908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2" name="Conector angulado 2074">
            <a:extLst>
              <a:ext uri="{FF2B5EF4-FFF2-40B4-BE49-F238E27FC236}">
                <a16:creationId xmlns:a16="http://schemas.microsoft.com/office/drawing/2014/main" id="{376F0034-17E9-E750-34BB-0629E93BF7F7}"/>
              </a:ext>
            </a:extLst>
          </p:cNvPr>
          <p:cNvCxnSpPr>
            <a:cxnSpLocks/>
            <a:stCxn id="175" idx="0"/>
            <a:endCxn id="143" idx="0"/>
          </p:cNvCxnSpPr>
          <p:nvPr/>
        </p:nvCxnSpPr>
        <p:spPr>
          <a:xfrm rot="16200000" flipV="1">
            <a:off x="4678728" y="860278"/>
            <a:ext cx="930683" cy="2541035"/>
          </a:xfrm>
          <a:prstGeom prst="bentConnector3">
            <a:avLst>
              <a:gd name="adj1" fmla="val 117055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95" name="Retângulo 194">
            <a:extLst>
              <a:ext uri="{FF2B5EF4-FFF2-40B4-BE49-F238E27FC236}">
                <a16:creationId xmlns:a16="http://schemas.microsoft.com/office/drawing/2014/main" id="{64D561BD-B96E-9BF0-300D-E7E71711A72C}"/>
              </a:ext>
            </a:extLst>
          </p:cNvPr>
          <p:cNvSpPr/>
          <p:nvPr/>
        </p:nvSpPr>
        <p:spPr>
          <a:xfrm>
            <a:off x="4037483" y="4919369"/>
            <a:ext cx="400406" cy="18336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0">
              <a:defRPr/>
            </a:pPr>
            <a:r>
              <a:rPr lang="pt-BR" sz="800" kern="0" dirty="0">
                <a:solidFill>
                  <a:prstClr val="black"/>
                </a:solidFill>
              </a:rPr>
              <a:t>Sim</a:t>
            </a:r>
          </a:p>
        </p:txBody>
      </p:sp>
      <p:sp>
        <p:nvSpPr>
          <p:cNvPr id="196" name="Retângulo 195">
            <a:extLst>
              <a:ext uri="{FF2B5EF4-FFF2-40B4-BE49-F238E27FC236}">
                <a16:creationId xmlns:a16="http://schemas.microsoft.com/office/drawing/2014/main" id="{71389E37-4815-8008-737B-42B5FF02BCA3}"/>
              </a:ext>
            </a:extLst>
          </p:cNvPr>
          <p:cNvSpPr/>
          <p:nvPr/>
        </p:nvSpPr>
        <p:spPr>
          <a:xfrm>
            <a:off x="7227518" y="3421680"/>
            <a:ext cx="1210168" cy="431944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0">
              <a:defRPr/>
            </a:pPr>
            <a:r>
              <a:rPr lang="pt-BR" sz="800" kern="0" dirty="0">
                <a:solidFill>
                  <a:prstClr val="black"/>
                </a:solidFill>
              </a:rPr>
              <a:t>Extrai arquivo no “Grande Porte” e sobe no “DAMP Eletrônico”</a:t>
            </a:r>
          </a:p>
        </p:txBody>
      </p:sp>
      <p:cxnSp>
        <p:nvCxnSpPr>
          <p:cNvPr id="197" name="Conector angulado 2074">
            <a:extLst>
              <a:ext uri="{FF2B5EF4-FFF2-40B4-BE49-F238E27FC236}">
                <a16:creationId xmlns:a16="http://schemas.microsoft.com/office/drawing/2014/main" id="{8720341E-AAAC-9298-F99F-527F5CCC606F}"/>
              </a:ext>
            </a:extLst>
          </p:cNvPr>
          <p:cNvCxnSpPr>
            <a:cxnSpLocks/>
            <a:stCxn id="164" idx="3"/>
            <a:endCxn id="196" idx="1"/>
          </p:cNvCxnSpPr>
          <p:nvPr/>
        </p:nvCxnSpPr>
        <p:spPr>
          <a:xfrm flipV="1">
            <a:off x="6818141" y="3637653"/>
            <a:ext cx="409377" cy="1471836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02" name="Fluxograma: Decisão 201">
            <a:extLst>
              <a:ext uri="{FF2B5EF4-FFF2-40B4-BE49-F238E27FC236}">
                <a16:creationId xmlns:a16="http://schemas.microsoft.com/office/drawing/2014/main" id="{3D682B5C-D2B9-B89E-4A17-7D4D9DEC64F1}"/>
              </a:ext>
            </a:extLst>
          </p:cNvPr>
          <p:cNvSpPr/>
          <p:nvPr/>
        </p:nvSpPr>
        <p:spPr>
          <a:xfrm>
            <a:off x="7540707" y="5403114"/>
            <a:ext cx="899854" cy="624898"/>
          </a:xfrm>
          <a:prstGeom prst="flowChartDecision">
            <a:avLst/>
          </a:prstGeom>
          <a:solidFill>
            <a:srgbClr val="00206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0">
              <a:defRPr/>
            </a:pPr>
            <a:endParaRPr lang="pt-BR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3" name="Retângulo 202">
            <a:extLst>
              <a:ext uri="{FF2B5EF4-FFF2-40B4-BE49-F238E27FC236}">
                <a16:creationId xmlns:a16="http://schemas.microsoft.com/office/drawing/2014/main" id="{7FDC2736-63D5-9177-D173-E456AEF5AE1F}"/>
              </a:ext>
            </a:extLst>
          </p:cNvPr>
          <p:cNvSpPr/>
          <p:nvPr/>
        </p:nvSpPr>
        <p:spPr>
          <a:xfrm>
            <a:off x="7579949" y="5556740"/>
            <a:ext cx="821725" cy="35697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0">
              <a:defRPr/>
            </a:pPr>
            <a:r>
              <a:rPr lang="pt-BR" sz="800" b="1" kern="0" dirty="0">
                <a:solidFill>
                  <a:prstClr val="white">
                    <a:lumMod val="95000"/>
                  </a:prstClr>
                </a:solidFill>
              </a:rPr>
              <a:t>Retorno CEF</a:t>
            </a:r>
          </a:p>
        </p:txBody>
      </p:sp>
      <p:cxnSp>
        <p:nvCxnSpPr>
          <p:cNvPr id="204" name="Conector de Seta Reta 203">
            <a:extLst>
              <a:ext uri="{FF2B5EF4-FFF2-40B4-BE49-F238E27FC236}">
                <a16:creationId xmlns:a16="http://schemas.microsoft.com/office/drawing/2014/main" id="{40B058C3-DB7A-57EE-5F27-54A36841F6A2}"/>
              </a:ext>
            </a:extLst>
          </p:cNvPr>
          <p:cNvCxnSpPr>
            <a:cxnSpLocks/>
            <a:stCxn id="196" idx="3"/>
            <a:endCxn id="45" idx="1"/>
          </p:cNvCxnSpPr>
          <p:nvPr/>
        </p:nvCxnSpPr>
        <p:spPr>
          <a:xfrm>
            <a:off x="8437686" y="3637652"/>
            <a:ext cx="275325" cy="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07" name="Retângulo 206">
            <a:extLst>
              <a:ext uri="{FF2B5EF4-FFF2-40B4-BE49-F238E27FC236}">
                <a16:creationId xmlns:a16="http://schemas.microsoft.com/office/drawing/2014/main" id="{5F1A95DB-9028-6EBF-E76E-132578B92F85}"/>
              </a:ext>
            </a:extLst>
          </p:cNvPr>
          <p:cNvSpPr/>
          <p:nvPr/>
        </p:nvSpPr>
        <p:spPr>
          <a:xfrm>
            <a:off x="10266379" y="6089738"/>
            <a:ext cx="751419" cy="431944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0">
              <a:defRPr/>
            </a:pPr>
            <a:r>
              <a:rPr lang="pt-BR" sz="800" kern="0" dirty="0">
                <a:solidFill>
                  <a:prstClr val="black"/>
                </a:solidFill>
              </a:rPr>
              <a:t>Efetua pagamento</a:t>
            </a:r>
          </a:p>
        </p:txBody>
      </p:sp>
      <p:sp>
        <p:nvSpPr>
          <p:cNvPr id="208" name="Retângulo 207">
            <a:extLst>
              <a:ext uri="{FF2B5EF4-FFF2-40B4-BE49-F238E27FC236}">
                <a16:creationId xmlns:a16="http://schemas.microsoft.com/office/drawing/2014/main" id="{848E2EA9-EB24-4FC2-561E-A7ADE4E79298}"/>
              </a:ext>
            </a:extLst>
          </p:cNvPr>
          <p:cNvSpPr/>
          <p:nvPr/>
        </p:nvSpPr>
        <p:spPr>
          <a:xfrm>
            <a:off x="9667866" y="4846005"/>
            <a:ext cx="1331185" cy="431944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0">
              <a:defRPr/>
            </a:pPr>
            <a:r>
              <a:rPr lang="pt-BR" sz="800" kern="0" dirty="0">
                <a:solidFill>
                  <a:prstClr val="black"/>
                </a:solidFill>
              </a:rPr>
              <a:t>Finaliza processo** via SE e CRIM ou SISCRED (DEF) e envia e-mail ao gerente</a:t>
            </a:r>
          </a:p>
        </p:txBody>
      </p:sp>
      <p:sp>
        <p:nvSpPr>
          <p:cNvPr id="209" name="Retângulo 208">
            <a:extLst>
              <a:ext uri="{FF2B5EF4-FFF2-40B4-BE49-F238E27FC236}">
                <a16:creationId xmlns:a16="http://schemas.microsoft.com/office/drawing/2014/main" id="{37D261FA-D33E-D939-A41D-E57C39CD6145}"/>
              </a:ext>
            </a:extLst>
          </p:cNvPr>
          <p:cNvSpPr/>
          <p:nvPr/>
        </p:nvSpPr>
        <p:spPr>
          <a:xfrm>
            <a:off x="8827778" y="5614036"/>
            <a:ext cx="1100152" cy="431944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0">
              <a:defRPr/>
            </a:pPr>
            <a:r>
              <a:rPr lang="pt-BR" sz="800" kern="0" dirty="0">
                <a:solidFill>
                  <a:prstClr val="black"/>
                </a:solidFill>
              </a:rPr>
              <a:t>Rejeita e não efetua o pagamento</a:t>
            </a:r>
          </a:p>
        </p:txBody>
      </p:sp>
      <p:cxnSp>
        <p:nvCxnSpPr>
          <p:cNvPr id="210" name="Conector angulado 2074">
            <a:extLst>
              <a:ext uri="{FF2B5EF4-FFF2-40B4-BE49-F238E27FC236}">
                <a16:creationId xmlns:a16="http://schemas.microsoft.com/office/drawing/2014/main" id="{357D3A08-12E2-195B-C166-07ACD74B4E21}"/>
              </a:ext>
            </a:extLst>
          </p:cNvPr>
          <p:cNvCxnSpPr>
            <a:cxnSpLocks/>
            <a:stCxn id="202" idx="3"/>
            <a:endCxn id="209" idx="1"/>
          </p:cNvCxnSpPr>
          <p:nvPr/>
        </p:nvCxnSpPr>
        <p:spPr>
          <a:xfrm>
            <a:off x="8440561" y="5715563"/>
            <a:ext cx="387217" cy="114445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14" name="Fluxograma: Decisão 213">
            <a:extLst>
              <a:ext uri="{FF2B5EF4-FFF2-40B4-BE49-F238E27FC236}">
                <a16:creationId xmlns:a16="http://schemas.microsoft.com/office/drawing/2014/main" id="{29411E2D-F1AB-8D34-739F-4ECDF8063CF8}"/>
              </a:ext>
            </a:extLst>
          </p:cNvPr>
          <p:cNvSpPr/>
          <p:nvPr/>
        </p:nvSpPr>
        <p:spPr>
          <a:xfrm>
            <a:off x="8317620" y="4395268"/>
            <a:ext cx="899854" cy="624898"/>
          </a:xfrm>
          <a:prstGeom prst="flowChartDecision">
            <a:avLst/>
          </a:prstGeom>
          <a:solidFill>
            <a:srgbClr val="00206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0">
              <a:defRPr/>
            </a:pPr>
            <a:endParaRPr lang="pt-BR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5" name="Retângulo 214">
            <a:extLst>
              <a:ext uri="{FF2B5EF4-FFF2-40B4-BE49-F238E27FC236}">
                <a16:creationId xmlns:a16="http://schemas.microsoft.com/office/drawing/2014/main" id="{15C58AA4-D842-0C2A-1487-F203EC4ECCE3}"/>
              </a:ext>
            </a:extLst>
          </p:cNvPr>
          <p:cNvSpPr/>
          <p:nvPr/>
        </p:nvSpPr>
        <p:spPr>
          <a:xfrm>
            <a:off x="8356862" y="4548893"/>
            <a:ext cx="821725" cy="35697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0">
              <a:defRPr/>
            </a:pPr>
            <a:r>
              <a:rPr lang="pt-BR" sz="800" b="1" kern="0" dirty="0">
                <a:solidFill>
                  <a:prstClr val="white">
                    <a:lumMod val="95000"/>
                  </a:prstClr>
                </a:solidFill>
              </a:rPr>
              <a:t>É possível corrigir?</a:t>
            </a:r>
          </a:p>
        </p:txBody>
      </p:sp>
      <p:cxnSp>
        <p:nvCxnSpPr>
          <p:cNvPr id="216" name="Conector angulado 2074">
            <a:extLst>
              <a:ext uri="{FF2B5EF4-FFF2-40B4-BE49-F238E27FC236}">
                <a16:creationId xmlns:a16="http://schemas.microsoft.com/office/drawing/2014/main" id="{E146C7DB-A249-2BB3-FCE9-0408E2AC76F5}"/>
              </a:ext>
            </a:extLst>
          </p:cNvPr>
          <p:cNvCxnSpPr>
            <a:cxnSpLocks/>
            <a:stCxn id="209" idx="0"/>
            <a:endCxn id="214" idx="2"/>
          </p:cNvCxnSpPr>
          <p:nvPr/>
        </p:nvCxnSpPr>
        <p:spPr>
          <a:xfrm rot="16200000" flipV="1">
            <a:off x="8775766" y="5011948"/>
            <a:ext cx="593870" cy="610307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9" name="Conector angulado 2074">
            <a:extLst>
              <a:ext uri="{FF2B5EF4-FFF2-40B4-BE49-F238E27FC236}">
                <a16:creationId xmlns:a16="http://schemas.microsoft.com/office/drawing/2014/main" id="{ACD9CA0B-D867-7C1A-7F59-6C53D7CC13FB}"/>
              </a:ext>
            </a:extLst>
          </p:cNvPr>
          <p:cNvCxnSpPr>
            <a:cxnSpLocks/>
            <a:stCxn id="202" idx="2"/>
            <a:endCxn id="207" idx="1"/>
          </p:cNvCxnSpPr>
          <p:nvPr/>
        </p:nvCxnSpPr>
        <p:spPr>
          <a:xfrm rot="16200000" flipH="1">
            <a:off x="8989657" y="5028989"/>
            <a:ext cx="277698" cy="2275745"/>
          </a:xfrm>
          <a:prstGeom prst="bentConnector2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2" name="Conector angulado 2074">
            <a:extLst>
              <a:ext uri="{FF2B5EF4-FFF2-40B4-BE49-F238E27FC236}">
                <a16:creationId xmlns:a16="http://schemas.microsoft.com/office/drawing/2014/main" id="{60E6FC96-24C5-85B9-DC35-494EC1D5BFFD}"/>
              </a:ext>
            </a:extLst>
          </p:cNvPr>
          <p:cNvCxnSpPr>
            <a:cxnSpLocks/>
            <a:stCxn id="207" idx="3"/>
            <a:endCxn id="57" idx="3"/>
          </p:cNvCxnSpPr>
          <p:nvPr/>
        </p:nvCxnSpPr>
        <p:spPr>
          <a:xfrm flipV="1">
            <a:off x="11017797" y="3658941"/>
            <a:ext cx="861467" cy="2646770"/>
          </a:xfrm>
          <a:prstGeom prst="bentConnector3">
            <a:avLst>
              <a:gd name="adj1" fmla="val 118425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72A376A2-5470-F3BB-857B-A60A8A8B16B8}"/>
              </a:ext>
            </a:extLst>
          </p:cNvPr>
          <p:cNvSpPr/>
          <p:nvPr/>
        </p:nvSpPr>
        <p:spPr>
          <a:xfrm>
            <a:off x="8296597" y="5509580"/>
            <a:ext cx="484492" cy="18336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0">
              <a:defRPr/>
            </a:pPr>
            <a:r>
              <a:rPr lang="pt-BR" sz="800" kern="0" dirty="0">
                <a:solidFill>
                  <a:prstClr val="black"/>
                </a:solidFill>
              </a:rPr>
              <a:t>Rejeita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2839675-26F8-15CB-0A8C-ED1E92DB0F73}"/>
              </a:ext>
            </a:extLst>
          </p:cNvPr>
          <p:cNvSpPr/>
          <p:nvPr/>
        </p:nvSpPr>
        <p:spPr>
          <a:xfrm>
            <a:off x="9719241" y="4225461"/>
            <a:ext cx="1210168" cy="431944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0">
              <a:defRPr/>
            </a:pPr>
            <a:r>
              <a:rPr lang="pt-BR" sz="800" kern="0" dirty="0">
                <a:solidFill>
                  <a:prstClr val="black"/>
                </a:solidFill>
              </a:rPr>
              <a:t>Ajusta e reenvia a solicitação</a:t>
            </a:r>
          </a:p>
        </p:txBody>
      </p:sp>
      <p:cxnSp>
        <p:nvCxnSpPr>
          <p:cNvPr id="5" name="Conector angulado 2074">
            <a:extLst>
              <a:ext uri="{FF2B5EF4-FFF2-40B4-BE49-F238E27FC236}">
                <a16:creationId xmlns:a16="http://schemas.microsoft.com/office/drawing/2014/main" id="{D074184C-1AEF-4A73-73D2-719A83A5572E}"/>
              </a:ext>
            </a:extLst>
          </p:cNvPr>
          <p:cNvCxnSpPr>
            <a:cxnSpLocks/>
            <a:stCxn id="214" idx="0"/>
            <a:endCxn id="4" idx="1"/>
          </p:cNvCxnSpPr>
          <p:nvPr/>
        </p:nvCxnSpPr>
        <p:spPr>
          <a:xfrm rot="16200000" flipH="1">
            <a:off x="9220311" y="3942503"/>
            <a:ext cx="46165" cy="951694"/>
          </a:xfrm>
          <a:prstGeom prst="bentConnector4">
            <a:avLst>
              <a:gd name="adj1" fmla="val -343816"/>
              <a:gd name="adj2" fmla="val 73638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D3993B3E-56DA-7042-7BA8-8A22E434661B}"/>
              </a:ext>
            </a:extLst>
          </p:cNvPr>
          <p:cNvSpPr txBox="1">
            <a:spLocks/>
          </p:cNvSpPr>
          <p:nvPr/>
        </p:nvSpPr>
        <p:spPr>
          <a:xfrm>
            <a:off x="910193" y="229495"/>
            <a:ext cx="9486988" cy="549203"/>
          </a:xfrm>
          <a:prstGeom prst="rect">
            <a:avLst/>
          </a:prstGeom>
        </p:spPr>
        <p:txBody>
          <a:bodyPr vert="horz" lIns="91428" tIns="45714" rIns="91428" bIns="45714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Bradesco Sans SemiBold" pitchFamily="2" charset="77"/>
                <a:ea typeface="+mj-ea"/>
                <a:cs typeface="+mj-cs"/>
              </a:defRPr>
            </a:lvl1pPr>
          </a:lstStyle>
          <a:p>
            <a:pPr defTabSz="914210">
              <a:defRPr/>
            </a:pPr>
            <a:r>
              <a:rPr lang="pt-BR" sz="3199" dirty="0">
                <a:solidFill>
                  <a:schemeClr val="bg1"/>
                </a:solidFill>
              </a:rPr>
              <a:t>Principais Etapas do Fluxo Uso FGTS</a:t>
            </a:r>
            <a:endParaRPr lang="pt-BR" sz="2499" dirty="0">
              <a:solidFill>
                <a:schemeClr val="bg1"/>
              </a:solidFill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F1E5D54-8441-5AE5-8FD5-D3EC389CA5D0}"/>
              </a:ext>
            </a:extLst>
          </p:cNvPr>
          <p:cNvSpPr/>
          <p:nvPr/>
        </p:nvSpPr>
        <p:spPr>
          <a:xfrm>
            <a:off x="8007523" y="6119855"/>
            <a:ext cx="709345" cy="18336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914210">
              <a:defRPr/>
            </a:pPr>
            <a:r>
              <a:rPr lang="pt-BR" sz="800" kern="0" dirty="0">
                <a:solidFill>
                  <a:prstClr val="black"/>
                </a:solidFill>
              </a:rPr>
              <a:t>Aprovado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C94BE53-4113-CD23-F9B4-01178F7191D2}"/>
              </a:ext>
            </a:extLst>
          </p:cNvPr>
          <p:cNvSpPr/>
          <p:nvPr/>
        </p:nvSpPr>
        <p:spPr>
          <a:xfrm>
            <a:off x="8797100" y="4239786"/>
            <a:ext cx="400406" cy="18336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0">
              <a:defRPr/>
            </a:pPr>
            <a:r>
              <a:rPr lang="pt-BR" sz="800" kern="0" dirty="0">
                <a:solidFill>
                  <a:prstClr val="black"/>
                </a:solidFill>
              </a:rPr>
              <a:t>Sim</a:t>
            </a:r>
          </a:p>
        </p:txBody>
      </p:sp>
      <p:cxnSp>
        <p:nvCxnSpPr>
          <p:cNvPr id="13" name="Conector angulado 2074">
            <a:extLst>
              <a:ext uri="{FF2B5EF4-FFF2-40B4-BE49-F238E27FC236}">
                <a16:creationId xmlns:a16="http://schemas.microsoft.com/office/drawing/2014/main" id="{E40E6EFA-00D4-71F0-84C7-B19B4EF2A599}"/>
              </a:ext>
            </a:extLst>
          </p:cNvPr>
          <p:cNvCxnSpPr>
            <a:cxnSpLocks/>
            <a:stCxn id="45" idx="2"/>
          </p:cNvCxnSpPr>
          <p:nvPr/>
        </p:nvCxnSpPr>
        <p:spPr>
          <a:xfrm rot="5400000">
            <a:off x="7971428" y="3869874"/>
            <a:ext cx="1534680" cy="1502179"/>
          </a:xfrm>
          <a:prstGeom prst="bentConnector3">
            <a:avLst>
              <a:gd name="adj1" fmla="val 8055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Conector angulado 2074">
            <a:extLst>
              <a:ext uri="{FF2B5EF4-FFF2-40B4-BE49-F238E27FC236}">
                <a16:creationId xmlns:a16="http://schemas.microsoft.com/office/drawing/2014/main" id="{BDE84547-5DEB-0460-91DC-74A1BA285FDC}"/>
              </a:ext>
            </a:extLst>
          </p:cNvPr>
          <p:cNvCxnSpPr>
            <a:cxnSpLocks/>
            <a:stCxn id="214" idx="3"/>
            <a:endCxn id="208" idx="1"/>
          </p:cNvCxnSpPr>
          <p:nvPr/>
        </p:nvCxnSpPr>
        <p:spPr>
          <a:xfrm>
            <a:off x="9217474" y="4707717"/>
            <a:ext cx="450392" cy="354260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2B8EB035-14A3-19F2-6BD5-95C959E4BFC7}"/>
              </a:ext>
            </a:extLst>
          </p:cNvPr>
          <p:cNvSpPr/>
          <p:nvPr/>
        </p:nvSpPr>
        <p:spPr>
          <a:xfrm>
            <a:off x="11179026" y="4598892"/>
            <a:ext cx="535291" cy="280100"/>
          </a:xfrm>
          <a:prstGeom prst="round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0">
              <a:defRPr/>
            </a:pPr>
            <a:r>
              <a:rPr lang="pt-BR" sz="800" b="1" kern="0" dirty="0">
                <a:solidFill>
                  <a:prstClr val="white"/>
                </a:solidFill>
              </a:rPr>
              <a:t>FIM</a:t>
            </a:r>
          </a:p>
        </p:txBody>
      </p:sp>
      <p:cxnSp>
        <p:nvCxnSpPr>
          <p:cNvPr id="24" name="Conector angulado 2074">
            <a:extLst>
              <a:ext uri="{FF2B5EF4-FFF2-40B4-BE49-F238E27FC236}">
                <a16:creationId xmlns:a16="http://schemas.microsoft.com/office/drawing/2014/main" id="{051E3000-5BB0-26D6-E4DC-3502F0BDF702}"/>
              </a:ext>
            </a:extLst>
          </p:cNvPr>
          <p:cNvCxnSpPr>
            <a:cxnSpLocks/>
            <a:stCxn id="208" idx="3"/>
            <a:endCxn id="20" idx="2"/>
          </p:cNvCxnSpPr>
          <p:nvPr/>
        </p:nvCxnSpPr>
        <p:spPr>
          <a:xfrm flipV="1">
            <a:off x="10999051" y="4878992"/>
            <a:ext cx="447621" cy="182986"/>
          </a:xfrm>
          <a:prstGeom prst="bentConnector2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0D1C9D18-DA09-E936-E502-C45990B83F1B}"/>
              </a:ext>
            </a:extLst>
          </p:cNvPr>
          <p:cNvCxnSpPr>
            <a:cxnSpLocks/>
            <a:stCxn id="79" idx="3"/>
            <a:endCxn id="165" idx="1"/>
          </p:cNvCxnSpPr>
          <p:nvPr/>
        </p:nvCxnSpPr>
        <p:spPr>
          <a:xfrm>
            <a:off x="2890164" y="4732288"/>
            <a:ext cx="506079" cy="521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0" name="Conector de Seta Reta 29">
            <a:extLst>
              <a:ext uri="{FF2B5EF4-FFF2-40B4-BE49-F238E27FC236}">
                <a16:creationId xmlns:a16="http://schemas.microsoft.com/office/drawing/2014/main" id="{D99CA3CE-F51D-733C-FA45-C4B6800441DF}"/>
              </a:ext>
            </a:extLst>
          </p:cNvPr>
          <p:cNvCxnSpPr>
            <a:cxnSpLocks/>
            <a:stCxn id="37" idx="2"/>
            <a:endCxn id="79" idx="0"/>
          </p:cNvCxnSpPr>
          <p:nvPr/>
        </p:nvCxnSpPr>
        <p:spPr>
          <a:xfrm>
            <a:off x="2340088" y="3908872"/>
            <a:ext cx="0" cy="607445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4" name="Retângulo 33">
            <a:extLst>
              <a:ext uri="{FF2B5EF4-FFF2-40B4-BE49-F238E27FC236}">
                <a16:creationId xmlns:a16="http://schemas.microsoft.com/office/drawing/2014/main" id="{FBA4D982-76C9-D212-53E3-C0FE089BD553}"/>
              </a:ext>
            </a:extLst>
          </p:cNvPr>
          <p:cNvSpPr/>
          <p:nvPr/>
        </p:nvSpPr>
        <p:spPr>
          <a:xfrm>
            <a:off x="9075813" y="4743408"/>
            <a:ext cx="400406" cy="18336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0">
              <a:defRPr/>
            </a:pPr>
            <a:r>
              <a:rPr lang="pt-BR" sz="800" kern="0" dirty="0">
                <a:solidFill>
                  <a:prstClr val="black"/>
                </a:solidFill>
              </a:rPr>
              <a:t>Não</a:t>
            </a: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B912C3F6-8843-0501-3D2B-F5BA527CE965}"/>
              </a:ext>
            </a:extLst>
          </p:cNvPr>
          <p:cNvSpPr/>
          <p:nvPr/>
        </p:nvSpPr>
        <p:spPr>
          <a:xfrm>
            <a:off x="1790012" y="3476928"/>
            <a:ext cx="1100152" cy="431944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0">
              <a:defRPr/>
            </a:pPr>
            <a:r>
              <a:rPr lang="pt-BR" sz="800" kern="0" dirty="0">
                <a:solidFill>
                  <a:prstClr val="black"/>
                </a:solidFill>
              </a:rPr>
              <a:t>Encaminha manualmente SE via SIAC para BPO</a:t>
            </a: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C0FFC158-7FC2-1E0A-8212-2E575D8272FD}"/>
              </a:ext>
            </a:extLst>
          </p:cNvPr>
          <p:cNvSpPr/>
          <p:nvPr/>
        </p:nvSpPr>
        <p:spPr>
          <a:xfrm>
            <a:off x="8713011" y="3421680"/>
            <a:ext cx="1553693" cy="431944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0">
              <a:defRPr/>
            </a:pPr>
            <a:r>
              <a:rPr lang="pt-BR" sz="800" kern="0" dirty="0">
                <a:solidFill>
                  <a:prstClr val="black"/>
                </a:solidFill>
              </a:rPr>
              <a:t>Extrai no “DAMP Eletrônico” e protocola no site da Caixa (conectividade) </a:t>
            </a:r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250023BD-42BC-8FA4-0DD8-5D3B801C70BD}"/>
              </a:ext>
            </a:extLst>
          </p:cNvPr>
          <p:cNvSpPr/>
          <p:nvPr/>
        </p:nvSpPr>
        <p:spPr>
          <a:xfrm>
            <a:off x="5866064" y="6037656"/>
            <a:ext cx="1210168" cy="431944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0">
              <a:defRPr/>
            </a:pPr>
            <a:r>
              <a:rPr lang="pt-BR" sz="800" kern="0" dirty="0">
                <a:solidFill>
                  <a:prstClr val="black"/>
                </a:solidFill>
              </a:rPr>
              <a:t>Pendente, fará novo processamento</a:t>
            </a:r>
          </a:p>
        </p:txBody>
      </p:sp>
      <p:cxnSp>
        <p:nvCxnSpPr>
          <p:cNvPr id="53" name="Conector angulado 2074">
            <a:extLst>
              <a:ext uri="{FF2B5EF4-FFF2-40B4-BE49-F238E27FC236}">
                <a16:creationId xmlns:a16="http://schemas.microsoft.com/office/drawing/2014/main" id="{BADF8623-875A-C006-4B70-FB53520D99B9}"/>
              </a:ext>
            </a:extLst>
          </p:cNvPr>
          <p:cNvCxnSpPr>
            <a:cxnSpLocks/>
            <a:stCxn id="202" idx="2"/>
            <a:endCxn id="52" idx="2"/>
          </p:cNvCxnSpPr>
          <p:nvPr/>
        </p:nvCxnSpPr>
        <p:spPr>
          <a:xfrm rot="5400000">
            <a:off x="7010097" y="5489063"/>
            <a:ext cx="441588" cy="1519486"/>
          </a:xfrm>
          <a:prstGeom prst="bentConnector3">
            <a:avLst>
              <a:gd name="adj1" fmla="val 135944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6" name="Retângulo 55">
            <a:extLst>
              <a:ext uri="{FF2B5EF4-FFF2-40B4-BE49-F238E27FC236}">
                <a16:creationId xmlns:a16="http://schemas.microsoft.com/office/drawing/2014/main" id="{9AC979EC-392A-175F-292F-110A98C399E5}"/>
              </a:ext>
            </a:extLst>
          </p:cNvPr>
          <p:cNvSpPr/>
          <p:nvPr/>
        </p:nvSpPr>
        <p:spPr>
          <a:xfrm>
            <a:off x="7356092" y="6398567"/>
            <a:ext cx="586235" cy="18336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0">
              <a:defRPr/>
            </a:pPr>
            <a:r>
              <a:rPr lang="pt-BR" sz="800" kern="0" dirty="0">
                <a:solidFill>
                  <a:prstClr val="black"/>
                </a:solidFill>
              </a:rPr>
              <a:t>Pendente</a:t>
            </a:r>
          </a:p>
        </p:txBody>
      </p:sp>
      <p:sp>
        <p:nvSpPr>
          <p:cNvPr id="57" name="Retângulo 56">
            <a:extLst>
              <a:ext uri="{FF2B5EF4-FFF2-40B4-BE49-F238E27FC236}">
                <a16:creationId xmlns:a16="http://schemas.microsoft.com/office/drawing/2014/main" id="{3123FFE4-950A-8479-A135-FCB0F4975ED8}"/>
              </a:ext>
            </a:extLst>
          </p:cNvPr>
          <p:cNvSpPr/>
          <p:nvPr/>
        </p:nvSpPr>
        <p:spPr>
          <a:xfrm>
            <a:off x="10414961" y="3371482"/>
            <a:ext cx="1464303" cy="574917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0">
              <a:defRPr/>
            </a:pPr>
            <a:r>
              <a:rPr lang="pt-BR" sz="800" kern="0" dirty="0">
                <a:solidFill>
                  <a:prstClr val="black"/>
                </a:solidFill>
              </a:rPr>
              <a:t>Extrai arquivo no “DAMP”, faz upload no CRIM e no SISCRED (atualização de status da ocorrência) </a:t>
            </a:r>
          </a:p>
        </p:txBody>
      </p:sp>
      <p:sp>
        <p:nvSpPr>
          <p:cNvPr id="60" name="Retângulo 59">
            <a:extLst>
              <a:ext uri="{FF2B5EF4-FFF2-40B4-BE49-F238E27FC236}">
                <a16:creationId xmlns:a16="http://schemas.microsoft.com/office/drawing/2014/main" id="{AA109CA6-A68F-0C2B-2ECE-BC7572948AA3}"/>
              </a:ext>
            </a:extLst>
          </p:cNvPr>
          <p:cNvSpPr/>
          <p:nvPr/>
        </p:nvSpPr>
        <p:spPr>
          <a:xfrm>
            <a:off x="8085242" y="944290"/>
            <a:ext cx="2181137" cy="1792624"/>
          </a:xfrm>
          <a:prstGeom prst="rect">
            <a:avLst/>
          </a:prstGeom>
          <a:solidFill>
            <a:srgbClr val="FFEDB3"/>
          </a:solidFill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defTabSz="914210">
              <a:defRPr/>
            </a:pPr>
            <a:r>
              <a:rPr lang="pt-BR" sz="972" b="1" u="sng" kern="0" dirty="0">
                <a:solidFill>
                  <a:prstClr val="black"/>
                </a:solidFill>
              </a:rPr>
              <a:t>*Documentação complementar:</a:t>
            </a:r>
          </a:p>
          <a:p>
            <a:pPr defTabSz="914210">
              <a:defRPr/>
            </a:pPr>
            <a:endParaRPr lang="pt-BR" sz="800" kern="0" dirty="0">
              <a:solidFill>
                <a:prstClr val="black"/>
              </a:solidFill>
              <a:highlight>
                <a:srgbClr val="FFFF00"/>
              </a:highlight>
            </a:endParaRPr>
          </a:p>
          <a:p>
            <a:pPr marL="119038" indent="-119038" defTabSz="914210">
              <a:buFontTx/>
              <a:buChar char="-"/>
              <a:defRPr/>
            </a:pPr>
            <a:r>
              <a:rPr lang="pt-BR" sz="800" kern="0" dirty="0">
                <a:solidFill>
                  <a:prstClr val="black"/>
                </a:solidFill>
              </a:rPr>
              <a:t>Alteração no contrato em relação ao Imposto de Renda (certidão de casamento, divorcio etc.)</a:t>
            </a:r>
          </a:p>
          <a:p>
            <a:pPr marL="119038" indent="-119038" defTabSz="914210">
              <a:buFontTx/>
              <a:buChar char="-"/>
              <a:defRPr/>
            </a:pPr>
            <a:r>
              <a:rPr lang="pt-BR" sz="800" kern="0" dirty="0">
                <a:solidFill>
                  <a:prstClr val="black"/>
                </a:solidFill>
              </a:rPr>
              <a:t>Apenas um f</a:t>
            </a:r>
            <a:r>
              <a:rPr lang="pt-BR" sz="800" kern="0" dirty="0" err="1">
                <a:solidFill>
                  <a:prstClr val="black"/>
                </a:solidFill>
              </a:rPr>
              <a:t>inanciamento</a:t>
            </a:r>
            <a:r>
              <a:rPr lang="pt-BR" sz="800" kern="0" dirty="0">
                <a:solidFill>
                  <a:prstClr val="black"/>
                </a:solidFill>
              </a:rPr>
              <a:t> SFH no Brasil (imóvel até 1,5MM)</a:t>
            </a:r>
          </a:p>
          <a:p>
            <a:pPr marL="119038" indent="-119038" defTabSz="914210">
              <a:buFontTx/>
              <a:buChar char="-"/>
              <a:defRPr/>
            </a:pPr>
            <a:r>
              <a:rPr lang="pt-BR" sz="800" kern="0" dirty="0">
                <a:solidFill>
                  <a:prstClr val="black"/>
                </a:solidFill>
              </a:rPr>
              <a:t>Precisa ter único imóvel onde trabalha ou mora para uso do FGTS (região impeditiva da localização dos demais imóveis) – resolução 994</a:t>
            </a:r>
          </a:p>
          <a:p>
            <a:pPr marL="119038" indent="-119038" defTabSz="914210">
              <a:buFontTx/>
              <a:buChar char="-"/>
              <a:defRPr/>
            </a:pPr>
            <a:r>
              <a:rPr lang="pt-BR" sz="800" kern="0" dirty="0">
                <a:solidFill>
                  <a:prstClr val="black"/>
                </a:solidFill>
              </a:rPr>
              <a:t>Repasse / fração ideal precisa da matrícula </a:t>
            </a:r>
          </a:p>
        </p:txBody>
      </p:sp>
      <p:cxnSp>
        <p:nvCxnSpPr>
          <p:cNvPr id="61" name="Conector angulado 2074">
            <a:extLst>
              <a:ext uri="{FF2B5EF4-FFF2-40B4-BE49-F238E27FC236}">
                <a16:creationId xmlns:a16="http://schemas.microsoft.com/office/drawing/2014/main" id="{954A9A56-E704-E3DD-E994-E46AD28F611B}"/>
              </a:ext>
            </a:extLst>
          </p:cNvPr>
          <p:cNvCxnSpPr>
            <a:cxnSpLocks/>
            <a:stCxn id="57" idx="2"/>
            <a:endCxn id="20" idx="0"/>
          </p:cNvCxnSpPr>
          <p:nvPr/>
        </p:nvCxnSpPr>
        <p:spPr>
          <a:xfrm rot="16200000" flipH="1">
            <a:off x="10970646" y="4122865"/>
            <a:ext cx="652493" cy="299559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4" name="Conector angulado 2074">
            <a:extLst>
              <a:ext uri="{FF2B5EF4-FFF2-40B4-BE49-F238E27FC236}">
                <a16:creationId xmlns:a16="http://schemas.microsoft.com/office/drawing/2014/main" id="{F21013E5-EC1A-E610-DDD8-70A087DAA588}"/>
              </a:ext>
            </a:extLst>
          </p:cNvPr>
          <p:cNvCxnSpPr>
            <a:cxnSpLocks/>
            <a:stCxn id="4" idx="0"/>
            <a:endCxn id="196" idx="0"/>
          </p:cNvCxnSpPr>
          <p:nvPr/>
        </p:nvCxnSpPr>
        <p:spPr>
          <a:xfrm rot="16200000" flipV="1">
            <a:off x="8676574" y="2577710"/>
            <a:ext cx="803781" cy="2491723"/>
          </a:xfrm>
          <a:prstGeom prst="bentConnector3">
            <a:avLst>
              <a:gd name="adj1" fmla="val 119747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5" name="Conector angulado 2074">
            <a:extLst>
              <a:ext uri="{FF2B5EF4-FFF2-40B4-BE49-F238E27FC236}">
                <a16:creationId xmlns:a16="http://schemas.microsoft.com/office/drawing/2014/main" id="{EF13D1D1-291F-495E-C083-73DFE399F4D1}"/>
              </a:ext>
            </a:extLst>
          </p:cNvPr>
          <p:cNvCxnSpPr>
            <a:cxnSpLocks/>
            <a:stCxn id="52" idx="0"/>
            <a:endCxn id="202" idx="1"/>
          </p:cNvCxnSpPr>
          <p:nvPr/>
        </p:nvCxnSpPr>
        <p:spPr>
          <a:xfrm rot="5400000" flipH="1" flipV="1">
            <a:off x="6844881" y="5341830"/>
            <a:ext cx="322093" cy="1069559"/>
          </a:xfrm>
          <a:prstGeom prst="bentConnector2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87" name="Retângulo 86">
            <a:extLst>
              <a:ext uri="{FF2B5EF4-FFF2-40B4-BE49-F238E27FC236}">
                <a16:creationId xmlns:a16="http://schemas.microsoft.com/office/drawing/2014/main" id="{5757D2F4-9CC9-3031-2F04-C95EB63E6FA0}"/>
              </a:ext>
            </a:extLst>
          </p:cNvPr>
          <p:cNvSpPr/>
          <p:nvPr/>
        </p:nvSpPr>
        <p:spPr>
          <a:xfrm>
            <a:off x="10542882" y="944290"/>
            <a:ext cx="1414339" cy="721036"/>
          </a:xfrm>
          <a:prstGeom prst="rect">
            <a:avLst/>
          </a:prstGeom>
          <a:solidFill>
            <a:srgbClr val="FFEDB3"/>
          </a:solidFill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defTabSz="914210">
              <a:defRPr/>
            </a:pPr>
            <a:r>
              <a:rPr lang="pt-BR" sz="972" b="1" u="sng" kern="0" dirty="0">
                <a:solidFill>
                  <a:prstClr val="black"/>
                </a:solidFill>
              </a:rPr>
              <a:t>**Encerrar processo</a:t>
            </a:r>
          </a:p>
          <a:p>
            <a:pPr defTabSz="914210">
              <a:defRPr/>
            </a:pPr>
            <a:endParaRPr lang="pt-BR" sz="800" kern="0" dirty="0">
              <a:solidFill>
                <a:prstClr val="black"/>
              </a:solidFill>
              <a:highlight>
                <a:srgbClr val="FFFF00"/>
              </a:highlight>
            </a:endParaRPr>
          </a:p>
          <a:p>
            <a:pPr marL="119038" indent="-119038" defTabSz="914210">
              <a:buFontTx/>
              <a:buChar char="-"/>
              <a:defRPr/>
            </a:pPr>
            <a:r>
              <a:rPr lang="pt-BR" sz="800" kern="0" dirty="0">
                <a:solidFill>
                  <a:prstClr val="black"/>
                </a:solidFill>
              </a:rPr>
              <a:t>Segregar fluxo por tipo de DAMP</a:t>
            </a:r>
          </a:p>
        </p:txBody>
      </p:sp>
    </p:spTree>
    <p:extLst>
      <p:ext uri="{BB962C8B-B14F-4D97-AF65-F5344CB8AC3E}">
        <p14:creationId xmlns:p14="http://schemas.microsoft.com/office/powerpoint/2010/main" val="3377222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3" y="66764"/>
            <a:ext cx="11998618" cy="6681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893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854" y="74273"/>
            <a:ext cx="11918974" cy="6666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510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361" y="605207"/>
            <a:ext cx="9933278" cy="564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671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11" y="58408"/>
            <a:ext cx="11960415" cy="674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0533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259</Words>
  <Application>Microsoft Office PowerPoint</Application>
  <PresentationFormat>Widescreen</PresentationFormat>
  <Paragraphs>47</Paragraphs>
  <Slides>5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Bradesco Sans SemiBold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Alessandro Lisboa de lyra</dc:creator>
  <cp:lastModifiedBy>Alessandro Lisboa de lyra</cp:lastModifiedBy>
  <cp:revision>7</cp:revision>
  <dcterms:created xsi:type="dcterms:W3CDTF">2025-04-10T14:21:26Z</dcterms:created>
  <dcterms:modified xsi:type="dcterms:W3CDTF">2025-04-17T20:32:34Z</dcterms:modified>
</cp:coreProperties>
</file>