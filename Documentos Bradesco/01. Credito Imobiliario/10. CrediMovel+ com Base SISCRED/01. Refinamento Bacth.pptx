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69B3BF-CD36-4A57-8828-F7A2F70B9E2F}" type="datetimeFigureOut">
              <a:rPr lang="pt-BR" smtClean="0"/>
              <a:t>27/06/2025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1BD620-525B-498F-A226-2739854B69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0895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Explicação fluxo de Arquitetura de Solução.</a:t>
            </a:r>
          </a:p>
          <a:p>
            <a:endParaRPr lang="pt-BR" dirty="0" smtClean="0"/>
          </a:p>
          <a:p>
            <a:r>
              <a:rPr lang="pt-BR" dirty="0" smtClean="0"/>
              <a:t>Hoje é </a:t>
            </a:r>
            <a:r>
              <a:rPr lang="pt-BR" dirty="0" err="1" smtClean="0"/>
              <a:t>possivel</a:t>
            </a:r>
            <a:r>
              <a:rPr lang="pt-BR" dirty="0" smtClean="0"/>
              <a:t> entrar no menu do Crédito imobiliário </a:t>
            </a:r>
            <a:r>
              <a:rPr lang="pt-BR" dirty="0" err="1" smtClean="0"/>
              <a:t>apartir</a:t>
            </a:r>
            <a:r>
              <a:rPr lang="pt-BR" dirty="0" smtClean="0"/>
              <a:t> de duas formas: 1.Menu do crédito Imobiliário e 2. Menu de Empréstimo.</a:t>
            </a:r>
          </a:p>
          <a:p>
            <a:endParaRPr lang="pt-BR" dirty="0" smtClean="0"/>
          </a:p>
          <a:p>
            <a:r>
              <a:rPr lang="pt-BR" dirty="0" smtClean="0"/>
              <a:t>Na jornada nova precisamos identificar quando foi iniciada pelo Menu de Empréstimo, porque quando o cliente vem por esse caminho a </a:t>
            </a:r>
            <a:r>
              <a:rPr lang="pt-BR" dirty="0" err="1" smtClean="0"/>
              <a:t>idéia</a:t>
            </a:r>
            <a:r>
              <a:rPr lang="pt-BR" dirty="0" smtClean="0"/>
              <a:t> é ser direcionado para o jornada de Simulação. Não tem a necessidade de mostrar o menu completo do Imobiliário. Por isso é importante diferenciar a entrada na jornada do crédito Imobiliário do </a:t>
            </a:r>
            <a:r>
              <a:rPr lang="pt-BR" dirty="0" err="1" smtClean="0"/>
              <a:t>App</a:t>
            </a:r>
            <a:r>
              <a:rPr lang="pt-BR" dirty="0" smtClean="0"/>
              <a:t>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*</a:t>
            </a:r>
            <a:r>
              <a:rPr lang="pt-BR" dirty="0" err="1" smtClean="0"/>
              <a:t>Apesear</a:t>
            </a:r>
            <a:r>
              <a:rPr lang="pt-BR" dirty="0" smtClean="0"/>
              <a:t> dessa Jornada (MVP) estamos tratando o Fluxo de Amortização e Quitação Pós venda usando recursos </a:t>
            </a:r>
            <a:r>
              <a:rPr lang="pt-BR" dirty="0" err="1" smtClean="0"/>
              <a:t>própios</a:t>
            </a:r>
            <a:r>
              <a:rPr lang="pt-BR" dirty="0" smtClean="0"/>
              <a:t> sem utilização do FGTS. Vamos precisar fazer uma </a:t>
            </a:r>
            <a:r>
              <a:rPr lang="pt-BR" dirty="0" err="1" smtClean="0"/>
              <a:t>modrenização</a:t>
            </a:r>
            <a:r>
              <a:rPr lang="pt-BR" dirty="0" smtClean="0"/>
              <a:t> e revitalização das Jornadas já existentes Exemplo a parte de SIMULAÇÂO que já existe hoje no Legado.</a:t>
            </a:r>
          </a:p>
          <a:p>
            <a:endParaRPr lang="pt-BR" dirty="0" smtClean="0"/>
          </a:p>
          <a:p>
            <a:r>
              <a:rPr lang="pt-BR" dirty="0" smtClean="0"/>
              <a:t>Com isso a Construção do Crédito imobiliário revitalizado, porque quando o cliente acessar o Menu, vamos usar o Componente (BCPF Token </a:t>
            </a:r>
            <a:r>
              <a:rPr lang="pt-BR" dirty="0" err="1" smtClean="0"/>
              <a:t>Handler</a:t>
            </a:r>
            <a:r>
              <a:rPr lang="pt-BR" dirty="0" smtClean="0"/>
              <a:t> Roteador) terá uma configuração para direcionar quando a Jornada do cliente segue o caminho do legado ou será direcionada para jornada </a:t>
            </a:r>
            <a:r>
              <a:rPr lang="pt-BR" dirty="0" err="1" smtClean="0"/>
              <a:t>ja</a:t>
            </a:r>
            <a:r>
              <a:rPr lang="pt-BR" dirty="0" smtClean="0"/>
              <a:t> Modernizada na Cloud. Então o Primeiro ponto aqui é fazer essa parametrização no Rotador Junto com o </a:t>
            </a:r>
            <a:r>
              <a:rPr lang="pt-BR" dirty="0" err="1" smtClean="0"/>
              <a:t>Rollout</a:t>
            </a:r>
            <a:r>
              <a:rPr lang="pt-BR" dirty="0" smtClean="0"/>
              <a:t>.</a:t>
            </a:r>
          </a:p>
          <a:p>
            <a:r>
              <a:rPr lang="pt-BR" dirty="0" smtClean="0"/>
              <a:t>Quando o cliente entrar no Menu a </a:t>
            </a:r>
            <a:r>
              <a:rPr lang="pt-BR" dirty="0" err="1" smtClean="0"/>
              <a:t>idéia</a:t>
            </a:r>
            <a:r>
              <a:rPr lang="pt-BR" dirty="0" smtClean="0"/>
              <a:t> é que ela já veja o Menu do Crédito Imobiliário já todo </a:t>
            </a:r>
            <a:r>
              <a:rPr lang="pt-BR" dirty="0" err="1" smtClean="0"/>
              <a:t>Rivitalizado</a:t>
            </a:r>
            <a:r>
              <a:rPr lang="pt-BR" dirty="0" smtClean="0"/>
              <a:t> e aqui que será feito a </a:t>
            </a:r>
            <a:r>
              <a:rPr lang="pt-BR" dirty="0" err="1" smtClean="0"/>
              <a:t>segreção</a:t>
            </a:r>
            <a:r>
              <a:rPr lang="pt-BR" dirty="0" smtClean="0"/>
              <a:t> dos eventos.  (Exemplo: Se o Cliente criar em um evento que não vamos começar a revitalização por agora,- (tipo a Simulação), ela vai esta no menu revitalizado mais ele deve ser direcionado para o Legado para continuar a jornada </a:t>
            </a:r>
            <a:r>
              <a:rPr lang="pt-BR" dirty="0" err="1" smtClean="0"/>
              <a:t>ja</a:t>
            </a:r>
            <a:r>
              <a:rPr lang="pt-BR" dirty="0" smtClean="0"/>
              <a:t> existente.  Caso ele selecione uma Opção do Pós Vendas o cliente </a:t>
            </a:r>
            <a:r>
              <a:rPr lang="pt-BR" dirty="0" err="1" smtClean="0"/>
              <a:t>constinua</a:t>
            </a:r>
            <a:r>
              <a:rPr lang="pt-BR" dirty="0" smtClean="0"/>
              <a:t> na jornada da Azure.</a:t>
            </a:r>
          </a:p>
          <a:p>
            <a:endParaRPr lang="pt-BR" dirty="0" smtClean="0"/>
          </a:p>
          <a:p>
            <a:r>
              <a:rPr lang="pt-BR" dirty="0" smtClean="0"/>
              <a:t>Apenas para explicar a função do (BCPF Token </a:t>
            </a:r>
            <a:r>
              <a:rPr lang="pt-BR" dirty="0" err="1" smtClean="0"/>
              <a:t>Handler</a:t>
            </a:r>
            <a:r>
              <a:rPr lang="pt-BR" dirty="0" smtClean="0"/>
              <a:t> Roteador) que vai fazer essa orquestração de direcionamentos para a jornada do legado ou Jornada do Pós vendas com isso nos ajuda nesse processo de convivência.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O Cliente vai cair no Micro Front </a:t>
            </a:r>
            <a:r>
              <a:rPr lang="pt-BR" dirty="0" err="1" smtClean="0"/>
              <a:t>End</a:t>
            </a:r>
            <a:r>
              <a:rPr lang="pt-BR" dirty="0" smtClean="0"/>
              <a:t> que vai fazer todas as elegibilidade de Menus. 1.Verifica se a Consulta no serviço veio do Menu de Empréstimos.( Identifica se esse redirecionamento esta vindo de lá ou não) </a:t>
            </a:r>
            <a:r>
              <a:rPr lang="pt-BR" dirty="0" err="1" smtClean="0"/>
              <a:t>Ja</a:t>
            </a:r>
            <a:r>
              <a:rPr lang="pt-BR" dirty="0" smtClean="0"/>
              <a:t> tem um Micro serviço na TI Hibrida.( consegue consultar isso).</a:t>
            </a:r>
          </a:p>
          <a:p>
            <a:r>
              <a:rPr lang="pt-BR" dirty="0" smtClean="0"/>
              <a:t>Isso é importante porque mesmo que o cliente seja elegível, vamos mostrar o Menu completo, podemos mandar direto para opção de Simulação. (tem que ver como a Regra de negócio será aplicada).</a:t>
            </a:r>
          </a:p>
          <a:p>
            <a:endParaRPr lang="pt-BR" dirty="0" smtClean="0"/>
          </a:p>
          <a:p>
            <a:r>
              <a:rPr lang="pt-BR" dirty="0" smtClean="0"/>
              <a:t>Vamos ter o Micro Front </a:t>
            </a:r>
            <a:r>
              <a:rPr lang="pt-BR" dirty="0" err="1" smtClean="0"/>
              <a:t>end</a:t>
            </a:r>
            <a:r>
              <a:rPr lang="pt-BR" dirty="0" smtClean="0"/>
              <a:t> desse menu do pós venda que vai ser feito. (</a:t>
            </a:r>
            <a:r>
              <a:rPr lang="pt-BR" dirty="0" err="1" smtClean="0"/>
              <a:t>stazudvbracrimmenu</a:t>
            </a:r>
            <a:r>
              <a:rPr lang="pt-BR" dirty="0" smtClean="0"/>
              <a:t>).  </a:t>
            </a:r>
          </a:p>
          <a:p>
            <a:endParaRPr lang="pt-BR" dirty="0" smtClean="0"/>
          </a:p>
          <a:p>
            <a:r>
              <a:rPr lang="pt-BR" dirty="0" smtClean="0"/>
              <a:t>.</a:t>
            </a:r>
            <a:r>
              <a:rPr lang="pt-BR" dirty="0" err="1" smtClean="0"/>
              <a:t>crim-bff-mpf-imob</a:t>
            </a:r>
            <a:endParaRPr lang="pt-BR" dirty="0" smtClean="0"/>
          </a:p>
          <a:p>
            <a:r>
              <a:rPr lang="pt-BR" dirty="0" smtClean="0"/>
              <a:t>O BFF  vai ser único para essa </a:t>
            </a:r>
            <a:r>
              <a:rPr lang="pt-BR" dirty="0" err="1" smtClean="0"/>
              <a:t>essa</a:t>
            </a:r>
            <a:r>
              <a:rPr lang="pt-BR" dirty="0" smtClean="0"/>
              <a:t> jornada completa.  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Para fazer consulta que ainda esta no Menu de Empréstimo, vamos ter que passar pelo Gateway Corporativo.  Esse serviço deve estar exposto no Gateway corporativo de Canais para conseguimos acessar.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err="1" smtClean="0"/>
              <a:t>crim</a:t>
            </a:r>
            <a:r>
              <a:rPr lang="pt-BR" dirty="0" smtClean="0"/>
              <a:t>-</a:t>
            </a:r>
            <a:r>
              <a:rPr lang="pt-BR" dirty="0" err="1" smtClean="0"/>
              <a:t>srv</a:t>
            </a:r>
            <a:r>
              <a:rPr lang="pt-BR" dirty="0" smtClean="0"/>
              <a:t>-</a:t>
            </a:r>
            <a:r>
              <a:rPr lang="pt-BR" dirty="0" err="1" smtClean="0"/>
              <a:t>imob</a:t>
            </a:r>
            <a:r>
              <a:rPr lang="pt-BR" dirty="0" smtClean="0"/>
              <a:t>-contratos.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err="1" smtClean="0"/>
              <a:t>crim-srv-imob-ocorrencias</a:t>
            </a:r>
            <a:r>
              <a:rPr lang="pt-BR" dirty="0" smtClean="0"/>
              <a:t> : Consulta das </a:t>
            </a:r>
            <a:r>
              <a:rPr lang="pt-BR" dirty="0" err="1" smtClean="0"/>
              <a:t>Ocorrencias</a:t>
            </a:r>
            <a:r>
              <a:rPr lang="pt-BR" dirty="0" smtClean="0"/>
              <a:t> em aberto. (Ocorrências de Amortização dos Contratos) Esse </a:t>
            </a:r>
            <a:r>
              <a:rPr lang="pt-BR" dirty="0" err="1" smtClean="0"/>
              <a:t>microserviço</a:t>
            </a:r>
            <a:r>
              <a:rPr lang="pt-BR" dirty="0" smtClean="0"/>
              <a:t> faz a consulta na Base Federada do SISCRED. 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err="1" smtClean="0"/>
              <a:t>crim</a:t>
            </a:r>
            <a:r>
              <a:rPr lang="pt-BR" dirty="0" smtClean="0"/>
              <a:t>-</a:t>
            </a:r>
            <a:r>
              <a:rPr lang="pt-BR" dirty="0" err="1" smtClean="0"/>
              <a:t>srv</a:t>
            </a:r>
            <a:r>
              <a:rPr lang="pt-BR" dirty="0" smtClean="0"/>
              <a:t>-</a:t>
            </a:r>
            <a:r>
              <a:rPr lang="pt-BR" dirty="0" err="1" smtClean="0"/>
              <a:t>imob</a:t>
            </a:r>
            <a:r>
              <a:rPr lang="pt-BR" dirty="0" smtClean="0"/>
              <a:t>-eventos-menu : Aplicar regras tendo como referência os dados do Ciente, para </a:t>
            </a:r>
            <a:r>
              <a:rPr lang="pt-BR" dirty="0" err="1" smtClean="0"/>
              <a:t>identifivar</a:t>
            </a:r>
            <a:r>
              <a:rPr lang="pt-BR" dirty="0" smtClean="0"/>
              <a:t> quais eventos que </a:t>
            </a:r>
            <a:r>
              <a:rPr lang="pt-BR" dirty="0" err="1" smtClean="0"/>
              <a:t>estara</a:t>
            </a:r>
            <a:r>
              <a:rPr lang="pt-BR" dirty="0" smtClean="0"/>
              <a:t> </a:t>
            </a:r>
            <a:r>
              <a:rPr lang="pt-BR" dirty="0" err="1" smtClean="0"/>
              <a:t>disponivel</a:t>
            </a:r>
            <a:r>
              <a:rPr lang="pt-BR" dirty="0" smtClean="0"/>
              <a:t> para montar o menu.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61C74-C99F-4920-A6DE-5197D0CD0B0E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2446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FCA1-D262-4B3E-9863-D522FE171735}" type="datetimeFigureOut">
              <a:rPr lang="pt-BR" smtClean="0"/>
              <a:t>27/06/2025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C4030-D012-405D-8DAA-EFD6E7BADF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9955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FCA1-D262-4B3E-9863-D522FE171735}" type="datetimeFigureOut">
              <a:rPr lang="pt-BR" smtClean="0"/>
              <a:t>27/06/2025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C4030-D012-405D-8DAA-EFD6E7BADF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0993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FCA1-D262-4B3E-9863-D522FE171735}" type="datetimeFigureOut">
              <a:rPr lang="pt-BR" smtClean="0"/>
              <a:t>27/06/2025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C4030-D012-405D-8DAA-EFD6E7BADF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7693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FCA1-D262-4B3E-9863-D522FE171735}" type="datetimeFigureOut">
              <a:rPr lang="pt-BR" smtClean="0"/>
              <a:t>27/06/2025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C4030-D012-405D-8DAA-EFD6E7BADF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0920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FCA1-D262-4B3E-9863-D522FE171735}" type="datetimeFigureOut">
              <a:rPr lang="pt-BR" smtClean="0"/>
              <a:t>27/06/2025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C4030-D012-405D-8DAA-EFD6E7BADF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0143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FCA1-D262-4B3E-9863-D522FE171735}" type="datetimeFigureOut">
              <a:rPr lang="pt-BR" smtClean="0"/>
              <a:t>27/06/2025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C4030-D012-405D-8DAA-EFD6E7BADF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0068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FCA1-D262-4B3E-9863-D522FE171735}" type="datetimeFigureOut">
              <a:rPr lang="pt-BR" smtClean="0"/>
              <a:t>27/06/2025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C4030-D012-405D-8DAA-EFD6E7BADF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5985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FCA1-D262-4B3E-9863-D522FE171735}" type="datetimeFigureOut">
              <a:rPr lang="pt-BR" smtClean="0"/>
              <a:t>27/06/2025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C4030-D012-405D-8DAA-EFD6E7BADF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7535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FCA1-D262-4B3E-9863-D522FE171735}" type="datetimeFigureOut">
              <a:rPr lang="pt-BR" smtClean="0"/>
              <a:t>27/06/2025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C4030-D012-405D-8DAA-EFD6E7BADF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5230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FCA1-D262-4B3E-9863-D522FE171735}" type="datetimeFigureOut">
              <a:rPr lang="pt-BR" smtClean="0"/>
              <a:t>27/06/2025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C4030-D012-405D-8DAA-EFD6E7BADF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5587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FCA1-D262-4B3E-9863-D522FE171735}" type="datetimeFigureOut">
              <a:rPr lang="pt-BR" smtClean="0"/>
              <a:t>27/06/2025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C4030-D012-405D-8DAA-EFD6E7BADF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1785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7BFCA1-D262-4B3E-9863-D522FE171735}" type="datetimeFigureOut">
              <a:rPr lang="pt-BR" smtClean="0"/>
              <a:t>27/06/2025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FC4030-D012-405D-8DAA-EFD6E7BADF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1498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emf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11" Type="http://schemas.openxmlformats.org/officeDocument/2006/relationships/image" Target="../media/image9.png"/><Relationship Id="rId5" Type="http://schemas.openxmlformats.org/officeDocument/2006/relationships/image" Target="../media/image3.emf"/><Relationship Id="rId10" Type="http://schemas.openxmlformats.org/officeDocument/2006/relationships/image" Target="../media/image8.png"/><Relationship Id="rId4" Type="http://schemas.openxmlformats.org/officeDocument/2006/relationships/image" Target="../media/image2.jpe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 descr="Retângulo 2">
            <a:extLst>
              <a:ext uri="{FF2B5EF4-FFF2-40B4-BE49-F238E27FC236}">
                <a16:creationId xmlns:a16="http://schemas.microsoft.com/office/drawing/2014/main" id="{0742000A-0C53-D93B-DC19-0FCB692C6106}"/>
              </a:ext>
            </a:extLst>
          </p:cNvPr>
          <p:cNvSpPr>
            <a:spLocks/>
          </p:cNvSpPr>
          <p:nvPr/>
        </p:nvSpPr>
        <p:spPr bwMode="auto">
          <a:xfrm>
            <a:off x="0" y="6449960"/>
            <a:ext cx="12192000" cy="408039"/>
          </a:xfrm>
          <a:prstGeom prst="rect">
            <a:avLst/>
          </a:prstGeom>
          <a:gradFill rotWithShape="0">
            <a:gsLst>
              <a:gs pos="0">
                <a:srgbClr val="F36279"/>
              </a:gs>
              <a:gs pos="12598">
                <a:srgbClr val="E03654"/>
              </a:gs>
              <a:gs pos="52124">
                <a:srgbClr val="CC092F"/>
              </a:gs>
              <a:gs pos="90340">
                <a:srgbClr val="C01259"/>
              </a:gs>
              <a:gs pos="100000">
                <a:srgbClr val="B41A83"/>
              </a:gs>
            </a:gsLst>
            <a:lin ang="0"/>
          </a:gradFill>
          <a:ln w="12700">
            <a:solidFill>
              <a:srgbClr val="CC092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18" tIns="45718" rIns="45718" bIns="45718" anchor="ctr"/>
          <a:lstStyle>
            <a:lvl1pPr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9pPr>
          </a:lstStyle>
          <a:p>
            <a:pPr eaLnBrk="1"/>
            <a:endParaRPr lang="pt-BR" altLang="pt-BR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FC6489-6419-5FFB-7A74-9FBC14307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6346" y="6449960"/>
            <a:ext cx="1071204" cy="348074"/>
          </a:xfrm>
          <a:prstGeom prst="rect">
            <a:avLst/>
          </a:prstGeom>
        </p:spPr>
      </p:pic>
      <p:sp>
        <p:nvSpPr>
          <p:cNvPr id="67" name="TextBox 5">
            <a:extLst>
              <a:ext uri="{FF2B5EF4-FFF2-40B4-BE49-F238E27FC236}">
                <a16:creationId xmlns:a16="http://schemas.microsoft.com/office/drawing/2014/main" id="{30DA090F-410F-DB15-8332-D3249E4FCFF6}"/>
              </a:ext>
            </a:extLst>
          </p:cNvPr>
          <p:cNvSpPr txBox="1"/>
          <p:nvPr/>
        </p:nvSpPr>
        <p:spPr>
          <a:xfrm>
            <a:off x="264982" y="54808"/>
            <a:ext cx="99372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b="1" dirty="0" smtClean="0">
                <a:solidFill>
                  <a:srgbClr val="C00000"/>
                </a:solidFill>
                <a:latin typeface="Bradesco Sans" pitchFamily="2" charset="77"/>
              </a:rPr>
              <a:t>Bradesco – Cenário Batch Vinculo </a:t>
            </a:r>
            <a:r>
              <a:rPr lang="pt-BR" sz="2600" b="1" dirty="0" err="1" smtClean="0">
                <a:solidFill>
                  <a:srgbClr val="C00000"/>
                </a:solidFill>
                <a:latin typeface="Bradesco Sans" pitchFamily="2" charset="77"/>
              </a:rPr>
              <a:t>CredImovel</a:t>
            </a:r>
            <a:r>
              <a:rPr lang="pt-BR" sz="2600" b="1" dirty="0" smtClean="0">
                <a:solidFill>
                  <a:srgbClr val="C00000"/>
                </a:solidFill>
                <a:latin typeface="Bradesco Sans" pitchFamily="2" charset="77"/>
              </a:rPr>
              <a:t>+ </a:t>
            </a:r>
          </a:p>
          <a:p>
            <a:r>
              <a:rPr lang="pt-BR" sz="1400" dirty="0" smtClean="0">
                <a:solidFill>
                  <a:srgbClr val="C00000"/>
                </a:solidFill>
                <a:latin typeface="Bradesco Sans" pitchFamily="2" charset="77"/>
              </a:rPr>
              <a:t>Arquitetura </a:t>
            </a:r>
            <a:endParaRPr lang="pt-BR" sz="2400" dirty="0">
              <a:solidFill>
                <a:srgbClr val="C00000"/>
              </a:solidFill>
              <a:latin typeface="Bradesco Sans" pitchFamily="2" charset="77"/>
            </a:endParaRPr>
          </a:p>
        </p:txBody>
      </p:sp>
      <p:sp>
        <p:nvSpPr>
          <p:cNvPr id="49" name="AutoShape 6" descr="data:image/png;base64,iVBORw0KGgoAAAANSUhEUgAAAVAAAAFQCAYAAADp6CbZAAAAAXNSR0IArs4c6QAAAhJ0RVh0bXhmaWxlACUzQ214R3JhcGhNb2RlbCUzRSUzQ3Jvb3QlM0UlM0NteENlbGwlMjBpZCUzRCUyMjAlMjIlMkYlM0UlM0NteENlbGwlMjBpZCUzRCUyMjElMjIlMjBwYXJlbnQlM0QlMjIwJTIyJTJGJTNFJTNDbXhDZWxsJTIwaWQlM0QlMjIyJTIyJTIwdmFsdWUlM0QlMjIlMjIlMjBzdHlsZSUzRCUyMmltYWdlJTNCYXNwZWN0JTNEZml4ZWQlM0JodG1sJTNEMSUzQnBvaW50cyUzRCU1QiU1RCUzQmFsaWduJTNEY2VudGVyJTNCZm9udFNpemUlM0QxMiUzQmltYWdlJTNEaW1nJTJGbGliJTJGYXp1cmUyJTJGbmV0d29ya2luZyUyRkFwcGxpY2F0aW9uX0dhdGV3YXlzLnN2ZyUzQiUyMiUyMHZlcnRleCUzRCUyMjElMjIlMjBwYXJlbnQlM0QlMjIxJTIyJTNFJTNDbXhHZW9tZXRyeSUyMHglM0QlMjIyNjAlMjIlMjB5JTNEJTIyMjkwJTIyJTIwd2lkdGglM0QlMjI2NCUyMiUyMGhlaWdodCUzRCUyMjY0JTIyJTIwYXMlM0QlMjJnZW9tZXRyeSUyMiUyRiUzRSUzQyUyRm14Q2VsbCUzRSUzQyUyRnJvb3QlM0UlM0MlMkZteEdyYXBoTW9kZWwlM0XLSnf0AAAgAElEQVR4Xu19B5wV1dn+c+72zlKlg3RBEUHKqhhF0XRMoiYq1oia2P0So0Y35Isx+fSfRE00YmKvscfeSBS9IlU6Ir132GVhly13/p65O/fO7dPnzMw7v58/nJ057XnPPPc557znPQx0EQKEACFACBhCgBlKRYkIAUKAECAEQARKn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QBgEps0bXVC5r/lbDNKZADuFAb0lgPfRjYD0HwnsnfrqwrdmjJnfIkylqSKBRoAINNDmF6fxN787oiaSxy6HhIvVnVJClEFj/zI8FmLSw3+ctDQsTu2pJkFFgAg0qJYXqN2/eG/EZDDcCbAxKqpMps7YPQObJ0nSbXdPXvqeQM2gqgQQASLQABpdpCZz8mQhVitJqFErTaWOKQq0nUbBEJYi0nQiUZGsGby6EIEGz+bCtJiTpwTUMsZqIPHZTgY9/zKwsAQiUWEMGsCKEIEG0OgiNFmtPJX6KApUzz0kEImKYNCA1oEINKCGd7PZMeUJVqNlzjNpGSllblQCCzNSom6aNLBlE4EG1vTuNFxWnmC1EovPeepRnHxONN37jJSoOwYNeKlEoAHvAE42P648UZO8SGTFvQSEGUALS04aNeBlEYEGvAM41fyY8kScPO0oO0qitLBkB7aUZyoCRKDUK2xHQD3nKUECU7nGR+/jg3IrnoOUqO02pQKiCBCBUk+wFQGnlGdyI0iJ2mpWyrwdASJQ6gq2ISArTwm1YKjhezEVN09FgNp9z53taU7UNvNSxqRAqQ/YhUB02M5qmc1znrnqL0EiEs0FEj03jAApUMPQUcJMCCjKk+8wkuQdRtFoIKmKk8GR53xOlNHqPPVY6xEgArUe00DnKIrypDnRQHdDxxpPBOoY1P4vKDbn6fKwPQvSpET93w0dbSERqKNw+7cwRXlCkmoY40NzZcguQbB7IlH/dkPHW0YE6jjk/ivQA8ozGXQiUf91Q1daRATqCuz+KTRKnqwWSIznmSmOp0B/DzNGO5b80xPdaQkRqDu4+6JUTp4RCYmuSgpDKi0U+z7M2jD97m9RZHtfdEgXGkEE6gLofigyrjylmlzh5gR/TsN5P3RIl9pABOoS8F4u9hdvjZgs5UEetsdPe8t4hJHg/CnXm5Solzuki3UnAnURfC8WrZ7zjNZf7DG69vpJpES92CFdrjMRqMsG8FLxXHlGQtE5T4EWgxKPPTYhhLkSDdGcqJe6pOt1JQJ13QTeqEBs2C6hRu/hb556n++dJxL1RqcUoJZEoAIYQfQq+F15qo9Tbj8yJByK0Oq86P1ShPoRgYpgBYHrEFWerJbvMPKUkjRwTHJC+0iJCtwrxakaEag4thCuJorylFfbg3mFIxFM/zP5iQbT+hpaTQSqAaQgvpIw5xkDwMjJ7ZnO0eSZip8fjydKw/kgfgHa2kwEqg2nQL2VoDz94qWkWNBYe4hEA/UFaG8sEah2rALxpqw8Q+1O8pY5CCUv03jvnpRoILq/7kYSgeqGzL8JbnhrxOQQJ0/uqkRXKgIMNCdK/SIBASJQ6hAyArFhu4Qa+egNZYZSietJ94oep+E8fTMJqwIER8ARIOWpswOQEtUJmH9fJwXqX9tqalmK8lQd/haNJM8jykMVYT5+OFygnwOkRDX1MH+/RATqb/tmbZ2sPJmyYBRgIIw2nZSoUeR8k44I1Dem1NcQ0YbtLW3FONxWgubWEjS3laItkoeSggOx//S1zsG3eQAS2vbpIOBiFUUEKpY9HKmN28qzsaUSW+sHYVv9IGytH4ztBwagpa0oa9tLCuplMi0v3I+eVSvRp3opelWtcAQvDYWEIxLtWNKAk+9eIQL1nUmzN8gt5Vl/uDP2NpyJr3aPwuLtPS1BvSCvCb07rECfDkvQt3oJOpdtsiRfQ5mQEjUEm9cTEYF63YI66s/J8+t1oVomtcfzlBeHJDAwVWB51b3J5wcOd8Hq3SejJG8SBlb3RbfyPOw+1IZ7Z9cjot7hqaMN2V7lCnVo109wfK/XUV60t33xy772RRfXEvAiJWqRLb2SDRGoVyxlsp5ODtv3HOqFWWt/gv5VJ+KU/sUpNX/7q0P4ZONhky3KnDzE2jCkaxjj+ryGTqWbbSsnQ8ZEok4j7mJ5RKAugu9U0SnKU3UQh5WR5eubuuKT9edi5U6+kYnhqC4FOP+Y8pRmtkQk/L9P63GgOWI7BP07foHje/0bvTosd25jKl+dpzlR220rQgFEoCJYwcY6pChPY8E04jVMk/5gSwfM3vADfLF1ckpLfjq6Av075Kf8fdnOZjyz5KCNLU/Mumv5epw68DH0rFwZDQKlXDbg0Z4/kahj1nWvICJQ97C3vWRFeUb3tlupNaPBQJpaK/D5xilYtPUMtEYK0rana1kerh1fmcBZyov/XHAAa/e12o6DUgBjEYzv8xLG930ZDFz92hzUhLHw11OkFE/UMQs7XxARqPOYO1JiTHnaFBhk7d5ReGPF9Tndj3hjvz+0FGN7prop7W2MLii12j+ST8Ccuz99Z9i9KCvcb78taDhvP8YulkAE6iL4dhWdXnlaN2Zdv/dYvLbsF2iTUofm6dpUVshwU00VivJSu9vMdY34cG2TXVDI+fapykevyjx0LAmhrDCE8kKGquJWHNt9HqpLtmHhzrewv2lbex1sGNOTErXVvm5mTgTqJvo2lJ2sPJPpILlIvc/X7x2JV3WQp1LeCX2K8K1BpWlb/ODcA9hcb81QnpP1kdUF6FOVh96V+ehdlZ3k+dxo76rlWLb7PWxtSHXM14tPRnxJidrQ293PkgjUfRtYVgNZeUpSLRiryRD9I1NUEE1/31g3Aq8suUWz8lQ3jIvP6yZUolNJXkp76w9H5KF8U6t+59CCEEP/6nwM7Mj/K5B9TfVeFUV7MKjzbGysX4BVez6BJE+NJkRVseYeLCwxmhPVax+R3ycCFdk6OuqmKE9JNedp1YlDjIWwcd9ReGXpzRkXi7RUtW+HfEwbXZH21ZW7W/DkogYt2aAwj+HobgUY2a0QAzqmX7zSlJHqpariHRjYeR62NazAkl3vy0+swk8pRs6PgRaW9BpH4PeJQAU2jtaqRZWnElVJtdquxKHLtNqs8XmPsstwzyenYXtDSGuVMr7HHetPO7Ik7fN3Vjdi1ob086G8qgOqCzCqe6HsX8pJ1OqrY+kW9O+4EBvqFuLLPbPicftM4pdmtZ+UqNXGcyk/63uhSw0JarFq5WmHYupaNhGRlpvx7JLDWLyj2RKYf3pcOfpXp1eOD807gI118fnQ7hV5mNC7CIM6FqCyyDyB52pAl7L1cqCSVXs/xYa6BbLzV4KCtOpeApFoLmN44DkRqAeMlKmKsTnP2Lnt1lJop5I+qMi/C3xPO1eGXCFacVUUhXDd+EqU5Kd2v7rDEdw/ux6NrRIm9i3GGQPTq1Ur6pEuDz4P27lsCbpXzsPy3TNRf3inVZSZblIgLLVh+p+/t/Q9u9pD+dqLABGovfjalnvisL29mEx+4ckSKvm9NM+LQmUY3PHX2Fp3nPx0zd4WPLJQ2xyllkYP7lSAi45N3ebJ03IFWlrA0LlU/4JQtrL3N0XAfU/3HOL/RrDzYBsamiU0tkbQ2CLhUEtcb54y4DGM6vlOdP+BAfwS9i1kT09KVEuHEfQdIlBBDZOtWjf8e8RklpdmztPCnTXHdD0f2+rOQ6Td15Mrs//9yFrH828PLkFN79RgI1aYhCvYr/a04MvdLdh6oE0mSz0XD0hy0ehfoLpki/07lvjqPClRPeYR5l0iUGFMoa0iaZWntqSa3+pbNRKhyC/BY3iqr7s/rQNXcVZdeSHg52Mr0a3MGqW5raFNJsxVe1pkFcs9kcxcPSpX4ccj7zCThZ60pET1oCXIu0SgghhCSzWiylOqBVCjdlNUhGemw9/0PA8hHyO73omN+0elVOmpxQ1YsatFS1U1vzPyiEKcM7xM8/vJL+5rbMPszYexaEcLDhy2jtyVciYNfBjHdP9AHspbgW8699K4fUiJGu4ILiUkAnUJeL3FJg7b9abW93553msoyksdWn+26TDeWHVIX2YZ3uYdb2I/7tJUjBBnJh1XRJLA/UbnbG7G6r0tCdOUOrLR9GpR/kFcMvpGlBbWaXrfgpdIiVoAolNZ6Ou5TtWKyklAQCbPEN9hFFWeyYrSyvsl205Ft7KbMKxzqpsRj9/5x1l1pgmrvDCEc0eUylsu9Vx8x9K8rYcxd0sz+P87dQ3pEsa3htwbU6BW4p3Onozvnac5UafMa6ocIlBT8Nmf2EnlyVvz+Px7cHTXgTh9QHr3oWQ/Tb0IcH/Oc0aUorRAv08nn9d8dGEDmttMTm7qrTSAs4/+X/TusMxASsNJiEQNQ+dcQiJQ57DWXRInT3DlGfPz1J2FrgRb64fg+cW/lZ3WLx6V3sXo041NeOsrY/6g43oV4btDStPGBtVaUR50hLtTHTawb15rGeneO6JiNX4y8jYzWehOy/jqfIT8RHUD52ACIlAHwdZTlKI8JUmqYV+fBJe8+KD4GcqHmln0/O0vr8HKXSegOJ/h9pM7pK3uvqYI7vlU/3zgN/oVZ1S1enDh72470Ip/LmiQne2dvC4efSOqS7bKQ3k78FcvUqn8SIlEnTSyzrKIQHUC5sTrTitP3qZDLVV4eM6DiEhRl6Kfja1Az4r0oeAemFuPLfVxv8q+HaJzmRv2p1+ht8Pfk/t1Pjz/QILzu922Gd3zDUzs/6TdxaTkT0rUccg1F0gEqhkqZ16MK0/UZHKbsePvszf+AOEN58QaeXK/YkzOMA/apSwfo3sWoW9VHgpDiSqwOcKwYX8bXlp+EL//eB9+MKwUo3ukRqPPhiZfYf9wbSPOO7oM1WnC3ylp+RHJfE5WvYPITiuVFNRj2tirkBdqsyXaXTa7gu+dp+G8neY1lDcRqCHY7EmUVnnaECA93aFqTy38P+w62DfWML6N8oYJlQkNndivBMO75CNf4/oPH2F/ubsVM9dqmzPl85rcTWrBtmjQEh4c+dJRFTgiS4xPTqIPz29AgwMnfPI6fWfonzCo8+dxXByyT3uBYUQY7Z235/MzlCsRqCHYrE8UdVVCrQSpxvbDzpK2fLZGCvHX8BOQkpZ3eMAPfihcdUkI3xlSig5FxrrLoRbgxWUHwQOFZLrW72/F80sPprgnFeUzXHJsedbI8nx/OydRJ1yb+lcvxJThf7TpYOhMwQzif2cgJWr912c8R2NfhPHyKGUaBBKUp/WHZ+bk4011I/Di0ttTasZdmaaOLMd3hpQgTeAkXbbknkevr2rEpv2pR3d8tqkJb65qzOhfyqPOTx1ZljV4MifPx75owI4GfXvedTVCdsGV8NOxV6G8YF9OXC0MTZB8qCopUb2Gs+l9IlCbgNWabVx58qOH+eXsmJCXN2fTWfh0w49TqlzTpxhvnNcN+UnznFrblvweJ9GnFx9EXft+et7S11Yewtwth3NmyeMnnzOiDCO6FmZ8t6VNwrNLDuLLPdZuN00u8IR+z2Fsr1fb/+y8vThzkxLN2WUceYEI1BGY0xciK0+W6Ofpxuf42vKbsW5fNGyd+lpzfW90KbW2i/DhPD8PvjUSJTu+YKT14jU5K8eiFMfv/TWN+Gi9fSd99u2wGD8YfqdLP3dR4StfDKREtXYem96z9uuwqZJ+zDamPCWpJsmxMBq1Iu5oaPv932Y/hua2xJ1HM77XBT8eYU8w4yU7W3HO8zuw5YCx4TafWuB+pdmuRdub8dKKg2jLsuNzQMd8+WgQfi49jweq9WRQfp78tLFXRPfUKg66DtoroX+Akyg527vFEUSgLiCvVp5uKE610fc2dsfjC/6SgsLeW/oin9njqN4SATr9YaMp5LMdk6xkvKGuFU8takhwc+JTAN8fWiJHuj+6WyGUo5X2NUb32b+zukl2weIBl7NdV427DMX5DS5MuKgUqPIzS0rUVF8yk5gI1Ax6BtKmKE87js/V4Si6fMdEvPvVzxJa8r+TOuK6cem3chpoctok93x2AL/9zz5T2Q3rUiCHwst2wByfb330iwbUN0VwxZgKXHJcOQZUZz8r/j/rmuQ996+uzBx56kcjfoveHZZbc9yxDntldEAlJWqqLxlNTARqFDkD6RTlKTm0t11LFeds5g705ya8uvjnvdCvSqOzp5ZC0ryzZn8Eox7YbDB1PFmn0hCmHlOOLlmCMvPwd1VFoYz7+9NVggcu+d1HdXhu6cG0dTy5/+MY1eMt0/W3MgO+sASJ/EStxDRXXkSguRCy6HnUVQm14HOesUuZ61T+4Pz97E0/xGcbz05opZ3Dd6WglghDpz9ssARdrkD5jic+JE93je5eiJo++nZD8XzW7G3Frz7Yh3fTHKY3ottMnD5wRvsg2j37pTm0iUjUkl6lLRMiUG04mXorq/JMngRNLsnm559tOAefb/5hrFR+YuaWm3qZaq/WxJ3/uBHNxtaR0hbBjz/+5qAS5KkCNHctC8nznR2KjSnqV1YcwkWv7E4pr1v5Gvxk5K2pXmcO2y9lEja6tEUkqrUTmnyPCNQkgLmSJyrP3DtNkj2m7b7n/p9zNk+JNePY7kX4+JJuuZplyfNx/9iOFTutOWteqVCvynxcMLIMFYVRwqzpXYTRPTL7juZqCF/Fv+DlXbKjv/qqLNqFy8Zc49qOpNz9gpMorc7nsq/Z50SgZhHMkj6mPCXFSd7GwgxmPWvD+Zi/5Xux1KO6F+Ejhwh0wj+2Y5nFBMobwvfQX3BMOfp1yMfZw0vl7ahmrr/NOYBbPkhc8Kos3olLj+MEKu7F+Oo8zYnaaiAiUJvgjZJndG+7eLozrl8+WjcVC7Z+J4YCH+puvNGZIXzX/9uMJu6EadM1bXQ57jmjo+ncP97QhO88vTMhn6riHbh09LUJx7+LaGfQcN60/bNlQARqA7xeUJ5Ks/+77mJ8se2bCSjsu6Uv8mzyAVUKapUYOt5lzSJSJhOO6VGImRcfYdrC2w60Ycj9/Hz4+MUJ9JLjrjWdtxMZkBK1D2UiUIuxTVSePJI8jxivKD7x7meuuQSLtp+RgMKyq3uhd6WxRRetcK6vi+CYv5l3Y8pW3qjuhfjoEvMEyoNHD/trIoF2KNmGS467QXj7Kv2PlKjWnqnvPSJQfXhlfZuTZ0SSahkTd84zuQGzN/0IszclujH9cXInXDXG+FntWiC9f04Dbvtgr5ZXDb8zpHMBPvvpEcgPmevm3I3p7H/tSqhHdck2XDTqesN1cyMhKVHrUTfXs6yvj2dzjCnPBD9P8Zuzeu9YvLHyppSK7rulT2ybo9Wt4IGWO95lbiun1jq9f2E38MPszFx3zaoD/099dSzZggtH3WgmW1fSEolaCzsRqAV4elF5Ks2ua+qGRxfcl4LC4z/ogrOG2hNM5IXljbjs1URFZ4EZ0mbBo+pPPyX9AXlayuQR7y98eTc+2ZgYcs+rBMrbTCSqxfLa3iEC1YZTxre8qjzVDXrg89RoTPz5hht7o7rY2i6yp1FC/z9vMom69uR9qvLx6JROOL6nMRXKD6676d19mHRkMT7deBhN7SeB8mOOf3y0s8cca2917jeJRHNjpOUNa78OLSX66B218swcEyT9scPx991//q+lv8O2A4NTLMOHvu9M7WbZUJ57LJ32xA4s2Jo7gLKV3eT8Y8pw56RqdCzRtzA2a0MT7vjPfvBITZcdV4GDzRHsPBR1u6ooXAiwXyPy9Ulv6Y6VFsm+merHF5YiETb9/rOWvmcl3kHKiwjUoLW95KqUq4kz1/4Ui7efnva12yZ2wP+cUGmaRPmOnn8tO4j/+7RO3mPu9HX56Ar88oRKdMtyQJ26TnzIzuc9OYleMqocAztGj25Wrr4dvsCB5n/jyz2fON0US8uTJIRDjAKQGAWVCNQAcjHlCdS4cISR5UftLNlxOjiJJl/8LKLbv1GFDkV5mDLM+H7y/U0RvP1VI3YfikCChHdXN8nE5PTFA45wNcoDMme6eF1fXnFIPnqEHzWSKe7osC7/RWnBAYQ3PY/6wzuFd6jP1k9JiRrviUSgOrHzk/JUmr69YSCeWxw9okJ9De9agPOOjsYF5SHh+PnuE3oVIk+jWxA/toMHKZ67JfXYDi0R43WaRtPrJfkM3x1Sion9iuTzlQZ3KkBbRMIX25vl45T5USAz10XJ/ZhuhTh3RKo7V4i1YVT3aCi7/254FE2tDZrKFvklJiH89VwEHZms00hEoDoAu+aVEZNDIeUMIz9oT2XzYUheia8/3DUBjR8eVYrjuicuvhxsiWBszyL5fPhOpXkpPpacjPY0RrBiVwvmbm1GkRLyPQ3O/AiNJxY14GCzPZHvdZg27av8d2JMjyKcNqAYZQXx+dPywj0Y3DksE+d/1z8SjX/kaQ0aqz/NiersNESgGgG74ZURkyMhqZapgyEnh+9MzstDz3lIu882nRNrAa/6rROrUKoiDnXz9jW24Z5wPbqX56FfdZ7MH+v2t8lHYVw6Kvs57up8nDqOWKOZ075WnM/kYf/YnoUIMQYeyq5X5XJsPrACS3d8kDlrD9lfaYQEmhPV01eIQDWglV55qrpc/JxEV44lTnNKjqpV2k5dOthcjX/Mf7BdTQHc/YcfgZHp+mBtI/jRF+kuLee4q9PxoT5ftPnv+ibwo4lFvXhU+xP7FuHcEUvQpWw7Fm1/F9savoxhFq23NrzjbRTyfVKiGjshEWgOoBTyTFCeWegpOTub4yGni6ebUAU95b+64has33+snP7U/sWYdGTmxZY/flIHrh4zXXzkfsHIcnmOUevF83tndSP4/Gjy1bsqHzee0AHHHVGIyqIQ+FTC0p0t+Pucenyx3Tm3qLxQC64Zdw0GdRqK9fsXormtKeHn08v2V9edlKi2XksEmgUnmTz5ue18b7vLh785Uf7qvePx5qro9kQ+DB+Q5LqjQLVhfytmzD+Qs4fxOcTvDS3F8T30ObFvqm/FaysOYVtDm0yWb089Akd3zXwQ3Nr9EUx9eReWOECkI7p+gEkDHhbnMDl7+yUp0Ry9nAg0A0DqYbtvlghyLHVIUh4env93NLVW4jff6JAxCAc/rZK7+Gi9tBxBnC4vFmK4YnQFCkK5h/USGH49cz/un524Z11rHbW+N/XYG9GpZIs/loy0LX0RiWbpHESgacAJmvKMxtuT5E3Sszddhs1138TPxlam7TZtkiSfVtmsc65yaOcC/HhEGQqyrMqrC+xcmodzjy77+hy+3OSpTnfJq3vkc93tuHpWLsePjvqNjJMTIwKByiESzdChiECTgAmi8lQUdnlhNc499hH8z5v5OLlv+mE3P4LjmSXGCKpTSQhnjyhD78rs57Jzk0w9tgId9I38ZUs2tAA97rYn0tO3B/8ZAzvN9o/TkjYFqrQ3HIqw6X+mbZ8JjEEEqoIjpjyhHD3sQT+UFPNmU3Dx9pUVVuO6k55E1/L+mPlVHWZvSE+STy1ukH08jV5cvE3oVYTJA0vAV+vTXcO7FeHUfsYPgvvr3IO49f09RquYNl11STOmjpz69SktajyD0z+ioLBwRKK98+oOQgTajkZMefID4IIy6dnezrKialx3IifPfjIazc3NeG7RfmyuS9yzzofvv/1vHbjbkdmLq9EfDi9D36pUNfqjEeXoXma8a25rkDDkPmsjPt05uSvG93kT/156j4/85vVJ0PbvgkhU1fmN91KzX5BA6ePKk0eS99MOo9y/BBVFHXHNiU/EyJObpbW1FfsOtuDR+fsTyHLd/lb8Q8Pqu1bT8tod270QkweUyKvtynX5mAoUmzhIMyIxdLDwvKUelflYddMglBWGMHP1o/j3sv9niHl8xLxEou2dNfAEmkieSZ++z0doFcWdcP2JT6NTWeopnFyFztt8CP9deygGysx1jfhwrfVBQPjCEp9zPalvsbzyzxewzB5qd8aTO7DrYAQ8IDIPEGLm+vCn/XDqgPie+FnrnsFLi38f58NMmfu7/xCJJm2hMNPHPJmWkydjfHumFI+qFF2MjutQn96XF3XCDSc9k5Y8uTEjkQhaWlrw5ML92NnQJtv3HwsOYN0++0LR8Z0+Zw4qwYPf7Yx8k6eC3v953E+VTznsaIhuM911qA2HWiT5v4bmCJpaJBxsv+eOCNUlIVQVh1BdHP33+8Mq8LOaznLMT/UVJdE744vxyo54n/aX2LgsoX00JxpYBZpVeXry50B7pSuKOuH6k9IrT3UunEB3NbTg6S/qcLg1gukWzX/mqum6G3qjU4nxrtkaYXhwbn2uYnI+Ly8M4eKxnVFZnN5r4LMNL+L5L36TMx+fvxBoJWq8l3q4V8SVJ2pixw7Lv6yqY4d9el9Z1BXXnfRERuWpNivHhg/lt9a34O5Ze/Hg3Ny7j6zoFv86txvOHA5r9xcAACAASURBVGDAh6m98I31El5bYT7E3LeHVWJkz2g4v0zXZ+tfxPOLatuVqP/7T7rvBYyFpYCuzgeOQIOsPKuKOXk+hY6lPTTzXFtbm7yotGhHC054aKMlK/C5Ch/UqQDzr+ie67WMz9/86jDW7k3dT68nw14dCnDhmC6aknAl+q8vpsvBogN8BVKJBopAZeWJtlqA1QSto1cVd8P1E/WRp4IRH8rn5eXhleUNOOeZTbDAiykn/K+ed4QhX9Cdh4Dnl5hTysUFIVxZ0zVjKL90lZ+94SU8u/COnO2y8oXOZX2w+6A9mwYM1VNWom3T7z9rZWDOWAoMgSrKU5KkGnlBoH1WPDok4UMvZYde9N7O57845QXwofQrS/+ABZvftr38jmU9cc0Jj6JjaU9D34WCEU/82Pz9uOTFLYby0Zto2dW90btSexetOwz88Lkd6FIWQteyPPk/tXuUlvJ5tP2fn9gNfP5T7zV30+t4av6vbO8/xQVluGrCw+jXcSTeXzUDb664z9H+m/X7AAI1nNfeO/X2JoHejypPHkle2WHkXuX4Tp/bTnsjVgGuWrh6sevqVNoL1018Enz4btV176d7cP0b263KLms+4ct7YkSX3E6hG+sjOOaBzYgkeSwV5jGZSEsLGArygMIQ/7f9//MY1JuhelcV4C/f64kqE06o8za9gSfn32wbNkX5pbiq5mH07xgNO7jn0Gb89r0zbCvPWMYs/LUMCcRpn74n0LjyRI06BkRcYaaPDWHX8x6VQ/DLU+KEyefN+PxZeP2LCbEjrCi/uqwHrj/pKUvJU/mgXl1+ABe/sAV1TVEXJzuv6yZU4epxlehWmtpd9zUBj3/RgDtm7jVVhUGdC/Hplf3RpSz3Pv1cBS3Y8jaemnczIohkjDlixL7FBaX4ec0j6FM9IlaFuqadqH331JRyjORv5ffB44kGYWHJ1wQq4pxnzypOoC+nfIPPfVELvqJr1cUXivicJ5/7tOvaVNciz4nO3thoVxEJ+fJhNT8Q7oiKfOw5FMH7aw5i2wHzBN6/uhCfXtUf3SvMk6dS4cXbPsCjc26Qz4234uLK8+oTHk0gT54vJ9A73jnFiiJsyIMrUX/PifqWQBVXJUh82B7dEsLkUBDxrZpu3PeoGpyWQHnv5T6F4fUvxA4pM1q/TmW9cd1Jj9tKnuqv7fb3d+J3M3fZ8AHan+XRRxTj9Yv6oG8H7ZHztdZq8bYPVSRqvP8V5Zfh6hMSladShyiBnipM/079vuDr4bwvCTRhzlOwI2d68iH8qakKVPkgXlx0J/gul9ils/58zvOGk58Bd5Z38vpk/SGc/cxGbLdAETpRb65i/3BmN1w4qoM8dWLXtWz7R/jH59cgIrUrZZ32LMorxdUnpirPRAJVKVCd+TtzhJN/50Rt7Dp2dcns+cbJEzUibkWODuGzLxq9uPj3mLX2mVhQqEwtTm4f39N+w8SnHSdPXj9+xO8fZl6FpxedgtV7x7ljfI2l/nJiZ9wxqYscHMSJa9n2j/HPOdeiLZK4DTZX/yzOL8XPMyjPVAWa2pJc+Tv83JdK1FcEGpvzlOJ+nqL9IPeoGoKbsyjQBCW69hnNAoGv7l878XHXyPO+jy/ClrqVcn33NfbCvG1TsGrPCYhIuVfQnSAxXsaEPq146txhOLKj8VijRuv65c4wHvrsKrRGWjWd4SrPeWZRngkE+nZcgYrW3xPqw/1EfTYn6hsCjSlPPucpj8lijp7RZXZB7ntWDs46hFd/oK8tvQczv3o0Z/27VvTH9ROfBA+K7PTFled9sy7GlroV0blbxaEWEg42d8SCbd/F0l2T0NJW7HTV5PIK8xoxuNOn4IfBda/YhCvGP4AhXd3ZR/Hlzs8w47OfoVXiAakz98+igsxznskgqudAk/EX8p6vzvvIxckXBKpWnkL/AgPQqkCVD+XVpffgP5xE26/k9nUp748bTnaPPO/9+CJsrVuZsX68vi1tpVi04wws330W6pqcIdKuZWtk0hzS6RMUhOIH4IVC+bhywoOukehXu+fi759OQ2skutU02Z6F+aW4RoPy9KQCVdrrIyXqeQJNUZ72HvNq+jAxPQpU+UjeXvkA3lnxtxSH1SMqB+Hakx51V3nuX6H5kLXRvadgUNfb8OHqg/hwzUGENxzSfThdNhnL1SYnzGO6vYdOJRsy1isvr8BVJbqak2j4SrREDif0Jz3KM2UOVPB+n+qo6g8l6mkC5eSJSFstWHTOM3lSXMR7vQpU+VD4UJ4P6ZVwFd0rB8o7jEoL0p+eaed4mQ/bFeWZ7YSgZPzH9vk+Lhj9+1jVGlsi4Kv3H6w+iA9WN2DBVn3BmvmOodE9i9GxZBkOHX4R/aoWIU+lNrPZP89lJbpu7xf42yeXobkt2mY+56lHeaoJ9Pb2OVAR+3vW/sGVaGvb9PvP9u7eec8SaILyjH2SqrnOhKM5lBfcf96jchBunvSKIX7jCzVr9sxDz6qhuPrER1BaWGUoHzOJDrcelOc8N+9fnuUnKxnnaInHJxFounpsqW+RAzjn2uHUtTwfR3WNhrx7Y/m9eP/LGar6pC8/3ZEaV0x4AEcdMdEMJIbTrtkzHw+Fr8Th1kP47vAbcdrgy3TnVde4o90PVC0htLc/Oong4vfBvK1EPUmgMnm2K089CkiEX+juVYPxq1ONEejaPQuxatdsnDzgApQUVOj+2MwmUMhzk0ye+hV/sgI1Wx8lPSfQ976cYXgEclXNQxjW7USrqqMrn437lmL5jlmYeOR5hn4QOYHeLjvS67eHCN+DPAcssbAU8aYS9RyBJirPTIpS3L/35DuRNLgx6foKHXhZXm3/WLXabuDwPS0K1EhTcivQ7P0hL1QArkTdWp030mYljbwK/3Z0J5KnD63zqBL1FIFe88LQyQixeDxPUX5Ck0dAWe75TqSbJ2XeiWTmY7IrbVNLdM5zS/3K9CM+je0f2zdxDtSq+r6xLKpADUtQAHxO9IqaBzHUJRcno1hwAr39rXY/UA9+D4kxqKUwIpKn5kQ9Q6DXvDBiMgtJtRKTYjuMxNWZmfWA0UUkox+Y2XRR5XkRNtetjPGTUdydGsIbrV9+KB/TJniLRKMK9BSv68+4Oxcfzoe8EwrPEwR67QsjaqRQ270AG2OWENxOz7dyekWBHmqpx/0fXyLvMLLikgl0THwV3oo8eR4xBWpBhl5TogkK1IL2i5EFm8cibdfdd/bKsBj1yVwL4Ql02rzRBUUbGvkKwcVydCI5gryi8Lx336NysCcIlJPnvR9fiG11X1mGt/0K1Jr+kJ/nHSWaqECtab8Q35eExw73LZk2Y8x8vm1L2Et4Ar32haO+L4XwqrAI6qyYFxSoTJ4fTcW2+tU6W5f9dS8oUKUFXlGi/lSgUSuwCKbcd/by1yzthBZnJj6BvnzUg5KEKy1ut2vZiU6gdpEnB9xLBMrr6wUS9TWBMvz9vh8sv8q1j1VDwcIT6DUvDlsJxoZoaIsnXhGZQO0kTy8SqEKiPx1/H4YfcbKQ/cvPBAqJfXn/j5YNFRL49kqJT6AvDT8ESCUig6inbqISqN3k6VUC5fUOsTxcPuF+IUnU1wQK1nj/D5eV6vm+nH5XeAK9+sVhhxhYiewmLEdLS3MMsXxUhzee80WkX51mbCeSXZ3jUHM9/vLRVGw/sNpWfMdxP1CbVuHfXTnD1v7BWB6m1YhHojKBvtnuxuSD7yPh+4bUeP+PVhCBmvnwaQhvBr3caZ1QnkotvDYHmoyeiErU1wqUhvC5P+Bcb1z94lEPMuDKzBvVlMO6Mm1kE+s5d6T/1Wli7ESKKs8LsL1+TRZHbOvws12Bpt3QaF39+XBNNCWaoEAdaH/qd2gtvur8Afz9rz+iRaRcHJn1eYobk+gRk3PUT97KKQCBxpRn3eroL49y2YivIwrUxvrLEElAKCTOnGiKAnWg/U71F3JjMkWd0cSyI/36xhkSpIs9HSyhXePxYCJuz4EqynNb/RpHg1CM7TsFU22YA32d74Vf+ZCjwTRCLIRpNX91fWGJE+iv3+R74T0eTCSp/hLwWEs/cqS3gEIBeSsni27l9Ho34eHsbnF5Eemvsy7Dlztnm97brnfPuTtDeHt/dm+b/Aa6VfS3pJ8byWQ/jwf61qn+ok/Gt3Ky6+47eylt5TTSKdKlkSMxMVYrATX2fhL2UrTbCrS5tRE3vcZDCtjbznT5+0mBKu2bcvT/YNLgS6zq5rrz4QR6+1s+CGfX3h8lSOGQ5J2ITMK7Mal7FI/IBNYmh7Nz/vO3hrZ7CDCE//unV2LZ9lmkQE3+jFQWdcKvTn/FlaOkle/CXwqUhSF5K7CypwiUd5qfvTB0MmOslklciXrv4gR6y+nubu2fu/F1PDHnZsfB4/FApx5/l+Xlvr70L3hvJT/Sw7mrorgTrj/5SXSt6OdcoWlKkhWoPAfq7UsCwiF4R3kqaHuOQHnF48N5VpNyLqzgq5B8Ff5Xp7vvxjRnw2t4at5tsuO8U6uqMoHatojUTqAO2J+T542nPIPOZb1cZ626xp34tRJQmdfGgfZb3V8Yk8Lw0LBdbXRPEmhMiYLVMnlOVP17IPYpSfIc6Oli7ESSSXTurZBiYcHtDWkuz4Eeb3080LgCtbf+/JemorhjO3n2dp08eQVkAn3zG+11sb/9po4kSHNkAJ/zlCBNf8CjJ3N6lkAVJRrhw3molKjgk6OiKFDl609RojbiN7afjQp0hepID73uARrfF0l5KvaLKVAb7WbXZLmXlaenh/Dqn355ThT8nCR44qgPvhPpFkEUqJpEn5x7qzz+s/M75G5Mds2BynvhTS4KZUtfXtwJN8nDdjGUZwKBvvkNW+1mE66eVp6+IdCYEpWH8yzNwlLypFDyyMvZ5zwakwhzoMkoRIfzt6mG88ob1uETXUSyYwjPHekzLSKZr39FcWdh5jyT7RYdwmdbRDLf/sRJcvPfj9eH7b6YA002Y0yJ8tX59okJ+ZdTJami0ZzaN6wo+1Ycfi6iAk1QonNuhcSi88hW4zeOD+FtWoV/d4USjcla+5YXdcJNp4qnPNUK9DY+B8rXAgXo3zm/L8AXytNXClRpDF+dj2RUokLM+UNUBZowJ5pWiZrHzx0FarzeIs556legxttvdUo/KU9fEihv1M+eGzqZ5bFaCOon2rODeHOgyR/K53w4z5Vo4qHdpr8neQ50rD1+oFyBWnlx8hRZeSYo0DeUVXgrEbA4L+Yv5elbApVJtH1hic+JxgO0KoGY3f036kgvhhtTtk+Ek+jTc29DRIqAMeW0R3P/jutnlxvTvXh3xUOW1bOyhM95Pi3cglE6eylzoKL1c3V94FPyVKa5LP6pESM7UZWoFxSoYkGrlagXFKhXlKeHFGhYYt7188zFZp72A83VuPjCEl+djytPZVe7oqycvPeKAk0kUb46H1eiRvFySoEarZ+XlGcigUbD2bnRn+WdbO0OZMnl+1l5+noIryZWWYmGon6i8t9d3urGz0S69Qx398Ln+uFJfv70vNvx2bqXon82gZ8jCtRE/S6vuQ8je56mFx5X3+d74X/9hsqNyUT7zdpXnZ7vbUdEmv7Aj1e+5ypANhfuawWqYCcrUYmTaFSJxi/nt76VFJTj7imf22xWa7P/ZO2/8Nz836gCFqt/f7XjOY5v5Rxrhx/oXxBdRDJnz2tPfhSDu46zFjybc1u183Pc95ESTs9c+83iF0vP5zzb/E+evp4DTe63ihKVJNRwfzlFScmxNBy+H9V7Mk4eeL7Nn5Y12fNFpBcW/g7b69bI34cZvGQ/ULtW4ZdHt3KaqV/vjkfh28OvQVG+0AdBxgzbcHiv/MOxef8KV/tzwvcTEOUZmCF8+uG8okQz/WInb15LVlz0PDFgsjZ8nFOgZB8j9skc8VabfcGd5AMwbFdzSiCG8MkkCj4nKqifqDW6UcxcuAK90AYF+u8lyhBezHYHolY8JF0Evp/zTLZl4AiUA8CH85xE5VB42qfwLJsiihlBkCkrp+pj2xBeIdCA4Wlyyte6/sznPAOmPAM5hCcl6q4WIgXqLv62lC5J/OC3wCnPwBNoghJVDecF8QKJ9XU/1cd2BWrOy0rG3E94296eACtPItB2BOThPBB1cVLCD8lhbVThiOjeEjzG9bdxDrR9FT62DE/2i4fTsqX/Blt5EoGqxjOxOVEJ8mmfyWuOdB9FwOwU43ib3JiURSSz9aP0Gr2kWTCc5LVMeQRyESkdMFElqtqxFGOMLAFpEwJmpsmVnicEYJXnQMdZH41JJlCuQJMvwj8xAK4l+JDyVMNIBJqsRDmJMm8emazlF9PNd2gRyU30LSiblGfa32gLkPVPFsqcqCSfscTkmJj0rzU4jO83xTYF+s7yh8hONvZXgJRnOpYjBZoGlbTDef/8RrjWEseH8K611HcFh8GPHvZ5YBAjViMCzYAaKVHrlTcpUGuUvMMjojALsJ9nLlIlAs2CECnRXN1H33NSoPrwEuBtUp45jEAEmgMgTqIS9xNVTvskP6c4Yjr9frgf6EXj/mA5L/x78V/A50BN+1npbI/PywszFtwdRlo7KRGoBqTUzva0UyXxlHA9eDihQPXUh5ue3k9rT1KeGniBv0IEqhEoWYlKfMeS2sWJJItG12sZZX6kx0XjbfADVRSozyWhQxKblKdGTiAC1QEUf1VWopxEGT/tMxqImf7VjsN4vpXTJkf6d5bNIHuY74+kPHVyAilQnYClV6I6Mwno63wIf9F4G+dAA4qrRc0m5WkASCJQA6DFSTQ5sr06ErqScfzUwsSI38F77twQXt2tCf/0kebV/Q9EngZ4gIbwBkFThvPynKiyOp/Mh3QfRUC1SuOIAqVVIX2rfCDyNEEDtIhkBrxEJUqMmcKYSQwaJVC7FpGUYCLEoDoYNMwY7TAywwE0hDeDHl9YemroZCkPtfJpnyrBlWngGOS/80Uku+ZA317G98InHqVG95nxACPlafLTl5MTgVqAYoISzXSubvJyffK5ygF4Pq6/jW5My7gjfZZzjQOAr/b2E3la8NkTgVoFojwnSko0pwIkBeq+QuZHDzN+euYFK9+zsv8HNS9SoBZaPq0SJUfRmDJ0VIES7mkcdBFmbUSeFn7yNIS3Ekye17Snhk7OC6GWxxNNXoUO+r1dCvQ1vhOJD+GTVv3pPsELIhwi5Wn1504EajmiynA+FN32GeRFo+RFHLsIlAcToUWk9N6e7f2Phu12fOi0iGQTqmolqo7iFPBl4fFH2rMKLyvQpapoTAHHOWEyGghHIpg+g+Y8bfnYaQ7UFlijmcoLSwlKVAmoqywmBOt+vI2r8FEFGiw8c7eXFoxs/LxpFd5ucJU50RAnUa5EA37JQ/gJ1u+Ff22Rag404BjHms9IeTrRFUiBOoAyV6KRdiUa29oYwMlRGsI74+nPGMJtNGx34MsmR3pHQCYlGoWZFKgD3U1COAKa83QAaRrCOwWyUk5MiQZ0OE8Eam+PI+VpL77pcqchvMOYcz/RELifqFTDGIOkcvj2+/2EI6fYNgf69tK/w+/4ZWsfI+Xp8JccLY4I1AXYFRIFC9bC0unDLsUPRv3CcsQ//uo5PDt3uuX5eiZDWjByzVREoC5Br1aiMRdoJRiG8rsm+zOqVptceD6w83EIhfKjqx8myq8oqsZ3R16DIyoHWI54S1sT3lj8N6zbu1iFV7s80IlfW1sL1uxaGJcXOtPH7WWsfL3pmSSFI2Dk52l5r9KWIRGoNpxseUt0JXrHt19H96qBtrRd5EzX7l6Iu987T+QqKgRPTvIuW4kI1GUDpFWiOeMa2b/VprSwAn86e47L6LhX/JVPD1UkpJD/MpDydK93xEsmAhXACjElmrx3Xglvmcl90Obnpw6dinNG3yoAQs5W4enP78Cs1S/Ew2u6hH8svGlq+eSq5GyXyFgaEagghhBViU4aeiHOHn2LICjZX41n50zHR18954zHu4GRBilP+/uAnhKIQPWgZfO7cRKNrs4rA3WlWLfug0Kiz875LT766tmYld3CO4u9SXna/A3qzZ4IVC9iNr/PSfRr59BaxuOJqobocrEu3k8aehHOHuNfJRpVns/Ki+Cxj8JFvJPtLQHhrx1dabXd5u9Pb/ZEoHoRc+D9ZCXqQJGaivCrEk1WnprAcPAlxkPS0fZMBxHXXhQRqHasHH0zqkR5UGZJqNM+zxg+DWeNutFRLOws7Jk50/HxqmdFjvFCytPODmAybyJQkwDamVxWohJqJb5jKTl6k1JwpqhONj4/c8TlmHKs90lUVp6rnk0fyt1G/BL2/2WxHylPO78ua/ImArUGR9tymfbY0MnIk+TjQWwrxEDGZ3pcif5r3l34cOXjBlruWBJSno5BbbwgIlDj2DmWUhnOywtLMSnqvkQ6c/jlmOLB4fwLMnk+0Q6gCxI+hwRlYOEIo5B0jn1gJgoiAjUBnpNJSYlagzYpT2twpFyiCBCBeqgnJCrRaMUlSPJZQMl6NH5v//NvDp/mCSXKlecHK59I0n/246PVPlFXJVKeHvokiUC9ZCxe15gSFSwo83eOuRrfHXm1sHDKynOF4HOeETZ9xsUr3xMWRKpYCgKkQD3YKeLDeVYT9fxWBRdx8f6sUTeBz4uKdsWH7YpnvBh4xXdGsDDaQOQpWsfRUB8iUA0gifiKqEqU+4ieOWKaMJCR8hTGFL6sCBGoh82aVomqjgiJhxNSKS8Hnp91nBhKNEaesbBGzuKgAX9Snh7+/mgRyePGi82JhqRaCRBqx5LbSvTlhX/Cu0tnCL3DiNGcp+e/QFKgnjdh+8JSSDxne7dI9JWFf8I7S2eIbNkwiDxFto/muhGBaoZK7Bfl4TxXohJqRBqxOk2iLy/4E95dNiO2tubAjIWGkXr0qCbZLkCYlKfY35Ke2hGB6kFL8HcVEo1v+xQjoqVTJJqqPMVof7zbsDAitNou+Gekq3pEoLrgEv9lTqISH87H/ESVrYqZ6u7M83OOvwWnDbvINgC58kw/bHemfZkb1l4+I+Vpm/FdzJgI1EXw7SpaIVG+d16kIey5x9+CSTaQKFeeby+ZoW8orTql2YEpD5rztKuzu5wvEajLBrCr+FQlaldJ+vK1Wom+vuiv4P8JfIWZRDuMBLaPqaoRgZqCT+zEMSUqoSZtzCGbT/XMdKqkVUqUD9n50D3jIc8utS9WHwZSnmJ/IqZrRwRqGkKxM5j22MDJEsuTI9urtg7GT510aeunWSWqkKdIW1kT8QUpT7E/DUtqRwRqCYxiZyIrUSaen6hREo2Rp6iw04KRqJaxvF5EoJZDKmaGMRKVpBrFITE69s20mqKcq2zv83PG3ILTjtK+Ov/Okhngu4ziW4zsrZ9ufLifJ815ivkR2FArIlAbQBU1S1GV6PnjanHykJ/khE145UnkmdOGfnuBCNRvFs3RnksfGzg5j+XVShI/7ZO1B2RWBJ179+eN/w2+kYVEuZvSKwv+JEx9o4tycbzAWLhNYtMfoXiegfqiiEADZe5oYxOUKGcC5XJ5487549MrUXnYvuBP8dMzBamvavmfhu0B/I54k4lAA2p4tRJVmElRVG7enze+NkGJfrD8cTw/9y7Za0CE+vEjVBLwYQhHSHkG9CsiAg2s4ROUqGDHg/xk3O04Zej5eHfpP/HS/LvFtRFfbacFI3Ht40DNSIE6ALLIRXAlGpLa/UQzeqTH3UZFDrCZ2aPejvrzo4dpzlPkvu1E3YhAnUBZ8DLiLk4ZdizZwT+xgXB8atMz/M1AC0aC92mnqkcE6hTSgpeToEQFr6u71SPl6S7+YpVOBCqWPVytjaxEJakWjJRohtgBpDxd7aHiFU4EKp5NXK3Rpf8cODkUUvbOu1oV0QoPRyKR6Y9ctprObRfNMi7WhwjURfBFLfrSx4ZODnElCtSo9kx6edbS7CwuLRiJ2lldrhcRqMsGELV4RYlK4DuW4ldyfHe/3wMg5SlqJxWgXkSgAhhB1CpkV6JKrdPOFqah3OT3PJE+HImw6Y9ctpKG7aJ2UpfrRQTqsgFELz6qREPyaZ8xP8v2SisBk2NtSNoK6uXnjCtPieY8Re+fbtePCNRtC3ig/Ev/OXRyKHbufCbF6au/hyORNlow8kDfdLuKRKBuW8Aj5ctKlEdxkiPb+/ci5elf29rRMiJQO1D1aZ4JSlSk4z6tO1aTlKdP+65dzSICtQtZn+YbVaKhWkl2cfLPJQFh0JynfwzqUEuIQB0C2k/FKMN5flCdQOFEk9e4NN8zsHBEojlPP/VRp9pCBOoU0j4rJ6ZE1avz6mggSnsF93Ii5emzjulwc4hAHQbcT8XJc6Is4tnhPClPP/VGd9pCBOoO7r4plStRsFAtaw/K7JWdSRKjOU/fdEIXG0IE6iL4fik6YWHJA+6gjNGcp1/6ntvtIAJ12wI+KV9RopAg750XmEfDAO0w8km3c70ZRKCum8A/FYgN57mLk4AMSsrTP31NlJYQgYpiCZ/UQyZRhGq5i5N8WIficK8wqmv3IOXpkz4mUjOIQEWyhk/qopAoQzyyfbJXk5P3PCQdDdt90rkEawYRqGAG8Ut1YkpUkmpg3VbLuKLVupWUyNMvXUrIdhCBCmkWf1QqnRJ1cmoUYGGAdhj5ozeJ2QoiUDHt4ptaJShRzZsrleYnBRjVk55x8qTVdt90JEEbQgQqqGH8VK34wpJjq/NEnn7qQAK3hQhUYOP4qWrplagNHqN8hxEpTz91HaHbQgQqtHn8Vbk4idoUCo/I018dxgOtIQL1gJH8VMVLHxo4WQpF/UStXZxnYRaiOU8/9RUvtIUI1AtW8lkdZSUaCdWCqc+dz9TI5PAkye9JAC0Y+ayHeKc5RKDesZWvapqgRDPtnVc2MmV9TsrTVx3DY40hAvWYwfxU3UQlaqBlNOdpADRKYiUCRKBWokl56UZArUT1JWZhFolMf+SK1e/pS0dvEwLWIUAEah2W1Om9ZwAAAnVJREFUlJNBBDiJIi90JySMkSCBgSHrv4zNQ1vkNiJPg4BTMssQIAK1DErKyAwCl8wYUMNCocslCRdny4cxPCZFIg8/Om1N2Ex5lJYQsAIBIlArUKQ8LEFg2kOjC1pCDd9iiJwpgZ0CSH14FDzG2EZA+o+E0DsFkfK3Zlwxv8WSAikTQsAkAkSgJgGk5IQAIRBcBIhAg2t7ajkhQAiYRIAI1CSAlJwQIASCiwARaHBtTy0nBAgBkwgQgZoEkJITAoRAcBEgAg2u7anlhAAhYBIBIlCTAFJyQoAQCC4CRKDBtT21nBAgBEwiQARqEkBKTggQAsFFgAg0uLanlhMChIBJBIhATQJIyQkBQiC4CBCBBtf21HJCgBAwiQARqEkAKTkhQAgEFwEi0ODanlpOCBACJhEgAjUJICUnBAiB4CJABBpc21PLCQFCwCQCRKAmAaTkhAAhEFwEiECDa3tqOSFACJhEgAjUJICUnBAgBIKLABFocG1PLScECAGTCBCBmgSQkhMChEBwESACDa7tqeWEACFgEgEiUJMAUnJCgBAILgJEoMG1PbWcECAETCJABGoSQEpOCBACwUWACDS4tqeWEwKEgEkEiEBNAkjJCQFCILgIEIEG1/bUckKAEDCJABGoSQApOSFACAQXASLQ4NqeWk4IEAImESACNQkgJScECIHgIkAEGlzbU8sJAULAJAJEoCYBpOSEACEQXASIQINre2o5IUAImESACNQkgJScECAEgosAEWhwbU8tJwQIAZMIEIGaBJCSEwKEQHARIAINru2p5YQAIWASASJQkwBSckKAEAguAkSgwbU9tZwQIARMIvD/AVDkvnv22WOGAAAAAElFTkSuQmCC"/>
          <p:cNvSpPr>
            <a:spLocks noChangeAspect="1" noChangeArrowheads="1"/>
          </p:cNvSpPr>
          <p:nvPr/>
        </p:nvSpPr>
        <p:spPr bwMode="auto">
          <a:xfrm>
            <a:off x="155575" y="-381000"/>
            <a:ext cx="800100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2" name="Retângulo 11"/>
          <p:cNvSpPr/>
          <p:nvPr/>
        </p:nvSpPr>
        <p:spPr>
          <a:xfrm>
            <a:off x="5461771" y="1021654"/>
            <a:ext cx="6187210" cy="489746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8" tIns="45714" rIns="91428" bIns="4571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210"/>
            <a:r>
              <a:rPr lang="pt-BR" sz="900" b="1" dirty="0" smtClean="0">
                <a:solidFill>
                  <a:srgbClr val="70AD47">
                    <a:lumMod val="50000"/>
                  </a:srgbClr>
                </a:solidFill>
                <a:latin typeface="Calibri" panose="020F0502020204030204"/>
              </a:rPr>
              <a:t>Domínio Adquirir Emprestar</a:t>
            </a:r>
            <a:endParaRPr lang="pt-BR" sz="900" b="1" dirty="0">
              <a:solidFill>
                <a:srgbClr val="70AD47">
                  <a:lumMod val="50000"/>
                </a:srgbClr>
              </a:solidFill>
              <a:latin typeface="Calibri" panose="020F0502020204030204"/>
            </a:endParaRPr>
          </a:p>
        </p:txBody>
      </p:sp>
      <p:sp>
        <p:nvSpPr>
          <p:cNvPr id="16" name="Retângulo 15"/>
          <p:cNvSpPr/>
          <p:nvPr/>
        </p:nvSpPr>
        <p:spPr>
          <a:xfrm>
            <a:off x="5094107" y="732810"/>
            <a:ext cx="6910539" cy="533142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8" tIns="45714" rIns="91428" bIns="4571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210"/>
            <a:r>
              <a:rPr lang="pt-BR" sz="1000" b="1" dirty="0" smtClean="0">
                <a:solidFill>
                  <a:srgbClr val="70AD47">
                    <a:lumMod val="50000"/>
                  </a:srgbClr>
                </a:solidFill>
                <a:latin typeface="Calibri" panose="020F0502020204030204"/>
              </a:rPr>
              <a:t>Infraestrutura Bradesco - Azure</a:t>
            </a:r>
            <a:endParaRPr lang="pt-BR" sz="1000" b="1" dirty="0">
              <a:solidFill>
                <a:srgbClr val="70AD47">
                  <a:lumMod val="50000"/>
                </a:srgbClr>
              </a:solidFill>
              <a:latin typeface="Calibri" panose="020F0502020204030204"/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155575" y="794648"/>
            <a:ext cx="4331724" cy="52695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8" tIns="45714" rIns="91428" bIns="4571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210"/>
            <a:r>
              <a:rPr lang="pt-BR" dirty="0" smtClean="0">
                <a:solidFill>
                  <a:srgbClr val="70AD47">
                    <a:lumMod val="50000"/>
                  </a:srgbClr>
                </a:solidFill>
                <a:latin typeface="Calibri" panose="020F0502020204030204"/>
              </a:rPr>
              <a:t>Ambiente </a:t>
            </a:r>
            <a:r>
              <a:rPr lang="pt-BR" dirty="0" err="1" smtClean="0">
                <a:solidFill>
                  <a:srgbClr val="70AD47">
                    <a:lumMod val="50000"/>
                  </a:srgbClr>
                </a:solidFill>
                <a:latin typeface="Calibri" panose="020F0502020204030204"/>
              </a:rPr>
              <a:t>Corp</a:t>
            </a:r>
            <a:endParaRPr lang="pt-BR" dirty="0">
              <a:solidFill>
                <a:srgbClr val="70AD47">
                  <a:lumMod val="50000"/>
                </a:srgbClr>
              </a:solidFill>
              <a:latin typeface="Calibri" panose="020F0502020204030204"/>
            </a:endParaRPr>
          </a:p>
        </p:txBody>
      </p:sp>
      <p:pic>
        <p:nvPicPr>
          <p:cNvPr id="1026" name="Picture 2" descr="Consultoria em Banco de Dados IBM DB2 em Goiânia - Intervention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260" y="5144229"/>
            <a:ext cx="838966" cy="629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3" name="Retângulo 82"/>
          <p:cNvSpPr/>
          <p:nvPr/>
        </p:nvSpPr>
        <p:spPr>
          <a:xfrm>
            <a:off x="426323" y="1681374"/>
            <a:ext cx="865065" cy="27336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 cap="flat" cmpd="sng" algn="ctr">
            <a:solidFill>
              <a:srgbClr val="6D6E71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21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972" b="1" kern="0" dirty="0" smtClean="0">
                <a:solidFill>
                  <a:srgbClr val="6D6E71">
                    <a:lumMod val="50000"/>
                  </a:srgbClr>
                </a:solidFill>
                <a:latin typeface="Bradesco Sans XBold"/>
              </a:rPr>
              <a:t>CRIM</a:t>
            </a:r>
            <a:endParaRPr kumimoji="0" lang="pt-BR" sz="972" b="1" i="0" u="none" strike="noStrike" kern="0" cap="none" spc="0" normalizeH="0" baseline="0" noProof="0" dirty="0" smtClean="0">
              <a:ln>
                <a:noFill/>
              </a:ln>
              <a:solidFill>
                <a:srgbClr val="6D6E71">
                  <a:lumMod val="50000"/>
                </a:srgbClr>
              </a:solidFill>
              <a:effectLst/>
              <a:uLnTx/>
              <a:uFillTx/>
              <a:latin typeface="Bradesco Sans XBold"/>
              <a:ea typeface="+mn-ea"/>
              <a:cs typeface="+mn-cs"/>
            </a:endParaRPr>
          </a:p>
        </p:txBody>
      </p:sp>
      <p:sp>
        <p:nvSpPr>
          <p:cNvPr id="84" name="Retângulo 83"/>
          <p:cNvSpPr/>
          <p:nvPr/>
        </p:nvSpPr>
        <p:spPr>
          <a:xfrm>
            <a:off x="399019" y="5356741"/>
            <a:ext cx="919807" cy="32607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 cap="flat" cmpd="sng" algn="ctr">
            <a:solidFill>
              <a:srgbClr val="6D6E71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21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972" b="1" kern="0" dirty="0" smtClean="0">
                <a:solidFill>
                  <a:srgbClr val="6D6E71">
                    <a:lumMod val="50000"/>
                  </a:srgbClr>
                </a:solidFill>
                <a:latin typeface="Bradesco Sans XBold"/>
              </a:rPr>
              <a:t>SISCRED</a:t>
            </a:r>
            <a:endParaRPr kumimoji="0" lang="pt-BR" sz="972" b="1" i="0" u="none" strike="noStrike" kern="0" cap="none" spc="0" normalizeH="0" baseline="0" noProof="0" dirty="0" smtClean="0">
              <a:ln>
                <a:noFill/>
              </a:ln>
              <a:solidFill>
                <a:srgbClr val="6D6E71">
                  <a:lumMod val="50000"/>
                </a:srgbClr>
              </a:solidFill>
              <a:effectLst/>
              <a:uLnTx/>
              <a:uFillTx/>
              <a:latin typeface="Bradesco Sans XBold"/>
              <a:ea typeface="+mn-ea"/>
              <a:cs typeface="+mn-cs"/>
            </a:endParaRPr>
          </a:p>
        </p:txBody>
      </p:sp>
      <p:pic>
        <p:nvPicPr>
          <p:cNvPr id="117" name="Picture 4">
            <a:extLst>
              <a:ext uri="{FF2B5EF4-FFF2-40B4-BE49-F238E27FC236}">
                <a16:creationId xmlns:a16="http://schemas.microsoft.com/office/drawing/2014/main" id="{C57E8836-67C6-A10B-88D2-C6256C1969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41948" y="19050"/>
            <a:ext cx="746205" cy="739840"/>
          </a:xfrm>
          <a:prstGeom prst="rect">
            <a:avLst/>
          </a:prstGeom>
        </p:spPr>
      </p:pic>
      <p:pic>
        <p:nvPicPr>
          <p:cNvPr id="118" name="Imagem 117">
            <a:extLst>
              <a:ext uri="{FF2B5EF4-FFF2-40B4-BE49-F238E27FC236}">
                <a16:creationId xmlns:a16="http://schemas.microsoft.com/office/drawing/2014/main" id="{EC2CD672-5CA7-8C30-F410-B15144C4B8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8271" y="95973"/>
            <a:ext cx="762000" cy="571500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38" y="3138299"/>
            <a:ext cx="522404" cy="438943"/>
          </a:xfrm>
          <a:prstGeom prst="rect">
            <a:avLst/>
          </a:prstGeom>
        </p:spPr>
      </p:pic>
      <p:sp>
        <p:nvSpPr>
          <p:cNvPr id="53" name="CaixaDeTexto 52"/>
          <p:cNvSpPr txBox="1"/>
          <p:nvPr/>
        </p:nvSpPr>
        <p:spPr>
          <a:xfrm>
            <a:off x="463787" y="3567834"/>
            <a:ext cx="983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 smtClean="0"/>
              <a:t>Tabela </a:t>
            </a:r>
          </a:p>
          <a:p>
            <a:pPr algn="ctr"/>
            <a:r>
              <a:rPr lang="pt-BR" sz="900" dirty="0" smtClean="0"/>
              <a:t>(CRIM) </a:t>
            </a:r>
            <a:endParaRPr lang="pt-BR" sz="900" dirty="0"/>
          </a:p>
        </p:txBody>
      </p:sp>
      <p:cxnSp>
        <p:nvCxnSpPr>
          <p:cNvPr id="11" name="Conector Angulado 10"/>
          <p:cNvCxnSpPr>
            <a:stCxn id="2" idx="2"/>
            <a:endCxn id="4" idx="0"/>
          </p:cNvCxnSpPr>
          <p:nvPr/>
        </p:nvCxnSpPr>
        <p:spPr>
          <a:xfrm rot="5400000">
            <a:off x="696374" y="2885121"/>
            <a:ext cx="503845" cy="251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Imagem 7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92367" y="1533842"/>
            <a:ext cx="673360" cy="673360"/>
          </a:xfrm>
          <a:prstGeom prst="rect">
            <a:avLst/>
          </a:prstGeom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824" y="2106897"/>
            <a:ext cx="913454" cy="527557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819396" y="2186010"/>
            <a:ext cx="549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 smtClean="0"/>
              <a:t>Malha </a:t>
            </a:r>
          </a:p>
          <a:p>
            <a:pPr algn="ctr"/>
            <a:r>
              <a:rPr lang="pt-BR" sz="900" b="1" dirty="0" smtClean="0"/>
              <a:t>Batch</a:t>
            </a:r>
            <a:endParaRPr lang="pt-BR" sz="900" b="1" dirty="0"/>
          </a:p>
        </p:txBody>
      </p:sp>
      <p:sp>
        <p:nvSpPr>
          <p:cNvPr id="5" name="Elipse 4"/>
          <p:cNvSpPr/>
          <p:nvPr/>
        </p:nvSpPr>
        <p:spPr>
          <a:xfrm>
            <a:off x="264982" y="2048017"/>
            <a:ext cx="268074" cy="272831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1</a:t>
            </a:r>
            <a:endParaRPr lang="pt-BR" dirty="0"/>
          </a:p>
        </p:txBody>
      </p:sp>
      <p:sp>
        <p:nvSpPr>
          <p:cNvPr id="52" name="CaixaDeTexto 51"/>
          <p:cNvSpPr txBox="1"/>
          <p:nvPr/>
        </p:nvSpPr>
        <p:spPr>
          <a:xfrm>
            <a:off x="72935" y="2594352"/>
            <a:ext cx="983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 smtClean="0"/>
              <a:t>Atualiza tabela (CRIM) </a:t>
            </a:r>
            <a:endParaRPr lang="pt-BR" sz="900" b="1" dirty="0"/>
          </a:p>
        </p:txBody>
      </p:sp>
      <p:pic>
        <p:nvPicPr>
          <p:cNvPr id="18" name="Imagem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3078" y="1172518"/>
            <a:ext cx="961942" cy="480971"/>
          </a:xfrm>
          <a:prstGeom prst="rect">
            <a:avLst/>
          </a:prstGeom>
        </p:spPr>
      </p:pic>
      <p:sp>
        <p:nvSpPr>
          <p:cNvPr id="57" name="CaixaDeTexto 56"/>
          <p:cNvSpPr txBox="1"/>
          <p:nvPr/>
        </p:nvSpPr>
        <p:spPr>
          <a:xfrm>
            <a:off x="9131629" y="1510603"/>
            <a:ext cx="1012438" cy="230832"/>
          </a:xfrm>
          <a:prstGeom prst="rect">
            <a:avLst/>
          </a:pr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/>
              <a:t>A</a:t>
            </a:r>
            <a:r>
              <a:rPr lang="pt-BR" sz="900" b="1" dirty="0" smtClean="0"/>
              <a:t>gendamento</a:t>
            </a:r>
          </a:p>
        </p:txBody>
      </p:sp>
      <p:pic>
        <p:nvPicPr>
          <p:cNvPr id="19" name="Imagem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09639" y="2037366"/>
            <a:ext cx="725597" cy="466455"/>
          </a:xfrm>
          <a:prstGeom prst="rect">
            <a:avLst/>
          </a:prstGeom>
        </p:spPr>
      </p:pic>
      <p:sp>
        <p:nvSpPr>
          <p:cNvPr id="61" name="CaixaDeTexto 60"/>
          <p:cNvSpPr txBox="1"/>
          <p:nvPr/>
        </p:nvSpPr>
        <p:spPr>
          <a:xfrm>
            <a:off x="9131629" y="2314853"/>
            <a:ext cx="1012438" cy="230832"/>
          </a:xfrm>
          <a:prstGeom prst="rect">
            <a:avLst/>
          </a:pr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 smtClean="0"/>
              <a:t>Serviço de Fila</a:t>
            </a:r>
          </a:p>
        </p:txBody>
      </p:sp>
      <p:sp>
        <p:nvSpPr>
          <p:cNvPr id="63" name="Retângulo 62"/>
          <p:cNvSpPr/>
          <p:nvPr/>
        </p:nvSpPr>
        <p:spPr>
          <a:xfrm>
            <a:off x="7942500" y="2872157"/>
            <a:ext cx="1868855" cy="43532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21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972" b="1" kern="0" dirty="0" smtClean="0">
                <a:latin typeface="Bradesco Sans XBold"/>
              </a:rPr>
              <a:t>Microserviço</a:t>
            </a:r>
          </a:p>
          <a:p>
            <a:pPr marL="0" marR="0" lvl="0" indent="0" algn="ctr" defTabSz="91421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72" b="1" i="0" u="none" strike="noStrike" kern="0" cap="none" spc="0" normalizeH="0" baseline="0" noProof="0" dirty="0" smtClean="0">
              <a:ln>
                <a:noFill/>
              </a:ln>
              <a:solidFill>
                <a:srgbClr val="6D6E71">
                  <a:lumMod val="50000"/>
                </a:srgbClr>
              </a:solidFill>
              <a:effectLst/>
              <a:uLnTx/>
              <a:uFillTx/>
              <a:latin typeface="Bradesco Sans XBold"/>
              <a:ea typeface="+mn-ea"/>
              <a:cs typeface="+mn-cs"/>
            </a:endParaRPr>
          </a:p>
        </p:txBody>
      </p:sp>
      <p:pic>
        <p:nvPicPr>
          <p:cNvPr id="25" name="Imagem 2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69676" y="2889209"/>
            <a:ext cx="205933" cy="187040"/>
          </a:xfrm>
          <a:prstGeom prst="rect">
            <a:avLst/>
          </a:prstGeom>
        </p:spPr>
      </p:pic>
      <p:sp>
        <p:nvSpPr>
          <p:cNvPr id="26" name="Retângulo 25"/>
          <p:cNvSpPr/>
          <p:nvPr/>
        </p:nvSpPr>
        <p:spPr>
          <a:xfrm>
            <a:off x="7935838" y="3058976"/>
            <a:ext cx="204744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b="1" dirty="0" err="1">
                <a:solidFill>
                  <a:srgbClr val="FF0000"/>
                </a:solidFill>
                <a:latin typeface="Microsoft JhengHei" panose="020B0604030504040204" pitchFamily="34" charset="-120"/>
                <a:cs typeface="Times New Roman" panose="02020603050405020304" pitchFamily="18" charset="0"/>
              </a:rPr>
              <a:t>crim-srv-imob-vinculo-credmovmais</a:t>
            </a:r>
            <a:r>
              <a:rPr lang="en-US" sz="800" dirty="0">
                <a:solidFill>
                  <a:srgbClr val="FF0000"/>
                </a:solidFill>
                <a:latin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endParaRPr lang="pt-BR" sz="800" dirty="0"/>
          </a:p>
        </p:txBody>
      </p:sp>
      <p:cxnSp>
        <p:nvCxnSpPr>
          <p:cNvPr id="36" name="Conector de Seta Reta 35"/>
          <p:cNvCxnSpPr>
            <a:stCxn id="18" idx="2"/>
            <a:endCxn id="19" idx="0"/>
          </p:cNvCxnSpPr>
          <p:nvPr/>
        </p:nvCxnSpPr>
        <p:spPr>
          <a:xfrm>
            <a:off x="8864049" y="1653489"/>
            <a:ext cx="8389" cy="3838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de Seta Reta 37"/>
          <p:cNvCxnSpPr>
            <a:stCxn id="19" idx="2"/>
            <a:endCxn id="63" idx="0"/>
          </p:cNvCxnSpPr>
          <p:nvPr/>
        </p:nvCxnSpPr>
        <p:spPr>
          <a:xfrm>
            <a:off x="8872438" y="2503821"/>
            <a:ext cx="4490" cy="3683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5" name="Imagem 7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3827" y="3138299"/>
            <a:ext cx="522404" cy="438943"/>
          </a:xfrm>
          <a:prstGeom prst="rect">
            <a:avLst/>
          </a:prstGeom>
        </p:spPr>
      </p:pic>
      <p:sp>
        <p:nvSpPr>
          <p:cNvPr id="77" name="CaixaDeTexto 76"/>
          <p:cNvSpPr txBox="1"/>
          <p:nvPr/>
        </p:nvSpPr>
        <p:spPr>
          <a:xfrm>
            <a:off x="1332397" y="3544967"/>
            <a:ext cx="983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 smtClean="0">
                <a:solidFill>
                  <a:srgbClr val="FF0000"/>
                </a:solidFill>
              </a:rPr>
              <a:t>Tabela (Processamento</a:t>
            </a:r>
            <a:r>
              <a:rPr lang="pt-BR" sz="900" dirty="0" smtClean="0"/>
              <a:t>)</a:t>
            </a:r>
          </a:p>
        </p:txBody>
      </p:sp>
      <p:pic>
        <p:nvPicPr>
          <p:cNvPr id="78" name="Imagem 7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42324" y="3138298"/>
            <a:ext cx="522404" cy="438943"/>
          </a:xfrm>
          <a:prstGeom prst="rect">
            <a:avLst/>
          </a:prstGeom>
        </p:spPr>
      </p:pic>
      <p:sp>
        <p:nvSpPr>
          <p:cNvPr id="79" name="CaixaDeTexto 78"/>
          <p:cNvSpPr txBox="1"/>
          <p:nvPr/>
        </p:nvSpPr>
        <p:spPr>
          <a:xfrm>
            <a:off x="2109112" y="3536611"/>
            <a:ext cx="983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 smtClean="0">
                <a:solidFill>
                  <a:srgbClr val="FF0000"/>
                </a:solidFill>
              </a:rPr>
              <a:t>Tabela (Controle)</a:t>
            </a:r>
          </a:p>
        </p:txBody>
      </p:sp>
      <p:pic>
        <p:nvPicPr>
          <p:cNvPr id="43" name="Imagem 4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75494" y="3612048"/>
            <a:ext cx="453672" cy="402967"/>
          </a:xfrm>
          <a:prstGeom prst="rect">
            <a:avLst/>
          </a:prstGeom>
        </p:spPr>
      </p:pic>
      <p:sp>
        <p:nvSpPr>
          <p:cNvPr id="81" name="CaixaDeTexto 80"/>
          <p:cNvSpPr txBox="1"/>
          <p:nvPr/>
        </p:nvSpPr>
        <p:spPr>
          <a:xfrm>
            <a:off x="7163171" y="3977044"/>
            <a:ext cx="1012438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 smtClean="0"/>
              <a:t>Consulta Lista Contratos</a:t>
            </a:r>
          </a:p>
        </p:txBody>
      </p:sp>
      <p:cxnSp>
        <p:nvCxnSpPr>
          <p:cNvPr id="55" name="Conector Angulado 54"/>
          <p:cNvCxnSpPr>
            <a:endCxn id="43" idx="0"/>
          </p:cNvCxnSpPr>
          <p:nvPr/>
        </p:nvCxnSpPr>
        <p:spPr>
          <a:xfrm rot="5400000">
            <a:off x="8149492" y="2884612"/>
            <a:ext cx="180274" cy="1274598"/>
          </a:xfrm>
          <a:prstGeom prst="bentConnector3">
            <a:avLst>
              <a:gd name="adj1" fmla="val 2045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Elipse 89"/>
          <p:cNvSpPr/>
          <p:nvPr/>
        </p:nvSpPr>
        <p:spPr>
          <a:xfrm>
            <a:off x="9610506" y="1068729"/>
            <a:ext cx="268074" cy="272831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2</a:t>
            </a:r>
            <a:endParaRPr lang="pt-BR" dirty="0"/>
          </a:p>
        </p:txBody>
      </p:sp>
      <p:pic>
        <p:nvPicPr>
          <p:cNvPr id="91" name="Imagem 9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04968" y="3642310"/>
            <a:ext cx="453672" cy="402967"/>
          </a:xfrm>
          <a:prstGeom prst="rect">
            <a:avLst/>
          </a:prstGeom>
        </p:spPr>
      </p:pic>
      <p:sp>
        <p:nvSpPr>
          <p:cNvPr id="93" name="CaixaDeTexto 92"/>
          <p:cNvSpPr txBox="1"/>
          <p:nvPr/>
        </p:nvSpPr>
        <p:spPr>
          <a:xfrm>
            <a:off x="8280193" y="3977044"/>
            <a:ext cx="1012438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 smtClean="0"/>
              <a:t>Atualizar</a:t>
            </a:r>
          </a:p>
          <a:p>
            <a:pPr algn="ctr"/>
            <a:r>
              <a:rPr lang="pt-BR" sz="900" b="1" dirty="0" smtClean="0"/>
              <a:t>Vinculo</a:t>
            </a:r>
          </a:p>
        </p:txBody>
      </p:sp>
      <p:pic>
        <p:nvPicPr>
          <p:cNvPr id="94" name="Imagem 9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74869" y="3633954"/>
            <a:ext cx="453672" cy="402967"/>
          </a:xfrm>
          <a:prstGeom prst="rect">
            <a:avLst/>
          </a:prstGeom>
        </p:spPr>
      </p:pic>
      <p:sp>
        <p:nvSpPr>
          <p:cNvPr id="95" name="CaixaDeTexto 94"/>
          <p:cNvSpPr txBox="1"/>
          <p:nvPr/>
        </p:nvSpPr>
        <p:spPr>
          <a:xfrm>
            <a:off x="9450094" y="3968688"/>
            <a:ext cx="1012438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 smtClean="0"/>
              <a:t>Atualiza </a:t>
            </a:r>
          </a:p>
          <a:p>
            <a:pPr algn="ctr"/>
            <a:r>
              <a:rPr lang="pt-BR" sz="900" b="1" dirty="0" smtClean="0"/>
              <a:t>Controle </a:t>
            </a:r>
          </a:p>
        </p:txBody>
      </p:sp>
      <p:pic>
        <p:nvPicPr>
          <p:cNvPr id="97" name="Imagem 9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0226" y="5243874"/>
            <a:ext cx="522404" cy="438943"/>
          </a:xfrm>
          <a:prstGeom prst="rect">
            <a:avLst/>
          </a:prstGeom>
        </p:spPr>
      </p:pic>
      <p:sp>
        <p:nvSpPr>
          <p:cNvPr id="99" name="CaixaDeTexto 98"/>
          <p:cNvSpPr txBox="1"/>
          <p:nvPr/>
        </p:nvSpPr>
        <p:spPr>
          <a:xfrm>
            <a:off x="2020115" y="5658038"/>
            <a:ext cx="983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 smtClean="0"/>
              <a:t>Tabela </a:t>
            </a:r>
          </a:p>
          <a:p>
            <a:pPr algn="ctr"/>
            <a:r>
              <a:rPr lang="pt-BR" sz="900" dirty="0" smtClean="0"/>
              <a:t>(</a:t>
            </a:r>
            <a:r>
              <a:rPr lang="pt-BR" sz="900" dirty="0" err="1" smtClean="0"/>
              <a:t>Viículos</a:t>
            </a:r>
            <a:r>
              <a:rPr lang="pt-BR" sz="900" dirty="0" smtClean="0"/>
              <a:t>) </a:t>
            </a:r>
            <a:endParaRPr lang="pt-BR" sz="900" dirty="0"/>
          </a:p>
        </p:txBody>
      </p:sp>
      <p:sp>
        <p:nvSpPr>
          <p:cNvPr id="100" name="CaixaDeTexto 99"/>
          <p:cNvSpPr txBox="1"/>
          <p:nvPr/>
        </p:nvSpPr>
        <p:spPr>
          <a:xfrm>
            <a:off x="10547767" y="3966089"/>
            <a:ext cx="1012438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 smtClean="0"/>
              <a:t>Atualiza </a:t>
            </a:r>
          </a:p>
          <a:p>
            <a:pPr algn="ctr"/>
            <a:r>
              <a:rPr lang="pt-BR" sz="900" b="1" dirty="0" smtClean="0"/>
              <a:t>processamento </a:t>
            </a:r>
          </a:p>
        </p:txBody>
      </p:sp>
      <p:pic>
        <p:nvPicPr>
          <p:cNvPr id="101" name="Imagem 10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39794" y="3595991"/>
            <a:ext cx="453672" cy="402967"/>
          </a:xfrm>
          <a:prstGeom prst="rect">
            <a:avLst/>
          </a:prstGeom>
        </p:spPr>
      </p:pic>
      <p:cxnSp>
        <p:nvCxnSpPr>
          <p:cNvPr id="105" name="Conector Angulado 104"/>
          <p:cNvCxnSpPr>
            <a:stCxn id="63" idx="2"/>
            <a:endCxn id="91" idx="0"/>
          </p:cNvCxnSpPr>
          <p:nvPr/>
        </p:nvCxnSpPr>
        <p:spPr>
          <a:xfrm rot="5400000">
            <a:off x="8586952" y="3352334"/>
            <a:ext cx="334828" cy="24512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Angulado 108"/>
          <p:cNvCxnSpPr>
            <a:stCxn id="63" idx="2"/>
            <a:endCxn id="94" idx="0"/>
          </p:cNvCxnSpPr>
          <p:nvPr/>
        </p:nvCxnSpPr>
        <p:spPr>
          <a:xfrm rot="16200000" flipH="1">
            <a:off x="9176080" y="3008329"/>
            <a:ext cx="326472" cy="92477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Angulado 111"/>
          <p:cNvCxnSpPr>
            <a:stCxn id="63" idx="2"/>
            <a:endCxn id="101" idx="0"/>
          </p:cNvCxnSpPr>
          <p:nvPr/>
        </p:nvCxnSpPr>
        <p:spPr>
          <a:xfrm rot="16200000" flipH="1">
            <a:off x="9727525" y="2456885"/>
            <a:ext cx="288509" cy="1989702"/>
          </a:xfrm>
          <a:prstGeom prst="bentConnector3">
            <a:avLst>
              <a:gd name="adj1" fmla="val 5615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ector Angulado 118"/>
          <p:cNvCxnSpPr>
            <a:stCxn id="81" idx="2"/>
            <a:endCxn id="53" idx="2"/>
          </p:cNvCxnSpPr>
          <p:nvPr/>
        </p:nvCxnSpPr>
        <p:spPr>
          <a:xfrm rot="5400000" flipH="1">
            <a:off x="4107928" y="784914"/>
            <a:ext cx="409210" cy="6713715"/>
          </a:xfrm>
          <a:prstGeom prst="bentConnector3">
            <a:avLst>
              <a:gd name="adj1" fmla="val -110101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ector Angulado 124"/>
          <p:cNvCxnSpPr>
            <a:stCxn id="95" idx="2"/>
            <a:endCxn id="77" idx="2"/>
          </p:cNvCxnSpPr>
          <p:nvPr/>
        </p:nvCxnSpPr>
        <p:spPr>
          <a:xfrm rot="5400000" flipH="1">
            <a:off x="5678438" y="60146"/>
            <a:ext cx="423721" cy="8132028"/>
          </a:xfrm>
          <a:prstGeom prst="bentConnector3">
            <a:avLst>
              <a:gd name="adj1" fmla="val -154519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ector Angulado 130"/>
          <p:cNvCxnSpPr>
            <a:stCxn id="100" idx="2"/>
            <a:endCxn id="79" idx="2"/>
          </p:cNvCxnSpPr>
          <p:nvPr/>
        </p:nvCxnSpPr>
        <p:spPr>
          <a:xfrm rot="5400000" flipH="1">
            <a:off x="6612754" y="-105811"/>
            <a:ext cx="429478" cy="8452986"/>
          </a:xfrm>
          <a:prstGeom prst="bentConnector3">
            <a:avLst>
              <a:gd name="adj1" fmla="val -65629"/>
            </a:avLst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ector Angulado 133"/>
          <p:cNvCxnSpPr>
            <a:stCxn id="93" idx="2"/>
            <a:endCxn id="97" idx="3"/>
          </p:cNvCxnSpPr>
          <p:nvPr/>
        </p:nvCxnSpPr>
        <p:spPr>
          <a:xfrm rot="5400000">
            <a:off x="5206036" y="1882970"/>
            <a:ext cx="1116970" cy="6043782"/>
          </a:xfrm>
          <a:prstGeom prst="bentConnector2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Elipse 146"/>
          <p:cNvSpPr/>
          <p:nvPr/>
        </p:nvSpPr>
        <p:spPr>
          <a:xfrm>
            <a:off x="9954046" y="2931407"/>
            <a:ext cx="268074" cy="272831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3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19616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605</Words>
  <Application>Microsoft Office PowerPoint</Application>
  <PresentationFormat>Widescreen</PresentationFormat>
  <Paragraphs>65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10" baseType="lpstr">
      <vt:lpstr>Microsoft JhengHei</vt:lpstr>
      <vt:lpstr>Arial</vt:lpstr>
      <vt:lpstr>Bradesco Sans</vt:lpstr>
      <vt:lpstr>Bradesco Sans Bold</vt:lpstr>
      <vt:lpstr>Bradesco Sans XBold</vt:lpstr>
      <vt:lpstr>Calibri</vt:lpstr>
      <vt:lpstr>Calibri Light</vt:lpstr>
      <vt:lpstr>Times New Roman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Alessandro Lisboa de lyra</dc:creator>
  <cp:lastModifiedBy>Alessandro Lisboa de lyra</cp:lastModifiedBy>
  <cp:revision>2</cp:revision>
  <dcterms:created xsi:type="dcterms:W3CDTF">2025-06-27T12:30:42Z</dcterms:created>
  <dcterms:modified xsi:type="dcterms:W3CDTF">2025-06-27T13:33:20Z</dcterms:modified>
</cp:coreProperties>
</file>