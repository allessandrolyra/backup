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940" r:id="rId6"/>
    <p:sldId id="317" r:id="rId7"/>
    <p:sldId id="2147378774" r:id="rId8"/>
    <p:sldId id="2147378772" r:id="rId9"/>
    <p:sldId id="308" r:id="rId10"/>
    <p:sldId id="2147378777" r:id="rId11"/>
    <p:sldId id="2147378773" r:id="rId12"/>
    <p:sldId id="315" r:id="rId13"/>
    <p:sldId id="2147378775" r:id="rId14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B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4BCA0E9-6345-4181-8512-96EA8BA6E7C0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27A346E-BE7A-4F7F-AFFA-6A8064F1DA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32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53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564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Explicação fluxo de Arquitetura de Solução.</a:t>
            </a:r>
          </a:p>
          <a:p>
            <a:endParaRPr lang="pt-BR" dirty="0" smtClean="0"/>
          </a:p>
          <a:p>
            <a:r>
              <a:rPr lang="pt-BR" dirty="0" smtClean="0"/>
              <a:t>Hoje é </a:t>
            </a:r>
            <a:r>
              <a:rPr lang="pt-BR" dirty="0" err="1" smtClean="0"/>
              <a:t>possivel</a:t>
            </a:r>
            <a:r>
              <a:rPr lang="pt-BR" dirty="0" smtClean="0"/>
              <a:t> entrar no menu do Crédito imobiliário </a:t>
            </a:r>
            <a:r>
              <a:rPr lang="pt-BR" dirty="0" err="1" smtClean="0"/>
              <a:t>apartir</a:t>
            </a:r>
            <a:r>
              <a:rPr lang="pt-BR" dirty="0" smtClean="0"/>
              <a:t> de duas formas: 1.Menu do crédito Imobiliário e 2. Menu de Empréstimo.</a:t>
            </a:r>
          </a:p>
          <a:p>
            <a:endParaRPr lang="pt-BR" dirty="0" smtClean="0"/>
          </a:p>
          <a:p>
            <a:r>
              <a:rPr lang="pt-BR" dirty="0" smtClean="0"/>
              <a:t>Na jornada nova precisamos identificar quando foi iniciada pelo Menu de Empréstimo, porque quando o cliente vem por esse caminho a </a:t>
            </a:r>
            <a:r>
              <a:rPr lang="pt-BR" dirty="0" err="1" smtClean="0"/>
              <a:t>idéia</a:t>
            </a:r>
            <a:r>
              <a:rPr lang="pt-BR" dirty="0" smtClean="0"/>
              <a:t> é ser direcionado para o jornada de Simulação. Não tem a necessidade de mostrar o menu completo do Imobiliário. Por isso é importante diferenciar a entrada na jornada do crédito Imobiliário do </a:t>
            </a:r>
            <a:r>
              <a:rPr lang="pt-BR" dirty="0" err="1" smtClean="0"/>
              <a:t>App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*</a:t>
            </a:r>
            <a:r>
              <a:rPr lang="pt-BR" dirty="0" err="1" smtClean="0"/>
              <a:t>Apesear</a:t>
            </a:r>
            <a:r>
              <a:rPr lang="pt-BR" dirty="0" smtClean="0"/>
              <a:t> dessa Jornada (MVP) estamos tratando o Fluxo de Amortização e Quitação Pós venda usando recursos </a:t>
            </a:r>
            <a:r>
              <a:rPr lang="pt-BR" dirty="0" err="1" smtClean="0"/>
              <a:t>própios</a:t>
            </a:r>
            <a:r>
              <a:rPr lang="pt-BR" dirty="0" smtClean="0"/>
              <a:t> sem utilização do FGTS. Vamos precisar fazer uma </a:t>
            </a:r>
            <a:r>
              <a:rPr lang="pt-BR" dirty="0" err="1" smtClean="0"/>
              <a:t>modrenização</a:t>
            </a:r>
            <a:r>
              <a:rPr lang="pt-BR" dirty="0" smtClean="0"/>
              <a:t> e revitalização das Jornadas já existentes Exemplo a parte de SIMULAÇÂO que já existe hoje no Legado.</a:t>
            </a:r>
          </a:p>
          <a:p>
            <a:endParaRPr lang="pt-BR" dirty="0" smtClean="0"/>
          </a:p>
          <a:p>
            <a:r>
              <a:rPr lang="pt-BR" dirty="0" smtClean="0"/>
              <a:t>Com isso a Construção do Crédito imobiliário revitalizado, porque quando o cliente acessar o Menu, vamos usar o Componente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terá uma configuração para direcionar quando a Jornada do cliente segue o caminho do legado ou será direcionada para jornada </a:t>
            </a:r>
            <a:r>
              <a:rPr lang="pt-BR" dirty="0" err="1" smtClean="0"/>
              <a:t>ja</a:t>
            </a:r>
            <a:r>
              <a:rPr lang="pt-BR" dirty="0" smtClean="0"/>
              <a:t> Modernizada na Cloud. Então o Primeiro ponto aqui é fazer essa parametrização no Rotador Junto com o </a:t>
            </a:r>
            <a:r>
              <a:rPr lang="pt-BR" dirty="0" err="1" smtClean="0"/>
              <a:t>Rollout</a:t>
            </a:r>
            <a:r>
              <a:rPr lang="pt-BR" dirty="0" smtClean="0"/>
              <a:t>.</a:t>
            </a:r>
          </a:p>
          <a:p>
            <a:r>
              <a:rPr lang="pt-BR" dirty="0" smtClean="0"/>
              <a:t>Quando o cliente entrar no Menu a </a:t>
            </a:r>
            <a:r>
              <a:rPr lang="pt-BR" dirty="0" err="1" smtClean="0"/>
              <a:t>idéia</a:t>
            </a:r>
            <a:r>
              <a:rPr lang="pt-BR" dirty="0" smtClean="0"/>
              <a:t> é que ela já veja o Menu do Crédito Imobiliário já todo </a:t>
            </a:r>
            <a:r>
              <a:rPr lang="pt-BR" dirty="0" err="1" smtClean="0"/>
              <a:t>Rivitalizado</a:t>
            </a:r>
            <a:r>
              <a:rPr lang="pt-BR" dirty="0" smtClean="0"/>
              <a:t> e aqui que será feito a </a:t>
            </a:r>
            <a:r>
              <a:rPr lang="pt-BR" dirty="0" err="1" smtClean="0"/>
              <a:t>segreção</a:t>
            </a:r>
            <a:r>
              <a:rPr lang="pt-BR" dirty="0" smtClean="0"/>
              <a:t> dos eventos.  (Exemplo: Se o Cliente criar em um evento que não vamos começar a revitalização por agora,- (tipo a Simulação), ela vai esta no menu revitalizado mais ele deve ser direcionado para o Legado para continuar a jornada </a:t>
            </a:r>
            <a:r>
              <a:rPr lang="pt-BR" dirty="0" err="1" smtClean="0"/>
              <a:t>ja</a:t>
            </a:r>
            <a:r>
              <a:rPr lang="pt-BR" dirty="0" smtClean="0"/>
              <a:t> existente.  Caso ele selecione uma Opção do Pós Vendas o cliente </a:t>
            </a:r>
            <a:r>
              <a:rPr lang="pt-BR" dirty="0" err="1" smtClean="0"/>
              <a:t>constinua</a:t>
            </a:r>
            <a:r>
              <a:rPr lang="pt-BR" dirty="0" smtClean="0"/>
              <a:t> na jornada da Azure.</a:t>
            </a:r>
          </a:p>
          <a:p>
            <a:endParaRPr lang="pt-BR" dirty="0" smtClean="0"/>
          </a:p>
          <a:p>
            <a:r>
              <a:rPr lang="pt-BR" dirty="0" smtClean="0"/>
              <a:t>Apenas para explicar a função do (BCPF Token </a:t>
            </a:r>
            <a:r>
              <a:rPr lang="pt-BR" dirty="0" err="1" smtClean="0"/>
              <a:t>Handler</a:t>
            </a:r>
            <a:r>
              <a:rPr lang="pt-BR" dirty="0" smtClean="0"/>
              <a:t> Roteador) que vai fazer essa orquestração de direcionamentos para a jornada do legado ou Jornada do Pós vendas com isso nos ajuda nesse processo de convivência.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Cliente vai cair no Micro Front </a:t>
            </a:r>
            <a:r>
              <a:rPr lang="pt-BR" dirty="0" err="1" smtClean="0"/>
              <a:t>End</a:t>
            </a:r>
            <a:r>
              <a:rPr lang="pt-BR" dirty="0" smtClean="0"/>
              <a:t> que vai fazer todas as elegibilidade de Menus. 1.Verifica se a Consulta no serviço veio do Menu de Empréstimos.( Identifica se esse redirecionamento esta vindo de lá ou não) </a:t>
            </a:r>
            <a:r>
              <a:rPr lang="pt-BR" dirty="0" err="1" smtClean="0"/>
              <a:t>Ja</a:t>
            </a:r>
            <a:r>
              <a:rPr lang="pt-BR" dirty="0" smtClean="0"/>
              <a:t> tem um Micro serviço na TI Hibrida.( consegue consultar isso).</a:t>
            </a:r>
          </a:p>
          <a:p>
            <a:r>
              <a:rPr lang="pt-BR" dirty="0" smtClean="0"/>
              <a:t>Isso é importante porque mesmo que o cliente seja elegível, vamos mostrar o Menu completo, podemos mandar direto para opção de Simulação. (tem que ver como a Regra de negócio será aplicada).</a:t>
            </a:r>
          </a:p>
          <a:p>
            <a:endParaRPr lang="pt-BR" dirty="0" smtClean="0"/>
          </a:p>
          <a:p>
            <a:r>
              <a:rPr lang="pt-BR" dirty="0" smtClean="0"/>
              <a:t>Vamos ter o Micro Front </a:t>
            </a:r>
            <a:r>
              <a:rPr lang="pt-BR" dirty="0" err="1" smtClean="0"/>
              <a:t>end</a:t>
            </a:r>
            <a:r>
              <a:rPr lang="pt-BR" dirty="0" smtClean="0"/>
              <a:t> desse menu do pós venda que vai ser feito. (</a:t>
            </a:r>
            <a:r>
              <a:rPr lang="pt-BR" dirty="0" err="1" smtClean="0"/>
              <a:t>stazudvbracrimmenu</a:t>
            </a:r>
            <a:r>
              <a:rPr lang="pt-BR" dirty="0" smtClean="0"/>
              <a:t>).  </a:t>
            </a:r>
          </a:p>
          <a:p>
            <a:endParaRPr lang="pt-BR" dirty="0" smtClean="0"/>
          </a:p>
          <a:p>
            <a:r>
              <a:rPr lang="pt-BR" dirty="0" smtClean="0"/>
              <a:t>.</a:t>
            </a:r>
            <a:r>
              <a:rPr lang="pt-BR" dirty="0" err="1" smtClean="0"/>
              <a:t>crim-bff-mpf-imob</a:t>
            </a:r>
            <a:endParaRPr lang="pt-BR" dirty="0" smtClean="0"/>
          </a:p>
          <a:p>
            <a:r>
              <a:rPr lang="pt-BR" dirty="0" smtClean="0"/>
              <a:t>O BFF  vai ser único para essa </a:t>
            </a:r>
            <a:r>
              <a:rPr lang="pt-BR" dirty="0" err="1" smtClean="0"/>
              <a:t>essa</a:t>
            </a:r>
            <a:r>
              <a:rPr lang="pt-BR" dirty="0" smtClean="0"/>
              <a:t> jornada completa. 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fazer consulta que ainda esta no Menu de Empréstimo, vamos ter que passar pelo Gateway Corporativo.  Esse serviço deve estar exposto no Gateway corporativo de Canais para conseguimos acessar.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-contratos.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crim-srv-imob-ocorrencias</a:t>
            </a:r>
            <a:r>
              <a:rPr lang="pt-BR" dirty="0" smtClean="0"/>
              <a:t> : Consulta das </a:t>
            </a:r>
            <a:r>
              <a:rPr lang="pt-BR" dirty="0" err="1" smtClean="0"/>
              <a:t>Ocorrencias</a:t>
            </a:r>
            <a:r>
              <a:rPr lang="pt-BR" dirty="0" smtClean="0"/>
              <a:t> em aberto. (Ocorrências de Amortização dos Contratos) Esse </a:t>
            </a:r>
            <a:r>
              <a:rPr lang="pt-BR" dirty="0" err="1" smtClean="0"/>
              <a:t>microserviço</a:t>
            </a:r>
            <a:r>
              <a:rPr lang="pt-BR" dirty="0" smtClean="0"/>
              <a:t> faz a consulta na Base Federada do SISCRED. 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crim</a:t>
            </a:r>
            <a:r>
              <a:rPr lang="pt-BR" dirty="0" smtClean="0"/>
              <a:t>-</a:t>
            </a:r>
            <a:r>
              <a:rPr lang="pt-BR" dirty="0" err="1" smtClean="0"/>
              <a:t>srv</a:t>
            </a:r>
            <a:r>
              <a:rPr lang="pt-BR" dirty="0" smtClean="0"/>
              <a:t>-</a:t>
            </a:r>
            <a:r>
              <a:rPr lang="pt-BR" dirty="0" err="1" smtClean="0"/>
              <a:t>imob</a:t>
            </a:r>
            <a:r>
              <a:rPr lang="pt-BR" dirty="0" smtClean="0"/>
              <a:t>-eventos-menu : Aplicar regras tendo como referência os dados do Ciente, para </a:t>
            </a:r>
            <a:r>
              <a:rPr lang="pt-BR" dirty="0" err="1" smtClean="0"/>
              <a:t>identifivar</a:t>
            </a:r>
            <a:r>
              <a:rPr lang="pt-BR" dirty="0" smtClean="0"/>
              <a:t> quais eventos que </a:t>
            </a:r>
            <a:r>
              <a:rPr lang="pt-BR" dirty="0" err="1" smtClean="0"/>
              <a:t>estara</a:t>
            </a:r>
            <a:r>
              <a:rPr lang="pt-BR" dirty="0" smtClean="0"/>
              <a:t> </a:t>
            </a:r>
            <a:r>
              <a:rPr lang="pt-BR" dirty="0" err="1" smtClean="0"/>
              <a:t>disponivel</a:t>
            </a:r>
            <a:r>
              <a:rPr lang="pt-BR" dirty="0" smtClean="0"/>
              <a:t> para montar o menu.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34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641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25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EEEDC-5168-10B8-3B2D-C9EED8AF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B4B1B-9775-927F-0FAD-860945E7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B9571-6982-8077-6BBD-E0D45D7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2FAD3-A2B7-6550-6368-CDC210F3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07689-1267-C333-AAA8-337C3BE8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5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C73F7-1938-011A-7B1A-03AA2071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FDC57-438D-4315-D973-299E9A94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4303E1-2A22-3ACB-2078-CDF728F4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0AA680-49C5-890D-A6E2-70B0B94D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9B4364-5027-9C01-A7B5-39F571E9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82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3425-E5C6-46AA-186F-75D75627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DE991-F26D-DE0F-5C83-BF2F1127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46360-AED4-4920-205A-A2AC7D20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E4B75-94D5-2C01-2418-A6A96991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1CD59-36AF-3587-835B-369670F0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07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1706-5928-BE7C-CF9C-2617048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5F8F1-B004-893F-BE5F-15FB3DD7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470590-C25A-6D2C-C24E-12864255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84E8A5-BE8C-E563-162C-30F6E005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BC5C26-454F-F687-D822-C5739B55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AC67F-4647-8E68-DE53-E4BB704C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15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75FB1-E390-B3C7-4E0D-45EE91A4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78757B-85B3-3622-2056-6FAEB8B6E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4C1640-9F8A-B57C-F069-3CF876E1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8B69E8-68B7-86E3-1638-E6ED38DE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8BADFF-36CF-C13A-5990-59558D886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C68C6E-B3E4-54D1-C07E-0481CE1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7B22C2-F28C-832A-E72B-5027B8FD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185BCF-2AE4-9902-AC85-31354AF8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1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BEE0-B737-1803-77AB-668D0587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D216B0-CFDD-7C74-FF2D-531EA8DE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B634B9-E2E2-4301-2422-655CBCBF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E85889-3BBC-4C46-8C40-63E7AE9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1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BB5FE1-D334-56BD-5D66-BBB61ED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9390C0-2D97-0062-F765-6EC44404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BFF8BD-5D71-280D-82BE-5E6E590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9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662AA-390F-0D75-EF83-E026C310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5EE8B-E5E4-3AC6-20D9-2CBA96AE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E7B1AB-3955-C944-2E07-9317E27D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32B566-90F0-0A77-A82F-9835A3ED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F552C1-3732-F1E0-DE24-BDCC411B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DDEB9-48B3-BEF2-4FC7-2E1BABE2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0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F5C-EA1E-6FAE-E7ED-CE315353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3FBF0C-25BE-594A-6198-910A6F90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1DBB2-D8D3-4B57-7F6E-55BB035F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A8573A-5348-2923-6B2D-11928E54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052B79-406B-6FE4-E09C-6A3B3458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BF7DE8-1A8B-5EE1-EC8D-4E29B90A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02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5A674-EB06-D82D-FEC6-F7DC91540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C2B2EA-7B60-02B8-A4DF-D27E09D4E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263C92-ECBA-F940-DEC4-E0129838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BA225-325F-1CC2-35DA-392438A4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A3773D-5D99-A0B6-8156-0D9F3FD6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29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EB49AC-4E53-D82D-CCC9-EE0F12139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73513B-071B-0D39-20D6-F142D78C3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10F04-A7B8-0ECD-D2DA-0DD21C6F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8ABFD-CB18-AD1E-DA06-637712CC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4D5F0-2606-C5DE-0F20-98E1D6E5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5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54A2A45-887C-4E78-8896-C6B1A7DF6AB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8205C95-291A-416B-B821-7936558104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BR"/>
          </a:p>
        </p:txBody>
      </p:sp>
      <p:sp>
        <p:nvSpPr>
          <p:cNvPr id="19" name="Rectangle 2" descr="Retângulo 2">
            <a:extLst>
              <a:ext uri="{FF2B5EF4-FFF2-40B4-BE49-F238E27FC236}">
                <a16:creationId xmlns:a16="http://schemas.microsoft.com/office/drawing/2014/main" id="{1887CD05-083B-4C05-9DD5-877C08F85EA2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F3A5F342-F49E-4190-89F2-551AEE8072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467" r="48106"/>
          <a:stretch/>
        </p:blipFill>
        <p:spPr>
          <a:xfrm>
            <a:off x="7726712" y="-1"/>
            <a:ext cx="4465288" cy="4009153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55F9FD83-A3F7-4F83-B069-BD90BC994B42}"/>
              </a:ext>
            </a:extLst>
          </p:cNvPr>
          <p:cNvSpPr txBox="1"/>
          <p:nvPr userDrawn="1"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6D9E1175-C925-4BAE-B56C-995AD1BB8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 rot="18735649">
            <a:off x="-2403482" y="2926348"/>
            <a:ext cx="8604708" cy="84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179354-8D5E-DBC4-B6EC-4599913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98E42-C5C1-D9D4-97AF-1A23DDB0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DF1661-6EF9-2749-19F3-6A07D8016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D23C-12C4-44CD-8D6C-0E7CB70CE343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D96BE-1C7C-E11E-903A-FED6DB4D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24AAE-AD2C-C86C-7E30-64825DF15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37E5-C96E-44C8-A292-69A0B03A74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7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6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e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5420" y="3204499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18735649">
            <a:off x="-2427241" y="4574446"/>
            <a:ext cx="8604708" cy="8434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501923" y="3968878"/>
            <a:ext cx="82468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chemeClr val="bg1"/>
                </a:solidFill>
                <a:latin typeface="Bradesco Sans" pitchFamily="2" charset="77"/>
              </a:rPr>
              <a:t>Arquitetura </a:t>
            </a:r>
            <a:r>
              <a:rPr lang="pt-BR" sz="2600" b="1" dirty="0" smtClean="0">
                <a:solidFill>
                  <a:schemeClr val="bg1"/>
                </a:solidFill>
                <a:latin typeface="Bradesco Sans" pitchFamily="2" charset="77"/>
              </a:rPr>
              <a:t>Bradesco – Refinamento CRIM Amortização</a:t>
            </a:r>
            <a:endParaRPr lang="pt-BR" sz="2600" b="1" dirty="0">
              <a:solidFill>
                <a:schemeClr val="bg1"/>
              </a:solidFill>
              <a:latin typeface="Bradesco Sans" pitchFamily="2" charset="77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7E9CA8-D47A-2760-C42D-0BEF8AE5CD0C}"/>
              </a:ext>
            </a:extLst>
          </p:cNvPr>
          <p:cNvSpPr txBox="1"/>
          <p:nvPr/>
        </p:nvSpPr>
        <p:spPr>
          <a:xfrm>
            <a:off x="478674" y="4871682"/>
            <a:ext cx="3491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1"/>
                </a:solidFill>
              </a:rPr>
              <a:t>Paulo Cesar , Alessandro </a:t>
            </a:r>
            <a:endParaRPr lang="pt-BR" sz="1400" b="1" dirty="0">
              <a:solidFill>
                <a:schemeClr val="bg1"/>
              </a:solidFill>
            </a:endParaRPr>
          </a:p>
          <a:p>
            <a:r>
              <a:rPr lang="pt-BR" sz="1400" b="1" dirty="0" smtClean="0">
                <a:solidFill>
                  <a:schemeClr val="bg1"/>
                </a:solidFill>
              </a:rPr>
              <a:t>01/10/2024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7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</a:t>
            </a:r>
            <a:r>
              <a:rPr lang="pt-BR" sz="2400" dirty="0" smtClean="0">
                <a:solidFill>
                  <a:prstClr val="white"/>
                </a:solidFill>
                <a:latin typeface="Bradesco Sans"/>
              </a:rPr>
              <a:t>de Refinamento</a:t>
            </a:r>
          </a:p>
          <a:p>
            <a:pPr>
              <a:buNone/>
            </a:pPr>
            <a:endParaRPr lang="pt-BR" sz="2400" dirty="0" smtClean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 smtClean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22066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0870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35188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749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Objetivo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401A47-AF3A-2FA8-DA0B-DF6B79CD47F8}"/>
              </a:ext>
            </a:extLst>
          </p:cNvPr>
          <p:cNvSpPr txBox="1"/>
          <p:nvPr/>
        </p:nvSpPr>
        <p:spPr>
          <a:xfrm>
            <a:off x="412537" y="1167916"/>
            <a:ext cx="107305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Entrega da arquitetura Cloud Azure nos ambientes de DEV, HML e PRD para o projeto de pós-contratação de Crédito Imobiliário, incluindo amortização de prazo com recursos próprios e quitação com recursos próprios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.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Disponibilizar 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ao Cliente nessa MVP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lvl="0" algn="just"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Criação da jornada de Quitação e Amortização</a:t>
            </a: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:</a:t>
            </a:r>
          </a:p>
          <a:p>
            <a:pPr lvl="0" algn="just">
              <a:defRPr/>
            </a:pPr>
            <a:endParaRPr lang="pt-BR" dirty="0">
              <a:solidFill>
                <a:prstClr val="black"/>
              </a:solidFill>
              <a:latin typeface="Bradesco Sans" panose="00000500000000000000" pitchFamily="2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SiSCREDI E CRIM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Recursos próprios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prstClr val="black"/>
                </a:solidFill>
                <a:latin typeface="Bradesco Sans" panose="00000500000000000000" pitchFamily="2" charset="0"/>
              </a:rPr>
              <a:t>Canal </a:t>
            </a:r>
            <a:r>
              <a:rPr lang="pt-BR" dirty="0">
                <a:solidFill>
                  <a:prstClr val="black"/>
                </a:solidFill>
                <a:latin typeface="Bradesco Sans" panose="00000500000000000000" pitchFamily="2" charset="0"/>
              </a:rPr>
              <a:t>Mobile</a:t>
            </a:r>
          </a:p>
        </p:txBody>
      </p:sp>
    </p:spTree>
    <p:extLst>
      <p:ext uri="{BB962C8B-B14F-4D97-AF65-F5344CB8AC3E}">
        <p14:creationId xmlns:p14="http://schemas.microsoft.com/office/powerpoint/2010/main" val="242705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Refinamento </a:t>
            </a:r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Amortização CRIM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DATI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708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Exposição dos Cenários de </a:t>
            </a:r>
            <a:r>
              <a:rPr lang="pt-BR" sz="2400" b="1" dirty="0" smtClean="0">
                <a:solidFill>
                  <a:prstClr val="white"/>
                </a:solidFill>
                <a:latin typeface="Bradesco Sans"/>
              </a:rPr>
              <a:t>Refinamento</a:t>
            </a:r>
            <a:endParaRPr lang="pt-BR" sz="2400" b="1" dirty="0">
              <a:solidFill>
                <a:prstClr val="white"/>
              </a:solidFill>
              <a:latin typeface="Bradesco Sans"/>
            </a:endParaRP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4531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818888" y="3839705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818888" y="4527439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2064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64982" y="54808"/>
            <a:ext cx="9937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Cenário 1 de Refinamento Amortização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202519" y="881531"/>
            <a:ext cx="900240" cy="527111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210"/>
            <a:r>
              <a:rPr lang="pt-BR" dirty="0" err="1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app</a:t>
            </a:r>
            <a:endParaRPr lang="pt-BR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859436" y="1115878"/>
            <a:ext cx="6377553" cy="48974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210"/>
            <a:r>
              <a:rPr lang="pt-BR" sz="900" b="1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Domínio Adquirir Emprestar</a:t>
            </a:r>
            <a:endParaRPr lang="pt-BR" sz="900" b="1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1289704" y="881531"/>
            <a:ext cx="8079021" cy="52695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210"/>
            <a:r>
              <a:rPr lang="pt-BR" sz="1000" b="1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Infraestrutura Bradesco - Azure</a:t>
            </a:r>
            <a:endParaRPr lang="pt-BR" sz="1000" b="1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9559188" y="881530"/>
            <a:ext cx="2509228" cy="52695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210"/>
            <a:r>
              <a:rPr lang="pt-BR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Ambiente </a:t>
            </a:r>
            <a:r>
              <a:rPr lang="pt-BR" dirty="0" err="1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Corp</a:t>
            </a:r>
            <a:endParaRPr lang="pt-BR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96551" y="3270586"/>
            <a:ext cx="709891" cy="523330"/>
          </a:xfrm>
          <a:prstGeom prst="rect">
            <a:avLst/>
          </a:prstGeom>
          <a:solidFill>
            <a:srgbClr val="75308B">
              <a:lumMod val="20000"/>
              <a:lumOff val="80000"/>
            </a:srgb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MENU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</a:rPr>
              <a:t>IMOB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32394" y="1797133"/>
            <a:ext cx="638207" cy="668147"/>
          </a:xfrm>
          <a:prstGeom prst="rect">
            <a:avLst/>
          </a:prstGeom>
          <a:solidFill>
            <a:srgbClr val="75308B">
              <a:lumMod val="20000"/>
              <a:lumOff val="80000"/>
            </a:srgb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50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HOME</a:t>
            </a:r>
          </a:p>
        </p:txBody>
      </p:sp>
      <p:cxnSp>
        <p:nvCxnSpPr>
          <p:cNvPr id="24" name="Conector de Seta Reta 23"/>
          <p:cNvCxnSpPr>
            <a:stCxn id="21" idx="2"/>
            <a:endCxn id="20" idx="0"/>
          </p:cNvCxnSpPr>
          <p:nvPr/>
        </p:nvCxnSpPr>
        <p:spPr>
          <a:xfrm flipH="1">
            <a:off x="651497" y="2465280"/>
            <a:ext cx="1" cy="805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1474130" y="3389555"/>
            <a:ext cx="1200882" cy="2845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Gateway Externo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171614" y="1556968"/>
            <a:ext cx="1200882" cy="3260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Gateway interno</a:t>
            </a:r>
          </a:p>
        </p:txBody>
      </p:sp>
      <p:cxnSp>
        <p:nvCxnSpPr>
          <p:cNvPr id="35" name="Conector Angulado 34"/>
          <p:cNvCxnSpPr>
            <a:stCxn id="31" idx="3"/>
            <a:endCxn id="32" idx="1"/>
          </p:cNvCxnSpPr>
          <p:nvPr/>
        </p:nvCxnSpPr>
        <p:spPr>
          <a:xfrm flipV="1">
            <a:off x="2675012" y="1720006"/>
            <a:ext cx="496602" cy="18118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199462" y="3020654"/>
            <a:ext cx="1163503" cy="452208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BFF-IMOB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cxnSp>
        <p:nvCxnSpPr>
          <p:cNvPr id="42" name="Conector de Seta Reta 41"/>
          <p:cNvCxnSpPr>
            <a:stCxn id="32" idx="2"/>
            <a:endCxn id="41" idx="0"/>
          </p:cNvCxnSpPr>
          <p:nvPr/>
        </p:nvCxnSpPr>
        <p:spPr>
          <a:xfrm>
            <a:off x="3772055" y="1883044"/>
            <a:ext cx="9159" cy="1137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ângulo 45"/>
          <p:cNvSpPr/>
          <p:nvPr/>
        </p:nvSpPr>
        <p:spPr>
          <a:xfrm>
            <a:off x="7657463" y="1786206"/>
            <a:ext cx="1305379" cy="452208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SRV-IMOB-CONTRATOS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7658611" y="4822225"/>
            <a:ext cx="1305379" cy="45220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MOTOR-AMORTIZAÇÃO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4776987" y="3297957"/>
            <a:ext cx="1314642" cy="45220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MOTOR-</a:t>
            </a:r>
            <a:r>
              <a:rPr lang="pt-BR" sz="972" b="1" kern="0" noProof="0" dirty="0" smtClean="0">
                <a:solidFill>
                  <a:prstClr val="white"/>
                </a:solidFill>
                <a:latin typeface="Bradesco Sans XBold"/>
              </a:rPr>
              <a:t>ORQUESTRADOR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7658611" y="3828955"/>
            <a:ext cx="1305379" cy="45220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SALDO-DEVEDOR</a:t>
            </a:r>
          </a:p>
        </p:txBody>
      </p:sp>
      <p:cxnSp>
        <p:nvCxnSpPr>
          <p:cNvPr id="51" name="Conector Angulado 50"/>
          <p:cNvCxnSpPr/>
          <p:nvPr/>
        </p:nvCxnSpPr>
        <p:spPr>
          <a:xfrm flipV="1">
            <a:off x="4285281" y="2005829"/>
            <a:ext cx="3344834" cy="1013163"/>
          </a:xfrm>
          <a:prstGeom prst="bentConnector3">
            <a:avLst>
              <a:gd name="adj1" fmla="val 4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do 55"/>
          <p:cNvCxnSpPr>
            <a:stCxn id="48" idx="2"/>
            <a:endCxn id="47" idx="1"/>
          </p:cNvCxnSpPr>
          <p:nvPr/>
        </p:nvCxnSpPr>
        <p:spPr>
          <a:xfrm rot="16200000" flipH="1">
            <a:off x="5897377" y="3287095"/>
            <a:ext cx="1298164" cy="2224303"/>
          </a:xfrm>
          <a:prstGeom prst="bentConnector2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47" idx="0"/>
            <a:endCxn id="50" idx="2"/>
          </p:cNvCxnSpPr>
          <p:nvPr/>
        </p:nvCxnSpPr>
        <p:spPr>
          <a:xfrm flipV="1">
            <a:off x="8311301" y="4281163"/>
            <a:ext cx="0" cy="541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20" idx="3"/>
            <a:endCxn id="31" idx="1"/>
          </p:cNvCxnSpPr>
          <p:nvPr/>
        </p:nvCxnSpPr>
        <p:spPr>
          <a:xfrm flipV="1">
            <a:off x="1006442" y="3531823"/>
            <a:ext cx="467688" cy="4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tângulo 70"/>
          <p:cNvSpPr/>
          <p:nvPr/>
        </p:nvSpPr>
        <p:spPr>
          <a:xfrm>
            <a:off x="3171614" y="5289727"/>
            <a:ext cx="1245529" cy="58628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BCPF-FED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POS VENDAS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cxnSp>
        <p:nvCxnSpPr>
          <p:cNvPr id="72" name="Conector Angulado 71"/>
          <p:cNvCxnSpPr>
            <a:stCxn id="31" idx="3"/>
            <a:endCxn id="71" idx="1"/>
          </p:cNvCxnSpPr>
          <p:nvPr/>
        </p:nvCxnSpPr>
        <p:spPr>
          <a:xfrm>
            <a:off x="2675012" y="3531823"/>
            <a:ext cx="496602" cy="205104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m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2224" y="2216817"/>
            <a:ext cx="630056" cy="630056"/>
          </a:xfrm>
          <a:prstGeom prst="rect">
            <a:avLst/>
          </a:prstGeom>
        </p:spPr>
      </p:pic>
      <p:pic>
        <p:nvPicPr>
          <p:cNvPr id="1026" name="Picture 2" descr="Consultoria em Banco de Dados IBM DB2 em Goiânia - Intervention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415" y="3504040"/>
            <a:ext cx="838966" cy="6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Conector Angulado 75"/>
          <p:cNvCxnSpPr>
            <a:stCxn id="46" idx="3"/>
            <a:endCxn id="74" idx="1"/>
          </p:cNvCxnSpPr>
          <p:nvPr/>
        </p:nvCxnSpPr>
        <p:spPr>
          <a:xfrm>
            <a:off x="8962842" y="2012310"/>
            <a:ext cx="1239382" cy="519535"/>
          </a:xfrm>
          <a:prstGeom prst="bentConnector3">
            <a:avLst>
              <a:gd name="adj1" fmla="val 731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82"/>
          <p:cNvSpPr/>
          <p:nvPr/>
        </p:nvSpPr>
        <p:spPr>
          <a:xfrm>
            <a:off x="10941963" y="2299838"/>
            <a:ext cx="919807" cy="3260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CRIM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10981009" y="3655614"/>
            <a:ext cx="919807" cy="3260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SISCRED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92" name="CaixaDeTexto 91"/>
          <p:cNvSpPr txBox="1"/>
          <p:nvPr/>
        </p:nvSpPr>
        <p:spPr>
          <a:xfrm>
            <a:off x="5224067" y="5409194"/>
            <a:ext cx="4012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Serviço com </a:t>
            </a:r>
            <a:r>
              <a:rPr lang="pt-BR" sz="1400" b="1" dirty="0"/>
              <a:t>Amortização </a:t>
            </a:r>
            <a:r>
              <a:rPr lang="pt-BR" sz="1400" b="1" dirty="0" smtClean="0"/>
              <a:t>do Crédito Imobiliário </a:t>
            </a:r>
            <a:r>
              <a:rPr lang="pt-BR" sz="1400" dirty="0" smtClean="0"/>
              <a:t>Depois e irá </a:t>
            </a:r>
            <a:r>
              <a:rPr lang="pt-BR" sz="1400" dirty="0"/>
              <a:t>S</a:t>
            </a:r>
            <a:r>
              <a:rPr lang="pt-BR" sz="1400" dirty="0" smtClean="0"/>
              <a:t>ubstituir </a:t>
            </a:r>
            <a:r>
              <a:rPr lang="pt-BR" sz="1400" dirty="0"/>
              <a:t>a</a:t>
            </a:r>
            <a:r>
              <a:rPr lang="pt-BR" sz="1400" dirty="0" smtClean="0"/>
              <a:t>tual.</a:t>
            </a:r>
          </a:p>
        </p:txBody>
      </p:sp>
      <p:sp>
        <p:nvSpPr>
          <p:cNvPr id="96" name="Retângulo 95"/>
          <p:cNvSpPr/>
          <p:nvPr/>
        </p:nvSpPr>
        <p:spPr>
          <a:xfrm>
            <a:off x="7652098" y="2651841"/>
            <a:ext cx="1305379" cy="452208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AMORTIZAÇÃO</a:t>
            </a:r>
          </a:p>
        </p:txBody>
      </p:sp>
      <p:cxnSp>
        <p:nvCxnSpPr>
          <p:cNvPr id="98" name="Conector Angulado 97"/>
          <p:cNvCxnSpPr>
            <a:stCxn id="46" idx="3"/>
            <a:endCxn id="1026" idx="1"/>
          </p:cNvCxnSpPr>
          <p:nvPr/>
        </p:nvCxnSpPr>
        <p:spPr>
          <a:xfrm>
            <a:off x="8962842" y="2012310"/>
            <a:ext cx="1140573" cy="1806343"/>
          </a:xfrm>
          <a:prstGeom prst="bentConnector3">
            <a:avLst>
              <a:gd name="adj1" fmla="val 7853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96" idx="2"/>
            <a:endCxn id="50" idx="0"/>
          </p:cNvCxnSpPr>
          <p:nvPr/>
        </p:nvCxnSpPr>
        <p:spPr>
          <a:xfrm>
            <a:off x="8304788" y="3104049"/>
            <a:ext cx="6513" cy="724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aixaDeTexto 107"/>
          <p:cNvSpPr txBox="1"/>
          <p:nvPr/>
        </p:nvSpPr>
        <p:spPr>
          <a:xfrm>
            <a:off x="5081721" y="3972566"/>
            <a:ext cx="70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Fluxo Novo</a:t>
            </a:r>
            <a:endParaRPr lang="pt-BR" sz="900" b="1" dirty="0"/>
          </a:p>
        </p:txBody>
      </p:sp>
      <p:sp>
        <p:nvSpPr>
          <p:cNvPr id="116" name="CaixaDeTexto 115"/>
          <p:cNvSpPr txBox="1"/>
          <p:nvPr/>
        </p:nvSpPr>
        <p:spPr>
          <a:xfrm>
            <a:off x="6204423" y="2683267"/>
            <a:ext cx="85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/>
              <a:t>Fluxo Antigo</a:t>
            </a:r>
          </a:p>
          <a:p>
            <a:r>
              <a:rPr lang="pt-BR" sz="900" b="1" dirty="0" smtClean="0"/>
              <a:t>SISCRED</a:t>
            </a:r>
            <a:endParaRPr lang="pt-BR" sz="900" b="1" dirty="0"/>
          </a:p>
        </p:txBody>
      </p:sp>
      <p:pic>
        <p:nvPicPr>
          <p:cNvPr id="117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4611" y="101144"/>
            <a:ext cx="746205" cy="739840"/>
          </a:xfrm>
          <a:prstGeom prst="rect">
            <a:avLst/>
          </a:prstGeom>
        </p:spPr>
      </p:pic>
      <p:pic>
        <p:nvPicPr>
          <p:cNvPr id="118" name="Imagem 117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9963" y="185314"/>
            <a:ext cx="762000" cy="571500"/>
          </a:xfrm>
          <a:prstGeom prst="rect">
            <a:avLst/>
          </a:prstGeom>
        </p:spPr>
      </p:pic>
      <p:cxnSp>
        <p:nvCxnSpPr>
          <p:cNvPr id="120" name="Conector Angulado 119"/>
          <p:cNvCxnSpPr>
            <a:stCxn id="41" idx="3"/>
            <a:endCxn id="96" idx="1"/>
          </p:cNvCxnSpPr>
          <p:nvPr/>
        </p:nvCxnSpPr>
        <p:spPr>
          <a:xfrm flipV="1">
            <a:off x="4362965" y="2877945"/>
            <a:ext cx="3289133" cy="368813"/>
          </a:xfrm>
          <a:prstGeom prst="bentConnector3">
            <a:avLst>
              <a:gd name="adj1" fmla="val 123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Angulado 123"/>
          <p:cNvCxnSpPr>
            <a:stCxn id="41" idx="3"/>
            <a:endCxn id="48" idx="1"/>
          </p:cNvCxnSpPr>
          <p:nvPr/>
        </p:nvCxnSpPr>
        <p:spPr>
          <a:xfrm>
            <a:off x="4362965" y="3246758"/>
            <a:ext cx="414022" cy="277303"/>
          </a:xfrm>
          <a:prstGeom prst="bentConnector3">
            <a:avLst>
              <a:gd name="adj1" fmla="val 1069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22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611" y="101144"/>
            <a:ext cx="746205" cy="739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202519" y="61274"/>
            <a:ext cx="9900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Bradesco – Cenário 2 de Refinamento Amortização</a:t>
            </a:r>
            <a:endParaRPr lang="pt-BR" sz="2600" b="1" dirty="0">
              <a:solidFill>
                <a:srgbClr val="C00000"/>
              </a:solidFill>
              <a:latin typeface="Bradesco Sans" pitchFamily="2" charset="77"/>
            </a:endParaRP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149" name="Imagem 148">
            <a:extLst>
              <a:ext uri="{FF2B5EF4-FFF2-40B4-BE49-F238E27FC236}">
                <a16:creationId xmlns:a16="http://schemas.microsoft.com/office/drawing/2014/main" id="{C69F268A-EA4B-2CA2-B7E0-A91BCF0C2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9315258">
            <a:off x="8238615" y="6790566"/>
            <a:ext cx="405487" cy="19713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963" y="185314"/>
            <a:ext cx="762000" cy="571500"/>
          </a:xfrm>
          <a:prstGeom prst="rect">
            <a:avLst/>
          </a:prstGeom>
        </p:spPr>
      </p:pic>
      <p:sp>
        <p:nvSpPr>
          <p:cNvPr id="49" name="AutoShape 6" descr="data:image/png;base64,iVBORw0KGgoAAAANSUhEUgAAAVAAAAFQCAYAAADp6CbZAAAAAXNSR0IArs4c6QAAAhJ0RVh0bXhmaWxlACUzQ214R3JhcGhNb2RlbCUzRSUzQ3Jvb3QlM0UlM0NteENlbGwlMjBpZCUzRCUyMjAlMjIlMkYlM0UlM0NteENlbGwlMjBpZCUzRCUyMjElMjIlMjBwYXJlbnQlM0QlMjIwJTIyJTJGJTNFJTNDbXhDZWxsJTIwaWQlM0QlMjIyJTIyJTIwdmFsdWUlM0QlMjIlMjIlMjBzdHlsZSUzRCUyMmltYWdlJTNCYXNwZWN0JTNEZml4ZWQlM0JodG1sJTNEMSUzQnBvaW50cyUzRCU1QiU1RCUzQmFsaWduJTNEY2VudGVyJTNCZm9udFNpemUlM0QxMiUzQmltYWdlJTNEaW1nJTJGbGliJTJGYXp1cmUyJTJGbmV0d29ya2luZyUyRkFwcGxpY2F0aW9uX0dhdGV3YXlzLnN2ZyUzQiUyMiUyMHZlcnRleCUzRCUyMjElMjIlMjBwYXJlbnQlM0QlMjIxJTIyJTNFJTNDbXhHZW9tZXRyeSUyMHglM0QlMjIyNjAlMjIlMjB5JTNEJTIyMjkwJTIyJTIwd2lkdGglM0QlMjI2NCUyMiUyMGhlaWdodCUzRCUyMjY0JTIyJTIwYXMlM0QlMjJnZW9tZXRyeSUyMiUyRiUzRSUzQyUyRm14Q2VsbCUzRSUzQyUyRnJvb3QlM0UlM0MlMkZteEdyYXBoTW9kZWwlM0XLSnf0AAAgAElEQVR4Xu19B5wV1dn+c+72zlKlg3RBEUHKqhhF0XRMoiYq1oia2P0So0Y35Isx+fSfRE00YmKvscfeSBS9IlU6Ir132GVhly13/p65O/fO7dPnzMw7v58/nJ057XnPPPc557znPQx0EQKEACFACBhCgBlKRYkIAUKAECAEQARKn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gBAgBAgBgwgQgRoEjpIRAoQAIUAESn2AECAECAGDCBCBGgSOkhEChAAhQARKfYAQIAQIAYMIEIEaBI6SEQKEACFABEp9QBgEps0bXVC5r/lbDNKZADuFAb0lgPfRjYD0HwnsnfrqwrdmjJnfIkylqSKBRoAINNDmF6fxN787oiaSxy6HhIvVnVJClEFj/zI8FmLSw3+ctDQsTu2pJkFFgAg0qJYXqN2/eG/EZDDcCbAxKqpMps7YPQObJ0nSbXdPXvqeQM2gqgQQASLQABpdpCZz8mQhVitJqFErTaWOKQq0nUbBEJYi0nQiUZGsGby6EIEGz+bCtJiTpwTUMsZqIPHZTgY9/zKwsAQiUWEMGsCKEIEG0OgiNFmtPJX6KApUzz0kEImKYNCA1oEINKCGd7PZMeUJVqNlzjNpGSllblQCCzNSom6aNLBlE4EG1vTuNFxWnmC1EovPeepRnHxONN37jJSoOwYNeKlEoAHvAE42P648UZO8SGTFvQSEGUALS04aNeBlEYEGvAM41fyY8kScPO0oO0qitLBkB7aUZyoCRKDUK2xHQD3nKUECU7nGR+/jg3IrnoOUqO02pQKiCBCBUk+wFQGnlGdyI0iJ2mpWyrwdASJQ6gq2ISArTwm1YKjhezEVN09FgNp9z53taU7UNvNSxqRAqQ/YhUB02M5qmc1znrnqL0EiEs0FEj03jAApUMPQUcJMCCjKk+8wkuQdRtFoIKmKk8GR53xOlNHqPPVY6xEgArUe00DnKIrypDnRQHdDxxpPBOoY1P4vKDbn6fKwPQvSpET93w0dbSERqKNw+7cwRXlCkmoY40NzZcguQbB7IlH/dkPHW0YE6jjk/ivQA8ozGXQiUf91Q1daRATqCuz+KTRKnqwWSIznmSmOp0B/DzNGO5b80xPdaQkRqDu4+6JUTp4RCYmuSgpDKi0U+z7M2jD97m9RZHtfdEgXGkEE6gLofigyrjylmlzh5gR/TsN5P3RIl9pABOoS8F4u9hdvjZgs5UEetsdPe8t4hJHg/CnXm5Solzuki3UnAnURfC8WrZ7zjNZf7DG69vpJpES92CFdrjMRqMsG8FLxXHlGQtE5T4EWgxKPPTYhhLkSDdGcqJe6pOt1JQJ13QTeqEBs2C6hRu/hb556n++dJxL1RqcUoJZEoAIYQfQq+F15qo9Tbj8yJByK0Oq86P1ShPoRgYpgBYHrEFWerJbvMPKUkjRwTHJC+0iJCtwrxakaEag4thCuJorylFfbg3mFIxFM/zP5iQbT+hpaTQSqAaQgvpIw5xkDwMjJ7ZnO0eSZip8fjydKw/kgfgHa2kwEqg2nQL2VoDz94qWkWNBYe4hEA/UFaG8sEah2rALxpqw8Q+1O8pY5CCUv03jvnpRoILq/7kYSgeqGzL8JbnhrxOQQJ0/uqkRXKgIMNCdK/SIBASJQ6hAyArFhu4Qa+egNZYZSietJ94oep+E8fTMJqwIER8ARIOWpswOQEtUJmH9fJwXqX9tqalmK8lQd/haNJM8jykMVYT5+OFygnwOkRDX1MH+/RATqb/tmbZ2sPJmyYBRgIIw2nZSoUeR8k44I1Dem1NcQ0YbtLW3FONxWgubWEjS3laItkoeSggOx//S1zsG3eQAS2vbpIOBiFUUEKpY9HKmN28qzsaUSW+sHYVv9IGytH4ztBwagpa0oa9tLCuplMi0v3I+eVSvRp3opelWtcAQvDYWEIxLtWNKAk+9eIQL1nUmzN8gt5Vl/uDP2NpyJr3aPwuLtPS1BvSCvCb07rECfDkvQt3oJOpdtsiRfQ5mQEjUEm9cTEYF63YI66s/J8+t1oVomtcfzlBeHJDAwVWB51b3J5wcOd8Hq3SejJG8SBlb3RbfyPOw+1IZ7Z9cjot7hqaMN2V7lCnVo109wfK/XUV60t33xy772RRfXEvAiJWqRLb2SDRGoVyxlsp5ODtv3HOqFWWt/gv5VJ+KU/sUpNX/7q0P4ZONhky3KnDzE2jCkaxjj+ryGTqWbbSsnQ8ZEok4j7mJ5RKAugu9U0SnKU3UQh5WR5eubuuKT9edi5U6+kYnhqC4FOP+Y8pRmtkQk/L9P63GgOWI7BP07foHje/0bvTosd25jKl+dpzlR220rQgFEoCJYwcY6pChPY8E04jVMk/5gSwfM3vADfLF1ckpLfjq6Av075Kf8fdnOZjyz5KCNLU/Mumv5epw68DH0rFwZDQKlXDbg0Z4/kahj1nWvICJQ97C3vWRFeUb3tlupNaPBQJpaK/D5xilYtPUMtEYK0rana1kerh1fmcBZyov/XHAAa/e12o6DUgBjEYzv8xLG930ZDFz92hzUhLHw11OkFE/UMQs7XxARqPOYO1JiTHnaFBhk7d5ReGPF9Tndj3hjvz+0FGN7prop7W2MLii12j+ST8Ccuz99Z9i9KCvcb78taDhvP8YulkAE6iL4dhWdXnlaN2Zdv/dYvLbsF2iTUofm6dpUVshwU00VivJSu9vMdY34cG2TXVDI+fapykevyjx0LAmhrDCE8kKGquJWHNt9HqpLtmHhzrewv2lbex1sGNOTErXVvm5mTgTqJvo2lJ2sPJPpILlIvc/X7x2JV3WQp1LeCX2K8K1BpWlb/ODcA9hcb81QnpP1kdUF6FOVh96V+ehdlZ3k+dxo76rlWLb7PWxtSHXM14tPRnxJidrQ293PkgjUfRtYVgNZeUpSLRiryRD9I1NUEE1/31g3Aq8suUWz8lQ3jIvP6yZUolNJXkp76w9H5KF8U6t+59CCEEP/6nwM7Mj/K5B9TfVeFUV7MKjzbGysX4BVez6BJE+NJkRVseYeLCwxmhPVax+R3ycCFdk6OuqmKE9JNedp1YlDjIWwcd9ReGXpzRkXi7RUtW+HfEwbXZH21ZW7W/DkogYt2aAwj+HobgUY2a0QAzqmX7zSlJHqpariHRjYeR62NazAkl3vy0+swk8pRs6PgRaW9BpH4PeJQAU2jtaqRZWnElVJtdquxKHLtNqs8XmPsstwzyenYXtDSGuVMr7HHetPO7Ik7fN3Vjdi1ob086G8qgOqCzCqe6HsX8pJ1OqrY+kW9O+4EBvqFuLLPbPicftM4pdmtZ+UqNXGcyk/63uhSw0JarFq5WmHYupaNhGRlpvx7JLDWLyj2RKYf3pcOfpXp1eOD807gI118fnQ7hV5mNC7CIM6FqCyyDyB52pAl7L1cqCSVXs/xYa6BbLzV4KCtOpeApFoLmN44DkRqAeMlKmKsTnP2Lnt1lJop5I+qMi/C3xPO1eGXCFacVUUhXDd+EqU5Kd2v7rDEdw/ux6NrRIm9i3GGQPTq1Ur6pEuDz4P27lsCbpXzsPy3TNRf3inVZSZblIgLLVh+p+/t/Q9u9pD+dqLABGovfjalnvisL29mEx+4ckSKvm9NM+LQmUY3PHX2Fp3nPx0zd4WPLJQ2xyllkYP7lSAi45N3ebJ03IFWlrA0LlU/4JQtrL3N0XAfU/3HOL/RrDzYBsamiU0tkbQ2CLhUEtcb54y4DGM6vlOdP+BAfwS9i1kT09KVEuHEfQdIlBBDZOtWjf8e8RklpdmztPCnTXHdD0f2+rOQ6Td15Mrs//9yFrH828PLkFN79RgI1aYhCvYr/a04MvdLdh6oE0mSz0XD0hy0ehfoLpki/07lvjqPClRPeYR5l0iUGFMoa0iaZWntqSa3+pbNRKhyC/BY3iqr7s/rQNXcVZdeSHg52Mr0a3MGqW5raFNJsxVe1pkFcs9kcxcPSpX4ccj7zCThZ60pET1oCXIu0SgghhCSzWiylOqBVCjdlNUhGemw9/0PA8hHyO73omN+0elVOmpxQ1YsatFS1U1vzPyiEKcM7xM8/vJL+5rbMPszYexaEcLDhy2jtyVciYNfBjHdP9AHspbgW8699K4fUiJGu4ILiUkAnUJeL3FJg7b9abW93553msoyksdWn+26TDeWHVIX2YZ3uYdb2I/7tJUjBBnJh1XRJLA/UbnbG7G6r0tCdOUOrLR9GpR/kFcMvpGlBbWaXrfgpdIiVoAolNZ6Ou5TtWKyklAQCbPEN9hFFWeyYrSyvsl205Ft7KbMKxzqpsRj9/5x1l1pgmrvDCEc0eUylsu9Vx8x9K8rYcxd0sz+P87dQ3pEsa3htwbU6BW4p3Onozvnac5UafMa6ocIlBT8Nmf2EnlyVvz+Px7cHTXgTh9QHr3oWQ/Tb0IcH/Oc0aUorRAv08nn9d8dGEDmttMTm7qrTSAs4/+X/TusMxASsNJiEQNQ+dcQiJQ57DWXRInT3DlGfPz1J2FrgRb64fg+cW/lZ3WLx6V3sXo041NeOsrY/6g43oV4btDStPGBtVaUR50hLtTHTawb15rGeneO6JiNX4y8jYzWehOy/jqfIT8RHUD52ACIlAHwdZTlKI8JUmqYV+fBJe8+KD4GcqHmln0/O0vr8HKXSegOJ/h9pM7pK3uvqYI7vlU/3zgN/oVZ1S1enDh72470Ip/LmiQne2dvC4efSOqS7bKQ3k78FcvUqn8SIlEnTSyzrKIQHUC5sTrTitP3qZDLVV4eM6DiEhRl6Kfja1Az4r0oeAemFuPLfVxv8q+HaJzmRv2p1+ht8Pfk/t1Pjz/QILzu922Gd3zDUzs/6TdxaTkT0rUccg1F0gEqhkqZ16MK0/UZHKbsePvszf+AOEN58QaeXK/YkzOMA/apSwfo3sWoW9VHgpDiSqwOcKwYX8bXlp+EL//eB9+MKwUo3ukRqPPhiZfYf9wbSPOO7oM1WnC3ylp+RHJfE5WvYPITiuVFNRj2tirkBdqsyXaXTa7gu+dp+G8neY1lDcRqCHY7EmUVnnaECA93aFqTy38P+w62DfWML6N8oYJlQkNndivBMO75CNf4/oPH2F/ubsVM9dqmzPl85rcTWrBtmjQEh4c+dJRFTgiS4xPTqIPz29AgwMnfPI6fWfonzCo8+dxXByyT3uBYUQY7Z235/MzlCsRqCHYrE8UdVVCrQSpxvbDzpK2fLZGCvHX8BOQkpZ3eMAPfihcdUkI3xlSig5FxrrLoRbgxWUHwQOFZLrW72/F80sPprgnFeUzXHJsedbI8nx/OydRJ1yb+lcvxJThf7TpYOhMwQzif2cgJWr912c8R2NfhPHyKGUaBBKUp/WHZ+bk4011I/Di0ttTasZdmaaOLMd3hpQgTeAkXbbknkevr2rEpv2pR3d8tqkJb65qzOhfyqPOTx1ZljV4MifPx75owI4GfXvedTVCdsGV8NOxV6G8YF9OXC0MTZB8qCopUb2Gs+l9IlCbgNWabVx58qOH+eXsmJCXN2fTWfh0w49TqlzTpxhvnNcN+UnznFrblvweJ9GnFx9EXft+et7S11Yewtwth3NmyeMnnzOiDCO6FmZ8t6VNwrNLDuLLPdZuN00u8IR+z2Fsr1fb/+y8vThzkxLN2WUceYEI1BGY0xciK0+W6Ofpxuf42vKbsW5fNGyd+lpzfW90KbW2i/DhPD8PvjUSJTu+YKT14jU5K8eiFMfv/TWN+Gi9fSd99u2wGD8YfqdLP3dR4StfDKREtXYem96z9uuwqZJ+zDamPCWpJsmxMBq1Iu5oaPv932Y/hua2xJ1HM77XBT8eYU8w4yU7W3HO8zuw5YCx4TafWuB+pdmuRdub8dKKg2jLsuNzQMd8+WgQfi49jweq9WRQfp78tLFXRPfUKg66DtoroX+Akyg527vFEUSgLiCvVp5uKE610fc2dsfjC/6SgsLeW/oin9njqN4SATr9YaMp5LMdk6xkvKGuFU8takhwc+JTAN8fWiJHuj+6WyGUo5X2NUb32b+zukl2weIBl7NdV427DMX5DS5MuKgUqPIzS0rUVF8yk5gI1Ax6BtKmKE87js/V4Si6fMdEvPvVzxJa8r+TOuK6cem3chpoctok93x2AL/9zz5T2Q3rUiCHwst2wByfb330iwbUN0VwxZgKXHJcOQZUZz8r/j/rmuQ996+uzBx56kcjfoveHZZbc9yxDntldEAlJWqqLxlNTARqFDkD6RTlKTm0t11LFeds5g705ya8uvjnvdCvSqOzp5ZC0ryzZn8Eox7YbDB1PFmn0hCmHlOOLlmCMvPwd1VFoYz7+9NVggcu+d1HdXhu6cG0dTy5/+MY1eMt0/W3MgO+sASJ/EStxDRXXkSguRCy6HnUVQm14HOesUuZ61T+4Pz97E0/xGcbz05opZ3Dd6WglghDpz9ssARdrkD5jic+JE93je5eiJo++nZD8XzW7G3Frz7Yh3fTHKY3ottMnD5wRvsg2j37pTm0iUjUkl6lLRMiUG04mXorq/JMngRNLsnm559tOAefb/5hrFR+YuaWm3qZaq/WxJ3/uBHNxtaR0hbBjz/+5qAS5KkCNHctC8nznR2KjSnqV1YcwkWv7E4pr1v5Gvxk5K2pXmcO2y9lEja6tEUkqrUTmnyPCNQkgLmSJyrP3DtNkj2m7b7n/p9zNk+JNePY7kX4+JJuuZplyfNx/9iOFTutOWteqVCvynxcMLIMFYVRwqzpXYTRPTL7juZqCF/Fv+DlXbKjv/qqLNqFy8Zc49qOpNz9gpMorc7nsq/Z50SgZhHMkj6mPCXFSd7GwgxmPWvD+Zi/5Xux1KO6F+Ejhwh0wj+2Y5nFBMobwvfQX3BMOfp1yMfZw0vl7ahmrr/NOYBbPkhc8Kos3olLj+MEKu7F+Oo8zYnaaiAiUJvgjZJndG+7eLozrl8+WjcVC7Z+J4YCH+puvNGZIXzX/9uMJu6EadM1bXQ57jmjo+ncP97QhO88vTMhn6riHbh09LUJx7+LaGfQcN60/bNlQARqA7xeUJ5Ks/+77mJ8se2bCSjsu6Uv8mzyAVUKapUYOt5lzSJSJhOO6VGImRcfYdrC2w60Ycj9/Hz4+MUJ9JLjrjWdtxMZkBK1D2UiUIuxTVSePJI8jxivKD7x7meuuQSLtp+RgMKyq3uhd6WxRRetcK6vi+CYv5l3Y8pW3qjuhfjoEvMEyoNHD/trIoF2KNmGS467QXj7Kv2PlKjWnqnvPSJQfXhlfZuTZ0SSahkTd84zuQGzN/0IszclujH9cXInXDXG+FntWiC9f04Dbvtgr5ZXDb8zpHMBPvvpEcgPmevm3I3p7H/tSqhHdck2XDTqesN1cyMhKVHrUTfXs6yvj2dzjCnPBD9P8Zuzeu9YvLHyppSK7rulT2ybo9Wt4IGWO95lbiun1jq9f2E38MPszFx3zaoD/099dSzZggtH3WgmW1fSEolaCzsRqAV4elF5Ks2ua+qGRxfcl4LC4z/ogrOG2hNM5IXljbjs1URFZ4EZ0mbBo+pPPyX9AXlayuQR7y98eTc+2ZgYcs+rBMrbTCSqxfLa3iEC1YZTxre8qjzVDXrg89RoTPz5hht7o7rY2i6yp1FC/z9vMom69uR9qvLx6JROOL6nMRXKD6676d19mHRkMT7deBhN7SeB8mOOf3y0s8cca2917jeJRHNjpOUNa78OLSX66B218swcEyT9scPx991//q+lv8O2A4NTLMOHvu9M7WbZUJ57LJ32xA4s2Jo7gLKV3eT8Y8pw56RqdCzRtzA2a0MT7vjPfvBITZcdV4GDzRHsPBR1u6ooXAiwXyPy9Ulv6Y6VFsm+merHF5YiETb9/rOWvmcl3kHKiwjUoLW95KqUq4kz1/4Ui7efnva12yZ2wP+cUGmaRPmOnn8tO4j/+7RO3mPu9HX56Ar88oRKdMtyQJ26TnzIzuc9OYleMqocAztGj25Wrr4dvsCB5n/jyz2fON0US8uTJIRDjAKQGAWVCNQAcjHlCdS4cISR5UftLNlxOjiJJl/8LKLbv1GFDkV5mDLM+H7y/U0RvP1VI3YfikCChHdXN8nE5PTFA45wNcoDMme6eF1fXnFIPnqEHzWSKe7osC7/RWnBAYQ3PY/6wzuFd6jP1k9JiRrviUSgOrHzk/JUmr69YSCeWxw9okJ9De9agPOOjsYF5SHh+PnuE3oVIk+jWxA/toMHKZ67JfXYDi0R43WaRtPrJfkM3x1Sion9iuTzlQZ3KkBbRMIX25vl45T5USAz10XJ/ZhuhTh3RKo7V4i1YVT3aCi7/254FE2tDZrKFvklJiH89VwEHZms00hEoDoAu+aVEZNDIeUMIz9oT2XzYUheia8/3DUBjR8eVYrjuicuvhxsiWBszyL5fPhOpXkpPpacjPY0RrBiVwvmbm1GkRLyPQ3O/AiNJxY14GCzPZHvdZg27av8d2JMjyKcNqAYZQXx+dPywj0Y3DksE+d/1z8SjX/kaQ0aqz/NiersNESgGgG74ZURkyMhqZapgyEnh+9MzstDz3lIu882nRNrAa/6rROrUKoiDnXz9jW24Z5wPbqX56FfdZ7MH+v2t8lHYVw6Kvs57up8nDqOWKOZ075WnM/kYf/YnoUIMQYeyq5X5XJsPrACS3d8kDlrD9lfaYQEmhPV01eIQDWglV55qrpc/JxEV44lTnNKjqpV2k5dOthcjX/Mf7BdTQHc/YcfgZHp+mBtI/jRF+kuLee4q9PxoT5ftPnv+ibwo4lFvXhU+xP7FuHcEUvQpWw7Fm1/F9savoxhFq23NrzjbRTyfVKiGjshEWgOoBTyTFCeWegpOTub4yGni6ebUAU95b+64has33+snP7U/sWYdGTmxZY/flIHrh4zXXzkfsHIcnmOUevF83tndSP4/Gjy1bsqHzee0AHHHVGIyqIQ+FTC0p0t+Pucenyx3Tm3qLxQC64Zdw0GdRqK9fsXormtKeHn08v2V9edlKi2XksEmgUnmTz5ue18b7vLh785Uf7qvePx5qro9kQ+DB+Q5LqjQLVhfytmzD+Qs4fxOcTvDS3F8T30ObFvqm/FaysOYVtDm0yWb089Akd3zXwQ3Nr9EUx9eReWOECkI7p+gEkDHhbnMDl7+yUp0Ry9nAg0A0DqYbtvlghyLHVIUh4env93NLVW4jff6JAxCAc/rZK7+Gi9tBxBnC4vFmK4YnQFCkK5h/USGH49cz/un524Z11rHbW+N/XYG9GpZIs/loy0LX0RiWbpHESgacAJmvKMxtuT5E3Sszddhs1138TPxlam7TZtkiSfVtmsc65yaOcC/HhEGQqyrMqrC+xcmodzjy77+hy+3OSpTnfJq3vkc93tuHpWLsePjvqNjJMTIwKByiESzdChiECTgAmi8lQUdnlhNc499hH8z5v5OLlv+mE3P4LjmSXGCKpTSQhnjyhD78rs57Jzk0w9tgId9I38ZUs2tAA97rYn0tO3B/8ZAzvN9o/TkjYFqrQ3HIqw6X+mbZ8JjEEEqoIjpjyhHD3sQT+UFPNmU3Dx9pUVVuO6k55E1/L+mPlVHWZvSE+STy1ukH08jV5cvE3oVYTJA0vAV+vTXcO7FeHUfsYPgvvr3IO49f09RquYNl11STOmjpz69SktajyD0z+ioLBwRKK98+oOQgTajkZMefID4IIy6dnezrKialx3IifPfjIazc3NeG7RfmyuS9yzzofvv/1vHbjbkdmLq9EfDi9D36pUNfqjEeXoXma8a25rkDDkPmsjPt05uSvG93kT/156j4/85vVJ0PbvgkhU1fmN91KzX5BA6ePKk0eS99MOo9y/BBVFHXHNiU/EyJObpbW1FfsOtuDR+fsTyHLd/lb8Q8Pqu1bT8tod270QkweUyKvtynX5mAoUmzhIMyIxdLDwvKUelflYddMglBWGMHP1o/j3sv9niHl8xLxEou2dNfAEmkieSZ++z0doFcWdcP2JT6NTWeopnFyFztt8CP9deygGysx1jfhwrfVBQPjCEp9zPalvsbzyzxewzB5qd8aTO7DrYAQ8IDIPEGLm+vCn/XDqgPie+FnrnsFLi38f58NMmfu7/xCJJm2hMNPHPJmWkydjfHumFI+qFF2MjutQn96XF3XCDSc9k5Y8uTEjkQhaWlrw5ML92NnQJtv3HwsOYN0++0LR8Z0+Zw4qwYPf7Yx8k6eC3v953E+VTznsaIhuM911qA2HWiT5v4bmCJpaJBxsv+eOCNUlIVQVh1BdHP33+8Mq8LOaznLMT/UVJdE744vxyo54n/aX2LgsoX00JxpYBZpVeXry50B7pSuKOuH6k9IrT3UunEB3NbTg6S/qcLg1gukWzX/mqum6G3qjU4nxrtkaYXhwbn2uYnI+Ly8M4eKxnVFZnN5r4LMNL+L5L36TMx+fvxBoJWq8l3q4V8SVJ2pixw7Lv6yqY4d9el9Z1BXXnfRERuWpNivHhg/lt9a34O5Ze/Hg3Ny7j6zoFv86txvOHA5r9xcAACAASURBVGDAh6m98I31El5bYT7E3LeHVWJkz2g4v0zXZ+tfxPOLatuVqP/7T7rvBYyFpYCuzgeOQIOsPKuKOXk+hY6lPTTzXFtbm7yotGhHC054aKMlK/C5Ch/UqQDzr+ie67WMz9/86jDW7k3dT68nw14dCnDhmC6aknAl+q8vpsvBogN8BVKJBopAZeWJtlqA1QSto1cVd8P1E/WRp4IRH8rn5eXhleUNOOeZTbDAiykn/K+ed4QhX9Cdh4Dnl5hTysUFIVxZ0zVjKL90lZ+94SU8u/COnO2y8oXOZX2w+6A9mwYM1VNWom3T7z9rZWDOWAoMgSrKU5KkGnlBoH1WPDok4UMvZYde9N7O57845QXwofQrS/+ABZvftr38jmU9cc0Jj6JjaU9D34WCEU/82Pz9uOTFLYby0Zto2dW90btSexetOwz88Lkd6FIWQteyPPk/tXuUlvJ5tP2fn9gNfP5T7zV30+t4av6vbO8/xQVluGrCw+jXcSTeXzUDb664z9H+m/X7AAI1nNfeO/X2JoHejypPHkle2WHkXuX4Tp/bTnsjVgGuWrh6sevqVNoL1018Enz4btV176d7cP0b263KLms+4ct7YkSX3E6hG+sjOOaBzYgkeSwV5jGZSEsLGArygMIQ/7f9//MY1JuhelcV4C/f64kqE06o8za9gSfn32wbNkX5pbiq5mH07xgNO7jn0Gb89r0zbCvPWMYs/LUMCcRpn74n0LjyRI06BkRcYaaPDWHX8x6VQ/DLU+KEyefN+PxZeP2LCbEjrCi/uqwHrj/pKUvJU/mgXl1+ABe/sAV1TVEXJzuv6yZU4epxlehWmtpd9zUBj3/RgDtm7jVVhUGdC/Hplf3RpSz3Pv1cBS3Y8jaemnczIohkjDlixL7FBaX4ec0j6FM9IlaFuqadqH331JRyjORv5ffB44kGYWHJ1wQq4pxnzypOoC+nfIPPfVELvqJr1cUXivicJ5/7tOvaVNciz4nO3thoVxEJ+fJhNT8Q7oiKfOw5FMH7aw5i2wHzBN6/uhCfXtUf3SvMk6dS4cXbPsCjc26Qz4234uLK8+oTHk0gT54vJ9A73jnFiiJsyIMrUX/PifqWQBVXJUh82B7dEsLkUBDxrZpu3PeoGpyWQHnv5T6F4fUvxA4pM1q/TmW9cd1Jj9tKnuqv7fb3d+J3M3fZ8AHan+XRRxTj9Yv6oG8H7ZHztdZq8bYPVSRqvP8V5Zfh6hMSladShyiBnipM/079vuDr4bwvCTRhzlOwI2d68iH8qakKVPkgXlx0J/gul9ils/58zvOGk58Bd5Z38vpk/SGc/cxGbLdAETpRb65i/3BmN1w4qoM8dWLXtWz7R/jH59cgIrUrZZ32LMorxdUnpirPRAJVKVCd+TtzhJN/50Rt7Dp2dcns+cbJEzUibkWODuGzLxq9uPj3mLX2mVhQqEwtTm4f39N+w8SnHSdPXj9+xO8fZl6FpxedgtV7x7ljfI2l/nJiZ9wxqYscHMSJa9n2j/HPOdeiLZK4DTZX/yzOL8XPMyjPVAWa2pJc+Tv83JdK1FcEGpvzlOJ+nqL9IPeoGoKbsyjQBCW69hnNAoGv7l878XHXyPO+jy/ClrqVcn33NfbCvG1TsGrPCYhIuVfQnSAxXsaEPq146txhOLKj8VijRuv65c4wHvrsKrRGWjWd4SrPeWZRngkE+nZcgYrW3xPqw/1EfTYn6hsCjSlPPucpj8lijp7RZXZB7ntWDs46hFd/oK8tvQczv3o0Z/27VvTH9ROfBA+K7PTFled9sy7GlroV0blbxaEWEg42d8SCbd/F0l2T0NJW7HTV5PIK8xoxuNOn4IfBda/YhCvGP4AhXd3ZR/Hlzs8w47OfoVXiAakz98+igsxznskgqudAk/EX8p6vzvvIxckXBKpWnkL/AgPQqkCVD+XVpffgP5xE26/k9nUp748bTnaPPO/9+CJsrVuZsX68vi1tpVi04wws330W6pqcIdKuZWtk0hzS6RMUhOIH4IVC+bhywoOukehXu+fi759OQ2skutU02Z6F+aW4RoPy9KQCVdrrIyXqeQJNUZ72HvNq+jAxPQpU+UjeXvkA3lnxtxSH1SMqB+Hakx51V3nuX6H5kLXRvadgUNfb8OHqg/hwzUGENxzSfThdNhnL1SYnzGO6vYdOJRsy1isvr8BVJbqak2j4SrREDif0Jz3KM2UOVPB+n+qo6g8l6mkC5eSJSFstWHTOM3lSXMR7vQpU+VD4UJ4P6ZVwFd0rB8o7jEoL0p+eaed4mQ/bFeWZ7YSgZPzH9vk+Lhj9+1jVGlsi4Kv3H6w+iA9WN2DBVn3BmvmOodE9i9GxZBkOHX4R/aoWIU+lNrPZP89lJbpu7xf42yeXobkt2mY+56lHeaoJ9Pb2OVAR+3vW/sGVaGvb9PvP9u7eec8SaILyjH2SqrnOhKM5lBfcf96jchBunvSKIX7jCzVr9sxDz6qhuPrER1BaWGUoHzOJDrcelOc8N+9fnuUnKxnnaInHJxFounpsqW+RAzjn2uHUtTwfR3WNhrx7Y/m9eP/LGar6pC8/3ZEaV0x4AEcdMdEMJIbTrtkzHw+Fr8Th1kP47vAbcdrgy3TnVde4o90PVC0htLc/Oong4vfBvK1EPUmgMnm2K089CkiEX+juVYPxq1ONEejaPQuxatdsnDzgApQUVOj+2MwmUMhzk0ye+hV/sgI1Wx8lPSfQ976cYXgEclXNQxjW7USrqqMrn437lmL5jlmYeOR5hn4QOYHeLjvS67eHCN+DPAcssbAU8aYS9RyBJirPTIpS3L/35DuRNLgx6foKHXhZXm3/WLXabuDwPS0K1EhTcivQ7P0hL1QArkTdWp030mYljbwK/3Z0J5KnD63zqBL1FIFe88LQyQixeDxPUX5Ck0dAWe75TqSbJ2XeiWTmY7IrbVNLdM5zS/3K9CM+je0f2zdxDtSq+r6xLKpADUtQAHxO9IqaBzHUJRcno1hwAr39rXY/UA9+D4kxqKUwIpKn5kQ9Q6DXvDBiMgtJtRKTYjuMxNWZmfWA0UUkox+Y2XRR5XkRNtetjPGTUdydGsIbrV9+KB/TJniLRKMK9BSv68+4Oxcfzoe8EwrPEwR67QsjaqRQ270AG2OWENxOz7dyekWBHmqpx/0fXyLvMLLikgl0THwV3oo8eR4xBWpBhl5TogkK1IL2i5EFm8cibdfdd/bKsBj1yVwL4Ql02rzRBUUbGvkKwcVydCI5gryi8Lx336NysCcIlJPnvR9fiG11X1mGt/0K1Jr+kJ/nHSWaqECtab8Q35eExw73LZk2Y8x8vm1L2Et4Ar32haO+L4XwqrAI6qyYFxSoTJ4fTcW2+tU6W5f9dS8oUKUFXlGi/lSgUSuwCKbcd/by1yzthBZnJj6BvnzUg5KEKy1ut2vZiU6gdpEnB9xLBMrr6wUS9TWBMvz9vh8sv8q1j1VDwcIT6DUvDlsJxoZoaIsnXhGZQO0kTy8SqEKiPx1/H4YfcbKQ/cvPBAqJfXn/j5YNFRL49kqJT6AvDT8ESCUig6inbqISqN3k6VUC5fUOsTxcPuF+IUnU1wQK1nj/D5eV6vm+nH5XeAK9+sVhhxhYiewmLEdLS3MMsXxUhzee80WkX51mbCeSXZ3jUHM9/vLRVGw/sNpWfMdxP1CbVuHfXTnD1v7BWB6m1YhHojKBvtnuxuSD7yPh+4bUeP+PVhCBmvnwaQhvBr3caZ1QnkotvDYHmoyeiErU1wqUhvC5P+Bcb1z94lEPMuDKzBvVlMO6Mm1kE+s5d6T/1Wli7ESKKs8LsL1+TRZHbOvws12Bpt3QaF39+XBNNCWaoEAdaH/qd2gtvur8Afz9rz+iRaRcHJn1eYobk+gRk3PUT97KKQCBxpRn3eroL49y2YivIwrUxvrLEElAKCTOnGiKAnWg/U71F3JjMkWd0cSyI/36xhkSpIs9HSyhXePxYCJuz4EqynNb/RpHg1CM7TsFU22YA32d74Vf+ZCjwTRCLIRpNX91fWGJE+iv3+R74T0eTCSp/hLwWEs/cqS3gEIBeSsni27l9Ho34eHsbnF5Eemvsy7Dlztnm97brnfPuTtDeHt/dm+b/Aa6VfS3pJ8byWQ/jwf61qn+ok/Gt3Ky6+47eylt5TTSKdKlkSMxMVYrATX2fhL2UrTbCrS5tRE3vcZDCtjbznT5+0mBKu2bcvT/YNLgS6zq5rrz4QR6+1s+CGfX3h8lSOGQ5J2ITMK7Mal7FI/IBNYmh7Nz/vO3hrZ7CDCE//unV2LZ9lmkQE3+jFQWdcKvTn/FlaOkle/CXwqUhSF5K7CypwiUd5qfvTB0MmOslklciXrv4gR6y+nubu2fu/F1PDHnZsfB4/FApx5/l+Xlvr70L3hvJT/Sw7mrorgTrj/5SXSt6OdcoWlKkhWoPAfq7UsCwiF4R3kqaHuOQHnF48N5VpNyLqzgq5B8Ff5Xp7vvxjRnw2t4at5tsuO8U6uqMoHatojUTqAO2J+T542nPIPOZb1cZ626xp34tRJQmdfGgfZb3V8Yk8Lw0LBdbXRPEmhMiYLVMnlOVP17IPYpSfIc6Oli7ESSSXTurZBiYcHtDWkuz4Eeb3080LgCtbf+/JemorhjO3n2dp08eQVkAn3zG+11sb/9po4kSHNkAJ/zlCBNf8CjJ3N6lkAVJRrhw3molKjgk6OiKFDl609RojbiN7afjQp0hepID73uARrfF0l5KvaLKVAb7WbXZLmXlaenh/Dqn355ThT8nCR44qgPvhPpFkEUqJpEn5x7qzz+s/M75G5Mds2BynvhTS4KZUtfXtwJN8nDdjGUZwKBvvkNW+1mE66eVp6+IdCYEpWH8yzNwlLypFDyyMvZ5zwakwhzoMkoRIfzt6mG88ob1uETXUSyYwjPHekzLSKZr39FcWdh5jyT7RYdwmdbRDLf/sRJcvPfj9eH7b6YA002Y0yJ8tX59okJ+ZdTJami0ZzaN6wo+1Ycfi6iAk1QonNuhcSi88hW4zeOD+FtWoV/d4USjcla+5YXdcJNp4qnPNUK9DY+B8rXAgXo3zm/L8AXytNXClRpDF+dj2RUokLM+UNUBZowJ5pWiZrHzx0FarzeIs556legxttvdUo/KU9fEihv1M+eGzqZ5bFaCOon2rODeHOgyR/K53w4z5Vo4qHdpr8neQ50rD1+oFyBWnlx8hRZeSYo0DeUVXgrEbA4L+Yv5elbApVJtH1hic+JxgO0KoGY3f036kgvhhtTtk+Ek+jTc29DRIqAMeW0R3P/jutnlxvTvXh3xUOW1bOyhM95Pi3cglE6eylzoKL1c3V94FPyVKa5LP6pESM7UZWoFxSoYkGrlagXFKhXlKeHFGhYYt7188zFZp72A83VuPjCEl+djytPZVe7oqycvPeKAk0kUb46H1eiRvFySoEarZ+XlGcigUbD2bnRn+WdbO0OZMnl+1l5+noIryZWWYmGon6i8t9d3urGz0S69Qx398Ln+uFJfv70vNvx2bqXon82gZ8jCtRE/S6vuQ8je56mFx5X3+d74X/9hsqNyUT7zdpXnZ7vbUdEmv7Aj1e+5ypANhfuawWqYCcrUYmTaFSJxi/nt76VFJTj7imf22xWa7P/ZO2/8Nz836gCFqt/f7XjOY5v5Rxrhx/oXxBdRDJnz2tPfhSDu46zFjybc1u183Pc95ESTs9c+83iF0vP5zzb/E+evp4DTe63ihKVJNRwfzlFScmxNBy+H9V7Mk4eeL7Nn5Y12fNFpBcW/g7b69bI34cZvGQ/ULtW4ZdHt3KaqV/vjkfh28OvQVG+0AdBxgzbcHiv/MOxef8KV/tzwvcTEOUZmCF8+uG8okQz/WInb15LVlz0PDFgsjZ8nFOgZB8j9skc8VabfcGd5AMwbFdzSiCG8MkkCj4nKqifqDW6UcxcuAK90AYF+u8lyhBezHYHolY8JF0Evp/zTLZl4AiUA8CH85xE5VB42qfwLJsiihlBkCkrp+pj2xBeIdCA4Wlyyte6/sznPAOmPAM5hCcl6q4WIgXqLv62lC5J/OC3wCnPwBNoghJVDecF8QKJ9XU/1cd2BWrOy0rG3E94296eACtPItB2BOThPBB1cVLCD8lhbVThiOjeEjzG9bdxDrR9FT62DE/2i4fTsqX/Blt5EoGqxjOxOVEJ8mmfyWuOdB9FwOwU43ib3JiURSSz9aP0Gr2kWTCc5LVMeQRyESkdMFElqtqxFGOMLAFpEwJmpsmVnicEYJXnQMdZH41JJlCuQJMvwj8xAK4l+JDyVMNIBJqsRDmJMm8emazlF9PNd2gRyU30LSiblGfa32gLkPVPFsqcqCSfscTkmJj0rzU4jO83xTYF+s7yh8hONvZXgJRnOpYjBZoGlbTDef/8RrjWEseH8K611HcFh8GPHvZ5YBAjViMCzYAaKVHrlTcpUGuUvMMjojALsJ9nLlIlAs2CECnRXN1H33NSoPrwEuBtUp45jEAEmgMgTqIS9xNVTvskP6c4Yjr9frgf6EXj/mA5L/x78V/A50BN+1npbI/PywszFtwdRlo7KRGoBqTUzva0UyXxlHA9eDihQPXUh5ue3k9rT1KeGniBv0IEqhEoWYlKfMeS2sWJJItG12sZZX6kx0XjbfADVRSozyWhQxKblKdGTiAC1QEUf1VWopxEGT/tMxqImf7VjsN4vpXTJkf6d5bNIHuY74+kPHVyAilQnYClV6I6Mwno63wIf9F4G+dAA4qrRc0m5WkASCJQA6DFSTQ5sr06ErqScfzUwsSI38F77twQXt2tCf/0kebV/Q9EngZ4gIbwBkFThvPynKiyOp/Mh3QfRUC1SuOIAqVVIX2rfCDyNEEDtIhkBrxEJUqMmcKYSQwaJVC7FpGUYCLEoDoYNMwY7TAywwE0hDeDHl9YemroZCkPtfJpnyrBlWngGOS/80Uku+ZA317G98InHqVG95nxACPlafLTl5MTgVqAYoISzXSubvJyffK5ygF4Pq6/jW5My7gjfZZzjQOAr/b2E3la8NkTgVoFojwnSko0pwIkBeq+QuZHDzN+euYFK9+zsv8HNS9SoBZaPq0SJUfRmDJ0VIES7mkcdBFmbUSeFn7yNIS3Ekye17Snhk7OC6GWxxNNXoUO+r1dCvQ1vhOJD+GTVv3pPsELIhwi5Wn1504EajmiynA+FN32GeRFo+RFHLsIlAcToUWk9N6e7f2Phu12fOi0iGQTqmolqo7iFPBl4fFH2rMKLyvQpapoTAHHOWEyGghHIpg+g+Y8bfnYaQ7UFlijmcoLSwlKVAmoqywmBOt+vI2r8FEFGiw8c7eXFoxs/LxpFd5ucJU50RAnUa5EA37JQ/gJ1u+Ff22Rag404BjHms9IeTrRFUiBOoAyV6KRdiUa29oYwMlRGsI74+nPGMJtNGx34MsmR3pHQCYlGoWZFKgD3U1COAKa83QAaRrCOwWyUk5MiQZ0OE8Eam+PI+VpL77pcqchvMOYcz/RELifqFTDGIOkcvj2+/2EI6fYNgf69tK/w+/4ZWsfI+Xp8JccLY4I1AXYFRIFC9bC0unDLsUPRv3CcsQ//uo5PDt3uuX5eiZDWjByzVREoC5Br1aiMRdoJRiG8rsm+zOqVptceD6w83EIhfKjqx8myq8oqsZ3R16DIyoHWI54S1sT3lj8N6zbu1iFV7s80IlfW1sL1uxaGJcXOtPH7WWsfL3pmSSFI2Dk52l5r9KWIRGoNpxseUt0JXrHt19H96qBtrRd5EzX7l6Iu987T+QqKgRPTvIuW4kI1GUDpFWiOeMa2b/VprSwAn86e47L6LhX/JVPD1UkpJD/MpDydK93xEsmAhXACjElmrx3Xglvmcl90Obnpw6dinNG3yoAQs5W4enP78Cs1S/Ew2u6hH8svGlq+eSq5GyXyFgaEagghhBViU4aeiHOHn2LICjZX41n50zHR18954zHu4GRBilP+/uAnhKIQPWgZfO7cRKNrs4rA3WlWLfug0Kiz875LT766tmYld3CO4u9SXna/A3qzZ4IVC9iNr/PSfRr59BaxuOJqobocrEu3k8aehHOHuNfJRpVns/Ki+Cxj8JFvJPtLQHhrx1dabXd5u9Pb/ZEoHoRc+D9ZCXqQJGaivCrEk1WnprAcPAlxkPS0fZMBxHXXhQRqHasHH0zqkR5UGZJqNM+zxg+DWeNutFRLOws7Jk50/HxqmdFjvFCytPODmAybyJQkwDamVxWohJqJb5jKTl6k1JwpqhONj4/c8TlmHKs90lUVp6rnk0fyt1G/BL2/2WxHylPO78ua/ImArUGR9tymfbY0MnIk+TjQWwrxEDGZ3pcif5r3l34cOXjBlruWBJSno5BbbwgIlDj2DmWUhnOywtLMSnqvkQ6c/jlmOLB4fwLMnk+0Q6gCxI+hwRlYOEIo5B0jn1gJgoiAjUBnpNJSYlagzYpT2twpFyiCBCBeqgnJCrRaMUlSPJZQMl6NH5v//NvDp/mCSXKlecHK59I0n/246PVPlFXJVKeHvokiUC9ZCxe15gSFSwo83eOuRrfHXm1sHDKynOF4HOeETZ9xsUr3xMWRKpYCgKkQD3YKeLDeVYT9fxWBRdx8f6sUTeBz4uKdsWH7YpnvBh4xXdGsDDaQOQpWsfRUB8iUA0gifiKqEqU+4ieOWKaMJCR8hTGFL6sCBGoh82aVomqjgiJhxNSKS8Hnp91nBhKNEaesbBGzuKgAX9Snh7+/mgRyePGi82JhqRaCRBqx5LbSvTlhX/Cu0tnCL3DiNGcp+e/QFKgnjdh+8JSSDxne7dI9JWFf8I7S2eIbNkwiDxFto/muhGBaoZK7Bfl4TxXohJqRBqxOk2iLy/4E95dNiO2tubAjIWGkXr0qCbZLkCYlKfY35Ke2hGB6kFL8HcVEo1v+xQjoqVTJJqqPMVof7zbsDAitNou+Gekq3pEoLrgEv9lTqISH87H/ESVrYqZ6u7M83OOvwWnDbvINgC58kw/bHemfZkb1l4+I+Vpm/FdzJgI1EXw7SpaIVG+d16kIey5x9+CSTaQKFeeby+ZoW8orTql2YEpD5rztKuzu5wvEajLBrCr+FQlaldJ+vK1Wom+vuiv4P8JfIWZRDuMBLaPqaoRgZqCT+zEMSUqoSZtzCGbT/XMdKqkVUqUD9n50D3jIc8utS9WHwZSnmJ/IqZrRwRqGkKxM5j22MDJEsuTI9urtg7GT510aeunWSWqkKdIW1kT8QUpT7E/DUtqRwRqCYxiZyIrUSaen6hREo2Rp6iw04KRqJaxvF5EoJZDKmaGMRKVpBrFITE69s20mqKcq2zv83PG3ILTjtK+Ov/Okhngu4ziW4zsrZ9ufLifJ815ivkR2FArIlAbQBU1S1GV6PnjanHykJ/khE145UnkmdOGfnuBCNRvFs3RnksfGzg5j+XVShI/7ZO1B2RWBJ179+eN/w2+kYVEuZvSKwv+JEx9o4tycbzAWLhNYtMfoXiegfqiiEADZe5oYxOUKGcC5XJ5487549MrUXnYvuBP8dMzBamvavmfhu0B/I54k4lAA2p4tRJVmElRVG7enze+NkGJfrD8cTw/9y7Za0CE+vEjVBLwYQhHSHkG9CsiAg2s4ROUqGDHg/xk3O04Zej5eHfpP/HS/LvFtRFfbacFI3Ht40DNSIE6ALLIRXAlGpLa/UQzeqTH3UZFDrCZ2aPejvrzo4dpzlPkvu1E3YhAnUBZ8DLiLk4ZdizZwT+xgXB8atMz/M1AC0aC92mnqkcE6hTSgpeToEQFr6u71SPl6S7+YpVOBCqWPVytjaxEJakWjJRohtgBpDxd7aHiFU4EKp5NXK3Rpf8cODkUUvbOu1oV0QoPRyKR6Y9ctprObRfNMi7WhwjURfBFLfrSx4ZODnElCtSo9kx6edbS7CwuLRiJ2lldrhcRqMsGELV4RYlK4DuW4ldyfHe/3wMg5SlqJxWgXkSgAhhB1CpkV6JKrdPOFqah3OT3PJE+HImw6Y9ctpKG7aJ2UpfrRQTqsgFELz6qREPyaZ8xP8v2SisBk2NtSNoK6uXnjCtPieY8Re+fbtePCNRtC3ig/Ev/OXRyKHbufCbF6au/hyORNlow8kDfdLuKRKBuW8Aj5ctKlEdxkiPb+/ci5elf29rRMiJQO1D1aZ4JSlSk4z6tO1aTlKdP+65dzSICtQtZn+YbVaKhWkl2cfLPJQFh0JynfwzqUEuIQB0C2k/FKMN5flCdQOFEk9e4NN8zsHBEojlPP/VRp9pCBOoU0j4rJ6ZE1avz6mggSnsF93Ii5emzjulwc4hAHQbcT8XJc6Is4tnhPClPP/VGd9pCBOoO7r4plStRsFAtaw/K7JWdSRKjOU/fdEIXG0IE6iL4fik6YWHJA+6gjNGcp1/6ntvtIAJ12wI+KV9RopAg750XmEfDAO0w8km3c70ZRKCum8A/FYgN57mLk4AMSsrTP31NlJYQgYpiCZ/UQyZRhGq5i5N8WIficK8wqmv3IOXpkz4mUjOIQEWyhk/qopAoQzyyfbJXk5P3PCQdDdt90rkEawYRqGAG8Ut1YkpUkmpg3VbLuKLVupWUyNMvXUrIdhCBCmkWf1QqnRJ1cmoUYGGAdhj5ozeJ2QoiUDHt4ptaJShRzZsrleYnBRjVk55x8qTVdt90JEEbQgQqqGH8VK34wpJjq/NEnn7qQAK3hQhUYOP4qWrplagNHqN8hxEpTz91HaHbQgQqtHn8Vbk4idoUCo/I018dxgOtIQL1gJH8VMVLHxo4WQpF/UStXZxnYRaiOU8/9RUvtIUI1AtW8lkdZSUaCdWCqc+dz9TI5PAkye9JAC0Y+ayHeKc5RKDesZWvapqgRDPtnVc2MmV9TsrTVx3DY40hAvWYwfxU3UQlaqBlNOdpADRKYiUCRKBWokl56UZArUT1JWZhFolMf+SK1e/pS0dvEwLWIUAEah2W1Om9ZwAAAnVJREFUlJNBBDiJIi90JySMkSCBgSHrv4zNQ1vkNiJPg4BTMssQIAK1DErKyAwCl8wYUMNCocslCRdny4cxPCZFIg8/Om1N2Ex5lJYQsAIBIlArUKQ8LEFg2kOjC1pCDd9iiJwpgZ0CSH14FDzG2EZA+o+E0DsFkfK3Zlwxv8WSAikTQsAkAkSgJgGk5IQAIRBcBIhAg2t7ajkhQAiYRIAI1CSAlJwQIASCiwARaHBtTy0nBAgBkwgQgZoEkJITAoRAcBEgAg2u7anlhAAhYBIBIlCTAFJyQoAQCC4CRKDBtT21nBAgBEwiQARqEkBKTggQAsFFgAg0uLanlhMChIBJBIhATQJIyQkBQiC4CBCBBtf21HJCgBAwiQARqEkAKTkhQAgEFwEi0ODanlpOCBACJhEgAjUJICUnBAiB4CJABBpc21PLCQFCwCQCRKAmAaTkhAAhEFwEiECDa3tqOSFACJhEgAjUJICUnBAgBIKLABFocG1PLScECAGTCBCBmgSQkhMChEBwESACDa7tqeWEACFgEgEiUJMAUnJCgBAILgJEoMG1PbWcECAETCJABGoSQEpOCBACwUWACDS4tqeWEwKEgEkEiEBNAkjJCQFCILgIEIEG1/bUckKAEDCJABGoSQApOSFACAQXASLQ4NqeWk4IEAImESACNQkgJScECIHgIkAEGlzbU8sJAULAJAJEoCYBpOSEACEQXASIQINre2o5IUAImESACNQkgJScECAEgosAEWhwbU8tJwQIAZMIEIGaBJCSEwKEQHARIAINru2p5YQAIWASASJQkwBSckKAEAguAkSgwbU9tZwQIARMIvD/AVDkvnv22WOGAAAAAElFTkSuQmCC"/>
          <p:cNvSpPr>
            <a:spLocks noChangeAspect="1" noChangeArrowheads="1"/>
          </p:cNvSpPr>
          <p:nvPr/>
        </p:nvSpPr>
        <p:spPr bwMode="auto">
          <a:xfrm>
            <a:off x="155575" y="-381000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202519" y="881531"/>
            <a:ext cx="900240" cy="527111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210"/>
            <a:r>
              <a:rPr lang="pt-BR" dirty="0" err="1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app</a:t>
            </a:r>
            <a:endParaRPr lang="pt-BR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859436" y="1115878"/>
            <a:ext cx="6377553" cy="48974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210"/>
            <a:r>
              <a:rPr lang="pt-BR" sz="900" b="1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Domínio Adquirir Emprestar</a:t>
            </a:r>
            <a:endParaRPr lang="pt-BR" sz="900" b="1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1289704" y="881531"/>
            <a:ext cx="8079021" cy="52695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210"/>
            <a:r>
              <a:rPr lang="pt-BR" sz="1000" b="1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Infraestrutura Bradesco - Azure</a:t>
            </a:r>
            <a:endParaRPr lang="pt-BR" sz="1000" b="1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9559188" y="881530"/>
            <a:ext cx="2509228" cy="52695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210"/>
            <a:r>
              <a:rPr lang="pt-BR" dirty="0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Ambiente </a:t>
            </a:r>
            <a:r>
              <a:rPr lang="pt-BR" dirty="0" err="1" smtClean="0">
                <a:solidFill>
                  <a:srgbClr val="70AD47">
                    <a:lumMod val="50000"/>
                  </a:srgbClr>
                </a:solidFill>
                <a:latin typeface="Calibri" panose="020F0502020204030204"/>
              </a:rPr>
              <a:t>Corp</a:t>
            </a:r>
            <a:endParaRPr lang="pt-BR" dirty="0">
              <a:solidFill>
                <a:srgbClr val="70AD47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96551" y="3270586"/>
            <a:ext cx="709891" cy="523330"/>
          </a:xfrm>
          <a:prstGeom prst="rect">
            <a:avLst/>
          </a:prstGeom>
          <a:solidFill>
            <a:srgbClr val="75308B">
              <a:lumMod val="20000"/>
              <a:lumOff val="80000"/>
            </a:srgb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MENU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</a:rPr>
              <a:t>IMOB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32394" y="1797133"/>
            <a:ext cx="638207" cy="668147"/>
          </a:xfrm>
          <a:prstGeom prst="rect">
            <a:avLst/>
          </a:prstGeom>
          <a:solidFill>
            <a:srgbClr val="75308B">
              <a:lumMod val="20000"/>
              <a:lumOff val="80000"/>
            </a:srgb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50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HOME</a:t>
            </a:r>
          </a:p>
        </p:txBody>
      </p:sp>
      <p:cxnSp>
        <p:nvCxnSpPr>
          <p:cNvPr id="24" name="Conector de Seta Reta 23"/>
          <p:cNvCxnSpPr>
            <a:stCxn id="21" idx="2"/>
            <a:endCxn id="20" idx="0"/>
          </p:cNvCxnSpPr>
          <p:nvPr/>
        </p:nvCxnSpPr>
        <p:spPr>
          <a:xfrm flipH="1">
            <a:off x="651497" y="2465280"/>
            <a:ext cx="1" cy="805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1474130" y="3389555"/>
            <a:ext cx="1200882" cy="2845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Gateway Externo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171614" y="1556968"/>
            <a:ext cx="1200882" cy="3260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srgbClr val="6D6E71">
                    <a:lumMod val="50000"/>
                  </a:srgbClr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Gateway interno</a:t>
            </a:r>
          </a:p>
        </p:txBody>
      </p:sp>
      <p:cxnSp>
        <p:nvCxnSpPr>
          <p:cNvPr id="35" name="Conector Angulado 34"/>
          <p:cNvCxnSpPr>
            <a:stCxn id="31" idx="3"/>
            <a:endCxn id="32" idx="1"/>
          </p:cNvCxnSpPr>
          <p:nvPr/>
        </p:nvCxnSpPr>
        <p:spPr>
          <a:xfrm flipV="1">
            <a:off x="2675012" y="1720006"/>
            <a:ext cx="496602" cy="18118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199462" y="3020654"/>
            <a:ext cx="1163503" cy="452208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BFF-IMOB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cxnSp>
        <p:nvCxnSpPr>
          <p:cNvPr id="42" name="Conector de Seta Reta 41"/>
          <p:cNvCxnSpPr>
            <a:stCxn id="32" idx="2"/>
            <a:endCxn id="41" idx="0"/>
          </p:cNvCxnSpPr>
          <p:nvPr/>
        </p:nvCxnSpPr>
        <p:spPr>
          <a:xfrm>
            <a:off x="3772055" y="1883044"/>
            <a:ext cx="9159" cy="1137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ângulo 45"/>
          <p:cNvSpPr/>
          <p:nvPr/>
        </p:nvSpPr>
        <p:spPr>
          <a:xfrm>
            <a:off x="7657463" y="1786206"/>
            <a:ext cx="1305379" cy="452208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SRV-IMOB-CONTRATOS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7658611" y="4822225"/>
            <a:ext cx="1305379" cy="45220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AMORTIZAÇÃO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NOVO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4797880" y="3254289"/>
            <a:ext cx="1314642" cy="45220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noProof="0" dirty="0" smtClean="0">
                <a:solidFill>
                  <a:prstClr val="white"/>
                </a:solidFill>
                <a:latin typeface="Bradesco Sans XBold"/>
              </a:rPr>
              <a:t>MOTOR-ORQUESTRADOR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7658611" y="3828955"/>
            <a:ext cx="1305379" cy="45220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SALDO-DEVEDOR</a:t>
            </a:r>
          </a:p>
        </p:txBody>
      </p:sp>
      <p:cxnSp>
        <p:nvCxnSpPr>
          <p:cNvPr id="56" name="Conector Angulado 55"/>
          <p:cNvCxnSpPr>
            <a:stCxn id="48" idx="2"/>
            <a:endCxn id="47" idx="1"/>
          </p:cNvCxnSpPr>
          <p:nvPr/>
        </p:nvCxnSpPr>
        <p:spPr>
          <a:xfrm rot="16200000" flipH="1">
            <a:off x="5885990" y="3275708"/>
            <a:ext cx="1341832" cy="220341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stCxn id="47" idx="0"/>
            <a:endCxn id="50" idx="2"/>
          </p:cNvCxnSpPr>
          <p:nvPr/>
        </p:nvCxnSpPr>
        <p:spPr>
          <a:xfrm flipV="1">
            <a:off x="8311301" y="4281163"/>
            <a:ext cx="0" cy="541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20" idx="3"/>
            <a:endCxn id="31" idx="1"/>
          </p:cNvCxnSpPr>
          <p:nvPr/>
        </p:nvCxnSpPr>
        <p:spPr>
          <a:xfrm flipV="1">
            <a:off x="1006442" y="3531823"/>
            <a:ext cx="467688" cy="4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tângulo 70"/>
          <p:cNvSpPr/>
          <p:nvPr/>
        </p:nvSpPr>
        <p:spPr>
          <a:xfrm>
            <a:off x="3171614" y="5289727"/>
            <a:ext cx="1245529" cy="58628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72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adesco Sans XBold"/>
                <a:ea typeface="+mn-ea"/>
                <a:cs typeface="+mn-cs"/>
              </a:rPr>
              <a:t>BCPF-FED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POS VENDAS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cxnSp>
        <p:nvCxnSpPr>
          <p:cNvPr id="72" name="Conector Angulado 71"/>
          <p:cNvCxnSpPr>
            <a:stCxn id="31" idx="3"/>
            <a:endCxn id="71" idx="1"/>
          </p:cNvCxnSpPr>
          <p:nvPr/>
        </p:nvCxnSpPr>
        <p:spPr>
          <a:xfrm>
            <a:off x="2675012" y="3531823"/>
            <a:ext cx="496602" cy="205104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m 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224" y="2216817"/>
            <a:ext cx="630056" cy="630056"/>
          </a:xfrm>
          <a:prstGeom prst="rect">
            <a:avLst/>
          </a:prstGeom>
        </p:spPr>
      </p:pic>
      <p:pic>
        <p:nvPicPr>
          <p:cNvPr id="1026" name="Picture 2" descr="Consultoria em Banco de Dados IBM DB2 em Goiânia - Intervention"/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415" y="3504040"/>
            <a:ext cx="838966" cy="6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6" name="Conector Angulado 75"/>
          <p:cNvCxnSpPr>
            <a:stCxn id="46" idx="3"/>
            <a:endCxn id="74" idx="1"/>
          </p:cNvCxnSpPr>
          <p:nvPr/>
        </p:nvCxnSpPr>
        <p:spPr>
          <a:xfrm>
            <a:off x="8962842" y="2012310"/>
            <a:ext cx="1239382" cy="519535"/>
          </a:xfrm>
          <a:prstGeom prst="bentConnector3">
            <a:avLst>
              <a:gd name="adj1" fmla="val 731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82"/>
          <p:cNvSpPr/>
          <p:nvPr/>
        </p:nvSpPr>
        <p:spPr>
          <a:xfrm>
            <a:off x="10941963" y="2299838"/>
            <a:ext cx="919807" cy="3260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CRIM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10981009" y="3655614"/>
            <a:ext cx="919807" cy="3260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6D6E7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srgbClr val="6D6E71">
                    <a:lumMod val="50000"/>
                  </a:srgbClr>
                </a:solidFill>
                <a:latin typeface="Bradesco Sans XBold"/>
              </a:rPr>
              <a:t>SISCRED</a:t>
            </a:r>
            <a:endParaRPr kumimoji="0" lang="pt-BR" sz="972" b="1" i="0" u="none" strike="noStrike" kern="0" cap="none" spc="0" normalizeH="0" baseline="0" noProof="0" dirty="0" smtClean="0">
              <a:ln>
                <a:noFill/>
              </a:ln>
              <a:solidFill>
                <a:srgbClr val="6D6E71">
                  <a:lumMod val="50000"/>
                </a:srgbClr>
              </a:solidFill>
              <a:effectLst/>
              <a:uLnTx/>
              <a:uFillTx/>
              <a:latin typeface="Bradesco Sans XBold"/>
              <a:ea typeface="+mn-ea"/>
              <a:cs typeface="+mn-cs"/>
            </a:endParaRPr>
          </a:p>
        </p:txBody>
      </p:sp>
      <p:sp>
        <p:nvSpPr>
          <p:cNvPr id="96" name="Retângulo 95"/>
          <p:cNvSpPr/>
          <p:nvPr/>
        </p:nvSpPr>
        <p:spPr>
          <a:xfrm>
            <a:off x="7652098" y="2651841"/>
            <a:ext cx="1305379" cy="452208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CRIM- SRV-IMOB-</a:t>
            </a:r>
          </a:p>
          <a:p>
            <a:pPr marL="0" marR="0" lvl="0" indent="0" algn="ctr" defTabSz="9142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72" b="1" kern="0" dirty="0" smtClean="0">
                <a:solidFill>
                  <a:prstClr val="white"/>
                </a:solidFill>
                <a:latin typeface="Bradesco Sans XBold"/>
              </a:rPr>
              <a:t>AMORTIZAÇÃO</a:t>
            </a:r>
          </a:p>
        </p:txBody>
      </p:sp>
      <p:cxnSp>
        <p:nvCxnSpPr>
          <p:cNvPr id="98" name="Conector Angulado 97"/>
          <p:cNvCxnSpPr>
            <a:stCxn id="46" idx="3"/>
            <a:endCxn id="1026" idx="1"/>
          </p:cNvCxnSpPr>
          <p:nvPr/>
        </p:nvCxnSpPr>
        <p:spPr>
          <a:xfrm>
            <a:off x="8962842" y="2012310"/>
            <a:ext cx="1140573" cy="1806343"/>
          </a:xfrm>
          <a:prstGeom prst="bentConnector3">
            <a:avLst>
              <a:gd name="adj1" fmla="val 7853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96" idx="2"/>
            <a:endCxn id="50" idx="0"/>
          </p:cNvCxnSpPr>
          <p:nvPr/>
        </p:nvCxnSpPr>
        <p:spPr>
          <a:xfrm>
            <a:off x="8304788" y="3104049"/>
            <a:ext cx="6513" cy="724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aixaDeTexto 107"/>
          <p:cNvSpPr txBox="1"/>
          <p:nvPr/>
        </p:nvSpPr>
        <p:spPr>
          <a:xfrm>
            <a:off x="4950258" y="4469260"/>
            <a:ext cx="96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/>
              <a:t>Fluxo novo</a:t>
            </a:r>
          </a:p>
          <a:p>
            <a:pPr algn="ctr"/>
            <a:r>
              <a:rPr lang="pt-BR" sz="900" b="1" dirty="0" smtClean="0"/>
              <a:t>CRIM e SISCRED</a:t>
            </a:r>
            <a:endParaRPr lang="pt-BR" sz="900" b="1" dirty="0"/>
          </a:p>
        </p:txBody>
      </p:sp>
      <p:sp>
        <p:nvSpPr>
          <p:cNvPr id="114" name="CaixaDeTexto 113"/>
          <p:cNvSpPr txBox="1"/>
          <p:nvPr/>
        </p:nvSpPr>
        <p:spPr>
          <a:xfrm>
            <a:off x="5844859" y="2684630"/>
            <a:ext cx="85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/>
              <a:t>Fluxo Antigo</a:t>
            </a:r>
          </a:p>
          <a:p>
            <a:r>
              <a:rPr lang="pt-BR" sz="900" b="1" dirty="0" smtClean="0"/>
              <a:t>SISCRED</a:t>
            </a:r>
            <a:endParaRPr lang="pt-BR" sz="900" b="1" dirty="0"/>
          </a:p>
        </p:txBody>
      </p:sp>
      <p:sp>
        <p:nvSpPr>
          <p:cNvPr id="3" name="Multiplicar 2"/>
          <p:cNvSpPr/>
          <p:nvPr/>
        </p:nvSpPr>
        <p:spPr>
          <a:xfrm>
            <a:off x="7769767" y="2260187"/>
            <a:ext cx="1170122" cy="129711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5058395" y="5593373"/>
            <a:ext cx="4012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Serviço com </a:t>
            </a:r>
            <a:r>
              <a:rPr lang="pt-BR" sz="1400" b="1" dirty="0" smtClean="0"/>
              <a:t>Amortização do Crédito Imobiliário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39998" y="1175121"/>
            <a:ext cx="4012922" cy="30777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/>
              <a:t>Após tratativa do débito técnico</a:t>
            </a:r>
          </a:p>
        </p:txBody>
      </p:sp>
      <p:cxnSp>
        <p:nvCxnSpPr>
          <p:cNvPr id="7" name="Conector Angulado 6"/>
          <p:cNvCxnSpPr>
            <a:stCxn id="41" idx="3"/>
          </p:cNvCxnSpPr>
          <p:nvPr/>
        </p:nvCxnSpPr>
        <p:spPr>
          <a:xfrm flipV="1">
            <a:off x="4362965" y="2894368"/>
            <a:ext cx="3295963" cy="352390"/>
          </a:xfrm>
          <a:prstGeom prst="bentConnector3">
            <a:avLst>
              <a:gd name="adj1" fmla="val 626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do 12"/>
          <p:cNvCxnSpPr>
            <a:stCxn id="41" idx="3"/>
            <a:endCxn id="48" idx="1"/>
          </p:cNvCxnSpPr>
          <p:nvPr/>
        </p:nvCxnSpPr>
        <p:spPr>
          <a:xfrm>
            <a:off x="4362965" y="3246758"/>
            <a:ext cx="434915" cy="23363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ultiplicar 44"/>
          <p:cNvSpPr/>
          <p:nvPr/>
        </p:nvSpPr>
        <p:spPr>
          <a:xfrm>
            <a:off x="5851920" y="2206930"/>
            <a:ext cx="1170122" cy="129711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Angulado 17"/>
          <p:cNvCxnSpPr>
            <a:endCxn id="46" idx="1"/>
          </p:cNvCxnSpPr>
          <p:nvPr/>
        </p:nvCxnSpPr>
        <p:spPr>
          <a:xfrm flipV="1">
            <a:off x="4161295" y="2012310"/>
            <a:ext cx="3496168" cy="1008344"/>
          </a:xfrm>
          <a:prstGeom prst="bentConnector3">
            <a:avLst>
              <a:gd name="adj1" fmla="val -5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79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77125-3CDB-45A2-8B9E-266D3CE468AF}"/>
              </a:ext>
            </a:extLst>
          </p:cNvPr>
          <p:cNvSpPr/>
          <p:nvPr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e4pContent1">
            <a:extLst>
              <a:ext uri="{FF2B5EF4-FFF2-40B4-BE49-F238E27FC236}">
                <a16:creationId xmlns:a16="http://schemas.microsoft.com/office/drawing/2014/main" id="{42DE98C3-BC61-4597-83B6-575C3D8E47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18888" y="2505672"/>
            <a:ext cx="6744462" cy="1846659"/>
          </a:xfrm>
          <a:prstGeom prst="rect">
            <a:avLst/>
          </a:prstGeom>
          <a:ln cap="rnd"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–"/>
              <a:defRPr sz="20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Trebuchet MS" panose="020B0603020202020204" pitchFamily="34" charset="0"/>
              <a:buChar char="•"/>
              <a:defRPr sz="2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Objetivo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Exposição dos Cenários de Arquitetura</a:t>
            </a:r>
          </a:p>
          <a:p>
            <a:pPr>
              <a:buNone/>
            </a:pPr>
            <a:endParaRPr lang="pt-BR" sz="2400" dirty="0">
              <a:solidFill>
                <a:prstClr val="white"/>
              </a:solidFill>
              <a:latin typeface="Bradesco Sans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prstClr val="white"/>
                </a:solidFill>
                <a:latin typeface="Bradesco Sans"/>
              </a:rPr>
              <a:t> </a:t>
            </a:r>
            <a:r>
              <a:rPr lang="pt-BR" sz="2400" b="1" dirty="0">
                <a:solidFill>
                  <a:prstClr val="white"/>
                </a:solidFill>
                <a:latin typeface="Bradesco Sans"/>
              </a:rPr>
              <a:t>Conclusão</a:t>
            </a:r>
          </a:p>
        </p:txBody>
      </p:sp>
      <p:cxnSp>
        <p:nvCxnSpPr>
          <p:cNvPr id="31" name="Straight Connector 10">
            <a:extLst>
              <a:ext uri="{FF2B5EF4-FFF2-40B4-BE49-F238E27FC236}">
                <a16:creationId xmlns:a16="http://schemas.microsoft.com/office/drawing/2014/main" id="{BC948E63-9079-45D7-AA47-85D7F9EAE21C}"/>
              </a:ext>
            </a:extLst>
          </p:cNvPr>
          <p:cNvCxnSpPr/>
          <p:nvPr/>
        </p:nvCxnSpPr>
        <p:spPr>
          <a:xfrm>
            <a:off x="4818888" y="3068561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10">
            <a:extLst>
              <a:ext uri="{FF2B5EF4-FFF2-40B4-BE49-F238E27FC236}">
                <a16:creationId xmlns:a16="http://schemas.microsoft.com/office/drawing/2014/main" id="{C71711CF-7635-4C41-B8D7-76BA55613317}"/>
              </a:ext>
            </a:extLst>
          </p:cNvPr>
          <p:cNvCxnSpPr/>
          <p:nvPr/>
        </p:nvCxnSpPr>
        <p:spPr>
          <a:xfrm>
            <a:off x="4764643" y="3862952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itle 3">
            <a:extLst>
              <a:ext uri="{FF2B5EF4-FFF2-40B4-BE49-F238E27FC236}">
                <a16:creationId xmlns:a16="http://schemas.microsoft.com/office/drawing/2014/main" id="{95B9E1DE-191E-47C6-BE9E-3B349D7C095A}"/>
              </a:ext>
            </a:extLst>
          </p:cNvPr>
          <p:cNvSpPr txBox="1">
            <a:spLocks/>
          </p:cNvSpPr>
          <p:nvPr/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6"/>
                    </a:gs>
                    <a:gs pos="100000">
                      <a:schemeClr val="tx2"/>
                    </a:gs>
                  </a:gsLst>
                  <a:lin ang="8100000" scaled="1"/>
                </a:gra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srgbClr val="D1193A"/>
                </a:solidFill>
                <a:effectLst/>
                <a:uLnTx/>
                <a:uFillTx/>
                <a:latin typeface="Bradesco Sans"/>
                <a:ea typeface="+mj-ea"/>
                <a:cs typeface="+mj-cs"/>
                <a:sym typeface="Trebuchet MS" panose="020B0603020202020204" pitchFamily="34" charset="0"/>
              </a:rPr>
              <a:t>Agenda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D1193A"/>
              </a:solidFill>
              <a:effectLst/>
              <a:uLnTx/>
              <a:uFillTx/>
              <a:latin typeface="Bradesco Sans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36" name="Picture 15">
            <a:extLst>
              <a:ext uri="{FF2B5EF4-FFF2-40B4-BE49-F238E27FC236}">
                <a16:creationId xmlns:a16="http://schemas.microsoft.com/office/drawing/2014/main" id="{D05FAC72-765C-4332-A886-74E5824D63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V="1">
            <a:off x="4179405" y="0"/>
            <a:ext cx="416951" cy="685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002ED6CD-1EF8-47EA-980E-39E2028B4F3E}"/>
              </a:ext>
            </a:extLst>
          </p:cNvPr>
          <p:cNvCxnSpPr/>
          <p:nvPr/>
        </p:nvCxnSpPr>
        <p:spPr>
          <a:xfrm>
            <a:off x="4764643" y="4573934"/>
            <a:ext cx="6744462" cy="0"/>
          </a:xfrm>
          <a:prstGeom prst="line">
            <a:avLst/>
          </a:prstGeom>
          <a:noFill/>
          <a:ln w="9525" cap="rnd" cmpd="sng" algn="ctr">
            <a:solidFill>
              <a:srgbClr val="FFFFFF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8579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262074" y="1086723"/>
            <a:ext cx="106161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 </a:t>
            </a:r>
            <a:r>
              <a:rPr lang="pt-BR" dirty="0"/>
              <a:t>Será necessário </a:t>
            </a:r>
            <a:r>
              <a:rPr lang="pt-BR" dirty="0" smtClean="0"/>
              <a:t>o provisionamento dos serviços </a:t>
            </a:r>
            <a:r>
              <a:rPr lang="pt-BR" dirty="0"/>
              <a:t>e </a:t>
            </a:r>
            <a:r>
              <a:rPr lang="pt-BR" dirty="0" smtClean="0"/>
              <a:t>recursos:</a:t>
            </a:r>
          </a:p>
          <a:p>
            <a:pPr algn="just"/>
            <a:endParaRPr lang="pt-BR" dirty="0"/>
          </a:p>
          <a:p>
            <a:pPr algn="just"/>
            <a:r>
              <a:rPr lang="pt-BR" b="1" dirty="0" err="1"/>
              <a:t>crim-bff-mpf-imob</a:t>
            </a:r>
            <a:endParaRPr lang="pt-BR" dirty="0"/>
          </a:p>
          <a:p>
            <a:r>
              <a:rPr lang="pt-BR" dirty="0" smtClean="0"/>
              <a:t>O </a:t>
            </a:r>
            <a:r>
              <a:rPr lang="pt-BR" dirty="0"/>
              <a:t>BFF  vai ser único para </a:t>
            </a:r>
            <a:r>
              <a:rPr lang="pt-BR" dirty="0" smtClean="0"/>
              <a:t>essa </a:t>
            </a:r>
            <a:r>
              <a:rPr lang="pt-BR" dirty="0"/>
              <a:t>jornada completa</a:t>
            </a:r>
            <a:r>
              <a:rPr lang="pt-BR" dirty="0" smtClean="0"/>
              <a:t>. Responsável </a:t>
            </a:r>
            <a:r>
              <a:rPr lang="pt-BR" dirty="0"/>
              <a:t>pela </a:t>
            </a:r>
            <a:r>
              <a:rPr lang="pt-BR" b="1" dirty="0"/>
              <a:t>orquestração </a:t>
            </a:r>
            <a:r>
              <a:rPr lang="pt-BR" dirty="0"/>
              <a:t>das chamadas de </a:t>
            </a:r>
            <a:r>
              <a:rPr lang="pt-BR" dirty="0" err="1"/>
              <a:t>APIs</a:t>
            </a:r>
            <a:r>
              <a:rPr lang="pt-BR" dirty="0"/>
              <a:t> do Canal </a:t>
            </a:r>
            <a:r>
              <a:rPr lang="pt-BR" dirty="0" smtClean="0"/>
              <a:t>mobile. </a:t>
            </a:r>
            <a:endParaRPr lang="pt-BR" dirty="0"/>
          </a:p>
          <a:p>
            <a:pPr algn="just"/>
            <a:endParaRPr lang="pt-BR" dirty="0" smtClean="0"/>
          </a:p>
          <a:p>
            <a:pPr algn="just"/>
            <a:r>
              <a:rPr lang="pt-BR" b="1" dirty="0" err="1" smtClean="0"/>
              <a:t>crim</a:t>
            </a:r>
            <a:r>
              <a:rPr lang="pt-BR" b="1" dirty="0" smtClean="0"/>
              <a:t>-</a:t>
            </a:r>
            <a:r>
              <a:rPr lang="pt-BR" b="1" dirty="0" err="1" smtClean="0"/>
              <a:t>srv</a:t>
            </a:r>
            <a:r>
              <a:rPr lang="pt-BR" b="1" dirty="0" smtClean="0"/>
              <a:t>-</a:t>
            </a:r>
            <a:r>
              <a:rPr lang="pt-BR" b="1" dirty="0" err="1" smtClean="0"/>
              <a:t>imob</a:t>
            </a:r>
            <a:r>
              <a:rPr lang="pt-BR" b="1" dirty="0" smtClean="0"/>
              <a:t>-eventos-menu</a:t>
            </a:r>
          </a:p>
          <a:p>
            <a:pPr algn="just"/>
            <a:r>
              <a:rPr lang="pt-BR" dirty="0"/>
              <a:t>Aplicar regras tendo como referência os dados do Ciente, para </a:t>
            </a:r>
            <a:r>
              <a:rPr lang="pt-BR" dirty="0" smtClean="0"/>
              <a:t>identificar </a:t>
            </a:r>
            <a:r>
              <a:rPr lang="pt-BR" dirty="0"/>
              <a:t>quais eventos que </a:t>
            </a:r>
            <a:r>
              <a:rPr lang="pt-BR" dirty="0" smtClean="0"/>
              <a:t>estará disponível </a:t>
            </a:r>
            <a:r>
              <a:rPr lang="pt-BR" dirty="0"/>
              <a:t>para montar o menu</a:t>
            </a:r>
            <a:r>
              <a:rPr lang="pt-BR" dirty="0" smtClean="0"/>
              <a:t>. (Usando o </a:t>
            </a:r>
            <a:r>
              <a:rPr lang="pt-BR" b="1" dirty="0" err="1" smtClean="0"/>
              <a:t>Cockpit</a:t>
            </a:r>
            <a:r>
              <a:rPr lang="pt-BR" b="1" dirty="0" smtClean="0"/>
              <a:t> do Gestor</a:t>
            </a:r>
            <a:r>
              <a:rPr lang="pt-BR" dirty="0" smtClean="0"/>
              <a:t>)</a:t>
            </a:r>
          </a:p>
          <a:p>
            <a:pPr algn="just"/>
            <a:endParaRPr lang="pt-BR" dirty="0"/>
          </a:p>
          <a:p>
            <a:pPr algn="just"/>
            <a:r>
              <a:rPr lang="pt-BR" b="1" dirty="0" err="1"/>
              <a:t>Cockpit</a:t>
            </a:r>
            <a:r>
              <a:rPr lang="pt-BR" b="1" dirty="0"/>
              <a:t> do </a:t>
            </a:r>
            <a:r>
              <a:rPr lang="pt-BR" b="1" dirty="0" smtClean="0"/>
              <a:t>Gestor</a:t>
            </a:r>
          </a:p>
          <a:p>
            <a:pPr algn="just"/>
            <a:r>
              <a:rPr lang="pt-BR" dirty="0"/>
              <a:t>O </a:t>
            </a:r>
            <a:r>
              <a:rPr lang="pt-BR" dirty="0" err="1"/>
              <a:t>Cockpit</a:t>
            </a:r>
            <a:r>
              <a:rPr lang="pt-BR" dirty="0"/>
              <a:t> do Gestor deverá ser utilizado como facilitador na gestão de produtos e jornadas do Menu do CRIM. Ele desempenhará um papel fundamental na jornada de </a:t>
            </a:r>
            <a:r>
              <a:rPr lang="pt-BR" dirty="0" err="1"/>
              <a:t>Rollout</a:t>
            </a:r>
            <a:r>
              <a:rPr lang="pt-BR" dirty="0"/>
              <a:t>, com as seguintes responsabilidades</a:t>
            </a:r>
            <a:r>
              <a:rPr lang="pt-BR" dirty="0" smtClean="0"/>
              <a:t>:</a:t>
            </a:r>
            <a:endParaRPr lang="pt-BR" dirty="0"/>
          </a:p>
          <a:p>
            <a:pPr algn="just"/>
            <a:r>
              <a:rPr lang="pt-BR" b="1" dirty="0"/>
              <a:t>Liberação de Menu</a:t>
            </a:r>
            <a:r>
              <a:rPr lang="pt-BR" dirty="0"/>
              <a:t>: O </a:t>
            </a:r>
            <a:r>
              <a:rPr lang="pt-BR" dirty="0" err="1"/>
              <a:t>Cockpit</a:t>
            </a:r>
            <a:r>
              <a:rPr lang="pt-BR" dirty="0"/>
              <a:t> do Gestor será responsável pela parte de liberação do menu.</a:t>
            </a:r>
          </a:p>
          <a:p>
            <a:pPr algn="just"/>
            <a:r>
              <a:rPr lang="pt-BR" b="1" dirty="0"/>
              <a:t>Cadastramento de Jornada de </a:t>
            </a:r>
            <a:r>
              <a:rPr lang="pt-BR" b="1" dirty="0" err="1"/>
              <a:t>Rollout</a:t>
            </a:r>
            <a:r>
              <a:rPr lang="pt-BR" dirty="0"/>
              <a:t>: Além disso, ele será usado para cadastrar a jornada de </a:t>
            </a:r>
            <a:r>
              <a:rPr lang="pt-BR" dirty="0" err="1"/>
              <a:t>Rollout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35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12537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Conclusão</a:t>
            </a:r>
          </a:p>
          <a:p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Recomendação de Arquitetura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5FE809-8160-D8B7-7F75-118674FBB024}"/>
              </a:ext>
            </a:extLst>
          </p:cNvPr>
          <p:cNvSpPr txBox="1"/>
          <p:nvPr/>
        </p:nvSpPr>
        <p:spPr>
          <a:xfrm>
            <a:off x="262074" y="1086723"/>
            <a:ext cx="106161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r>
              <a:rPr lang="pt-BR" b="1" dirty="0" err="1" smtClean="0"/>
              <a:t>crim</a:t>
            </a:r>
            <a:r>
              <a:rPr lang="pt-BR" b="1" dirty="0" smtClean="0"/>
              <a:t>-</a:t>
            </a:r>
            <a:r>
              <a:rPr lang="pt-BR" b="1" dirty="0" err="1" smtClean="0"/>
              <a:t>srv</a:t>
            </a:r>
            <a:r>
              <a:rPr lang="pt-BR" b="1" dirty="0" smtClean="0"/>
              <a:t>-</a:t>
            </a:r>
            <a:r>
              <a:rPr lang="pt-BR" b="1" dirty="0" err="1" smtClean="0"/>
              <a:t>imob</a:t>
            </a:r>
            <a:r>
              <a:rPr lang="pt-BR" b="1" dirty="0" smtClean="0"/>
              <a:t>-contratos</a:t>
            </a:r>
          </a:p>
          <a:p>
            <a:pPr algn="just"/>
            <a:r>
              <a:rPr lang="pt-BR" dirty="0"/>
              <a:t>Responsável pela consulta contratos na base federada SISCRED e no </a:t>
            </a:r>
            <a:r>
              <a:rPr lang="pt-BR" dirty="0" smtClean="0"/>
              <a:t>CRIM</a:t>
            </a:r>
          </a:p>
          <a:p>
            <a:pPr algn="just"/>
            <a:endParaRPr lang="pt-BR" dirty="0" smtClean="0"/>
          </a:p>
          <a:p>
            <a:pPr algn="just"/>
            <a:r>
              <a:rPr lang="pt-BR" b="1" dirty="0" err="1" smtClean="0"/>
              <a:t>crim</a:t>
            </a:r>
            <a:r>
              <a:rPr lang="pt-BR" b="1" dirty="0" smtClean="0"/>
              <a:t>-</a:t>
            </a:r>
            <a:r>
              <a:rPr lang="pt-BR" b="1" dirty="0" err="1" smtClean="0"/>
              <a:t>srv</a:t>
            </a:r>
            <a:r>
              <a:rPr lang="pt-BR" b="1" dirty="0" smtClean="0"/>
              <a:t>-</a:t>
            </a:r>
            <a:r>
              <a:rPr lang="pt-BR" b="1" dirty="0" err="1" smtClean="0"/>
              <a:t>imob</a:t>
            </a:r>
            <a:r>
              <a:rPr lang="pt-BR" b="1" dirty="0" smtClean="0"/>
              <a:t>-ocorrências</a:t>
            </a:r>
          </a:p>
          <a:p>
            <a:pPr algn="just"/>
            <a:r>
              <a:rPr lang="pt-BR" dirty="0"/>
              <a:t>Consulta ocorrências na base federada </a:t>
            </a:r>
            <a:r>
              <a:rPr lang="pt-BR" dirty="0" smtClean="0"/>
              <a:t>SISCRED</a:t>
            </a:r>
          </a:p>
          <a:p>
            <a:pPr algn="just"/>
            <a:endParaRPr lang="pt-BR" dirty="0"/>
          </a:p>
          <a:p>
            <a:pPr algn="just"/>
            <a:r>
              <a:rPr lang="pt-BR" b="1" dirty="0" err="1"/>
              <a:t>crim</a:t>
            </a:r>
            <a:r>
              <a:rPr lang="pt-BR" b="1" dirty="0"/>
              <a:t>-</a:t>
            </a:r>
            <a:r>
              <a:rPr lang="pt-BR" b="1" dirty="0" err="1"/>
              <a:t>srv</a:t>
            </a:r>
            <a:r>
              <a:rPr lang="pt-BR" b="1" dirty="0"/>
              <a:t>-</a:t>
            </a:r>
            <a:r>
              <a:rPr lang="pt-BR" b="1" dirty="0" err="1"/>
              <a:t>imob</a:t>
            </a:r>
            <a:r>
              <a:rPr lang="pt-BR" b="1" dirty="0"/>
              <a:t>-valida-eventos</a:t>
            </a:r>
            <a:endParaRPr lang="pt-BR" dirty="0"/>
          </a:p>
          <a:p>
            <a:pPr algn="just"/>
            <a:r>
              <a:rPr lang="pt-BR" dirty="0"/>
              <a:t>Responsável pelas regras de validação dos eventos. - A ideia é ter um motor de elegibilidade e eventos, algo parametrizável onde podemos habilitar ou não as regras e eventos. – Exemplo:  validar eventos: onde é realizado uma consulta na lista de contratos, consulta dados do contrato, consulta ocorrências do contrato e tem o validar o evento onde são passados o contrato e o evento desejado na consulta.  Esse serviço valida se é possível ou não seguir.</a:t>
            </a:r>
          </a:p>
        </p:txBody>
      </p:sp>
    </p:spTree>
    <p:extLst>
      <p:ext uri="{BB962C8B-B14F-4D97-AF65-F5344CB8AC3E}">
        <p14:creationId xmlns:p14="http://schemas.microsoft.com/office/powerpoint/2010/main" val="43369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4" ma:contentTypeDescription="Crie um novo documento." ma:contentTypeScope="" ma:versionID="6f89d01018517e1b4a20966707db1033">
  <xsd:schema xmlns:xsd="http://www.w3.org/2001/XMLSchema" xmlns:xs="http://www.w3.org/2001/XMLSchema" xmlns:p="http://schemas.microsoft.com/office/2006/metadata/properties" xmlns:ns3="b067917c-5cbc-4020-9aca-481eecb008a7" xmlns:ns4="0ba53bdc-13c0-4d4d-b7f8-3295b790f778" targetNamespace="http://schemas.microsoft.com/office/2006/metadata/properties" ma:root="true" ma:fieldsID="48a29cde2d42204c1a7941f368a37dfa" ns3:_="" ns4:_="">
    <xsd:import namespace="b067917c-5cbc-4020-9aca-481eecb008a7"/>
    <xsd:import namespace="0ba53bdc-13c0-4d4d-b7f8-3295b790f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3bdc-13c0-4d4d-b7f8-3295b790f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Props1.xml><?xml version="1.0" encoding="utf-8"?>
<ds:datastoreItem xmlns:ds="http://schemas.openxmlformats.org/officeDocument/2006/customXml" ds:itemID="{2810A743-6126-4D69-B9AE-69CF6C644D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CEE22E-B571-41B0-B7E6-792A36B22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0ba53bdc-13c0-4d4d-b7f8-3295b790f7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E48233-76AC-4860-B1CB-514D0F1F2853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0ba53bdc-13c0-4d4d-b7f8-3295b790f778"/>
    <ds:schemaRef ds:uri="b067917c-5cbc-4020-9aca-481eecb008a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40007</TotalTime>
  <Words>1576</Words>
  <Application>Microsoft Office PowerPoint</Application>
  <PresentationFormat>Widescreen</PresentationFormat>
  <Paragraphs>199</Paragraphs>
  <Slides>10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Bradesco Sans</vt:lpstr>
      <vt:lpstr>Bradesco Sans Bold</vt:lpstr>
      <vt:lpstr>Bradesco Sans XBold</vt:lpstr>
      <vt:lpstr>Calibri</vt:lpstr>
      <vt:lpstr>Calibri Light</vt:lpstr>
      <vt:lpstr>Trebuchet MS</vt:lpstr>
      <vt:lpstr>Wingdings</vt:lpstr>
      <vt:lpstr>Tema do Office</vt:lpstr>
      <vt:lpstr>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ATILA FREITAS DA COSTA</dc:creator>
  <cp:lastModifiedBy>Alessandro Lisboa de lyra</cp:lastModifiedBy>
  <cp:revision>129</cp:revision>
  <cp:lastPrinted>2025-06-06T21:10:01Z</cp:lastPrinted>
  <dcterms:created xsi:type="dcterms:W3CDTF">2024-01-05T14:31:21Z</dcterms:created>
  <dcterms:modified xsi:type="dcterms:W3CDTF">2025-06-25T13:54:39Z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2024-01-05T14:31:34Z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6e9c734b-8fe9-45ba-9465-048664292ed0</vt:lpwstr>
  </property>
  <property fmtid="{D5CDD505-2E9C-101B-9397-08002B2CF9AE}" pid="8" name="MSIP_Label_d3fed9c9-9e02-402c-91c6-79672c367b2e_ContentBits">
    <vt:lpwstr>0</vt:lpwstr>
  </property>
  <property fmtid="{D5CDD505-2E9C-101B-9397-08002B2CF9AE}" pid="9" name="ContentTypeId">
    <vt:lpwstr>0x010100B0674911336ADB4786CFAEEDDC432B13</vt:lpwstr>
  </property>
</Properties>
</file>