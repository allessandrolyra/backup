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940" r:id="rId6"/>
    <p:sldId id="317" r:id="rId7"/>
    <p:sldId id="2147378774" r:id="rId8"/>
    <p:sldId id="2147378772" r:id="rId9"/>
    <p:sldId id="308" r:id="rId10"/>
    <p:sldId id="2147378776" r:id="rId11"/>
    <p:sldId id="2147378773" r:id="rId12"/>
    <p:sldId id="315" r:id="rId13"/>
    <p:sldId id="2147378775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B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CA0E9-6345-4181-8512-96EA8BA6E7C0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A346E-BE7A-4F7F-AFFA-6A8064F1DA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32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44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532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564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334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641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8250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EEEDC-5168-10B8-3B2D-C9EED8AF9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AB4B1B-9775-927F-0FAD-860945E7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4B9571-6982-8077-6BBD-E0D45D73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32FAD3-A2B7-6550-6368-CDC210F3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D07689-1267-C333-AAA8-337C3BE8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5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C73F7-1938-011A-7B1A-03AA2071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FDC57-438D-4315-D973-299E9A94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4303E1-2A22-3ACB-2078-CDF728F4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0AA680-49C5-890D-A6E2-70B0B94D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9B4364-5027-9C01-A7B5-39F571E9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82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33425-E5C6-46AA-186F-75D75627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DDE991-F26D-DE0F-5C83-BF2F1127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546360-AED4-4920-205A-A2AC7D20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E4B75-94D5-2C01-2418-A6A96991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11CD59-36AF-3587-835B-369670F0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07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E1706-5928-BE7C-CF9C-26170488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A5F8F1-B004-893F-BE5F-15FB3DD7E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470590-C25A-6D2C-C24E-12864255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84E8A5-BE8C-E563-162C-30F6E0057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BC5C26-454F-F687-D822-C5739B55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3AC67F-4647-8E68-DE53-E4BB704C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15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75FB1-E390-B3C7-4E0D-45EE91A4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78757B-85B3-3622-2056-6FAEB8B6E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4C1640-9F8A-B57C-F069-3CF876E1D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8B69E8-68B7-86E3-1638-E6ED38DE9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8BADFF-36CF-C13A-5990-59558D886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C68C6E-B3E4-54D1-C07E-0481CE1F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7B22C2-F28C-832A-E72B-5027B8FD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185BCF-2AE4-9902-AC85-31354AF8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11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3BEE0-B737-1803-77AB-668D0587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D216B0-CFDD-7C74-FF2D-531EA8DE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B634B9-E2E2-4301-2422-655CBCBF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E85889-3BBC-4C46-8C40-63E7AE94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19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BB5FE1-D334-56BD-5D66-BBB61ED1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9390C0-2D97-0062-F765-6EC44404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BFF8BD-5D71-280D-82BE-5E6E5901B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9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662AA-390F-0D75-EF83-E026C310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5EE8B-E5E4-3AC6-20D9-2CBA96AEA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E7B1AB-3955-C944-2E07-9317E27DE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32B566-90F0-0A77-A82F-9835A3ED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F552C1-3732-F1E0-DE24-BDCC411B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9DDEB9-48B3-BEF2-4FC7-2E1BABE2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208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9F5C-EA1E-6FAE-E7ED-CE315353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3FBF0C-25BE-594A-6198-910A6F90F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B1DBB2-D8D3-4B57-7F6E-55BB035F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A8573A-5348-2923-6B2D-11928E54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052B79-406B-6FE4-E09C-6A3B3458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BF7DE8-1A8B-5EE1-EC8D-4E29B90A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02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5A674-EB06-D82D-FEC6-F7DC91540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C2B2EA-7B60-02B8-A4DF-D27E09D4E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263C92-ECBA-F940-DEC4-E0129838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EBA225-325F-1CC2-35DA-392438A4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A3773D-5D99-A0B6-8156-0D9F3FD6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29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EB49AC-4E53-D82D-CCC9-EE0F12139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73513B-071B-0D39-20D6-F142D78C3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F10F04-A7B8-0ECD-D2DA-0DD21C6F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E8ABFD-CB18-AD1E-DA06-637712CC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B4D5F0-2606-C5DE-0F20-98E1D6E5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758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54A2A45-887C-4E78-8896-C6B1A7DF6AB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BR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8205C95-291A-416B-B821-79365581047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BR"/>
          </a:p>
        </p:txBody>
      </p:sp>
      <p:sp>
        <p:nvSpPr>
          <p:cNvPr id="19" name="Rectangle 2" descr="Retângulo 2">
            <a:extLst>
              <a:ext uri="{FF2B5EF4-FFF2-40B4-BE49-F238E27FC236}">
                <a16:creationId xmlns:a16="http://schemas.microsoft.com/office/drawing/2014/main" id="{1887CD05-083B-4C05-9DD5-877C08F85EA2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F3A5F342-F49E-4190-89F2-551AEE8072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467" r="48106"/>
          <a:stretch/>
        </p:blipFill>
        <p:spPr>
          <a:xfrm>
            <a:off x="7726712" y="-1"/>
            <a:ext cx="4465288" cy="4009153"/>
          </a:xfrm>
          <a:prstGeom prst="rect">
            <a:avLst/>
          </a:prstGeom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55F9FD83-A3F7-4F83-B069-BD90BC994B42}"/>
              </a:ext>
            </a:extLst>
          </p:cNvPr>
          <p:cNvSpPr txBox="1"/>
          <p:nvPr userDrawn="1"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pic>
        <p:nvPicPr>
          <p:cNvPr id="22" name="Picture 10">
            <a:extLst>
              <a:ext uri="{FF2B5EF4-FFF2-40B4-BE49-F238E27FC236}">
                <a16:creationId xmlns:a16="http://schemas.microsoft.com/office/drawing/2014/main" id="{6D9E1175-C925-4BAE-B56C-995AD1BB8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 rot="18735649">
            <a:off x="-2403482" y="2926348"/>
            <a:ext cx="8604708" cy="843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3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179354-8D5E-DBC4-B6EC-4599913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698E42-C5C1-D9D4-97AF-1A23DDB00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DF1661-6EF9-2749-19F3-6A07D8016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6D23C-12C4-44CD-8D6C-0E7CB70CE34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D96BE-1C7C-E11E-903A-FED6DB4D4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24AAE-AD2C-C86C-7E30-64825DF15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27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106-A27A-74B8-869B-750355A66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dirty="0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3F9CA-4212-6DB8-8622-7B86C03B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Rectangle 2" descr="Retângulo 2">
            <a:extLst>
              <a:ext uri="{FF2B5EF4-FFF2-40B4-BE49-F238E27FC236}">
                <a16:creationId xmlns:a16="http://schemas.microsoft.com/office/drawing/2014/main" id="{7AFFA7D4-4CB0-CBA3-FC1F-F1C9DE029F66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D9DD8-EDCD-D73A-3AB6-B847C60B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976" y="6284231"/>
            <a:ext cx="1438656" cy="320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884990-3DF9-F0D1-CB63-C496F2AE2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5420" y="3204499"/>
            <a:ext cx="3315767" cy="2526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F479BE-E417-1C02-4A02-64E380FF83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7726712" y="-4465680"/>
            <a:ext cx="8604708" cy="8434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B1222-640E-C8B4-C5D8-BE38A9AF563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 rot="18735649">
            <a:off x="-2427241" y="4574446"/>
            <a:ext cx="8604708" cy="8434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501923" y="3968878"/>
            <a:ext cx="824686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chemeClr val="bg1"/>
                </a:solidFill>
                <a:latin typeface="Bradesco Sans" pitchFamily="2" charset="77"/>
              </a:rPr>
              <a:t>Arquitetura </a:t>
            </a:r>
            <a:r>
              <a:rPr lang="pt-BR" sz="2600" b="1" dirty="0" smtClean="0">
                <a:solidFill>
                  <a:schemeClr val="bg1"/>
                </a:solidFill>
                <a:latin typeface="Bradesco Sans" pitchFamily="2" charset="77"/>
              </a:rPr>
              <a:t>Bradesco – Refinamento CRIM Amortização</a:t>
            </a:r>
            <a:endParaRPr lang="pt-BR" sz="2600" b="1" dirty="0">
              <a:solidFill>
                <a:schemeClr val="bg1"/>
              </a:solidFill>
              <a:latin typeface="Bradesco Sans" pitchFamily="2" charset="77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7E9CA8-D47A-2760-C42D-0BEF8AE5CD0C}"/>
              </a:ext>
            </a:extLst>
          </p:cNvPr>
          <p:cNvSpPr txBox="1"/>
          <p:nvPr/>
        </p:nvSpPr>
        <p:spPr>
          <a:xfrm>
            <a:off x="478674" y="4871682"/>
            <a:ext cx="3491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bg1"/>
                </a:solidFill>
              </a:rPr>
              <a:t>Paulo Cesar , </a:t>
            </a:r>
            <a:r>
              <a:rPr lang="pt-BR" sz="1400" b="1" dirty="0" smtClean="0">
                <a:solidFill>
                  <a:schemeClr val="bg1"/>
                </a:solidFill>
              </a:rPr>
              <a:t>Alessandro </a:t>
            </a:r>
            <a:endParaRPr lang="pt-BR" sz="1400" b="1" dirty="0">
              <a:solidFill>
                <a:schemeClr val="bg1"/>
              </a:solidFill>
            </a:endParaRPr>
          </a:p>
          <a:p>
            <a:r>
              <a:rPr lang="pt-BR" sz="1400" b="1" dirty="0" smtClean="0">
                <a:solidFill>
                  <a:schemeClr val="bg1"/>
                </a:solidFill>
              </a:rPr>
              <a:t>01</a:t>
            </a:r>
            <a:r>
              <a:rPr lang="pt-BR" sz="1400" b="1" dirty="0" smtClean="0">
                <a:solidFill>
                  <a:schemeClr val="bg1"/>
                </a:solidFill>
              </a:rPr>
              <a:t>/10/2024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87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</a:t>
            </a:r>
            <a:r>
              <a:rPr lang="pt-BR" sz="2400" dirty="0" smtClean="0">
                <a:solidFill>
                  <a:prstClr val="white"/>
                </a:solidFill>
                <a:latin typeface="Bradesco Sans"/>
              </a:rPr>
              <a:t>de Refinamento</a:t>
            </a:r>
          </a:p>
          <a:p>
            <a:pPr>
              <a:buNone/>
            </a:pPr>
            <a:endParaRPr lang="pt-BR" sz="2400" dirty="0" smtClean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 smtClean="0">
                <a:solidFill>
                  <a:prstClr val="white"/>
                </a:solidFill>
                <a:latin typeface="Bradesco Sans"/>
              </a:rPr>
              <a:t> </a:t>
            </a:r>
            <a:r>
              <a:rPr lang="pt-BR" sz="2400" dirty="0">
                <a:solidFill>
                  <a:prstClr val="white"/>
                </a:solidFill>
                <a:latin typeface="Bradesco Sans"/>
              </a:rPr>
              <a:t>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22066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0870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3518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7497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Objetivo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DATI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2537" y="1167916"/>
            <a:ext cx="107305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Entrega da arquitetura Cloud Azure nos ambientes de DEV, HML e PRD para o projeto de pós-contratação de Crédito Imobiliário, incluindo amortização de prazo com recursos próprios e quitação com recursos próprios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.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Disponibilizar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ao Cliente nessa MVP01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Criação da jornada de Quitação e Amortização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: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SiSCREDI E CRIM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Recursos próprios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Pagamento via PIX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Canal Mobile</a:t>
            </a: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05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Refinamento Menu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DATI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2537" y="1167916"/>
            <a:ext cx="10730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Nesse 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passo é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consultar 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todos os contratos do Cliente versos a todas as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Ocorrências 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que estão em aberto e na parte de elegibilidade (</a:t>
            </a:r>
            <a:r>
              <a:rPr lang="pt-BR" dirty="0" err="1">
                <a:solidFill>
                  <a:prstClr val="black"/>
                </a:solidFill>
                <a:latin typeface="Bradesco Sans" panose="00000500000000000000" pitchFamily="2" charset="0"/>
              </a:rPr>
              <a:t>crim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-</a:t>
            </a:r>
            <a:r>
              <a:rPr lang="pt-BR" dirty="0" err="1">
                <a:solidFill>
                  <a:prstClr val="black"/>
                </a:solidFill>
                <a:latin typeface="Bradesco Sans" panose="00000500000000000000" pitchFamily="2" charset="0"/>
              </a:rPr>
              <a:t>srv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-</a:t>
            </a:r>
            <a:r>
              <a:rPr lang="pt-BR" dirty="0" err="1">
                <a:solidFill>
                  <a:prstClr val="black"/>
                </a:solidFill>
                <a:latin typeface="Bradesco Sans" panose="00000500000000000000" pitchFamily="2" charset="0"/>
              </a:rPr>
              <a:t>imob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-eventos-menu) aplicar as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regras.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lvl="0" algn="just">
              <a:defRPr/>
            </a:pP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Exemplo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: O cliente pode fazer algumas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operações 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de Pós vendas nos contratos X,Y, Z ou O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Cliente só 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pode fazer simulação  ou nada.)</a:t>
            </a: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8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Exposição dos Cenários de </a:t>
            </a:r>
            <a:r>
              <a:rPr lang="pt-BR" sz="2400" b="1" dirty="0" smtClean="0">
                <a:solidFill>
                  <a:prstClr val="white"/>
                </a:solidFill>
                <a:latin typeface="Bradesco Sans"/>
              </a:rPr>
              <a:t>Refinamento</a:t>
            </a:r>
            <a:endParaRPr lang="pt-BR" sz="2400" b="1" dirty="0">
              <a:solidFill>
                <a:prstClr val="white"/>
              </a:solidFill>
              <a:latin typeface="Bradesco Sans"/>
            </a:endParaRP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4531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39705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27439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2064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30908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64982" y="236763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</a:t>
            </a:r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– Cenário de Refinamento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0" y="1129773"/>
            <a:ext cx="12014423" cy="451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2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51" y="750861"/>
            <a:ext cx="11291504" cy="5665879"/>
          </a:xfrm>
          <a:prstGeom prst="rect">
            <a:avLst/>
          </a:prstGeom>
        </p:spPr>
      </p:pic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30908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28036" y="196341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</a:t>
            </a:r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– Cenário de Refinamento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13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de Arquitetura</a:t>
            </a: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</a:t>
            </a: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68561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764643" y="3862952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764643" y="457393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8579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Conclusão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Recomendação de Arquitetura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5FE809-8160-D8B7-7F75-118674FBB024}"/>
              </a:ext>
            </a:extLst>
          </p:cNvPr>
          <p:cNvSpPr txBox="1"/>
          <p:nvPr/>
        </p:nvSpPr>
        <p:spPr>
          <a:xfrm>
            <a:off x="262074" y="1086723"/>
            <a:ext cx="106161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 </a:t>
            </a:r>
            <a:r>
              <a:rPr lang="pt-BR" dirty="0"/>
              <a:t>Será necessário </a:t>
            </a:r>
            <a:r>
              <a:rPr lang="pt-BR" dirty="0" smtClean="0"/>
              <a:t>o provisionamento dos serviços </a:t>
            </a:r>
            <a:r>
              <a:rPr lang="pt-BR" dirty="0"/>
              <a:t>e </a:t>
            </a:r>
            <a:r>
              <a:rPr lang="pt-BR" dirty="0" smtClean="0"/>
              <a:t>recursos:</a:t>
            </a:r>
          </a:p>
          <a:p>
            <a:pPr algn="just"/>
            <a:endParaRPr lang="pt-BR" dirty="0"/>
          </a:p>
          <a:p>
            <a:pPr algn="just"/>
            <a:r>
              <a:rPr lang="pt-BR" b="1" dirty="0" err="1"/>
              <a:t>crim-bff-mpf-imob</a:t>
            </a:r>
            <a:endParaRPr lang="pt-BR" dirty="0"/>
          </a:p>
          <a:p>
            <a:r>
              <a:rPr lang="pt-BR" dirty="0" smtClean="0"/>
              <a:t>O </a:t>
            </a:r>
            <a:r>
              <a:rPr lang="pt-BR" dirty="0"/>
              <a:t>BFF  vai ser único para </a:t>
            </a:r>
            <a:r>
              <a:rPr lang="pt-BR" dirty="0" smtClean="0"/>
              <a:t>essa </a:t>
            </a:r>
            <a:r>
              <a:rPr lang="pt-BR" dirty="0"/>
              <a:t>jornada completa</a:t>
            </a:r>
            <a:r>
              <a:rPr lang="pt-BR" dirty="0" smtClean="0"/>
              <a:t>. Responsável </a:t>
            </a:r>
            <a:r>
              <a:rPr lang="pt-BR" dirty="0"/>
              <a:t>pela </a:t>
            </a:r>
            <a:r>
              <a:rPr lang="pt-BR" b="1" dirty="0"/>
              <a:t>orquestração </a:t>
            </a:r>
            <a:r>
              <a:rPr lang="pt-BR" dirty="0"/>
              <a:t>das chamadas de </a:t>
            </a:r>
            <a:r>
              <a:rPr lang="pt-BR" dirty="0" err="1"/>
              <a:t>APIs</a:t>
            </a:r>
            <a:r>
              <a:rPr lang="pt-BR" dirty="0"/>
              <a:t> do Canal </a:t>
            </a:r>
            <a:r>
              <a:rPr lang="pt-BR" dirty="0" smtClean="0"/>
              <a:t>mobile. </a:t>
            </a:r>
            <a:endParaRPr lang="pt-BR" dirty="0"/>
          </a:p>
          <a:p>
            <a:pPr algn="just"/>
            <a:endParaRPr lang="pt-BR" dirty="0" smtClean="0"/>
          </a:p>
          <a:p>
            <a:pPr algn="just"/>
            <a:r>
              <a:rPr lang="pt-BR" b="1" dirty="0" err="1" smtClean="0"/>
              <a:t>crim</a:t>
            </a:r>
            <a:r>
              <a:rPr lang="pt-BR" b="1" dirty="0" smtClean="0"/>
              <a:t>-</a:t>
            </a:r>
            <a:r>
              <a:rPr lang="pt-BR" b="1" dirty="0" err="1" smtClean="0"/>
              <a:t>srv</a:t>
            </a:r>
            <a:r>
              <a:rPr lang="pt-BR" b="1" dirty="0" smtClean="0"/>
              <a:t>-</a:t>
            </a:r>
            <a:r>
              <a:rPr lang="pt-BR" b="1" dirty="0" err="1" smtClean="0"/>
              <a:t>imob</a:t>
            </a:r>
            <a:r>
              <a:rPr lang="pt-BR" b="1" dirty="0" smtClean="0"/>
              <a:t>-eventos-menu</a:t>
            </a:r>
          </a:p>
          <a:p>
            <a:pPr algn="just"/>
            <a:r>
              <a:rPr lang="pt-BR" dirty="0"/>
              <a:t>Aplicar regras tendo como referência os dados do Ciente, para </a:t>
            </a:r>
            <a:r>
              <a:rPr lang="pt-BR" dirty="0" smtClean="0"/>
              <a:t>identificar </a:t>
            </a:r>
            <a:r>
              <a:rPr lang="pt-BR" dirty="0"/>
              <a:t>quais eventos que </a:t>
            </a:r>
            <a:r>
              <a:rPr lang="pt-BR" dirty="0" smtClean="0"/>
              <a:t>estará disponível </a:t>
            </a:r>
            <a:r>
              <a:rPr lang="pt-BR" dirty="0"/>
              <a:t>para montar o menu</a:t>
            </a:r>
            <a:r>
              <a:rPr lang="pt-BR" dirty="0" smtClean="0"/>
              <a:t>. (Usando o </a:t>
            </a:r>
            <a:r>
              <a:rPr lang="pt-BR" b="1" dirty="0" err="1" smtClean="0"/>
              <a:t>Cockpit</a:t>
            </a:r>
            <a:r>
              <a:rPr lang="pt-BR" b="1" dirty="0" smtClean="0"/>
              <a:t> do Gestor</a:t>
            </a:r>
            <a:r>
              <a:rPr lang="pt-BR" dirty="0" smtClean="0"/>
              <a:t>)</a:t>
            </a:r>
          </a:p>
          <a:p>
            <a:pPr algn="just"/>
            <a:endParaRPr lang="pt-BR" dirty="0"/>
          </a:p>
          <a:p>
            <a:pPr algn="just"/>
            <a:r>
              <a:rPr lang="pt-BR" b="1" dirty="0" err="1"/>
              <a:t>Cockpit</a:t>
            </a:r>
            <a:r>
              <a:rPr lang="pt-BR" b="1" dirty="0"/>
              <a:t> do </a:t>
            </a:r>
            <a:r>
              <a:rPr lang="pt-BR" b="1" dirty="0" smtClean="0"/>
              <a:t>Gestor</a:t>
            </a:r>
          </a:p>
          <a:p>
            <a:pPr algn="just"/>
            <a:r>
              <a:rPr lang="pt-BR" dirty="0"/>
              <a:t>O </a:t>
            </a:r>
            <a:r>
              <a:rPr lang="pt-BR" dirty="0" err="1"/>
              <a:t>Cockpit</a:t>
            </a:r>
            <a:r>
              <a:rPr lang="pt-BR" dirty="0"/>
              <a:t> do Gestor deverá ser utilizado como facilitador na gestão de produtos e jornadas do Menu do CRIM. Ele desempenhará um papel fundamental na jornada de </a:t>
            </a:r>
            <a:r>
              <a:rPr lang="pt-BR" dirty="0" err="1"/>
              <a:t>Rollout</a:t>
            </a:r>
            <a:r>
              <a:rPr lang="pt-BR" dirty="0"/>
              <a:t>, com as seguintes responsabilidades</a:t>
            </a:r>
            <a:r>
              <a:rPr lang="pt-BR" dirty="0" smtClean="0"/>
              <a:t>:</a:t>
            </a:r>
            <a:endParaRPr lang="pt-BR" dirty="0"/>
          </a:p>
          <a:p>
            <a:pPr algn="just"/>
            <a:r>
              <a:rPr lang="pt-BR" b="1" dirty="0"/>
              <a:t>Liberação de Menu</a:t>
            </a:r>
            <a:r>
              <a:rPr lang="pt-BR" dirty="0"/>
              <a:t>: O </a:t>
            </a:r>
            <a:r>
              <a:rPr lang="pt-BR" dirty="0" err="1"/>
              <a:t>Cockpit</a:t>
            </a:r>
            <a:r>
              <a:rPr lang="pt-BR" dirty="0"/>
              <a:t> do Gestor será responsável pela parte de liberação do menu.</a:t>
            </a:r>
          </a:p>
          <a:p>
            <a:pPr algn="just"/>
            <a:r>
              <a:rPr lang="pt-BR" b="1" dirty="0"/>
              <a:t>Cadastramento de Jornada de </a:t>
            </a:r>
            <a:r>
              <a:rPr lang="pt-BR" b="1" dirty="0" err="1"/>
              <a:t>Rollout</a:t>
            </a:r>
            <a:r>
              <a:rPr lang="pt-BR" dirty="0"/>
              <a:t>: Além disso, ele será usado para cadastrar a jornada de </a:t>
            </a:r>
            <a:r>
              <a:rPr lang="pt-BR" dirty="0" err="1"/>
              <a:t>Rollout</a:t>
            </a:r>
            <a:r>
              <a:rPr lang="pt-BR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835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Conclusão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Recomendação de Arquitetura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5FE809-8160-D8B7-7F75-118674FBB024}"/>
              </a:ext>
            </a:extLst>
          </p:cNvPr>
          <p:cNvSpPr txBox="1"/>
          <p:nvPr/>
        </p:nvSpPr>
        <p:spPr>
          <a:xfrm>
            <a:off x="262074" y="1086723"/>
            <a:ext cx="106161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r>
              <a:rPr lang="pt-BR" b="1" dirty="0" err="1" smtClean="0"/>
              <a:t>crim</a:t>
            </a:r>
            <a:r>
              <a:rPr lang="pt-BR" b="1" dirty="0" smtClean="0"/>
              <a:t>-</a:t>
            </a:r>
            <a:r>
              <a:rPr lang="pt-BR" b="1" dirty="0" err="1" smtClean="0"/>
              <a:t>srv</a:t>
            </a:r>
            <a:r>
              <a:rPr lang="pt-BR" b="1" dirty="0" smtClean="0"/>
              <a:t>-</a:t>
            </a:r>
            <a:r>
              <a:rPr lang="pt-BR" b="1" dirty="0" err="1" smtClean="0"/>
              <a:t>imob</a:t>
            </a:r>
            <a:r>
              <a:rPr lang="pt-BR" b="1" dirty="0" smtClean="0"/>
              <a:t>-contratos</a:t>
            </a:r>
          </a:p>
          <a:p>
            <a:pPr algn="just"/>
            <a:r>
              <a:rPr lang="pt-BR" dirty="0"/>
              <a:t>Responsável pela consulta contratos na base federada SISCRED e no </a:t>
            </a:r>
            <a:r>
              <a:rPr lang="pt-BR" dirty="0" smtClean="0"/>
              <a:t>CRIM</a:t>
            </a:r>
          </a:p>
          <a:p>
            <a:pPr algn="just"/>
            <a:endParaRPr lang="pt-BR" dirty="0" smtClean="0"/>
          </a:p>
          <a:p>
            <a:pPr algn="just"/>
            <a:r>
              <a:rPr lang="pt-BR" b="1" dirty="0" err="1" smtClean="0"/>
              <a:t>crim</a:t>
            </a:r>
            <a:r>
              <a:rPr lang="pt-BR" b="1" dirty="0" smtClean="0"/>
              <a:t>-</a:t>
            </a:r>
            <a:r>
              <a:rPr lang="pt-BR" b="1" dirty="0" err="1" smtClean="0"/>
              <a:t>srv</a:t>
            </a:r>
            <a:r>
              <a:rPr lang="pt-BR" b="1" dirty="0" smtClean="0"/>
              <a:t>-</a:t>
            </a:r>
            <a:r>
              <a:rPr lang="pt-BR" b="1" dirty="0" err="1" smtClean="0"/>
              <a:t>imob</a:t>
            </a:r>
            <a:r>
              <a:rPr lang="pt-BR" b="1" dirty="0" smtClean="0"/>
              <a:t>-ocorrências</a:t>
            </a:r>
          </a:p>
          <a:p>
            <a:pPr algn="just"/>
            <a:r>
              <a:rPr lang="pt-BR" dirty="0"/>
              <a:t>Consulta ocorrências na base federada </a:t>
            </a:r>
            <a:r>
              <a:rPr lang="pt-BR" dirty="0" smtClean="0"/>
              <a:t>SISCRED</a:t>
            </a:r>
          </a:p>
          <a:p>
            <a:pPr algn="just"/>
            <a:endParaRPr lang="pt-BR" dirty="0"/>
          </a:p>
          <a:p>
            <a:pPr algn="just"/>
            <a:r>
              <a:rPr lang="pt-BR" b="1" dirty="0" err="1"/>
              <a:t>crim</a:t>
            </a:r>
            <a:r>
              <a:rPr lang="pt-BR" b="1" dirty="0"/>
              <a:t>-</a:t>
            </a:r>
            <a:r>
              <a:rPr lang="pt-BR" b="1" dirty="0" err="1"/>
              <a:t>srv</a:t>
            </a:r>
            <a:r>
              <a:rPr lang="pt-BR" b="1" dirty="0"/>
              <a:t>-</a:t>
            </a:r>
            <a:r>
              <a:rPr lang="pt-BR" b="1" dirty="0" err="1"/>
              <a:t>imob</a:t>
            </a:r>
            <a:r>
              <a:rPr lang="pt-BR" b="1" dirty="0"/>
              <a:t>-valida-eventos</a:t>
            </a:r>
            <a:endParaRPr lang="pt-BR" dirty="0"/>
          </a:p>
          <a:p>
            <a:pPr algn="just"/>
            <a:r>
              <a:rPr lang="pt-BR" dirty="0"/>
              <a:t>Responsável pelas regras de validação dos eventos. - A ideia é ter um motor de elegibilidade e eventos, algo parametrizável onde podemos habilitar ou não as regras e eventos. – Exemplo:  validar eventos: onde é realizado uma consulta na lista de contratos, consulta dados do contrato, consulta ocorrências do contrato e tem o validar o evento onde são passados o contrato e o evento desejado na consulta.  Esse serviço valida se é possível ou não seguir.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369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67917c-5cbc-4020-9aca-481eecb008a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674911336ADB4786CFAEEDDC432B13" ma:contentTypeVersion="14" ma:contentTypeDescription="Crie um novo documento." ma:contentTypeScope="" ma:versionID="6f89d01018517e1b4a20966707db1033">
  <xsd:schema xmlns:xsd="http://www.w3.org/2001/XMLSchema" xmlns:xs="http://www.w3.org/2001/XMLSchema" xmlns:p="http://schemas.microsoft.com/office/2006/metadata/properties" xmlns:ns3="b067917c-5cbc-4020-9aca-481eecb008a7" xmlns:ns4="0ba53bdc-13c0-4d4d-b7f8-3295b790f778" targetNamespace="http://schemas.microsoft.com/office/2006/metadata/properties" ma:root="true" ma:fieldsID="48a29cde2d42204c1a7941f368a37dfa" ns3:_="" ns4:_="">
    <xsd:import namespace="b067917c-5cbc-4020-9aca-481eecb008a7"/>
    <xsd:import namespace="0ba53bdc-13c0-4d4d-b7f8-3295b790f7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7917c-5cbc-4020-9aca-481eecb008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53bdc-13c0-4d4d-b7f8-3295b790f77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E48233-76AC-4860-B1CB-514D0F1F2853}">
  <ds:schemaRefs>
    <ds:schemaRef ds:uri="http://schemas.microsoft.com/office/2006/documentManagement/types"/>
    <ds:schemaRef ds:uri="b067917c-5cbc-4020-9aca-481eecb008a7"/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0ba53bdc-13c0-4d4d-b7f8-3295b790f778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10A743-6126-4D69-B9AE-69CF6C644D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CEE22E-B571-41B0-B7E6-792A36B22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67917c-5cbc-4020-9aca-481eecb008a7"/>
    <ds:schemaRef ds:uri="0ba53bdc-13c0-4d4d-b7f8-3295b790f7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39513</TotalTime>
  <Words>1517</Words>
  <Application>Microsoft Office PowerPoint</Application>
  <PresentationFormat>Widescreen</PresentationFormat>
  <Paragraphs>146</Paragraphs>
  <Slides>10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</vt:lpstr>
      <vt:lpstr>Bradesco Sans</vt:lpstr>
      <vt:lpstr>Bradesco Sans Bold</vt:lpstr>
      <vt:lpstr>Calibri</vt:lpstr>
      <vt:lpstr>Calibri Light</vt:lpstr>
      <vt:lpstr>Trebuchet MS</vt:lpstr>
      <vt:lpstr>Wingdings</vt:lpstr>
      <vt:lpstr>Tema do Office</vt:lpstr>
      <vt:lpstr>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Banco Bradesco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ATILA FREITAS DA COSTA</dc:creator>
  <cp:lastModifiedBy>Alessandro Lisboa de lyra</cp:lastModifiedBy>
  <cp:revision>108</cp:revision>
  <dcterms:created xsi:type="dcterms:W3CDTF">2024-01-05T14:31:21Z</dcterms:created>
  <dcterms:modified xsi:type="dcterms:W3CDTF">2024-10-01T17:41:55Z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fed9c9-9e02-402c-91c6-79672c367b2e_Enabled">
    <vt:lpwstr>true</vt:lpwstr>
  </property>
  <property fmtid="{D5CDD505-2E9C-101B-9397-08002B2CF9AE}" pid="3" name="MSIP_Label_d3fed9c9-9e02-402c-91c6-79672c367b2e_SetDate">
    <vt:lpwstr>2024-01-05T14:31:34Z</vt:lpwstr>
  </property>
  <property fmtid="{D5CDD505-2E9C-101B-9397-08002B2CF9AE}" pid="4" name="MSIP_Label_d3fed9c9-9e02-402c-91c6-79672c367b2e_Method">
    <vt:lpwstr>Standard</vt:lpwstr>
  </property>
  <property fmtid="{D5CDD505-2E9C-101B-9397-08002B2CF9AE}" pid="5" name="MSIP_Label_d3fed9c9-9e02-402c-91c6-79672c367b2e_Name">
    <vt:lpwstr>d3fed9c9-9e02-402c-91c6-79672c367b2e</vt:lpwstr>
  </property>
  <property fmtid="{D5CDD505-2E9C-101B-9397-08002B2CF9AE}" pid="6" name="MSIP_Label_d3fed9c9-9e02-402c-91c6-79672c367b2e_SiteId">
    <vt:lpwstr>ccd25372-eb59-436a-ad74-78a49d784cf3</vt:lpwstr>
  </property>
  <property fmtid="{D5CDD505-2E9C-101B-9397-08002B2CF9AE}" pid="7" name="MSIP_Label_d3fed9c9-9e02-402c-91c6-79672c367b2e_ActionId">
    <vt:lpwstr>6e9c734b-8fe9-45ba-9465-048664292ed0</vt:lpwstr>
  </property>
  <property fmtid="{D5CDD505-2E9C-101B-9397-08002B2CF9AE}" pid="8" name="MSIP_Label_d3fed9c9-9e02-402c-91c6-79672c367b2e_ContentBits">
    <vt:lpwstr>0</vt:lpwstr>
  </property>
  <property fmtid="{D5CDD505-2E9C-101B-9397-08002B2CF9AE}" pid="9" name="ContentTypeId">
    <vt:lpwstr>0x010100B0674911336ADB4786CFAEEDDC432B13</vt:lpwstr>
  </property>
</Properties>
</file>