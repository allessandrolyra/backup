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56" r:id="rId5"/>
    <p:sldId id="375" r:id="rId6"/>
    <p:sldId id="381" r:id="rId7"/>
    <p:sldId id="379" r:id="rId8"/>
    <p:sldId id="380" r:id="rId9"/>
    <p:sldId id="382" r:id="rId10"/>
    <p:sldId id="348" r:id="rId11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A64"/>
    <a:srgbClr val="C8D6EE"/>
    <a:srgbClr val="ADC1E5"/>
    <a:srgbClr val="E3143C"/>
    <a:srgbClr val="F15E76"/>
    <a:srgbClr val="FFBA27"/>
    <a:srgbClr val="F9EBFF"/>
    <a:srgbClr val="E9B9FF"/>
    <a:srgbClr val="FFE5F1"/>
    <a:srgbClr val="E5C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292" autoAdjust="0"/>
    <p:restoredTop sz="61716" autoAdjust="0"/>
  </p:normalViewPr>
  <p:slideViewPr>
    <p:cSldViewPr snapToGrid="0">
      <p:cViewPr varScale="1">
        <p:scale>
          <a:sx n="72" d="100"/>
          <a:sy n="72" d="100"/>
        </p:scale>
        <p:origin x="1493" y="11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B8F41F-D12B-4C1A-9DCE-CF0E356B02A1}" type="datetimeFigureOut">
              <a:rPr lang="pt-BR" smtClean="0"/>
              <a:t>08/04/2025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49CD13-C8D9-4DD2-8973-5CC25B48A8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655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pt-br/azure/api-management/api-management-subscriptions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learn.microsoft.com/pt-br/azure/api-management/api-management-access-restriction-policies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49CD13-C8D9-4DD2-8973-5CC25B48A82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0241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Na prática, essas </a:t>
            </a:r>
            <a:r>
              <a:rPr lang="pt-BR" dirty="0" err="1" smtClean="0"/>
              <a:t>APIs</a:t>
            </a:r>
            <a:r>
              <a:rPr lang="pt-BR" dirty="0" smtClean="0"/>
              <a:t>  podem ter as seguintes funções:</a:t>
            </a:r>
          </a:p>
          <a:p>
            <a:endParaRPr lang="pt-BR" dirty="0" smtClean="0"/>
          </a:p>
          <a:p>
            <a:r>
              <a:rPr lang="pt-BR" dirty="0" smtClean="0"/>
              <a:t>Filtrar o tráfego das chamadas quando ocorre a integração dos diferentes meios, como web, sistemas </a:t>
            </a:r>
            <a:r>
              <a:rPr lang="pt-BR" dirty="0" err="1" smtClean="0"/>
              <a:t>cloud</a:t>
            </a:r>
            <a:r>
              <a:rPr lang="pt-BR" dirty="0" smtClean="0"/>
              <a:t>, mobile, entre outros, podendo redirecionar o chamado à API para o local correto;</a:t>
            </a:r>
          </a:p>
          <a:p>
            <a:endParaRPr lang="pt-BR" dirty="0" smtClean="0"/>
          </a:p>
          <a:p>
            <a:r>
              <a:rPr lang="pt-BR" dirty="0" smtClean="0"/>
              <a:t>Atuar como porta de entrada única para as </a:t>
            </a:r>
            <a:r>
              <a:rPr lang="pt-BR" dirty="0" err="1" smtClean="0"/>
              <a:t>APIs</a:t>
            </a:r>
            <a:r>
              <a:rPr lang="pt-BR" dirty="0" smtClean="0"/>
              <a:t> e os seus usuários;</a:t>
            </a:r>
          </a:p>
          <a:p>
            <a:r>
              <a:rPr lang="pt-BR" dirty="0" smtClean="0"/>
              <a:t>Roteador, em que o sistema atua como um roteador de tráfego das </a:t>
            </a:r>
            <a:r>
              <a:rPr lang="pt-BR" dirty="0" err="1" smtClean="0"/>
              <a:t>APIs</a:t>
            </a:r>
            <a:r>
              <a:rPr lang="pt-BR" dirty="0" smtClean="0"/>
              <a:t> e de Rate </a:t>
            </a:r>
            <a:r>
              <a:rPr lang="pt-BR" dirty="0" err="1" smtClean="0"/>
              <a:t>Limit</a:t>
            </a:r>
            <a:r>
              <a:rPr lang="pt-BR" dirty="0" smtClean="0"/>
              <a:t>;</a:t>
            </a:r>
          </a:p>
          <a:p>
            <a:endParaRPr lang="pt-BR" dirty="0" smtClean="0"/>
          </a:p>
          <a:p>
            <a:r>
              <a:rPr lang="pt-BR" dirty="0" smtClean="0"/>
              <a:t>Mecanismo de segurança, em que o API Gateway garante proteção por meio da autenticação de usuário, limitação de conexões e log de acesso (baseado em premissas como números de requisições no mês ou nos últimos segundos).</a:t>
            </a:r>
          </a:p>
          <a:p>
            <a:endParaRPr lang="pt-BR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Atua </a:t>
            </a:r>
            <a:r>
              <a:rPr lang="pt-B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aceitando </a:t>
            </a:r>
            <a:r>
              <a:rPr lang="pt-B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chamadas à API e </a:t>
            </a:r>
            <a:r>
              <a:rPr lang="pt-B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roteando-as</a:t>
            </a:r>
            <a:r>
              <a:rPr lang="pt-B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</a:t>
            </a:r>
            <a:r>
              <a:rPr lang="pt-B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back-ends</a:t>
            </a:r>
            <a:r>
              <a:rPr lang="pt-B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apropriados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Verifica as </a:t>
            </a:r>
            <a:r>
              <a:rPr lang="pt-B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chaves de API</a:t>
            </a:r>
            <a:r>
              <a:rPr lang="pt-B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 outras credenciais, como </a:t>
            </a:r>
            <a:r>
              <a:rPr lang="pt-BR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tokens</a:t>
            </a:r>
            <a:r>
              <a:rPr lang="pt-B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 JWT e certificados</a:t>
            </a:r>
            <a:r>
              <a:rPr lang="pt-B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apresentados com solicitações</a:t>
            </a:r>
            <a:r>
              <a:rPr lang="pt-B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Impõe </a:t>
            </a:r>
            <a:r>
              <a:rPr lang="pt-BR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cotas de uso e limites de taxa</a:t>
            </a:r>
            <a:endParaRPr lang="pt-B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dirty="0" smtClean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49CD13-C8D9-4DD2-8973-5CC25B48A82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015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49CD13-C8D9-4DD2-8973-5CC25B48A82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069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49CD13-C8D9-4DD2-8973-5CC25B48A82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9153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49CD13-C8D9-4DD2-8973-5CC25B48A82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945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49CD13-C8D9-4DD2-8973-5CC25B48A820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6154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77B25-DCC7-7DB1-8843-17D75AFE3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B6AAA0-22BA-E8AA-7D70-FE6927D31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A1A26-460E-73CE-E0B8-B4B21922C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4A44-201A-D742-A091-53CA0B99795F}" type="datetimeFigureOut">
              <a:rPr lang="en-BR" smtClean="0"/>
              <a:t>04/08/2025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12460-109C-CD97-0425-7D0642582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6784C-BA55-7955-8F01-8629D977D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3B1B-60F3-7442-8642-7A66EE406969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30168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8E641-F1DB-6D68-FCC0-E961B0570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4196D-6A2E-0B8F-0773-EBD12BB60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BDEDA-BF2B-B2C0-25BC-61F04A934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4A44-201A-D742-A091-53CA0B99795F}" type="datetimeFigureOut">
              <a:rPr lang="en-BR" smtClean="0"/>
              <a:t>04/08/2025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41197-F9BE-3FAC-774B-D6D7EC659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DC672-B9E8-2C4A-F417-0C35837AE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3B1B-60F3-7442-8642-7A66EE406969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49259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390F-B4FC-46D7-0CD1-5BD31A089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5E710-7926-07DB-FA3B-B91D1E214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B9456-70B9-CA1B-9ECA-2C476DD4C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4A44-201A-D742-A091-53CA0B99795F}" type="datetimeFigureOut">
              <a:rPr lang="en-BR" smtClean="0"/>
              <a:t>04/08/2025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96E75-DCAA-38E7-6AB3-37BA75341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D0F71-55FB-A5FB-FDD7-D35F52074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3B1B-60F3-7442-8642-7A66EE406969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61034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55396-0EF5-FC44-3DD4-91EC30DF9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B9895-1115-93AA-3CC0-141FE79CA5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A1B93C-3887-F936-C5C7-BB709FBD6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08CA98-6D05-8BCB-B137-FE6BE2D9D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4A44-201A-D742-A091-53CA0B99795F}" type="datetimeFigureOut">
              <a:rPr lang="en-BR" smtClean="0"/>
              <a:t>04/08/2025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90C65-5C15-431C-14DC-51091CDE7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20FE42-3CCC-1800-1A3A-C6FFF141B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3B1B-60F3-7442-8642-7A66EE406969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9287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7589D-D5A4-CBD7-BC76-3F77F511F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10055-7E38-F7EE-8DE7-2218DAA57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5EAD44-92A3-4459-0902-DBA1A5508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55D1C0-4B5B-0866-AF3B-89139C76C0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D9652-3C70-466D-E1A0-65D917A4C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4F23F4-16A0-AD4C-39F6-B676249B6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4A44-201A-D742-A091-53CA0B99795F}" type="datetimeFigureOut">
              <a:rPr lang="en-BR" smtClean="0"/>
              <a:t>04/08/2025</a:t>
            </a:fld>
            <a:endParaRPr lang="en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DE2FD6-A184-BE11-F005-D63798F88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253F09-5DE1-1C18-E1AD-FCF6F9A90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3B1B-60F3-7442-8642-7A66EE406969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236402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4DF07-730D-564F-E2D8-FBA0B9DE0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E23CD8-6636-D56D-C223-DB754C666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4A44-201A-D742-A091-53CA0B99795F}" type="datetimeFigureOut">
              <a:rPr lang="en-BR" smtClean="0"/>
              <a:t>04/08/2025</a:t>
            </a:fld>
            <a:endParaRPr lang="en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34C42A-D6EA-31BE-A9CD-F8F5099BB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4EBE04-B8CD-E2E8-DC67-905162AE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3B1B-60F3-7442-8642-7A66EE406969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3080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1369C8-D050-D721-B7F4-E23FEF01D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4A44-201A-D742-A091-53CA0B99795F}" type="datetimeFigureOut">
              <a:rPr lang="en-BR" smtClean="0"/>
              <a:t>04/08/2025</a:t>
            </a:fld>
            <a:endParaRPr lang="en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6DB85-19F4-B85E-8DF0-9E74227E4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F5855-1452-608C-27E1-8C9F473AA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3B1B-60F3-7442-8642-7A66EE406969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716174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D8B01-49F7-D107-F855-4668EA812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BA439-4A6E-D100-9EA0-6AAF5515B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184050-1F60-1DDF-3525-5DFD72F9A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7A550-22C1-9A9C-2CD7-916D1B845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4A44-201A-D742-A091-53CA0B99795F}" type="datetimeFigureOut">
              <a:rPr lang="en-BR" smtClean="0"/>
              <a:t>04/08/2025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4033B-8697-5EFA-7F37-9204FA7FD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0F524-8BC8-B224-61DB-D5DAEB406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3B1B-60F3-7442-8642-7A66EE406969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4143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0EEB5-A6F9-15E4-2F2E-3CA7E3D91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76FA86-D87E-17D9-EF03-20AF708134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73008-100E-23D0-F67C-6094939E2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6FDCFA-CC33-D57D-F1AB-10CFDD359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4A44-201A-D742-A091-53CA0B99795F}" type="datetimeFigureOut">
              <a:rPr lang="en-BR" smtClean="0"/>
              <a:t>04/08/2025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30A7B-95C5-0372-76C8-2A65E02D5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AB04C-0B8C-A2F8-9B1E-6C45A903C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3B1B-60F3-7442-8642-7A66EE406969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478705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9938-9B79-2757-F5B1-9D15CAFD7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11D24-05D5-3173-6E5E-5603374240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9B427-AB61-6C74-589C-05F5A39C1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4A44-201A-D742-A091-53CA0B99795F}" type="datetimeFigureOut">
              <a:rPr lang="en-BR" smtClean="0"/>
              <a:t>04/08/2025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E070A-A8F3-941D-5039-C88B23243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405ED-5FA4-CA4A-5ABF-8C2C947D6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3B1B-60F3-7442-8642-7A66EE406969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163370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4D4DB5-01AF-DC93-19C7-850FEA3A44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6E1A18-1ED8-5A7E-BBEC-3A8A0C30DF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C5136-A928-57A5-451E-914AF619F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4A44-201A-D742-A091-53CA0B99795F}" type="datetimeFigureOut">
              <a:rPr lang="en-BR" smtClean="0"/>
              <a:t>04/08/2025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ABE27-4C92-7D4D-9680-4AD5A860C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7DA7C-FDE0-6D67-BCF8-9571E81E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3B1B-60F3-7442-8642-7A66EE406969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835287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EFD739-F48C-D721-A712-1B4988D5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32164-2B02-FD18-6B71-C3351AAD4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0D115-5560-5E1B-6ADE-CC8E5E9147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494A44-201A-D742-A091-53CA0B99795F}" type="datetimeFigureOut">
              <a:rPr lang="en-BR" smtClean="0"/>
              <a:t>04/08/2025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D1C2F-2CFE-EB2B-47F6-0DAA605888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CC806-0870-50AB-A7BB-1994CD986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F3B1B-60F3-7442-8642-7A66EE406969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205212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emf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6.emf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emf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emf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emf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5" Type="http://schemas.openxmlformats.org/officeDocument/2006/relationships/image" Target="../media/image9.png"/><Relationship Id="rId10" Type="http://schemas.openxmlformats.org/officeDocument/2006/relationships/image" Target="../media/image12.png"/><Relationship Id="rId4" Type="http://schemas.openxmlformats.org/officeDocument/2006/relationships/image" Target="../media/image6.emf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5.emf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6.emf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61106-A27A-74B8-869B-750355A663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BR"/>
              <a:t>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53F9CA-4212-6DB8-8622-7B86C03B5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Rectangle 2" descr="Retângulo 2">
            <a:extLst>
              <a:ext uri="{FF2B5EF4-FFF2-40B4-BE49-F238E27FC236}">
                <a16:creationId xmlns:a16="http://schemas.microsoft.com/office/drawing/2014/main" id="{7AFFA7D4-4CB0-CBA3-FC1F-F1C9DE029F66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gradFill rotWithShape="0">
            <a:gsLst>
              <a:gs pos="0">
                <a:srgbClr val="F36279">
                  <a:lumMod val="100000"/>
                </a:srgbClr>
              </a:gs>
              <a:gs pos="12598">
                <a:srgbClr val="E03654"/>
              </a:gs>
              <a:gs pos="51000">
                <a:srgbClr val="CC092F"/>
              </a:gs>
              <a:gs pos="8900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8D9DD8-EDCD-D73A-3AB6-B847C60B2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9976" y="6284231"/>
            <a:ext cx="1438656" cy="3206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884990-3DF9-F0D1-CB63-C496F2AE2B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615420" y="3204499"/>
            <a:ext cx="3315767" cy="25268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F479BE-E417-1C02-4A02-64E380FF839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"/>
          </a:blip>
          <a:stretch>
            <a:fillRect/>
          </a:stretch>
        </p:blipFill>
        <p:spPr>
          <a:xfrm>
            <a:off x="7726712" y="-4465680"/>
            <a:ext cx="8604708" cy="84345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E19FE2-CE1D-9EC3-394E-0CA18B87AFC3}"/>
              </a:ext>
            </a:extLst>
          </p:cNvPr>
          <p:cNvSpPr txBox="1"/>
          <p:nvPr/>
        </p:nvSpPr>
        <p:spPr>
          <a:xfrm>
            <a:off x="7591032" y="-61773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4B1222-640E-C8B4-C5D8-BE38A9AF563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"/>
          </a:blip>
          <a:stretch>
            <a:fillRect/>
          </a:stretch>
        </p:blipFill>
        <p:spPr>
          <a:xfrm rot="18735649">
            <a:off x="-2427241" y="4574446"/>
            <a:ext cx="8604708" cy="84345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FCB8489-2CA7-1A7E-055A-7C36689B55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165" y="567987"/>
            <a:ext cx="2520910" cy="24994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DA090F-410F-DB15-8332-D3249E4FCFF6}"/>
              </a:ext>
            </a:extLst>
          </p:cNvPr>
          <p:cNvSpPr txBox="1"/>
          <p:nvPr/>
        </p:nvSpPr>
        <p:spPr>
          <a:xfrm>
            <a:off x="4518442" y="2106994"/>
            <a:ext cx="78172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smtClean="0">
                <a:solidFill>
                  <a:schemeClr val="bg1"/>
                </a:solidFill>
                <a:latin typeface="Bradesco Sans" pitchFamily="2" charset="77"/>
              </a:rPr>
              <a:t>Ambientes</a:t>
            </a:r>
          </a:p>
          <a:p>
            <a:r>
              <a:rPr lang="pt-BR" sz="4800" b="1" dirty="0" smtClean="0">
                <a:solidFill>
                  <a:schemeClr val="bg1"/>
                </a:solidFill>
                <a:latin typeface="Bradesco Sans" pitchFamily="2" charset="77"/>
              </a:rPr>
              <a:t>Gateways Moradia</a:t>
            </a:r>
            <a:endParaRPr lang="pt-BR" sz="4800" b="1" dirty="0">
              <a:solidFill>
                <a:schemeClr val="bg1"/>
              </a:solidFill>
              <a:latin typeface="Bradesco Sans" pitchFamily="2" charset="77"/>
            </a:endParaRPr>
          </a:p>
        </p:txBody>
      </p:sp>
      <p:sp>
        <p:nvSpPr>
          <p:cNvPr id="7" name="Rounded Rectangle 74">
            <a:extLst>
              <a:ext uri="{FF2B5EF4-FFF2-40B4-BE49-F238E27FC236}">
                <a16:creationId xmlns:a16="http://schemas.microsoft.com/office/drawing/2014/main" id="{8DF9F1A2-2898-09EC-97BF-BCA4AE0747AC}"/>
              </a:ext>
            </a:extLst>
          </p:cNvPr>
          <p:cNvSpPr/>
          <p:nvPr/>
        </p:nvSpPr>
        <p:spPr>
          <a:xfrm rot="5400000">
            <a:off x="3352195" y="2898188"/>
            <a:ext cx="1918920" cy="126222"/>
          </a:xfrm>
          <a:prstGeom prst="roundRect">
            <a:avLst>
              <a:gd name="adj" fmla="val 5585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020" fontAlgn="base">
              <a:spcBef>
                <a:spcPts val="600"/>
              </a:spcBef>
              <a:spcAft>
                <a:spcPct val="0"/>
              </a:spcAft>
              <a:defRPr/>
            </a:pPr>
            <a:endParaRPr lang="pt-BR" sz="1600" b="1" kern="0" dirty="0">
              <a:solidFill>
                <a:srgbClr val="FFFFFF"/>
              </a:solidFill>
              <a:highlight>
                <a:srgbClr val="F9EBFF"/>
              </a:highlight>
              <a:latin typeface="Bradesco Sans XBold" panose="000009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877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CFDBFDD-507E-F69B-18EA-0F1A8074C772}"/>
              </a:ext>
            </a:extLst>
          </p:cNvPr>
          <p:cNvSpPr txBox="1"/>
          <p:nvPr/>
        </p:nvSpPr>
        <p:spPr>
          <a:xfrm>
            <a:off x="1750028" y="226161"/>
            <a:ext cx="3418990" cy="1206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 smtClean="0">
                <a:latin typeface="+mj-lt"/>
                <a:ea typeface="+mj-ea"/>
                <a:cs typeface="+mj-cs"/>
              </a:rPr>
              <a:t>API Gateway</a:t>
            </a:r>
            <a:endParaRPr lang="en-US" sz="3000" b="1" dirty="0"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onnsiteX0" fmla="*/ 0 w 1371600"/>
              <a:gd name="connsiteY0" fmla="*/ 0 h 18288"/>
              <a:gd name="connsiteX1" fmla="*/ 685800 w 1371600"/>
              <a:gd name="connsiteY1" fmla="*/ 0 h 18288"/>
              <a:gd name="connsiteX2" fmla="*/ 1371600 w 1371600"/>
              <a:gd name="connsiteY2" fmla="*/ 0 h 18288"/>
              <a:gd name="connsiteX3" fmla="*/ 1371600 w 1371600"/>
              <a:gd name="connsiteY3" fmla="*/ 18288 h 18288"/>
              <a:gd name="connsiteX4" fmla="*/ 713232 w 1371600"/>
              <a:gd name="connsiteY4" fmla="*/ 18288 h 18288"/>
              <a:gd name="connsiteX5" fmla="*/ 0 w 1371600"/>
              <a:gd name="connsiteY5" fmla="*/ 18288 h 18288"/>
              <a:gd name="connsiteX6" fmla="*/ 0 w 1371600"/>
              <a:gd name="connsiteY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87750BD-9DCD-58F4-326B-5BE5FEE4293E}"/>
              </a:ext>
            </a:extLst>
          </p:cNvPr>
          <p:cNvSpPr txBox="1"/>
          <p:nvPr/>
        </p:nvSpPr>
        <p:spPr>
          <a:xfrm>
            <a:off x="4736242" y="4851726"/>
            <a:ext cx="6474175" cy="13992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smtClean="0"/>
              <a:t>...</a:t>
            </a:r>
            <a:r>
              <a:rPr lang="pt-BR" sz="1600" dirty="0"/>
              <a:t> </a:t>
            </a:r>
            <a:r>
              <a:rPr lang="pt-BR" sz="1600" dirty="0">
                <a:latin typeface="Bradesco Sans" panose="020B0604020202020204" charset="0"/>
              </a:rPr>
              <a:t>Um gateway de API é parte integrante do sistema de gerenciamento de uma API. Assim, essa ferramenta intercepta todas as solicitações de entrada que chegam para que sejam encaminhadas por esse sistema, o qual processa as diversas funções.</a:t>
            </a:r>
            <a:r>
              <a:rPr lang="en-US" sz="1600" dirty="0" smtClean="0">
                <a:latin typeface="Bradesco Sans" panose="020B0604020202020204" charset="0"/>
              </a:rPr>
              <a:t> </a:t>
            </a:r>
            <a:endParaRPr lang="en-US" sz="1600" dirty="0">
              <a:latin typeface="Bradesco Sans" panose="020B0604020202020204" charset="0"/>
            </a:endParaRPr>
          </a:p>
        </p:txBody>
      </p:sp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3465" y="5513321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9045" y="591127"/>
            <a:ext cx="4661918" cy="3973789"/>
          </a:xfrm>
          <a:prstGeom prst="rect">
            <a:avLst/>
          </a:prstGeom>
        </p:spPr>
      </p:pic>
      <p:sp>
        <p:nvSpPr>
          <p:cNvPr id="3" name="Retângulo 2"/>
          <p:cNvSpPr/>
          <p:nvPr/>
        </p:nvSpPr>
        <p:spPr>
          <a:xfrm>
            <a:off x="211074" y="2105561"/>
            <a:ext cx="649689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latin typeface="Bradesco Sans" panose="020B0604020202020204" charset="0"/>
              </a:rPr>
              <a:t>Um API gateway é uma ferramenta de gerenciamento de API que atua como intermediário entre um cliente de API </a:t>
            </a:r>
            <a:r>
              <a:rPr lang="pt-BR" sz="2000" dirty="0" smtClean="0">
                <a:latin typeface="Bradesco Sans" panose="020B0604020202020204" charset="0"/>
              </a:rPr>
              <a:t>e </a:t>
            </a:r>
            <a:r>
              <a:rPr lang="pt-BR" sz="2000" dirty="0">
                <a:latin typeface="Bradesco Sans" panose="020B0604020202020204" charset="0"/>
              </a:rPr>
              <a:t>serviços de </a:t>
            </a:r>
            <a:r>
              <a:rPr lang="pt-BR" sz="2000" dirty="0" err="1" smtClean="0">
                <a:latin typeface="Bradesco Sans" panose="020B0604020202020204" charset="0"/>
              </a:rPr>
              <a:t>back</a:t>
            </a:r>
            <a:r>
              <a:rPr lang="pt-BR" sz="2000" dirty="0" smtClean="0">
                <a:latin typeface="Bradesco Sans" panose="020B0604020202020204" charset="0"/>
              </a:rPr>
              <a:t>-end.</a:t>
            </a:r>
          </a:p>
          <a:p>
            <a:endParaRPr lang="pt-BR" sz="2000" dirty="0">
              <a:latin typeface="Bradesco Sans" panose="020B0604020202020204" charset="0"/>
            </a:endParaRPr>
          </a:p>
          <a:p>
            <a:r>
              <a:rPr lang="pt-BR" sz="2000" dirty="0" smtClean="0">
                <a:latin typeface="Bradesco Sans" panose="020B0604020202020204" charset="0"/>
              </a:rPr>
              <a:t>Um </a:t>
            </a:r>
            <a:r>
              <a:rPr lang="pt-BR" sz="2000" dirty="0">
                <a:latin typeface="Bradesco Sans" panose="020B0604020202020204" charset="0"/>
              </a:rPr>
              <a:t>API gateway apresenta um único ponto de entrada para chamadas de API.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73" y="4672487"/>
            <a:ext cx="2838450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630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CFDBFDD-507E-F69B-18EA-0F1A8074C772}"/>
              </a:ext>
            </a:extLst>
          </p:cNvPr>
          <p:cNvSpPr txBox="1"/>
          <p:nvPr/>
        </p:nvSpPr>
        <p:spPr>
          <a:xfrm>
            <a:off x="266838" y="4776612"/>
            <a:ext cx="3418990" cy="14121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dirty="0" smtClean="0">
                <a:latin typeface="Bradesco Sans" panose="020B0604020202020204" charset="0"/>
                <a:ea typeface="+mj-ea"/>
                <a:cs typeface="+mj-cs"/>
              </a:rPr>
              <a:t>URLs</a:t>
            </a:r>
            <a:endParaRPr lang="en-US" sz="3000" dirty="0">
              <a:latin typeface="Bradesco Sans" panose="020B0604020202020204" charset="0"/>
              <a:ea typeface="+mj-ea"/>
              <a:cs typeface="+mj-cs"/>
            </a:endParaRPr>
          </a:p>
        </p:txBody>
      </p:sp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3465" y="5513321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4707980" y="814588"/>
            <a:ext cx="2373849" cy="3681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5067659" y="1550170"/>
            <a:ext cx="526943" cy="28988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 rot="16200000">
            <a:off x="4493265" y="2499856"/>
            <a:ext cx="167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REST-API</a:t>
            </a:r>
            <a:endParaRPr lang="pt-BR" dirty="0"/>
          </a:p>
        </p:txBody>
      </p:sp>
      <p:sp>
        <p:nvSpPr>
          <p:cNvPr id="19" name="Retângulo 18"/>
          <p:cNvSpPr/>
          <p:nvPr/>
        </p:nvSpPr>
        <p:spPr>
          <a:xfrm>
            <a:off x="5673407" y="1552653"/>
            <a:ext cx="526943" cy="28988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4960485" y="2617619"/>
            <a:ext cx="1952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ACESS-CONTROL</a:t>
            </a:r>
            <a:endParaRPr lang="pt-BR" dirty="0"/>
          </a:p>
        </p:txBody>
      </p:sp>
      <p:sp>
        <p:nvSpPr>
          <p:cNvPr id="20" name="Retângulo 19"/>
          <p:cNvSpPr/>
          <p:nvPr/>
        </p:nvSpPr>
        <p:spPr>
          <a:xfrm>
            <a:off x="6279155" y="1550170"/>
            <a:ext cx="526943" cy="29096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/>
          <p:cNvSpPr txBox="1"/>
          <p:nvPr/>
        </p:nvSpPr>
        <p:spPr>
          <a:xfrm rot="16200000">
            <a:off x="5158636" y="2872136"/>
            <a:ext cx="2685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COMUNICATION CHANEL</a:t>
            </a:r>
            <a:endParaRPr lang="pt-BR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4507" y="1020134"/>
            <a:ext cx="1207352" cy="603676"/>
          </a:xfrm>
          <a:prstGeom prst="rect">
            <a:avLst/>
          </a:prstGeom>
        </p:spPr>
      </p:pic>
      <p:sp>
        <p:nvSpPr>
          <p:cNvPr id="22" name="CaixaDeTexto 21"/>
          <p:cNvSpPr txBox="1"/>
          <p:nvPr/>
        </p:nvSpPr>
        <p:spPr>
          <a:xfrm>
            <a:off x="5067659" y="834651"/>
            <a:ext cx="1675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/>
              <a:t>API-Gateway</a:t>
            </a:r>
            <a:endParaRPr lang="pt-BR" sz="1400" dirty="0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337" y="513592"/>
            <a:ext cx="468152" cy="468152"/>
          </a:xfrm>
          <a:prstGeom prst="rect">
            <a:avLst/>
          </a:prstGeom>
        </p:spPr>
      </p:pic>
      <p:sp>
        <p:nvSpPr>
          <p:cNvPr id="29" name="CaixaDeTexto 28"/>
          <p:cNvSpPr txBox="1"/>
          <p:nvPr/>
        </p:nvSpPr>
        <p:spPr>
          <a:xfrm>
            <a:off x="-157452" y="1011204"/>
            <a:ext cx="1675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/>
              <a:t>ATORES</a:t>
            </a:r>
            <a:endParaRPr lang="pt-BR" sz="1400" dirty="0"/>
          </a:p>
        </p:txBody>
      </p:sp>
      <p:sp>
        <p:nvSpPr>
          <p:cNvPr id="30" name="Retângulo 29"/>
          <p:cNvSpPr/>
          <p:nvPr/>
        </p:nvSpPr>
        <p:spPr>
          <a:xfrm>
            <a:off x="8390798" y="834651"/>
            <a:ext cx="2373849" cy="3691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/>
          <p:cNvSpPr txBox="1"/>
          <p:nvPr/>
        </p:nvSpPr>
        <p:spPr>
          <a:xfrm>
            <a:off x="8710318" y="912140"/>
            <a:ext cx="1675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/>
              <a:t>ARO INTERNO</a:t>
            </a:r>
          </a:p>
        </p:txBody>
      </p:sp>
      <p:sp>
        <p:nvSpPr>
          <p:cNvPr id="21" name="AutoShape 2" descr="Axway API Gateway API Intelligenc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30" name="Picture 6" descr="Axway API Gateway API Intelligence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4987" y="1098247"/>
            <a:ext cx="826190" cy="292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tângulo 34"/>
          <p:cNvSpPr/>
          <p:nvPr/>
        </p:nvSpPr>
        <p:spPr>
          <a:xfrm rot="5400000">
            <a:off x="9427605" y="3285890"/>
            <a:ext cx="450006" cy="18845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aixaDeTexto 33"/>
          <p:cNvSpPr txBox="1"/>
          <p:nvPr/>
        </p:nvSpPr>
        <p:spPr>
          <a:xfrm>
            <a:off x="8814743" y="4032776"/>
            <a:ext cx="1675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 smtClean="0"/>
              <a:t>NAMESPACE</a:t>
            </a:r>
          </a:p>
          <a:p>
            <a:pPr algn="ctr"/>
            <a:r>
              <a:rPr lang="pt-BR" sz="1000" dirty="0" err="1"/>
              <a:t>m</a:t>
            </a:r>
            <a:r>
              <a:rPr lang="pt-BR" sz="1000" dirty="0" err="1" smtClean="0"/>
              <a:t>d-credimob</a:t>
            </a:r>
            <a:endParaRPr lang="pt-BR" sz="1000" dirty="0" smtClean="0"/>
          </a:p>
        </p:txBody>
      </p:sp>
      <p:sp>
        <p:nvSpPr>
          <p:cNvPr id="36" name="Retângulo 35"/>
          <p:cNvSpPr/>
          <p:nvPr/>
        </p:nvSpPr>
        <p:spPr>
          <a:xfrm rot="5400000">
            <a:off x="8524981" y="1809144"/>
            <a:ext cx="2255251" cy="18845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 36"/>
          <p:cNvSpPr/>
          <p:nvPr/>
        </p:nvSpPr>
        <p:spPr>
          <a:xfrm rot="5400000">
            <a:off x="9469486" y="1731485"/>
            <a:ext cx="441661" cy="1232116"/>
          </a:xfrm>
          <a:prstGeom prst="rect">
            <a:avLst/>
          </a:prstGeom>
          <a:solidFill>
            <a:srgbClr val="C8D6EE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CaixaDeTexto 39"/>
          <p:cNvSpPr txBox="1"/>
          <p:nvPr/>
        </p:nvSpPr>
        <p:spPr>
          <a:xfrm>
            <a:off x="9075576" y="2192330"/>
            <a:ext cx="121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 smtClean="0"/>
              <a:t>CRIM-SRV-IMOB-CONTRATOS</a:t>
            </a:r>
            <a:endParaRPr lang="pt-BR" sz="900" dirty="0"/>
          </a:p>
        </p:txBody>
      </p:sp>
      <p:sp>
        <p:nvSpPr>
          <p:cNvPr id="41" name="Retângulo 40"/>
          <p:cNvSpPr/>
          <p:nvPr/>
        </p:nvSpPr>
        <p:spPr>
          <a:xfrm rot="5400000">
            <a:off x="9469485" y="2242689"/>
            <a:ext cx="441661" cy="1232116"/>
          </a:xfrm>
          <a:prstGeom prst="rect">
            <a:avLst/>
          </a:prstGeom>
          <a:solidFill>
            <a:srgbClr val="C8D6EE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 42"/>
          <p:cNvSpPr/>
          <p:nvPr/>
        </p:nvSpPr>
        <p:spPr>
          <a:xfrm rot="5400000">
            <a:off x="9469485" y="2785081"/>
            <a:ext cx="441661" cy="1232116"/>
          </a:xfrm>
          <a:prstGeom prst="rect">
            <a:avLst/>
          </a:prstGeom>
          <a:solidFill>
            <a:srgbClr val="C8D6EE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5" name="Conector de Seta Reta 44"/>
          <p:cNvCxnSpPr>
            <a:endCxn id="4" idx="1"/>
          </p:cNvCxnSpPr>
          <p:nvPr/>
        </p:nvCxnSpPr>
        <p:spPr>
          <a:xfrm>
            <a:off x="1241537" y="2623414"/>
            <a:ext cx="3466443" cy="31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>
            <a:stCxn id="4" idx="3"/>
            <a:endCxn id="30" idx="1"/>
          </p:cNvCxnSpPr>
          <p:nvPr/>
        </p:nvCxnSpPr>
        <p:spPr>
          <a:xfrm flipV="1">
            <a:off x="7113725" y="2680250"/>
            <a:ext cx="1277073" cy="5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tângulo 51"/>
          <p:cNvSpPr/>
          <p:nvPr/>
        </p:nvSpPr>
        <p:spPr>
          <a:xfrm rot="5400000">
            <a:off x="7643822" y="1937057"/>
            <a:ext cx="265267" cy="64756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tângulo 52"/>
          <p:cNvSpPr/>
          <p:nvPr/>
        </p:nvSpPr>
        <p:spPr>
          <a:xfrm rot="5400000">
            <a:off x="7645426" y="2492705"/>
            <a:ext cx="265267" cy="64756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tângulo 53"/>
          <p:cNvSpPr/>
          <p:nvPr/>
        </p:nvSpPr>
        <p:spPr>
          <a:xfrm rot="5400000">
            <a:off x="7643821" y="3012390"/>
            <a:ext cx="265267" cy="64756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Retângulo 50"/>
          <p:cNvSpPr/>
          <p:nvPr/>
        </p:nvSpPr>
        <p:spPr>
          <a:xfrm>
            <a:off x="4497501" y="4972110"/>
            <a:ext cx="685358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https://api-adqemp.apps.arodvadqemppi11.arocorpp.bradesco.com.br</a:t>
            </a:r>
          </a:p>
        </p:txBody>
      </p:sp>
      <p:sp>
        <p:nvSpPr>
          <p:cNvPr id="55" name="Retângulo 54"/>
          <p:cNvSpPr/>
          <p:nvPr/>
        </p:nvSpPr>
        <p:spPr>
          <a:xfrm>
            <a:off x="4497501" y="5517369"/>
            <a:ext cx="641437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/>
              <a:t>https://api-adqemp.apps.arohoadqemppi.arocorpp.bradesco.com.br</a:t>
            </a:r>
          </a:p>
        </p:txBody>
      </p:sp>
      <p:sp>
        <p:nvSpPr>
          <p:cNvPr id="57" name="Retângulo 56"/>
          <p:cNvSpPr/>
          <p:nvPr/>
        </p:nvSpPr>
        <p:spPr>
          <a:xfrm>
            <a:off x="4538617" y="681925"/>
            <a:ext cx="6475675" cy="399184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32" name="Picture 8" descr="Download Microsoft Azure (Windows Azure) Logo in SVG Vector ...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5568" y="807234"/>
            <a:ext cx="1053907" cy="701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CaixaDeTexto 59">
            <a:extLst>
              <a:ext uri="{FF2B5EF4-FFF2-40B4-BE49-F238E27FC236}">
                <a16:creationId xmlns:a16="http://schemas.microsoft.com/office/drawing/2014/main" id="{3CFDBFDD-507E-F69B-18EA-0F1A8074C772}"/>
              </a:ext>
            </a:extLst>
          </p:cNvPr>
          <p:cNvSpPr txBox="1"/>
          <p:nvPr/>
        </p:nvSpPr>
        <p:spPr>
          <a:xfrm>
            <a:off x="4447688" y="4733445"/>
            <a:ext cx="654984" cy="374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600" b="1" dirty="0" smtClean="0">
                <a:latin typeface="+mj-lt"/>
                <a:ea typeface="+mj-ea"/>
                <a:cs typeface="+mj-cs"/>
              </a:rPr>
              <a:t>DEV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3CFDBFDD-507E-F69B-18EA-0F1A8074C772}"/>
              </a:ext>
            </a:extLst>
          </p:cNvPr>
          <p:cNvSpPr txBox="1"/>
          <p:nvPr/>
        </p:nvSpPr>
        <p:spPr>
          <a:xfrm>
            <a:off x="4473578" y="5275273"/>
            <a:ext cx="610893" cy="3582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600" b="1" dirty="0" smtClean="0">
                <a:latin typeface="+mj-lt"/>
                <a:ea typeface="+mj-ea"/>
                <a:cs typeface="+mj-cs"/>
              </a:rPr>
              <a:t>HML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3CFDBFDD-507E-F69B-18EA-0F1A8074C772}"/>
              </a:ext>
            </a:extLst>
          </p:cNvPr>
          <p:cNvSpPr txBox="1"/>
          <p:nvPr/>
        </p:nvSpPr>
        <p:spPr>
          <a:xfrm>
            <a:off x="4447688" y="5814357"/>
            <a:ext cx="654984" cy="374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600" b="1" dirty="0" smtClean="0">
                <a:latin typeface="+mj-lt"/>
                <a:ea typeface="+mj-ea"/>
                <a:cs typeface="+mj-cs"/>
              </a:rPr>
              <a:t>PRD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3CFDBFDD-507E-F69B-18EA-0F1A8074C772}"/>
              </a:ext>
            </a:extLst>
          </p:cNvPr>
          <p:cNvSpPr txBox="1"/>
          <p:nvPr/>
        </p:nvSpPr>
        <p:spPr>
          <a:xfrm>
            <a:off x="4833131" y="27722"/>
            <a:ext cx="3418990" cy="492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 smtClean="0">
                <a:solidFill>
                  <a:srgbClr val="FF0000"/>
                </a:solidFill>
                <a:latin typeface="Bradesco Sans" panose="020B0604020202020204" charset="0"/>
                <a:ea typeface="+mj-ea"/>
                <a:cs typeface="+mj-cs"/>
              </a:rPr>
              <a:t>Gateway da Cloud</a:t>
            </a:r>
            <a:endParaRPr lang="en-US" sz="3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1008908" y="5787236"/>
            <a:ext cx="21864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 Adquirir e Emprestar</a:t>
            </a:r>
          </a:p>
        </p:txBody>
      </p:sp>
      <p:sp>
        <p:nvSpPr>
          <p:cNvPr id="3" name="Retângulo 2"/>
          <p:cNvSpPr/>
          <p:nvPr/>
        </p:nvSpPr>
        <p:spPr>
          <a:xfrm>
            <a:off x="1276788" y="2777551"/>
            <a:ext cx="32353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pt-BR" sz="800" dirty="0"/>
              <a:t>https://</a:t>
            </a:r>
            <a:r>
              <a:rPr lang="pt-BR" sz="800" dirty="0" smtClean="0"/>
              <a:t>crim-srv-imob-contratos-md-credimob.apps.arodvadqemppi11.arocorpp.bradsco.com.br/contratos-imobiliarios/v1</a:t>
            </a:r>
            <a:endParaRPr lang="pt-BR" sz="800" dirty="0"/>
          </a:p>
        </p:txBody>
      </p:sp>
      <p:sp>
        <p:nvSpPr>
          <p:cNvPr id="49" name="Retângulo 48"/>
          <p:cNvSpPr/>
          <p:nvPr/>
        </p:nvSpPr>
        <p:spPr>
          <a:xfrm>
            <a:off x="1276788" y="3783369"/>
            <a:ext cx="3186379" cy="3385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pt-BR" sz="800" dirty="0"/>
              <a:t>https://crim-srv-imob-contratos-md-credimob.apps</a:t>
            </a:r>
            <a:r>
              <a:rPr lang="pt-BR" sz="800" dirty="0" smtClean="0"/>
              <a:t>.</a:t>
            </a:r>
            <a:r>
              <a:rPr lang="pt-BR" sz="800" dirty="0"/>
              <a:t> aropradqemppi</a:t>
            </a:r>
            <a:r>
              <a:rPr lang="pt-BR" sz="800" dirty="0" smtClean="0"/>
              <a:t>.arocorpp.bradesco.com.br/contratos-</a:t>
            </a:r>
            <a:r>
              <a:rPr lang="pt-BR" sz="800" dirty="0" err="1" smtClean="0"/>
              <a:t>imobiliarios</a:t>
            </a:r>
            <a:r>
              <a:rPr lang="pt-BR" sz="800" dirty="0" smtClean="0"/>
              <a:t>/v1</a:t>
            </a:r>
            <a:endParaRPr lang="pt-BR" sz="800" dirty="0"/>
          </a:p>
        </p:txBody>
      </p:sp>
      <p:sp>
        <p:nvSpPr>
          <p:cNvPr id="50" name="Retângulo 49"/>
          <p:cNvSpPr/>
          <p:nvPr/>
        </p:nvSpPr>
        <p:spPr>
          <a:xfrm>
            <a:off x="1276788" y="3274532"/>
            <a:ext cx="3197003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pt-BR" sz="800" dirty="0"/>
              <a:t>https://</a:t>
            </a:r>
            <a:r>
              <a:rPr lang="pt-BR" sz="800" dirty="0" smtClean="0"/>
              <a:t>crim-srv-imob-contratos-md-credimob.apps.arohoadqemppi.arocorpp.bradesco.com.br/contratos-imobiliarios/v1</a:t>
            </a:r>
            <a:endParaRPr lang="pt-BR" sz="800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-1254814" y="2790865"/>
            <a:ext cx="3773045" cy="729739"/>
          </a:xfrm>
          <a:prstGeom prst="rect">
            <a:avLst/>
          </a:prstGeom>
        </p:spPr>
      </p:pic>
      <p:sp>
        <p:nvSpPr>
          <p:cNvPr id="56" name="CaixaDeTexto 55">
            <a:extLst>
              <a:ext uri="{FF2B5EF4-FFF2-40B4-BE49-F238E27FC236}">
                <a16:creationId xmlns:a16="http://schemas.microsoft.com/office/drawing/2014/main" id="{3CFDBFDD-507E-F69B-18EA-0F1A8074C772}"/>
              </a:ext>
            </a:extLst>
          </p:cNvPr>
          <p:cNvSpPr txBox="1"/>
          <p:nvPr/>
        </p:nvSpPr>
        <p:spPr>
          <a:xfrm>
            <a:off x="2699401" y="2608077"/>
            <a:ext cx="614505" cy="152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" b="1" dirty="0" smtClean="0">
                <a:latin typeface="Bradesco Sans" panose="020B0604020202020204" charset="0"/>
                <a:ea typeface="+mj-ea"/>
                <a:cs typeface="+mj-cs"/>
              </a:rPr>
              <a:t>TCP:443</a:t>
            </a:r>
            <a:endParaRPr lang="en-US" sz="800" b="1" dirty="0">
              <a:latin typeface="Bradesco Sans" panose="020B0604020202020204" charset="0"/>
              <a:ea typeface="+mj-ea"/>
              <a:cs typeface="+mj-cs"/>
            </a:endParaRPr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2506" y="2568374"/>
            <a:ext cx="301526" cy="274808"/>
          </a:xfrm>
          <a:prstGeom prst="rect">
            <a:avLst/>
          </a:prstGeom>
        </p:spPr>
      </p:pic>
      <p:sp>
        <p:nvSpPr>
          <p:cNvPr id="59" name="CaixaDeTexto 58">
            <a:extLst>
              <a:ext uri="{FF2B5EF4-FFF2-40B4-BE49-F238E27FC236}">
                <a16:creationId xmlns:a16="http://schemas.microsoft.com/office/drawing/2014/main" id="{3CFDBFDD-507E-F69B-18EA-0F1A8074C772}"/>
              </a:ext>
            </a:extLst>
          </p:cNvPr>
          <p:cNvSpPr txBox="1"/>
          <p:nvPr/>
        </p:nvSpPr>
        <p:spPr>
          <a:xfrm>
            <a:off x="7746489" y="2619771"/>
            <a:ext cx="614505" cy="152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" b="1" dirty="0" smtClean="0">
                <a:latin typeface="Bradesco Sans" panose="020B0604020202020204" charset="0"/>
                <a:ea typeface="+mj-ea"/>
                <a:cs typeface="+mj-cs"/>
              </a:rPr>
              <a:t>TCP:443</a:t>
            </a:r>
            <a:endParaRPr lang="en-US" sz="800" b="1" dirty="0">
              <a:latin typeface="Bradesco Sans" panose="020B0604020202020204" charset="0"/>
              <a:ea typeface="+mj-ea"/>
              <a:cs typeface="+mj-cs"/>
            </a:endParaRPr>
          </a:p>
        </p:txBody>
      </p:sp>
      <p:sp>
        <p:nvSpPr>
          <p:cNvPr id="63" name="CaixaDeTexto 62"/>
          <p:cNvSpPr txBox="1"/>
          <p:nvPr/>
        </p:nvSpPr>
        <p:spPr>
          <a:xfrm>
            <a:off x="9069839" y="2660515"/>
            <a:ext cx="121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 smtClean="0"/>
              <a:t>CRIM-SRV-IMOB-AMORTIZACAO</a:t>
            </a:r>
            <a:endParaRPr lang="pt-BR" sz="900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9043748" y="3213148"/>
            <a:ext cx="121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dirty="0" smtClean="0"/>
              <a:t>CRIM-SRV-IMOB-LIQUIDACAO</a:t>
            </a:r>
            <a:endParaRPr lang="pt-BR" sz="900" dirty="0"/>
          </a:p>
        </p:txBody>
      </p:sp>
      <p:sp>
        <p:nvSpPr>
          <p:cNvPr id="24" name="Retângulo 23"/>
          <p:cNvSpPr/>
          <p:nvPr/>
        </p:nvSpPr>
        <p:spPr>
          <a:xfrm>
            <a:off x="155575" y="1004008"/>
            <a:ext cx="1049677" cy="40382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Elipse 30"/>
          <p:cNvSpPr/>
          <p:nvPr/>
        </p:nvSpPr>
        <p:spPr>
          <a:xfrm>
            <a:off x="11269267" y="31423"/>
            <a:ext cx="828202" cy="71485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/>
          <p:cNvSpPr/>
          <p:nvPr/>
        </p:nvSpPr>
        <p:spPr>
          <a:xfrm>
            <a:off x="11354558" y="202224"/>
            <a:ext cx="64010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900" dirty="0" smtClean="0">
                <a:ln w="0"/>
                <a:solidFill>
                  <a:srgbClr val="FF0000"/>
                </a:solidFill>
              </a:rPr>
              <a:t>Não Exaustivo</a:t>
            </a:r>
            <a:endParaRPr lang="pt-BR" sz="900" dirty="0">
              <a:ln w="0"/>
              <a:solidFill>
                <a:srgbClr val="FF0000"/>
              </a:solidFill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4530224" y="604707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/>
              <a:t>https://</a:t>
            </a:r>
            <a:r>
              <a:rPr lang="pt-BR" dirty="0" smtClean="0"/>
              <a:t>api-adqemp.apps.adqemp.bradesco.com.br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0475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5" grpId="0"/>
      <p:bldP spid="3" grpId="0" animBg="1"/>
      <p:bldP spid="49" grpId="0" animBg="1"/>
      <p:bldP spid="50" grpId="0" animBg="1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CFDBFDD-507E-F69B-18EA-0F1A8074C772}"/>
              </a:ext>
            </a:extLst>
          </p:cNvPr>
          <p:cNvSpPr txBox="1"/>
          <p:nvPr/>
        </p:nvSpPr>
        <p:spPr>
          <a:xfrm>
            <a:off x="301319" y="4807261"/>
            <a:ext cx="3418990" cy="14121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dirty="0" smtClean="0">
                <a:latin typeface="Bradesco Sans" panose="020B0604020202020204" charset="0"/>
                <a:ea typeface="+mj-ea"/>
                <a:cs typeface="+mj-cs"/>
              </a:rPr>
              <a:t>URLs</a:t>
            </a:r>
            <a:endParaRPr lang="en-US" sz="3000" dirty="0">
              <a:latin typeface="Bradesco Sans" panose="020B0604020202020204" charset="0"/>
              <a:ea typeface="+mj-ea"/>
              <a:cs typeface="+mj-cs"/>
            </a:endParaRPr>
          </a:p>
        </p:txBody>
      </p:sp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3465" y="5513321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4739876" y="844660"/>
            <a:ext cx="2373849" cy="3681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5067659" y="1550170"/>
            <a:ext cx="526943" cy="28988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 rot="16200000">
            <a:off x="4493265" y="2499856"/>
            <a:ext cx="167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REST-API</a:t>
            </a:r>
            <a:endParaRPr lang="pt-BR" dirty="0"/>
          </a:p>
        </p:txBody>
      </p:sp>
      <p:sp>
        <p:nvSpPr>
          <p:cNvPr id="19" name="Retângulo 18"/>
          <p:cNvSpPr/>
          <p:nvPr/>
        </p:nvSpPr>
        <p:spPr>
          <a:xfrm>
            <a:off x="5673407" y="1552653"/>
            <a:ext cx="526943" cy="28988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4960485" y="2617619"/>
            <a:ext cx="1952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ACESS-CONTROL</a:t>
            </a:r>
            <a:endParaRPr lang="pt-BR" dirty="0"/>
          </a:p>
        </p:txBody>
      </p:sp>
      <p:sp>
        <p:nvSpPr>
          <p:cNvPr id="20" name="Retângulo 19"/>
          <p:cNvSpPr/>
          <p:nvPr/>
        </p:nvSpPr>
        <p:spPr>
          <a:xfrm>
            <a:off x="6279155" y="1550170"/>
            <a:ext cx="526943" cy="29096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/>
          <p:cNvSpPr txBox="1"/>
          <p:nvPr/>
        </p:nvSpPr>
        <p:spPr>
          <a:xfrm rot="16200000">
            <a:off x="5158636" y="2872136"/>
            <a:ext cx="2685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COMUNICATION CHANEL</a:t>
            </a:r>
            <a:endParaRPr lang="pt-BR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4507" y="1020134"/>
            <a:ext cx="1207352" cy="603676"/>
          </a:xfrm>
          <a:prstGeom prst="rect">
            <a:avLst/>
          </a:prstGeom>
        </p:spPr>
      </p:pic>
      <p:sp>
        <p:nvSpPr>
          <p:cNvPr id="22" name="CaixaDeTexto 21"/>
          <p:cNvSpPr txBox="1"/>
          <p:nvPr/>
        </p:nvSpPr>
        <p:spPr>
          <a:xfrm>
            <a:off x="5067659" y="834651"/>
            <a:ext cx="1675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/>
              <a:t>API-Gateway</a:t>
            </a:r>
            <a:endParaRPr lang="pt-BR" sz="1400" dirty="0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0058" y="1082018"/>
            <a:ext cx="468152" cy="468152"/>
          </a:xfrm>
          <a:prstGeom prst="rect">
            <a:avLst/>
          </a:prstGeom>
        </p:spPr>
      </p:pic>
      <p:sp>
        <p:nvSpPr>
          <p:cNvPr id="24" name="Retângulo 23"/>
          <p:cNvSpPr/>
          <p:nvPr/>
        </p:nvSpPr>
        <p:spPr>
          <a:xfrm>
            <a:off x="799296" y="1524990"/>
            <a:ext cx="1049677" cy="23108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/>
          <p:cNvSpPr txBox="1"/>
          <p:nvPr/>
        </p:nvSpPr>
        <p:spPr>
          <a:xfrm>
            <a:off x="486269" y="1508562"/>
            <a:ext cx="1675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/>
              <a:t>ATORES</a:t>
            </a:r>
            <a:endParaRPr lang="pt-BR" sz="1400" dirty="0"/>
          </a:p>
        </p:txBody>
      </p:sp>
      <p:sp>
        <p:nvSpPr>
          <p:cNvPr id="30" name="Retângulo 29"/>
          <p:cNvSpPr/>
          <p:nvPr/>
        </p:nvSpPr>
        <p:spPr>
          <a:xfrm>
            <a:off x="8390798" y="834651"/>
            <a:ext cx="2373849" cy="3691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/>
          <p:cNvSpPr txBox="1"/>
          <p:nvPr/>
        </p:nvSpPr>
        <p:spPr>
          <a:xfrm>
            <a:off x="8821828" y="878687"/>
            <a:ext cx="1675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/>
              <a:t>TI HIBRIDA</a:t>
            </a:r>
          </a:p>
        </p:txBody>
      </p:sp>
      <p:sp>
        <p:nvSpPr>
          <p:cNvPr id="21" name="AutoShape 2" descr="Axway API Gateway API Intelligenc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30" name="Picture 6" descr="Axway API Gateway API Intelligence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4987" y="1098247"/>
            <a:ext cx="826190" cy="292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tângulo 34"/>
          <p:cNvSpPr/>
          <p:nvPr/>
        </p:nvSpPr>
        <p:spPr>
          <a:xfrm rot="5400000">
            <a:off x="9427605" y="3285890"/>
            <a:ext cx="450006" cy="18845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aixaDeTexto 33"/>
          <p:cNvSpPr txBox="1"/>
          <p:nvPr/>
        </p:nvSpPr>
        <p:spPr>
          <a:xfrm>
            <a:off x="8814743" y="4110833"/>
            <a:ext cx="16757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 smtClean="0"/>
              <a:t>TORRE CORP</a:t>
            </a:r>
          </a:p>
        </p:txBody>
      </p:sp>
      <p:sp>
        <p:nvSpPr>
          <p:cNvPr id="36" name="Retângulo 35"/>
          <p:cNvSpPr/>
          <p:nvPr/>
        </p:nvSpPr>
        <p:spPr>
          <a:xfrm rot="5400000">
            <a:off x="8524981" y="1809144"/>
            <a:ext cx="2255251" cy="18845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 36"/>
          <p:cNvSpPr/>
          <p:nvPr/>
        </p:nvSpPr>
        <p:spPr>
          <a:xfrm rot="5400000">
            <a:off x="9469486" y="1731485"/>
            <a:ext cx="441661" cy="1232116"/>
          </a:xfrm>
          <a:prstGeom prst="rect">
            <a:avLst/>
          </a:prstGeom>
          <a:solidFill>
            <a:srgbClr val="C8D6EE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CaixaDeTexto 39"/>
          <p:cNvSpPr txBox="1"/>
          <p:nvPr/>
        </p:nvSpPr>
        <p:spPr>
          <a:xfrm>
            <a:off x="9075576" y="2192330"/>
            <a:ext cx="1217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/>
              <a:t>MICROSERVIÇO</a:t>
            </a:r>
            <a:endParaRPr lang="pt-BR" sz="1200" dirty="0"/>
          </a:p>
        </p:txBody>
      </p:sp>
      <p:sp>
        <p:nvSpPr>
          <p:cNvPr id="41" name="Retângulo 40"/>
          <p:cNvSpPr/>
          <p:nvPr/>
        </p:nvSpPr>
        <p:spPr>
          <a:xfrm rot="5400000">
            <a:off x="9469485" y="2242689"/>
            <a:ext cx="441661" cy="1232116"/>
          </a:xfrm>
          <a:prstGeom prst="rect">
            <a:avLst/>
          </a:prstGeom>
          <a:solidFill>
            <a:srgbClr val="C8D6EE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CaixaDeTexto 41"/>
          <p:cNvSpPr txBox="1"/>
          <p:nvPr/>
        </p:nvSpPr>
        <p:spPr>
          <a:xfrm>
            <a:off x="9058854" y="2712390"/>
            <a:ext cx="1217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/>
              <a:t>MICROSERVIÇO</a:t>
            </a:r>
            <a:endParaRPr lang="pt-BR" sz="1200" dirty="0"/>
          </a:p>
        </p:txBody>
      </p:sp>
      <p:sp>
        <p:nvSpPr>
          <p:cNvPr id="43" name="Retângulo 42"/>
          <p:cNvSpPr/>
          <p:nvPr/>
        </p:nvSpPr>
        <p:spPr>
          <a:xfrm rot="5400000">
            <a:off x="9469485" y="2785081"/>
            <a:ext cx="441661" cy="1232116"/>
          </a:xfrm>
          <a:prstGeom prst="rect">
            <a:avLst/>
          </a:prstGeom>
          <a:solidFill>
            <a:srgbClr val="C8D6EE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/>
          <p:cNvSpPr txBox="1"/>
          <p:nvPr/>
        </p:nvSpPr>
        <p:spPr>
          <a:xfrm>
            <a:off x="9058854" y="3254782"/>
            <a:ext cx="1217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/>
              <a:t>MICROSERVIÇO</a:t>
            </a:r>
            <a:endParaRPr lang="pt-BR" sz="1200" dirty="0"/>
          </a:p>
        </p:txBody>
      </p:sp>
      <p:cxnSp>
        <p:nvCxnSpPr>
          <p:cNvPr id="45" name="Conector de Seta Reta 44"/>
          <p:cNvCxnSpPr>
            <a:stCxn id="24" idx="3"/>
            <a:endCxn id="4" idx="1"/>
          </p:cNvCxnSpPr>
          <p:nvPr/>
        </p:nvCxnSpPr>
        <p:spPr>
          <a:xfrm>
            <a:off x="1848973" y="2680412"/>
            <a:ext cx="2890903" cy="4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/>
          <p:cNvCxnSpPr>
            <a:stCxn id="4" idx="3"/>
            <a:endCxn id="30" idx="1"/>
          </p:cNvCxnSpPr>
          <p:nvPr/>
        </p:nvCxnSpPr>
        <p:spPr>
          <a:xfrm flipV="1">
            <a:off x="7113725" y="2680250"/>
            <a:ext cx="1277073" cy="5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tângulo 51"/>
          <p:cNvSpPr/>
          <p:nvPr/>
        </p:nvSpPr>
        <p:spPr>
          <a:xfrm rot="5400000">
            <a:off x="7643822" y="1937055"/>
            <a:ext cx="265267" cy="64756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tângulo 52"/>
          <p:cNvSpPr/>
          <p:nvPr/>
        </p:nvSpPr>
        <p:spPr>
          <a:xfrm rot="5400000">
            <a:off x="7645426" y="2492705"/>
            <a:ext cx="265267" cy="64756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tângulo 53"/>
          <p:cNvSpPr/>
          <p:nvPr/>
        </p:nvSpPr>
        <p:spPr>
          <a:xfrm rot="5400000">
            <a:off x="7643821" y="3012390"/>
            <a:ext cx="265267" cy="64756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Retângulo 56"/>
          <p:cNvSpPr/>
          <p:nvPr/>
        </p:nvSpPr>
        <p:spPr>
          <a:xfrm>
            <a:off x="4538617" y="681925"/>
            <a:ext cx="6475675" cy="4122224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3CFDBFDD-507E-F69B-18EA-0F1A8074C772}"/>
              </a:ext>
            </a:extLst>
          </p:cNvPr>
          <p:cNvSpPr txBox="1"/>
          <p:nvPr/>
        </p:nvSpPr>
        <p:spPr>
          <a:xfrm>
            <a:off x="4447688" y="4733445"/>
            <a:ext cx="654984" cy="374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600" b="1" dirty="0" smtClean="0">
                <a:latin typeface="+mj-lt"/>
                <a:ea typeface="+mj-ea"/>
                <a:cs typeface="+mj-cs"/>
              </a:rPr>
              <a:t>TU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3CFDBFDD-507E-F69B-18EA-0F1A8074C772}"/>
              </a:ext>
            </a:extLst>
          </p:cNvPr>
          <p:cNvSpPr txBox="1"/>
          <p:nvPr/>
        </p:nvSpPr>
        <p:spPr>
          <a:xfrm>
            <a:off x="4473578" y="5275273"/>
            <a:ext cx="610893" cy="3582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600" b="1" dirty="0" smtClean="0">
                <a:latin typeface="+mj-lt"/>
                <a:ea typeface="+mj-ea"/>
                <a:cs typeface="+mj-cs"/>
              </a:rPr>
              <a:t>TH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3CFDBFDD-507E-F69B-18EA-0F1A8074C772}"/>
              </a:ext>
            </a:extLst>
          </p:cNvPr>
          <p:cNvSpPr txBox="1"/>
          <p:nvPr/>
        </p:nvSpPr>
        <p:spPr>
          <a:xfrm>
            <a:off x="4447688" y="5814357"/>
            <a:ext cx="654984" cy="374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600" b="1" dirty="0" smtClean="0">
                <a:latin typeface="+mj-lt"/>
                <a:ea typeface="+mj-ea"/>
                <a:cs typeface="+mj-cs"/>
              </a:rPr>
              <a:t>PRD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3CFDBFDD-507E-F69B-18EA-0F1A8074C772}"/>
              </a:ext>
            </a:extLst>
          </p:cNvPr>
          <p:cNvSpPr txBox="1"/>
          <p:nvPr/>
        </p:nvSpPr>
        <p:spPr>
          <a:xfrm>
            <a:off x="4833131" y="27722"/>
            <a:ext cx="3418990" cy="492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 smtClean="0">
                <a:solidFill>
                  <a:srgbClr val="FF0000"/>
                </a:solidFill>
                <a:latin typeface="Bradesco Sans" panose="020B0604020202020204" charset="0"/>
                <a:ea typeface="+mj-ea"/>
                <a:cs typeface="+mj-cs"/>
              </a:rPr>
              <a:t>Gateway TI </a:t>
            </a:r>
            <a:r>
              <a:rPr lang="en-US" sz="3000" b="1" dirty="0" err="1" smtClean="0">
                <a:solidFill>
                  <a:srgbClr val="FF0000"/>
                </a:solidFill>
                <a:latin typeface="Bradesco Sans" panose="020B0604020202020204" charset="0"/>
                <a:ea typeface="+mj-ea"/>
                <a:cs typeface="+mj-cs"/>
              </a:rPr>
              <a:t>Hibrida</a:t>
            </a:r>
            <a:endParaRPr lang="en-US" sz="3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578807" y="4984992"/>
            <a:ext cx="32435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https://api.corp.tu.teste.intranet</a:t>
            </a:r>
          </a:p>
        </p:txBody>
      </p:sp>
      <p:sp>
        <p:nvSpPr>
          <p:cNvPr id="3" name="Retângulo 2"/>
          <p:cNvSpPr/>
          <p:nvPr/>
        </p:nvSpPr>
        <p:spPr>
          <a:xfrm>
            <a:off x="4490644" y="5553254"/>
            <a:ext cx="39501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https://api.canais.neth.bradesco.com.br</a:t>
            </a:r>
          </a:p>
        </p:txBody>
      </p:sp>
      <p:sp>
        <p:nvSpPr>
          <p:cNvPr id="6" name="Retângulo 5"/>
          <p:cNvSpPr/>
          <p:nvPr/>
        </p:nvSpPr>
        <p:spPr>
          <a:xfrm>
            <a:off x="4511685" y="6076099"/>
            <a:ext cx="38282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https://api.canais.net.bradesco.com.br</a:t>
            </a:r>
          </a:p>
        </p:txBody>
      </p:sp>
      <p:pic>
        <p:nvPicPr>
          <p:cNvPr id="50" name="Imagem 4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8127" y="4510449"/>
            <a:ext cx="898861" cy="291381"/>
          </a:xfrm>
          <a:prstGeom prst="rect">
            <a:avLst/>
          </a:prstGeom>
        </p:spPr>
      </p:pic>
      <p:sp>
        <p:nvSpPr>
          <p:cNvPr id="59" name="Retângulo 58"/>
          <p:cNvSpPr/>
          <p:nvPr/>
        </p:nvSpPr>
        <p:spPr>
          <a:xfrm>
            <a:off x="1324134" y="5709876"/>
            <a:ext cx="12790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000" dirty="0" smtClean="0"/>
              <a:t>Torre </a:t>
            </a:r>
            <a:r>
              <a:rPr lang="pt-BR" sz="2000" dirty="0" err="1" smtClean="0"/>
              <a:t>Corp</a:t>
            </a:r>
            <a:endParaRPr lang="pt-BR" sz="2000" dirty="0"/>
          </a:p>
        </p:txBody>
      </p:sp>
      <p:pic>
        <p:nvPicPr>
          <p:cNvPr id="63" name="Imagem 6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2506" y="2568374"/>
            <a:ext cx="301526" cy="274808"/>
          </a:xfrm>
          <a:prstGeom prst="rect">
            <a:avLst/>
          </a:prstGeom>
        </p:spPr>
      </p:pic>
      <p:sp>
        <p:nvSpPr>
          <p:cNvPr id="65" name="Elipse 64"/>
          <p:cNvSpPr/>
          <p:nvPr/>
        </p:nvSpPr>
        <p:spPr>
          <a:xfrm>
            <a:off x="11269267" y="31423"/>
            <a:ext cx="828202" cy="71485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6" name="Retângulo 65"/>
          <p:cNvSpPr/>
          <p:nvPr/>
        </p:nvSpPr>
        <p:spPr>
          <a:xfrm>
            <a:off x="11354558" y="202224"/>
            <a:ext cx="64010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900" dirty="0" smtClean="0">
                <a:ln w="0"/>
                <a:solidFill>
                  <a:srgbClr val="FF0000"/>
                </a:solidFill>
              </a:rPr>
              <a:t>Não Exaustivo</a:t>
            </a:r>
            <a:endParaRPr lang="pt-BR" sz="900" dirty="0">
              <a:ln w="0"/>
              <a:solidFill>
                <a:srgbClr val="FF0000"/>
              </a:solidFill>
            </a:endParaRP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3CFDBFDD-507E-F69B-18EA-0F1A8074C772}"/>
              </a:ext>
            </a:extLst>
          </p:cNvPr>
          <p:cNvSpPr txBox="1"/>
          <p:nvPr/>
        </p:nvSpPr>
        <p:spPr>
          <a:xfrm>
            <a:off x="2699401" y="2608077"/>
            <a:ext cx="614505" cy="152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" b="1" dirty="0" smtClean="0">
                <a:latin typeface="Bradesco Sans" panose="020B0604020202020204" charset="0"/>
                <a:ea typeface="+mj-ea"/>
                <a:cs typeface="+mj-cs"/>
              </a:rPr>
              <a:t>TCP:443</a:t>
            </a:r>
            <a:endParaRPr lang="en-US" sz="800" b="1" dirty="0">
              <a:latin typeface="Bradesco Sans" panose="020B0604020202020204" charset="0"/>
              <a:ea typeface="+mj-ea"/>
              <a:cs typeface="+mj-cs"/>
            </a:endParaRP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3CFDBFDD-507E-F69B-18EA-0F1A8074C772}"/>
              </a:ext>
            </a:extLst>
          </p:cNvPr>
          <p:cNvSpPr txBox="1"/>
          <p:nvPr/>
        </p:nvSpPr>
        <p:spPr>
          <a:xfrm>
            <a:off x="7746489" y="2619771"/>
            <a:ext cx="614505" cy="152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" b="1" dirty="0" smtClean="0">
                <a:latin typeface="Bradesco Sans" panose="020B0604020202020204" charset="0"/>
                <a:ea typeface="+mj-ea"/>
                <a:cs typeface="+mj-cs"/>
              </a:rPr>
              <a:t>TCP:443</a:t>
            </a:r>
            <a:endParaRPr lang="en-US" sz="800" b="1" dirty="0">
              <a:latin typeface="Bradesco Sans" panose="020B060402020202020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3113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CFDBFDD-507E-F69B-18EA-0F1A8074C772}"/>
              </a:ext>
            </a:extLst>
          </p:cNvPr>
          <p:cNvSpPr txBox="1"/>
          <p:nvPr/>
        </p:nvSpPr>
        <p:spPr>
          <a:xfrm>
            <a:off x="301319" y="4807261"/>
            <a:ext cx="3418990" cy="14121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dirty="0" smtClean="0">
                <a:latin typeface="Bradesco Sans" panose="020B0604020202020204" charset="0"/>
                <a:ea typeface="+mj-ea"/>
                <a:cs typeface="+mj-cs"/>
              </a:rPr>
              <a:t>URLs</a:t>
            </a:r>
            <a:endParaRPr lang="en-US" sz="3000" dirty="0">
              <a:latin typeface="Bradesco Sans" panose="020B0604020202020204" charset="0"/>
              <a:ea typeface="+mj-ea"/>
              <a:cs typeface="+mj-cs"/>
            </a:endParaRPr>
          </a:p>
        </p:txBody>
      </p:sp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3465" y="5513321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13" name="Retângulo 12"/>
          <p:cNvSpPr/>
          <p:nvPr/>
        </p:nvSpPr>
        <p:spPr>
          <a:xfrm>
            <a:off x="4243530" y="1581779"/>
            <a:ext cx="526943" cy="28988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 rot="16200000">
            <a:off x="3669136" y="2531465"/>
            <a:ext cx="167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REST-API</a:t>
            </a:r>
            <a:endParaRPr lang="pt-BR" dirty="0"/>
          </a:p>
        </p:txBody>
      </p:sp>
      <p:sp>
        <p:nvSpPr>
          <p:cNvPr id="19" name="Retângulo 18"/>
          <p:cNvSpPr/>
          <p:nvPr/>
        </p:nvSpPr>
        <p:spPr>
          <a:xfrm>
            <a:off x="4849278" y="1584262"/>
            <a:ext cx="526943" cy="28988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4126278" y="2843123"/>
            <a:ext cx="1952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ACESS-CONTROL</a:t>
            </a:r>
            <a:endParaRPr lang="pt-BR" dirty="0"/>
          </a:p>
        </p:txBody>
      </p:sp>
      <p:sp>
        <p:nvSpPr>
          <p:cNvPr id="20" name="Retângulo 19"/>
          <p:cNvSpPr/>
          <p:nvPr/>
        </p:nvSpPr>
        <p:spPr>
          <a:xfrm>
            <a:off x="5455026" y="1581779"/>
            <a:ext cx="526943" cy="29096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/>
          <p:cNvSpPr txBox="1"/>
          <p:nvPr/>
        </p:nvSpPr>
        <p:spPr>
          <a:xfrm rot="16200000">
            <a:off x="4334507" y="2903745"/>
            <a:ext cx="2685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COMUNICATION CHANEL</a:t>
            </a:r>
            <a:endParaRPr lang="pt-BR" dirty="0"/>
          </a:p>
        </p:txBody>
      </p:sp>
      <p:sp>
        <p:nvSpPr>
          <p:cNvPr id="22" name="CaixaDeTexto 21"/>
          <p:cNvSpPr txBox="1"/>
          <p:nvPr/>
        </p:nvSpPr>
        <p:spPr>
          <a:xfrm>
            <a:off x="4243530" y="866260"/>
            <a:ext cx="1675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/>
              <a:t>APIM</a:t>
            </a:r>
            <a:endParaRPr lang="pt-BR" sz="1400" dirty="0"/>
          </a:p>
        </p:txBody>
      </p:sp>
      <p:sp>
        <p:nvSpPr>
          <p:cNvPr id="21" name="AutoShape 2" descr="Axway API Gateway API Intelligenc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2" name="Retângulo 51"/>
          <p:cNvSpPr/>
          <p:nvPr/>
        </p:nvSpPr>
        <p:spPr>
          <a:xfrm rot="5400000">
            <a:off x="7643822" y="1937055"/>
            <a:ext cx="265267" cy="64756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tângulo 52"/>
          <p:cNvSpPr/>
          <p:nvPr/>
        </p:nvSpPr>
        <p:spPr>
          <a:xfrm rot="5400000">
            <a:off x="7645426" y="2492705"/>
            <a:ext cx="265267" cy="64756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tângulo 53"/>
          <p:cNvSpPr/>
          <p:nvPr/>
        </p:nvSpPr>
        <p:spPr>
          <a:xfrm rot="5400000">
            <a:off x="7643821" y="3012390"/>
            <a:ext cx="265267" cy="64756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3CFDBFDD-507E-F69B-18EA-0F1A8074C772}"/>
              </a:ext>
            </a:extLst>
          </p:cNvPr>
          <p:cNvSpPr txBox="1"/>
          <p:nvPr/>
        </p:nvSpPr>
        <p:spPr>
          <a:xfrm>
            <a:off x="4473578" y="5275273"/>
            <a:ext cx="610893" cy="3582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600" b="1" dirty="0" smtClean="0">
                <a:latin typeface="+mj-lt"/>
                <a:ea typeface="+mj-ea"/>
                <a:cs typeface="+mj-cs"/>
              </a:rPr>
              <a:t>HML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3CFDBFDD-507E-F69B-18EA-0F1A8074C772}"/>
              </a:ext>
            </a:extLst>
          </p:cNvPr>
          <p:cNvSpPr txBox="1"/>
          <p:nvPr/>
        </p:nvSpPr>
        <p:spPr>
          <a:xfrm>
            <a:off x="4447688" y="5814357"/>
            <a:ext cx="654984" cy="374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600" b="1" dirty="0" smtClean="0">
                <a:latin typeface="+mj-lt"/>
                <a:ea typeface="+mj-ea"/>
                <a:cs typeface="+mj-cs"/>
              </a:rPr>
              <a:t>PRD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3CFDBFDD-507E-F69B-18EA-0F1A8074C772}"/>
              </a:ext>
            </a:extLst>
          </p:cNvPr>
          <p:cNvSpPr txBox="1"/>
          <p:nvPr/>
        </p:nvSpPr>
        <p:spPr>
          <a:xfrm>
            <a:off x="4833131" y="27722"/>
            <a:ext cx="3418990" cy="492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 smtClean="0">
                <a:solidFill>
                  <a:schemeClr val="accent6">
                    <a:lumMod val="75000"/>
                  </a:schemeClr>
                </a:solidFill>
                <a:latin typeface="Bradesco Sans" panose="020B0604020202020204" charset="0"/>
                <a:ea typeface="+mj-ea"/>
                <a:cs typeface="+mj-cs"/>
              </a:rPr>
              <a:t>Gateway Torre PF</a:t>
            </a:r>
            <a:endParaRPr lang="en-US" sz="3000" b="1" dirty="0">
              <a:solidFill>
                <a:schemeClr val="accent6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6" name="Imagem 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341" y="1065963"/>
            <a:ext cx="1207352" cy="603676"/>
          </a:xfrm>
          <a:prstGeom prst="rect">
            <a:avLst/>
          </a:prstGeom>
        </p:spPr>
      </p:pic>
      <p:sp>
        <p:nvSpPr>
          <p:cNvPr id="47" name="Retângulo 46"/>
          <p:cNvSpPr/>
          <p:nvPr/>
        </p:nvSpPr>
        <p:spPr>
          <a:xfrm>
            <a:off x="554632" y="880480"/>
            <a:ext cx="2373849" cy="3691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CaixaDeTexto 48"/>
          <p:cNvSpPr txBox="1"/>
          <p:nvPr/>
        </p:nvSpPr>
        <p:spPr>
          <a:xfrm>
            <a:off x="874152" y="957969"/>
            <a:ext cx="1675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/>
              <a:t>ARO INTERNO</a:t>
            </a:r>
          </a:p>
        </p:txBody>
      </p:sp>
      <p:sp>
        <p:nvSpPr>
          <p:cNvPr id="50" name="Retângulo 49"/>
          <p:cNvSpPr/>
          <p:nvPr/>
        </p:nvSpPr>
        <p:spPr>
          <a:xfrm rot="5400000">
            <a:off x="1591439" y="3331719"/>
            <a:ext cx="450006" cy="18845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CaixaDeTexto 50"/>
          <p:cNvSpPr txBox="1"/>
          <p:nvPr/>
        </p:nvSpPr>
        <p:spPr>
          <a:xfrm>
            <a:off x="978577" y="4078605"/>
            <a:ext cx="1675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 smtClean="0"/>
              <a:t>NAMESPACE</a:t>
            </a:r>
          </a:p>
          <a:p>
            <a:pPr algn="ctr"/>
            <a:r>
              <a:rPr lang="pt-BR" sz="1000" dirty="0" err="1"/>
              <a:t>m</a:t>
            </a:r>
            <a:r>
              <a:rPr lang="pt-BR" sz="1000" dirty="0" err="1" smtClean="0"/>
              <a:t>d-credimob</a:t>
            </a:r>
            <a:endParaRPr lang="pt-BR" sz="1000" dirty="0" smtClean="0"/>
          </a:p>
        </p:txBody>
      </p:sp>
      <p:sp>
        <p:nvSpPr>
          <p:cNvPr id="55" name="Retângulo 54"/>
          <p:cNvSpPr/>
          <p:nvPr/>
        </p:nvSpPr>
        <p:spPr>
          <a:xfrm rot="5400000">
            <a:off x="688815" y="1854973"/>
            <a:ext cx="2255251" cy="18845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Retângulo 55"/>
          <p:cNvSpPr/>
          <p:nvPr/>
        </p:nvSpPr>
        <p:spPr>
          <a:xfrm rot="5400000">
            <a:off x="1633320" y="1777314"/>
            <a:ext cx="441661" cy="1232116"/>
          </a:xfrm>
          <a:prstGeom prst="rect">
            <a:avLst/>
          </a:prstGeom>
          <a:solidFill>
            <a:srgbClr val="C8D6EE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CaixaDeTexto 57"/>
          <p:cNvSpPr txBox="1"/>
          <p:nvPr/>
        </p:nvSpPr>
        <p:spPr>
          <a:xfrm>
            <a:off x="1239410" y="2238159"/>
            <a:ext cx="1217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/>
              <a:t>MICROSERVIÇO</a:t>
            </a:r>
            <a:endParaRPr lang="pt-BR" sz="1200" dirty="0"/>
          </a:p>
        </p:txBody>
      </p:sp>
      <p:sp>
        <p:nvSpPr>
          <p:cNvPr id="59" name="Retângulo 58"/>
          <p:cNvSpPr/>
          <p:nvPr/>
        </p:nvSpPr>
        <p:spPr>
          <a:xfrm rot="5400000">
            <a:off x="1633319" y="2288518"/>
            <a:ext cx="441661" cy="1232116"/>
          </a:xfrm>
          <a:prstGeom prst="rect">
            <a:avLst/>
          </a:prstGeom>
          <a:solidFill>
            <a:srgbClr val="C8D6EE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CaixaDeTexto 62"/>
          <p:cNvSpPr txBox="1"/>
          <p:nvPr/>
        </p:nvSpPr>
        <p:spPr>
          <a:xfrm>
            <a:off x="1222688" y="2758219"/>
            <a:ext cx="1217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/>
              <a:t>MICROSERVIÇO</a:t>
            </a:r>
            <a:endParaRPr lang="pt-BR" sz="1200" dirty="0"/>
          </a:p>
        </p:txBody>
      </p:sp>
      <p:sp>
        <p:nvSpPr>
          <p:cNvPr id="65" name="Retângulo 64"/>
          <p:cNvSpPr/>
          <p:nvPr/>
        </p:nvSpPr>
        <p:spPr>
          <a:xfrm rot="5400000">
            <a:off x="1633319" y="2830910"/>
            <a:ext cx="441661" cy="1232116"/>
          </a:xfrm>
          <a:prstGeom prst="rect">
            <a:avLst/>
          </a:prstGeom>
          <a:solidFill>
            <a:srgbClr val="C8D6EE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6" name="CaixaDeTexto 65"/>
          <p:cNvSpPr txBox="1"/>
          <p:nvPr/>
        </p:nvSpPr>
        <p:spPr>
          <a:xfrm>
            <a:off x="1222688" y="3300611"/>
            <a:ext cx="1217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/>
              <a:t>MICROSERVIÇO</a:t>
            </a:r>
            <a:endParaRPr lang="pt-BR" sz="1200" dirty="0"/>
          </a:p>
        </p:txBody>
      </p:sp>
      <p:pic>
        <p:nvPicPr>
          <p:cNvPr id="3076" name="Picture 4" descr="ExpressRoute | Microsoft Azure Mono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725" y="2457557"/>
            <a:ext cx="529907" cy="529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Retângulo 56"/>
          <p:cNvSpPr/>
          <p:nvPr/>
        </p:nvSpPr>
        <p:spPr>
          <a:xfrm>
            <a:off x="9078686" y="803575"/>
            <a:ext cx="2798864" cy="4003685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8" name="Imagem 6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8511" y="1062396"/>
            <a:ext cx="1207352" cy="603676"/>
          </a:xfrm>
          <a:prstGeom prst="rect">
            <a:avLst/>
          </a:prstGeom>
        </p:spPr>
      </p:pic>
      <p:sp>
        <p:nvSpPr>
          <p:cNvPr id="69" name="Retângulo 68"/>
          <p:cNvSpPr/>
          <p:nvPr/>
        </p:nvSpPr>
        <p:spPr>
          <a:xfrm>
            <a:off x="9274802" y="876913"/>
            <a:ext cx="2373849" cy="3691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CaixaDeTexto 69"/>
          <p:cNvSpPr txBox="1"/>
          <p:nvPr/>
        </p:nvSpPr>
        <p:spPr>
          <a:xfrm>
            <a:off x="9705832" y="920949"/>
            <a:ext cx="1675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/>
              <a:t>TORRE PF</a:t>
            </a:r>
          </a:p>
        </p:txBody>
      </p:sp>
      <p:sp>
        <p:nvSpPr>
          <p:cNvPr id="71" name="Retângulo 70"/>
          <p:cNvSpPr/>
          <p:nvPr/>
        </p:nvSpPr>
        <p:spPr>
          <a:xfrm rot="5400000">
            <a:off x="10311609" y="3328152"/>
            <a:ext cx="450006" cy="18845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" name="CaixaDeTexto 71"/>
          <p:cNvSpPr txBox="1"/>
          <p:nvPr/>
        </p:nvSpPr>
        <p:spPr>
          <a:xfrm>
            <a:off x="9666218" y="4087715"/>
            <a:ext cx="1675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 smtClean="0"/>
              <a:t>TI HIBRIDA</a:t>
            </a:r>
          </a:p>
          <a:p>
            <a:pPr algn="ctr"/>
            <a:r>
              <a:rPr lang="pt-BR" sz="1000" dirty="0" smtClean="0"/>
              <a:t>TORRE PF</a:t>
            </a:r>
          </a:p>
        </p:txBody>
      </p:sp>
      <p:sp>
        <p:nvSpPr>
          <p:cNvPr id="73" name="Retângulo 72"/>
          <p:cNvSpPr/>
          <p:nvPr/>
        </p:nvSpPr>
        <p:spPr>
          <a:xfrm rot="5400000">
            <a:off x="9408985" y="1851406"/>
            <a:ext cx="2255251" cy="18845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Retângulo 73"/>
          <p:cNvSpPr/>
          <p:nvPr/>
        </p:nvSpPr>
        <p:spPr>
          <a:xfrm rot="5400000">
            <a:off x="10353490" y="1773747"/>
            <a:ext cx="441661" cy="1232116"/>
          </a:xfrm>
          <a:prstGeom prst="rect">
            <a:avLst/>
          </a:prstGeom>
          <a:solidFill>
            <a:srgbClr val="C8D6EE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CaixaDeTexto 74"/>
          <p:cNvSpPr txBox="1"/>
          <p:nvPr/>
        </p:nvSpPr>
        <p:spPr>
          <a:xfrm>
            <a:off x="9959580" y="2234592"/>
            <a:ext cx="1217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/>
              <a:t>MICROSERVIÇO</a:t>
            </a:r>
            <a:endParaRPr lang="pt-BR" sz="1200" dirty="0"/>
          </a:p>
        </p:txBody>
      </p:sp>
      <p:sp>
        <p:nvSpPr>
          <p:cNvPr id="76" name="Retângulo 75"/>
          <p:cNvSpPr/>
          <p:nvPr/>
        </p:nvSpPr>
        <p:spPr>
          <a:xfrm rot="5400000">
            <a:off x="10353489" y="2284951"/>
            <a:ext cx="441661" cy="1232116"/>
          </a:xfrm>
          <a:prstGeom prst="rect">
            <a:avLst/>
          </a:prstGeom>
          <a:solidFill>
            <a:srgbClr val="C8D6EE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CaixaDeTexto 76"/>
          <p:cNvSpPr txBox="1"/>
          <p:nvPr/>
        </p:nvSpPr>
        <p:spPr>
          <a:xfrm>
            <a:off x="9942858" y="2754652"/>
            <a:ext cx="1217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/>
              <a:t>MICROSERVIÇO</a:t>
            </a:r>
            <a:endParaRPr lang="pt-BR" sz="1200" dirty="0"/>
          </a:p>
        </p:txBody>
      </p:sp>
      <p:sp>
        <p:nvSpPr>
          <p:cNvPr id="78" name="Retângulo 77"/>
          <p:cNvSpPr/>
          <p:nvPr/>
        </p:nvSpPr>
        <p:spPr>
          <a:xfrm rot="5400000">
            <a:off x="10353489" y="2827343"/>
            <a:ext cx="441661" cy="1232116"/>
          </a:xfrm>
          <a:prstGeom prst="rect">
            <a:avLst/>
          </a:prstGeom>
          <a:solidFill>
            <a:srgbClr val="C8D6EE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CaixaDeTexto 78"/>
          <p:cNvSpPr txBox="1"/>
          <p:nvPr/>
        </p:nvSpPr>
        <p:spPr>
          <a:xfrm>
            <a:off x="9942858" y="3297044"/>
            <a:ext cx="1217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/>
              <a:t>MICROSERVIÇO</a:t>
            </a:r>
            <a:endParaRPr lang="pt-BR" sz="1200" dirty="0"/>
          </a:p>
        </p:txBody>
      </p:sp>
      <p:sp>
        <p:nvSpPr>
          <p:cNvPr id="80" name="Retângulo 79"/>
          <p:cNvSpPr/>
          <p:nvPr/>
        </p:nvSpPr>
        <p:spPr>
          <a:xfrm>
            <a:off x="453721" y="803576"/>
            <a:ext cx="6382508" cy="3991848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5906" y="4514756"/>
            <a:ext cx="898861" cy="291381"/>
          </a:xfrm>
          <a:prstGeom prst="rect">
            <a:avLst/>
          </a:prstGeom>
        </p:spPr>
      </p:pic>
      <p:cxnSp>
        <p:nvCxnSpPr>
          <p:cNvPr id="16" name="Conector de Seta Reta 15"/>
          <p:cNvCxnSpPr>
            <a:stCxn id="47" idx="3"/>
            <a:endCxn id="4" idx="1"/>
          </p:cNvCxnSpPr>
          <p:nvPr/>
        </p:nvCxnSpPr>
        <p:spPr>
          <a:xfrm flipV="1">
            <a:off x="2928481" y="2716863"/>
            <a:ext cx="987266" cy="9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>
            <a:stCxn id="4" idx="3"/>
            <a:endCxn id="3076" idx="1"/>
          </p:cNvCxnSpPr>
          <p:nvPr/>
        </p:nvCxnSpPr>
        <p:spPr>
          <a:xfrm>
            <a:off x="6289596" y="2716863"/>
            <a:ext cx="396129" cy="5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>
            <a:stCxn id="3076" idx="3"/>
          </p:cNvCxnSpPr>
          <p:nvPr/>
        </p:nvCxnSpPr>
        <p:spPr>
          <a:xfrm flipV="1">
            <a:off x="7215632" y="2716131"/>
            <a:ext cx="1863054" cy="6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tângulo 30"/>
          <p:cNvSpPr/>
          <p:nvPr/>
        </p:nvSpPr>
        <p:spPr>
          <a:xfrm>
            <a:off x="4494273" y="5002058"/>
            <a:ext cx="46839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https://apimazudvbragwocppf009.azure-api.net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3CFDBFDD-507E-F69B-18EA-0F1A8074C772}"/>
              </a:ext>
            </a:extLst>
          </p:cNvPr>
          <p:cNvSpPr txBox="1"/>
          <p:nvPr/>
        </p:nvSpPr>
        <p:spPr>
          <a:xfrm>
            <a:off x="4447688" y="4733445"/>
            <a:ext cx="654984" cy="374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600" b="1" dirty="0" smtClean="0">
                <a:latin typeface="+mj-lt"/>
                <a:ea typeface="+mj-ea"/>
                <a:cs typeface="+mj-cs"/>
              </a:rPr>
              <a:t>DEV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33" name="Retângulo 32"/>
          <p:cNvSpPr/>
          <p:nvPr/>
        </p:nvSpPr>
        <p:spPr>
          <a:xfrm>
            <a:off x="4507001" y="5557220"/>
            <a:ext cx="4701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https://apimazuhobragwocppf001.azure-api.net</a:t>
            </a:r>
          </a:p>
        </p:txBody>
      </p:sp>
      <p:sp>
        <p:nvSpPr>
          <p:cNvPr id="38" name="Retângulo 37"/>
          <p:cNvSpPr/>
          <p:nvPr/>
        </p:nvSpPr>
        <p:spPr>
          <a:xfrm>
            <a:off x="4447688" y="6059662"/>
            <a:ext cx="6836230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700" dirty="0"/>
              <a:t>https://gateway.apimazuprbragwocppf001.apimcorp.bradesco.com.br </a:t>
            </a:r>
          </a:p>
        </p:txBody>
      </p:sp>
      <p:sp>
        <p:nvSpPr>
          <p:cNvPr id="84" name="Retângulo 83"/>
          <p:cNvSpPr/>
          <p:nvPr/>
        </p:nvSpPr>
        <p:spPr>
          <a:xfrm>
            <a:off x="1144342" y="5709876"/>
            <a:ext cx="16385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000" dirty="0" smtClean="0"/>
              <a:t>TI Hibrida - PF</a:t>
            </a:r>
            <a:endParaRPr lang="pt-BR" sz="2000" dirty="0"/>
          </a:p>
        </p:txBody>
      </p:sp>
      <p:pic>
        <p:nvPicPr>
          <p:cNvPr id="85" name="Imagem 8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2569" y="2610045"/>
            <a:ext cx="301526" cy="274808"/>
          </a:xfrm>
          <a:prstGeom prst="rect">
            <a:avLst/>
          </a:prstGeom>
        </p:spPr>
      </p:pic>
      <p:sp>
        <p:nvSpPr>
          <p:cNvPr id="86" name="Elipse 85"/>
          <p:cNvSpPr/>
          <p:nvPr/>
        </p:nvSpPr>
        <p:spPr>
          <a:xfrm>
            <a:off x="11269267" y="31423"/>
            <a:ext cx="828202" cy="71485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7" name="Retângulo 86"/>
          <p:cNvSpPr/>
          <p:nvPr/>
        </p:nvSpPr>
        <p:spPr>
          <a:xfrm>
            <a:off x="11354558" y="202224"/>
            <a:ext cx="64010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900" dirty="0" smtClean="0">
                <a:ln w="0"/>
                <a:solidFill>
                  <a:srgbClr val="FF0000"/>
                </a:solidFill>
              </a:rPr>
              <a:t>Não Exaustivo</a:t>
            </a:r>
            <a:endParaRPr lang="pt-BR" sz="900" dirty="0">
              <a:ln w="0"/>
              <a:solidFill>
                <a:srgbClr val="FF0000"/>
              </a:solidFill>
            </a:endParaRPr>
          </a:p>
        </p:txBody>
      </p:sp>
      <p:pic>
        <p:nvPicPr>
          <p:cNvPr id="88" name="Picture 2" descr="API Management | Microsoft Azure Color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535" y="1106745"/>
            <a:ext cx="563878" cy="451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" name="Picture 8" descr="Download Microsoft Azure (Windows Azure) Logo in SVG Vector ...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23" y="855843"/>
            <a:ext cx="942435" cy="627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3915747" y="876269"/>
            <a:ext cx="2373849" cy="3681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3CFDBFDD-507E-F69B-18EA-0F1A8074C772}"/>
              </a:ext>
            </a:extLst>
          </p:cNvPr>
          <p:cNvSpPr txBox="1"/>
          <p:nvPr/>
        </p:nvSpPr>
        <p:spPr>
          <a:xfrm>
            <a:off x="7673268" y="2656136"/>
            <a:ext cx="614505" cy="152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" b="1" dirty="0" smtClean="0">
                <a:latin typeface="Bradesco Sans" panose="020B0604020202020204" charset="0"/>
                <a:ea typeface="+mj-ea"/>
                <a:cs typeface="+mj-cs"/>
              </a:rPr>
              <a:t>TCP:443</a:t>
            </a:r>
            <a:endParaRPr lang="en-US" sz="800" b="1" dirty="0">
              <a:latin typeface="Bradesco Sans" panose="020B060402020202020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59787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CFDBFDD-507E-F69B-18EA-0F1A8074C772}"/>
              </a:ext>
            </a:extLst>
          </p:cNvPr>
          <p:cNvSpPr txBox="1"/>
          <p:nvPr/>
        </p:nvSpPr>
        <p:spPr>
          <a:xfrm>
            <a:off x="301319" y="4807261"/>
            <a:ext cx="3418990" cy="14121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dirty="0" smtClean="0">
                <a:latin typeface="Bradesco Sans" panose="020B0604020202020204" charset="0"/>
                <a:ea typeface="+mj-ea"/>
                <a:cs typeface="+mj-cs"/>
              </a:rPr>
              <a:t>URLs</a:t>
            </a:r>
            <a:endParaRPr lang="en-US" sz="3000" dirty="0">
              <a:latin typeface="Bradesco Sans" panose="020B0604020202020204" charset="0"/>
              <a:ea typeface="+mj-ea"/>
              <a:cs typeface="+mj-cs"/>
            </a:endParaRPr>
          </a:p>
        </p:txBody>
      </p:sp>
      <p:sp>
        <p:nvSpPr>
          <p:cNvPr id="14" name="Rectangle 2" descr="Retângulo 2">
            <a:extLst>
              <a:ext uri="{FF2B5EF4-FFF2-40B4-BE49-F238E27FC236}">
                <a16:creationId xmlns:a16="http://schemas.microsoft.com/office/drawing/2014/main" id="{0742000A-0C53-D93B-DC19-0FCB692C6106}"/>
              </a:ext>
            </a:extLst>
          </p:cNvPr>
          <p:cNvSpPr>
            <a:spLocks/>
          </p:cNvSpPr>
          <p:nvPr/>
        </p:nvSpPr>
        <p:spPr bwMode="auto">
          <a:xfrm>
            <a:off x="0" y="6449960"/>
            <a:ext cx="12192000" cy="408039"/>
          </a:xfrm>
          <a:prstGeom prst="rect">
            <a:avLst/>
          </a:prstGeom>
          <a:gradFill rotWithShape="0">
            <a:gsLst>
              <a:gs pos="0">
                <a:srgbClr val="F36279"/>
              </a:gs>
              <a:gs pos="12598">
                <a:srgbClr val="E03654"/>
              </a:gs>
              <a:gs pos="52124">
                <a:srgbClr val="CC092F"/>
              </a:gs>
              <a:gs pos="9034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E8836-67C6-A10B-88D2-C6256C19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3465" y="5513321"/>
            <a:ext cx="884004" cy="876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C6489-6419-5FFB-7A74-9FBC1430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346" y="6449960"/>
            <a:ext cx="1071204" cy="348074"/>
          </a:xfrm>
          <a:prstGeom prst="rect">
            <a:avLst/>
          </a:prstGeom>
        </p:spPr>
      </p:pic>
      <p:sp>
        <p:nvSpPr>
          <p:cNvPr id="13" name="Retângulo 12"/>
          <p:cNvSpPr/>
          <p:nvPr/>
        </p:nvSpPr>
        <p:spPr>
          <a:xfrm>
            <a:off x="4243530" y="1581779"/>
            <a:ext cx="526943" cy="28988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 rot="16200000">
            <a:off x="3669136" y="2531465"/>
            <a:ext cx="167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REST-API</a:t>
            </a:r>
            <a:endParaRPr lang="pt-BR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4136356" y="2649228"/>
            <a:ext cx="1952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ACESS-CONTROL</a:t>
            </a:r>
            <a:endParaRPr lang="pt-BR" dirty="0"/>
          </a:p>
        </p:txBody>
      </p:sp>
      <p:sp>
        <p:nvSpPr>
          <p:cNvPr id="20" name="Retângulo 19"/>
          <p:cNvSpPr/>
          <p:nvPr/>
        </p:nvSpPr>
        <p:spPr>
          <a:xfrm>
            <a:off x="5455026" y="1581779"/>
            <a:ext cx="526943" cy="29096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/>
          <p:cNvSpPr txBox="1"/>
          <p:nvPr/>
        </p:nvSpPr>
        <p:spPr>
          <a:xfrm rot="16200000">
            <a:off x="4334507" y="2903745"/>
            <a:ext cx="2685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COMUNICATION CHANEL</a:t>
            </a:r>
            <a:endParaRPr lang="pt-BR" dirty="0"/>
          </a:p>
        </p:txBody>
      </p:sp>
      <p:sp>
        <p:nvSpPr>
          <p:cNvPr id="22" name="CaixaDeTexto 21"/>
          <p:cNvSpPr txBox="1"/>
          <p:nvPr/>
        </p:nvSpPr>
        <p:spPr>
          <a:xfrm>
            <a:off x="4243530" y="866260"/>
            <a:ext cx="1675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/>
              <a:t>APIM</a:t>
            </a:r>
            <a:endParaRPr lang="pt-BR" sz="1400" dirty="0"/>
          </a:p>
        </p:txBody>
      </p:sp>
      <p:sp>
        <p:nvSpPr>
          <p:cNvPr id="21" name="AutoShape 2" descr="Axway API Gateway API Intelligenc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2" name="Retângulo 51"/>
          <p:cNvSpPr/>
          <p:nvPr/>
        </p:nvSpPr>
        <p:spPr>
          <a:xfrm rot="5400000">
            <a:off x="7643822" y="1937055"/>
            <a:ext cx="265267" cy="64756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tângulo 52"/>
          <p:cNvSpPr/>
          <p:nvPr/>
        </p:nvSpPr>
        <p:spPr>
          <a:xfrm rot="5400000">
            <a:off x="7645426" y="2492705"/>
            <a:ext cx="265267" cy="64756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tângulo 53"/>
          <p:cNvSpPr/>
          <p:nvPr/>
        </p:nvSpPr>
        <p:spPr>
          <a:xfrm rot="5400000">
            <a:off x="7643821" y="3012390"/>
            <a:ext cx="265267" cy="64756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3CFDBFDD-507E-F69B-18EA-0F1A8074C772}"/>
              </a:ext>
            </a:extLst>
          </p:cNvPr>
          <p:cNvSpPr txBox="1"/>
          <p:nvPr/>
        </p:nvSpPr>
        <p:spPr>
          <a:xfrm>
            <a:off x="4473578" y="5275273"/>
            <a:ext cx="610893" cy="3582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600" b="1" dirty="0" smtClean="0">
                <a:latin typeface="+mj-lt"/>
                <a:ea typeface="+mj-ea"/>
                <a:cs typeface="+mj-cs"/>
              </a:rPr>
              <a:t>HML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3CFDBFDD-507E-F69B-18EA-0F1A8074C772}"/>
              </a:ext>
            </a:extLst>
          </p:cNvPr>
          <p:cNvSpPr txBox="1"/>
          <p:nvPr/>
        </p:nvSpPr>
        <p:spPr>
          <a:xfrm>
            <a:off x="4447688" y="5814357"/>
            <a:ext cx="654984" cy="374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600" b="1" dirty="0" smtClean="0">
                <a:latin typeface="+mj-lt"/>
                <a:ea typeface="+mj-ea"/>
                <a:cs typeface="+mj-cs"/>
              </a:rPr>
              <a:t>PRD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3CFDBFDD-507E-F69B-18EA-0F1A8074C772}"/>
              </a:ext>
            </a:extLst>
          </p:cNvPr>
          <p:cNvSpPr txBox="1"/>
          <p:nvPr/>
        </p:nvSpPr>
        <p:spPr>
          <a:xfrm>
            <a:off x="4833131" y="27722"/>
            <a:ext cx="3418990" cy="492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 smtClean="0">
                <a:solidFill>
                  <a:srgbClr val="7030A0"/>
                </a:solidFill>
                <a:latin typeface="Bradesco Sans" panose="020B0604020202020204" charset="0"/>
                <a:ea typeface="+mj-ea"/>
                <a:cs typeface="+mj-cs"/>
              </a:rPr>
              <a:t>Gateway Torre PJ</a:t>
            </a:r>
            <a:endParaRPr lang="en-US" sz="3000" b="1" dirty="0">
              <a:solidFill>
                <a:srgbClr val="7030A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6" name="Imagem 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341" y="1065963"/>
            <a:ext cx="1207352" cy="603676"/>
          </a:xfrm>
          <a:prstGeom prst="rect">
            <a:avLst/>
          </a:prstGeom>
        </p:spPr>
      </p:pic>
      <p:sp>
        <p:nvSpPr>
          <p:cNvPr id="47" name="Retângulo 46"/>
          <p:cNvSpPr/>
          <p:nvPr/>
        </p:nvSpPr>
        <p:spPr>
          <a:xfrm>
            <a:off x="554632" y="880480"/>
            <a:ext cx="2373849" cy="3691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CaixaDeTexto 48"/>
          <p:cNvSpPr txBox="1"/>
          <p:nvPr/>
        </p:nvSpPr>
        <p:spPr>
          <a:xfrm>
            <a:off x="874152" y="957969"/>
            <a:ext cx="1675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/>
              <a:t>ARO INTERNO</a:t>
            </a:r>
          </a:p>
        </p:txBody>
      </p:sp>
      <p:sp>
        <p:nvSpPr>
          <p:cNvPr id="50" name="Retângulo 49"/>
          <p:cNvSpPr/>
          <p:nvPr/>
        </p:nvSpPr>
        <p:spPr>
          <a:xfrm rot="5400000">
            <a:off x="1591439" y="3331719"/>
            <a:ext cx="450006" cy="18845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CaixaDeTexto 50"/>
          <p:cNvSpPr txBox="1"/>
          <p:nvPr/>
        </p:nvSpPr>
        <p:spPr>
          <a:xfrm>
            <a:off x="978577" y="4078605"/>
            <a:ext cx="1675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 smtClean="0"/>
              <a:t>NAMESPACE</a:t>
            </a:r>
          </a:p>
          <a:p>
            <a:pPr algn="ctr"/>
            <a:r>
              <a:rPr lang="pt-BR" sz="1000" dirty="0" err="1"/>
              <a:t>m</a:t>
            </a:r>
            <a:r>
              <a:rPr lang="pt-BR" sz="1000" dirty="0" err="1" smtClean="0"/>
              <a:t>d-credimob</a:t>
            </a:r>
            <a:endParaRPr lang="pt-BR" sz="1000" dirty="0" smtClean="0"/>
          </a:p>
        </p:txBody>
      </p:sp>
      <p:sp>
        <p:nvSpPr>
          <p:cNvPr id="55" name="Retângulo 54"/>
          <p:cNvSpPr/>
          <p:nvPr/>
        </p:nvSpPr>
        <p:spPr>
          <a:xfrm rot="5400000">
            <a:off x="688815" y="1854973"/>
            <a:ext cx="2255251" cy="18845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Retângulo 55"/>
          <p:cNvSpPr/>
          <p:nvPr/>
        </p:nvSpPr>
        <p:spPr>
          <a:xfrm rot="5400000">
            <a:off x="1633320" y="1777314"/>
            <a:ext cx="441661" cy="1232116"/>
          </a:xfrm>
          <a:prstGeom prst="rect">
            <a:avLst/>
          </a:prstGeom>
          <a:solidFill>
            <a:srgbClr val="C8D6EE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CaixaDeTexto 57"/>
          <p:cNvSpPr txBox="1"/>
          <p:nvPr/>
        </p:nvSpPr>
        <p:spPr>
          <a:xfrm>
            <a:off x="1239410" y="2238159"/>
            <a:ext cx="1217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/>
              <a:t>MICROSERVIÇO</a:t>
            </a:r>
            <a:endParaRPr lang="pt-BR" sz="1200" dirty="0"/>
          </a:p>
        </p:txBody>
      </p:sp>
      <p:sp>
        <p:nvSpPr>
          <p:cNvPr id="59" name="Retângulo 58"/>
          <p:cNvSpPr/>
          <p:nvPr/>
        </p:nvSpPr>
        <p:spPr>
          <a:xfrm rot="5400000">
            <a:off x="1633319" y="2288518"/>
            <a:ext cx="441661" cy="1232116"/>
          </a:xfrm>
          <a:prstGeom prst="rect">
            <a:avLst/>
          </a:prstGeom>
          <a:solidFill>
            <a:srgbClr val="C8D6EE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CaixaDeTexto 62"/>
          <p:cNvSpPr txBox="1"/>
          <p:nvPr/>
        </p:nvSpPr>
        <p:spPr>
          <a:xfrm>
            <a:off x="1222688" y="2758219"/>
            <a:ext cx="1217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/>
              <a:t>MICROSERVIÇO</a:t>
            </a:r>
            <a:endParaRPr lang="pt-BR" sz="1200" dirty="0"/>
          </a:p>
        </p:txBody>
      </p:sp>
      <p:sp>
        <p:nvSpPr>
          <p:cNvPr id="65" name="Retângulo 64"/>
          <p:cNvSpPr/>
          <p:nvPr/>
        </p:nvSpPr>
        <p:spPr>
          <a:xfrm rot="5400000">
            <a:off x="1633319" y="2830910"/>
            <a:ext cx="441661" cy="1232116"/>
          </a:xfrm>
          <a:prstGeom prst="rect">
            <a:avLst/>
          </a:prstGeom>
          <a:solidFill>
            <a:srgbClr val="C8D6EE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6" name="CaixaDeTexto 65"/>
          <p:cNvSpPr txBox="1"/>
          <p:nvPr/>
        </p:nvSpPr>
        <p:spPr>
          <a:xfrm>
            <a:off x="1222688" y="3300611"/>
            <a:ext cx="1217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/>
              <a:t>MICROSERVIÇO</a:t>
            </a:r>
            <a:endParaRPr lang="pt-BR" sz="1200" dirty="0"/>
          </a:p>
        </p:txBody>
      </p:sp>
      <p:pic>
        <p:nvPicPr>
          <p:cNvPr id="3074" name="Picture 2" descr="API Management | Microsoft Azure Colo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535" y="1106745"/>
            <a:ext cx="563878" cy="451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8" descr="Download Microsoft Azure (Windows Azure) Logo in SVG Vector ...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23" y="855843"/>
            <a:ext cx="942435" cy="627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ExpressRoute | Microsoft Azure Mono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725" y="2457557"/>
            <a:ext cx="529907" cy="529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Retângulo 56"/>
          <p:cNvSpPr/>
          <p:nvPr/>
        </p:nvSpPr>
        <p:spPr>
          <a:xfrm>
            <a:off x="9078686" y="803575"/>
            <a:ext cx="2798864" cy="4003685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8" name="Imagem 6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8511" y="1062396"/>
            <a:ext cx="1207352" cy="603676"/>
          </a:xfrm>
          <a:prstGeom prst="rect">
            <a:avLst/>
          </a:prstGeom>
        </p:spPr>
      </p:pic>
      <p:sp>
        <p:nvSpPr>
          <p:cNvPr id="69" name="Retângulo 68"/>
          <p:cNvSpPr/>
          <p:nvPr/>
        </p:nvSpPr>
        <p:spPr>
          <a:xfrm>
            <a:off x="9274802" y="876913"/>
            <a:ext cx="2373849" cy="3691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CaixaDeTexto 69"/>
          <p:cNvSpPr txBox="1"/>
          <p:nvPr/>
        </p:nvSpPr>
        <p:spPr>
          <a:xfrm>
            <a:off x="9705832" y="920949"/>
            <a:ext cx="1675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smtClean="0"/>
              <a:t>TORRE PJ</a:t>
            </a:r>
          </a:p>
        </p:txBody>
      </p:sp>
      <p:sp>
        <p:nvSpPr>
          <p:cNvPr id="71" name="Retângulo 70"/>
          <p:cNvSpPr/>
          <p:nvPr/>
        </p:nvSpPr>
        <p:spPr>
          <a:xfrm rot="5400000">
            <a:off x="10311609" y="3328152"/>
            <a:ext cx="450006" cy="18845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" name="CaixaDeTexto 71"/>
          <p:cNvSpPr txBox="1"/>
          <p:nvPr/>
        </p:nvSpPr>
        <p:spPr>
          <a:xfrm>
            <a:off x="9666218" y="4087715"/>
            <a:ext cx="1675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 smtClean="0"/>
              <a:t>TI HIBRIDA</a:t>
            </a:r>
          </a:p>
          <a:p>
            <a:pPr algn="ctr"/>
            <a:r>
              <a:rPr lang="pt-BR" sz="1000" dirty="0" smtClean="0"/>
              <a:t>TORRE PJ</a:t>
            </a:r>
          </a:p>
        </p:txBody>
      </p:sp>
      <p:sp>
        <p:nvSpPr>
          <p:cNvPr id="73" name="Retângulo 72"/>
          <p:cNvSpPr/>
          <p:nvPr/>
        </p:nvSpPr>
        <p:spPr>
          <a:xfrm rot="5400000">
            <a:off x="9408985" y="1851406"/>
            <a:ext cx="2255251" cy="18845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Retângulo 73"/>
          <p:cNvSpPr/>
          <p:nvPr/>
        </p:nvSpPr>
        <p:spPr>
          <a:xfrm rot="5400000">
            <a:off x="10353490" y="1773747"/>
            <a:ext cx="441661" cy="1232116"/>
          </a:xfrm>
          <a:prstGeom prst="rect">
            <a:avLst/>
          </a:prstGeom>
          <a:solidFill>
            <a:srgbClr val="C8D6EE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CaixaDeTexto 74"/>
          <p:cNvSpPr txBox="1"/>
          <p:nvPr/>
        </p:nvSpPr>
        <p:spPr>
          <a:xfrm>
            <a:off x="9959580" y="2234592"/>
            <a:ext cx="1217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/>
              <a:t>MICROSERVIÇO</a:t>
            </a:r>
            <a:endParaRPr lang="pt-BR" sz="1200" dirty="0"/>
          </a:p>
        </p:txBody>
      </p:sp>
      <p:sp>
        <p:nvSpPr>
          <p:cNvPr id="76" name="Retângulo 75"/>
          <p:cNvSpPr/>
          <p:nvPr/>
        </p:nvSpPr>
        <p:spPr>
          <a:xfrm rot="5400000">
            <a:off x="10353489" y="2284951"/>
            <a:ext cx="441661" cy="1232116"/>
          </a:xfrm>
          <a:prstGeom prst="rect">
            <a:avLst/>
          </a:prstGeom>
          <a:solidFill>
            <a:srgbClr val="C8D6EE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CaixaDeTexto 76"/>
          <p:cNvSpPr txBox="1"/>
          <p:nvPr/>
        </p:nvSpPr>
        <p:spPr>
          <a:xfrm>
            <a:off x="9942858" y="2754652"/>
            <a:ext cx="1217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/>
              <a:t>MICROSERVIÇO</a:t>
            </a:r>
            <a:endParaRPr lang="pt-BR" sz="1200" dirty="0"/>
          </a:p>
        </p:txBody>
      </p:sp>
      <p:sp>
        <p:nvSpPr>
          <p:cNvPr id="78" name="Retângulo 77"/>
          <p:cNvSpPr/>
          <p:nvPr/>
        </p:nvSpPr>
        <p:spPr>
          <a:xfrm rot="5400000">
            <a:off x="10353489" y="2827343"/>
            <a:ext cx="441661" cy="1232116"/>
          </a:xfrm>
          <a:prstGeom prst="rect">
            <a:avLst/>
          </a:prstGeom>
          <a:solidFill>
            <a:srgbClr val="C8D6EE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CaixaDeTexto 78"/>
          <p:cNvSpPr txBox="1"/>
          <p:nvPr/>
        </p:nvSpPr>
        <p:spPr>
          <a:xfrm>
            <a:off x="9942858" y="3297044"/>
            <a:ext cx="1217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 smtClean="0"/>
              <a:t>MICROSERVIÇO</a:t>
            </a:r>
            <a:endParaRPr lang="pt-BR" sz="1200" dirty="0"/>
          </a:p>
        </p:txBody>
      </p:sp>
      <p:sp>
        <p:nvSpPr>
          <p:cNvPr id="80" name="Retângulo 79"/>
          <p:cNvSpPr/>
          <p:nvPr/>
        </p:nvSpPr>
        <p:spPr>
          <a:xfrm>
            <a:off x="453721" y="803576"/>
            <a:ext cx="6382508" cy="3991848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45906" y="4514756"/>
            <a:ext cx="898861" cy="291381"/>
          </a:xfrm>
          <a:prstGeom prst="rect">
            <a:avLst/>
          </a:prstGeom>
        </p:spPr>
      </p:pic>
      <p:cxnSp>
        <p:nvCxnSpPr>
          <p:cNvPr id="16" name="Conector de Seta Reta 15"/>
          <p:cNvCxnSpPr>
            <a:stCxn id="47" idx="3"/>
            <a:endCxn id="4" idx="1"/>
          </p:cNvCxnSpPr>
          <p:nvPr/>
        </p:nvCxnSpPr>
        <p:spPr>
          <a:xfrm flipV="1">
            <a:off x="2928481" y="2716863"/>
            <a:ext cx="987266" cy="9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>
            <a:stCxn id="4" idx="3"/>
            <a:endCxn id="3076" idx="1"/>
          </p:cNvCxnSpPr>
          <p:nvPr/>
        </p:nvCxnSpPr>
        <p:spPr>
          <a:xfrm>
            <a:off x="6289596" y="2716863"/>
            <a:ext cx="396129" cy="5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>
            <a:stCxn id="3076" idx="3"/>
          </p:cNvCxnSpPr>
          <p:nvPr/>
        </p:nvCxnSpPr>
        <p:spPr>
          <a:xfrm flipV="1">
            <a:off x="7215632" y="2716131"/>
            <a:ext cx="1863054" cy="6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tângulo 30"/>
          <p:cNvSpPr/>
          <p:nvPr/>
        </p:nvSpPr>
        <p:spPr>
          <a:xfrm>
            <a:off x="4494273" y="5002058"/>
            <a:ext cx="46839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https://apimazudvbragwocppf009.azure-api.net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3CFDBFDD-507E-F69B-18EA-0F1A8074C772}"/>
              </a:ext>
            </a:extLst>
          </p:cNvPr>
          <p:cNvSpPr txBox="1"/>
          <p:nvPr/>
        </p:nvSpPr>
        <p:spPr>
          <a:xfrm>
            <a:off x="4447688" y="4733445"/>
            <a:ext cx="654984" cy="374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600" b="1" dirty="0" smtClean="0">
                <a:latin typeface="+mj-lt"/>
                <a:ea typeface="+mj-ea"/>
                <a:cs typeface="+mj-cs"/>
              </a:rPr>
              <a:t>DEV</a:t>
            </a:r>
            <a:endParaRPr lang="en-US" sz="1600" b="1" dirty="0">
              <a:latin typeface="+mj-lt"/>
              <a:ea typeface="+mj-ea"/>
              <a:cs typeface="+mj-cs"/>
            </a:endParaRPr>
          </a:p>
        </p:txBody>
      </p:sp>
      <p:sp>
        <p:nvSpPr>
          <p:cNvPr id="33" name="Retângulo 32"/>
          <p:cNvSpPr/>
          <p:nvPr/>
        </p:nvSpPr>
        <p:spPr>
          <a:xfrm>
            <a:off x="4507001" y="5557220"/>
            <a:ext cx="4701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https://apimazuhobragwocppf001.azure-api.net</a:t>
            </a:r>
          </a:p>
        </p:txBody>
      </p:sp>
      <p:sp>
        <p:nvSpPr>
          <p:cNvPr id="38" name="Retângulo 37"/>
          <p:cNvSpPr/>
          <p:nvPr/>
        </p:nvSpPr>
        <p:spPr>
          <a:xfrm>
            <a:off x="4447688" y="6059662"/>
            <a:ext cx="6836230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700" dirty="0"/>
              <a:t>https://gateway.apimazuprbragwocppf001.apimcorp.bradesco.com.br </a:t>
            </a:r>
          </a:p>
        </p:txBody>
      </p:sp>
      <p:sp>
        <p:nvSpPr>
          <p:cNvPr id="60" name="Retângulo 59"/>
          <p:cNvSpPr/>
          <p:nvPr/>
        </p:nvSpPr>
        <p:spPr>
          <a:xfrm>
            <a:off x="1171529" y="5709876"/>
            <a:ext cx="15842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000" dirty="0" smtClean="0"/>
              <a:t>TI Hibrida - PJ</a:t>
            </a:r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3915747" y="876269"/>
            <a:ext cx="2373849" cy="3681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/>
          <p:cNvSpPr/>
          <p:nvPr/>
        </p:nvSpPr>
        <p:spPr>
          <a:xfrm>
            <a:off x="4849278" y="1584262"/>
            <a:ext cx="526943" cy="28988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2" name="Imagem 8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12569" y="2610636"/>
            <a:ext cx="301526" cy="274808"/>
          </a:xfrm>
          <a:prstGeom prst="rect">
            <a:avLst/>
          </a:prstGeom>
        </p:spPr>
      </p:pic>
      <p:sp>
        <p:nvSpPr>
          <p:cNvPr id="83" name="Elipse 82"/>
          <p:cNvSpPr/>
          <p:nvPr/>
        </p:nvSpPr>
        <p:spPr>
          <a:xfrm>
            <a:off x="11269267" y="31423"/>
            <a:ext cx="828202" cy="71485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4" name="Retângulo 83"/>
          <p:cNvSpPr/>
          <p:nvPr/>
        </p:nvSpPr>
        <p:spPr>
          <a:xfrm>
            <a:off x="11354558" y="202224"/>
            <a:ext cx="64010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900" dirty="0" smtClean="0">
                <a:ln w="0"/>
                <a:solidFill>
                  <a:srgbClr val="FF0000"/>
                </a:solidFill>
              </a:rPr>
              <a:t>Não Exaustivo</a:t>
            </a:r>
            <a:endParaRPr lang="pt-BR" sz="900" dirty="0">
              <a:ln w="0"/>
              <a:solidFill>
                <a:srgbClr val="FF0000"/>
              </a:solidFill>
            </a:endParaRPr>
          </a:p>
        </p:txBody>
      </p:sp>
      <p:sp>
        <p:nvSpPr>
          <p:cNvPr id="85" name="CaixaDeTexto 84"/>
          <p:cNvSpPr txBox="1"/>
          <p:nvPr/>
        </p:nvSpPr>
        <p:spPr>
          <a:xfrm rot="16200000">
            <a:off x="4128572" y="2836049"/>
            <a:ext cx="1952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ACESS-CONTROL</a:t>
            </a:r>
            <a:endParaRPr lang="pt-BR" dirty="0"/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3CFDBFDD-507E-F69B-18EA-0F1A8074C772}"/>
              </a:ext>
            </a:extLst>
          </p:cNvPr>
          <p:cNvSpPr txBox="1"/>
          <p:nvPr/>
        </p:nvSpPr>
        <p:spPr>
          <a:xfrm>
            <a:off x="7666878" y="2657246"/>
            <a:ext cx="614505" cy="152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" b="1" dirty="0" smtClean="0">
                <a:latin typeface="Bradesco Sans" panose="020B0604020202020204" charset="0"/>
                <a:ea typeface="+mj-ea"/>
                <a:cs typeface="+mj-cs"/>
              </a:rPr>
              <a:t>TCP:443</a:t>
            </a:r>
            <a:endParaRPr lang="en-US" sz="800" b="1" dirty="0">
              <a:latin typeface="Bradesco Sans" panose="020B060402020202020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3183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61106-A27A-74B8-869B-750355A663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BR"/>
              <a:t>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53F9CA-4212-6DB8-8622-7B86C03B5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Rectangle 2" descr="Retângulo 2">
            <a:extLst>
              <a:ext uri="{FF2B5EF4-FFF2-40B4-BE49-F238E27FC236}">
                <a16:creationId xmlns:a16="http://schemas.microsoft.com/office/drawing/2014/main" id="{7AFFA7D4-4CB0-CBA3-FC1F-F1C9DE029F66}"/>
              </a:ext>
            </a:extLst>
          </p:cNvPr>
          <p:cNvSpPr>
            <a:spLocks/>
          </p:cNvSpPr>
          <p:nvPr/>
        </p:nvSpPr>
        <p:spPr bwMode="auto">
          <a:xfrm>
            <a:off x="-62753" y="80963"/>
            <a:ext cx="12192000" cy="6858000"/>
          </a:xfrm>
          <a:prstGeom prst="rect">
            <a:avLst/>
          </a:prstGeom>
          <a:gradFill rotWithShape="0">
            <a:gsLst>
              <a:gs pos="0">
                <a:srgbClr val="F36279">
                  <a:lumMod val="100000"/>
                </a:srgbClr>
              </a:gs>
              <a:gs pos="12598">
                <a:srgbClr val="E03654"/>
              </a:gs>
              <a:gs pos="51000">
                <a:srgbClr val="CC092F"/>
              </a:gs>
              <a:gs pos="89000">
                <a:srgbClr val="C01259"/>
              </a:gs>
              <a:gs pos="100000">
                <a:srgbClr val="B41A83"/>
              </a:gs>
            </a:gsLst>
            <a:lin ang="0"/>
          </a:gradFill>
          <a:ln w="12700">
            <a:solidFill>
              <a:srgbClr val="CC092F"/>
            </a:solidFill>
            <a:miter lim="800000"/>
            <a:headEnd/>
            <a:tailEnd/>
          </a:ln>
          <a:effectLst/>
        </p:spPr>
        <p:txBody>
          <a:bodyPr lIns="45718" tIns="45718" rIns="45718" bIns="45718" anchor="ctr"/>
          <a:lstStyle>
            <a:lvl1pPr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1pPr>
            <a:lvl2pPr marL="742950" indent="-28575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2pPr>
            <a:lvl3pPr marL="11430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3pPr>
            <a:lvl4pPr marL="16002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4pPr>
            <a:lvl5pPr marL="2057400" indent="-228600"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Bradesco Sans Bold" charset="0"/>
                <a:ea typeface="Bradesco Sans Bold" charset="0"/>
                <a:cs typeface="Bradesco Sans Bold" charset="0"/>
                <a:sym typeface="Bradesco Sans Bold" charset="0"/>
              </a:defRPr>
            </a:lvl9pPr>
          </a:lstStyle>
          <a:p>
            <a:pPr eaLnBrk="1"/>
            <a:endParaRPr lang="pt-BR" altLang="pt-BR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8D9DD8-EDCD-D73A-3AB6-B847C60B2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9976" y="6284231"/>
            <a:ext cx="1438656" cy="3206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884990-3DF9-F0D1-CB63-C496F2AE2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3884" y="2730915"/>
            <a:ext cx="3315767" cy="25268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F479BE-E417-1C02-4A02-64E380FF839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7726712" y="-4465680"/>
            <a:ext cx="8604708" cy="84345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E19FE2-CE1D-9EC3-394E-0CA18B87AFC3}"/>
              </a:ext>
            </a:extLst>
          </p:cNvPr>
          <p:cNvSpPr txBox="1"/>
          <p:nvPr/>
        </p:nvSpPr>
        <p:spPr>
          <a:xfrm>
            <a:off x="9196452" y="763392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4B1222-640E-C8B4-C5D8-BE38A9AF563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 rot="18735649">
            <a:off x="-470375" y="3975540"/>
            <a:ext cx="8604708" cy="8434558"/>
          </a:xfrm>
          <a:prstGeom prst="rect">
            <a:avLst/>
          </a:prstGeom>
        </p:spPr>
      </p:pic>
      <p:grpSp>
        <p:nvGrpSpPr>
          <p:cNvPr id="15" name="Agrupar 14">
            <a:extLst>
              <a:ext uri="{FF2B5EF4-FFF2-40B4-BE49-F238E27FC236}">
                <a16:creationId xmlns:a16="http://schemas.microsoft.com/office/drawing/2014/main" id="{C1071C96-3CCB-FA01-7F4E-693408645F75}"/>
              </a:ext>
            </a:extLst>
          </p:cNvPr>
          <p:cNvGrpSpPr/>
          <p:nvPr/>
        </p:nvGrpSpPr>
        <p:grpSpPr>
          <a:xfrm>
            <a:off x="4039656" y="2947272"/>
            <a:ext cx="6500320" cy="1211980"/>
            <a:chOff x="2434236" y="1566147"/>
            <a:chExt cx="6500320" cy="1211980"/>
          </a:xfrm>
        </p:grpSpPr>
        <p:sp>
          <p:nvSpPr>
            <p:cNvPr id="13" name="Título 15">
              <a:extLst>
                <a:ext uri="{FF2B5EF4-FFF2-40B4-BE49-F238E27FC236}">
                  <a16:creationId xmlns:a16="http://schemas.microsoft.com/office/drawing/2014/main" id="{161914B1-7AD9-FD86-1543-83C50647B656}"/>
                </a:ext>
              </a:extLst>
            </p:cNvPr>
            <p:cNvSpPr txBox="1">
              <a:spLocks/>
            </p:cNvSpPr>
            <p:nvPr/>
          </p:nvSpPr>
          <p:spPr>
            <a:xfrm>
              <a:off x="2434236" y="1566147"/>
              <a:ext cx="5290085" cy="1200279"/>
            </a:xfrm>
            <a:prstGeom prst="rect">
              <a:avLst/>
            </a:prstGeom>
          </p:spPr>
          <p:txBody>
            <a:bodyPr vert="horz" wrap="square" lIns="131678" tIns="65839" rIns="131678" bIns="65839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lang="pt-BR" sz="2800" b="1" kern="1200" dirty="0">
                  <a:gradFill flip="none" rotWithShape="1">
                    <a:gsLst>
                      <a:gs pos="0">
                        <a:srgbClr val="CC092F"/>
                      </a:gs>
                      <a:gs pos="100000">
                        <a:srgbClr val="762281"/>
                      </a:gs>
                      <a:gs pos="48000">
                        <a:srgbClr val="B70E80"/>
                      </a:gs>
                    </a:gsLst>
                    <a:lin ang="0" scaled="1"/>
                    <a:tileRect/>
                  </a:gradFill>
                  <a:latin typeface="Bradesco Sans XBold" panose="00000900000000000000" pitchFamily="2" charset="0"/>
                  <a:ea typeface="Century Gothic" charset="0"/>
                  <a:cs typeface="Century Gothic" charset="0"/>
                </a:defRPr>
              </a:lvl1pPr>
            </a:lstStyle>
            <a:p>
              <a:pPr algn="l" fontAlgn="base"/>
              <a:r>
                <a:rPr lang="pt-BR" sz="4000" b="0" dirty="0">
                  <a:solidFill>
                    <a:schemeClr val="bg1"/>
                  </a:solidFill>
                  <a:effectLst/>
                </a:rPr>
                <a:t>OBRI</a:t>
              </a:r>
            </a:p>
          </p:txBody>
        </p:sp>
        <p:sp>
          <p:nvSpPr>
            <p:cNvPr id="14" name="Título 15">
              <a:extLst>
                <a:ext uri="{FF2B5EF4-FFF2-40B4-BE49-F238E27FC236}">
                  <a16:creationId xmlns:a16="http://schemas.microsoft.com/office/drawing/2014/main" id="{E52C1E8E-D62D-9DAC-20C2-5FC5E2203F91}"/>
                </a:ext>
              </a:extLst>
            </p:cNvPr>
            <p:cNvSpPr txBox="1">
              <a:spLocks/>
            </p:cNvSpPr>
            <p:nvPr/>
          </p:nvSpPr>
          <p:spPr>
            <a:xfrm>
              <a:off x="3644471" y="1577848"/>
              <a:ext cx="5290085" cy="1200279"/>
            </a:xfrm>
            <a:prstGeom prst="rect">
              <a:avLst/>
            </a:prstGeom>
          </p:spPr>
          <p:txBody>
            <a:bodyPr vert="horz" wrap="square" lIns="131678" tIns="65839" rIns="131678" bIns="65839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lang="pt-BR" sz="2800" b="1" kern="1200" dirty="0">
                  <a:gradFill flip="none" rotWithShape="1">
                    <a:gsLst>
                      <a:gs pos="0">
                        <a:srgbClr val="CC092F"/>
                      </a:gs>
                      <a:gs pos="100000">
                        <a:srgbClr val="762281"/>
                      </a:gs>
                      <a:gs pos="48000">
                        <a:srgbClr val="B70E80"/>
                      </a:gs>
                    </a:gsLst>
                    <a:lin ang="0" scaled="1"/>
                    <a:tileRect/>
                  </a:gradFill>
                  <a:latin typeface="Bradesco Sans XBold" panose="00000900000000000000" pitchFamily="2" charset="0"/>
                  <a:ea typeface="Century Gothic" charset="0"/>
                  <a:cs typeface="Century Gothic" charset="0"/>
                </a:defRPr>
              </a:lvl1pPr>
            </a:lstStyle>
            <a:p>
              <a:pPr algn="l" fontAlgn="base"/>
              <a:r>
                <a:rPr lang="pt-BR" sz="4000" b="0" dirty="0">
                  <a:solidFill>
                    <a:schemeClr val="bg1"/>
                  </a:solidFill>
                </a:rPr>
                <a:t>GADO.</a:t>
              </a:r>
              <a:endParaRPr lang="pt-BR" sz="4000" b="0" dirty="0">
                <a:solidFill>
                  <a:schemeClr val="bg1"/>
                </a:solidFill>
                <a:effectLst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3255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D19346703D784C8B703CB0A249259B" ma:contentTypeVersion="2" ma:contentTypeDescription="Crie um novo documento." ma:contentTypeScope="" ma:versionID="b1a32811576f4a55a52af5bc3df10787">
  <xsd:schema xmlns:xsd="http://www.w3.org/2001/XMLSchema" xmlns:xs="http://www.w3.org/2001/XMLSchema" xmlns:p="http://schemas.microsoft.com/office/2006/metadata/properties" xmlns:ns1="http://schemas.microsoft.com/sharepoint/v3" xmlns:ns2="852d0600-34bd-43f3-8735-37b71dba2d4d" targetNamespace="http://schemas.microsoft.com/office/2006/metadata/properties" ma:root="true" ma:fieldsID="93e41039f3becab6f87155f4f9fb9f23" ns1:_="" ns2:_="">
    <xsd:import namespace="http://schemas.microsoft.com/sharepoint/v3"/>
    <xsd:import namespace="852d0600-34bd-43f3-8735-37b71dba2d4d"/>
    <xsd:element name="properties">
      <xsd:complexType>
        <xsd:sequence>
          <xsd:element name="documentManagement">
            <xsd:complexType>
              <xsd:all>
                <xsd:element ref="ns2:Descricao_x0020_do_x0020_material" minOccurs="0"/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9" nillable="true" ma:displayName="Agendamento de Data de Início" ma:description="Data de Início de Agendamento é uma coluna de site criada pelo recurso de Publicação. Ela é usada para especificar a data e hora em que essa página aparecerá pela primeira vez aos visitantes do site." ma:internalName="PublishingStartDate">
      <xsd:simpleType>
        <xsd:restriction base="dms:Unknown"/>
      </xsd:simpleType>
    </xsd:element>
    <xsd:element name="PublishingExpirationDate" ma:index="10" nillable="true" ma:displayName="Agendamento de Data de Término" ma:description="Data Final de Agendamento é uma coluna de site criada pelo recurso de Publicação. Ela é usada para especificar a data e a hora em que essa página não será mais exibida aos visitantes do site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2d0600-34bd-43f3-8735-37b71dba2d4d" elementFormDefault="qualified">
    <xsd:import namespace="http://schemas.microsoft.com/office/2006/documentManagement/types"/>
    <xsd:import namespace="http://schemas.microsoft.com/office/infopath/2007/PartnerControls"/>
    <xsd:element name="Descricao_x0020_do_x0020_material" ma:index="8" nillable="true" ma:displayName="Descricao do material" ma:description="Descrição do material" ma:internalName="Descricao_x0020_do_x0020_material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cao_x0020_do_x0020_material xmlns="852d0600-34bd-43f3-8735-37b71dba2d4d" xsi:nil="true"/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EAD9E051-ECCE-48FE-94F0-9E6DAAEFA6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B6E3FD-C226-49CC-9713-F4248A65C35E}">
  <ds:schemaRefs>
    <ds:schemaRef ds:uri="852d0600-34bd-43f3-8735-37b71dba2d4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95F0502-8974-492C-AF63-0C6E95CA2CA3}">
  <ds:schemaRefs>
    <ds:schemaRef ds:uri="http://schemas.openxmlformats.org/package/2006/metadata/core-properties"/>
    <ds:schemaRef ds:uri="http://purl.org/dc/terms/"/>
    <ds:schemaRef ds:uri="http://schemas.microsoft.com/sharepoint/v3"/>
    <ds:schemaRef ds:uri="http://purl.org/dc/dcmitype/"/>
    <ds:schemaRef ds:uri="http://schemas.microsoft.com/office/2006/documentManagement/types"/>
    <ds:schemaRef ds:uri="852d0600-34bd-43f3-8735-37b71dba2d4d"/>
    <ds:schemaRef ds:uri="http://purl.org/dc/elements/1.1/"/>
    <ds:schemaRef ds:uri="http://www.w3.org/XML/1998/namespace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37240</TotalTime>
  <Words>430</Words>
  <Application>Microsoft Office PowerPoint</Application>
  <PresentationFormat>Widescreen</PresentationFormat>
  <Paragraphs>133</Paragraphs>
  <Slides>7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5" baseType="lpstr">
      <vt:lpstr>Arial</vt:lpstr>
      <vt:lpstr>Bradesco Sans</vt:lpstr>
      <vt:lpstr>Bradesco Sans Bold</vt:lpstr>
      <vt:lpstr>Bradesco Sans XBold</vt:lpstr>
      <vt:lpstr>Calibri</vt:lpstr>
      <vt:lpstr>Calibri Light</vt:lpstr>
      <vt:lpstr>Century Gothic</vt:lpstr>
      <vt:lpstr>Office Theme</vt:lpstr>
      <vt:lpstr> 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</dc:title>
  <dc:creator>Fernando Kazuo</dc:creator>
  <cp:lastModifiedBy>Alessandro Lisboa de lyra</cp:lastModifiedBy>
  <cp:revision>149</cp:revision>
  <dcterms:created xsi:type="dcterms:W3CDTF">2022-12-19T16:53:53Z</dcterms:created>
  <dcterms:modified xsi:type="dcterms:W3CDTF">2025-04-08T14:45:31Z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3fed9c9-9e02-402c-91c6-79672c367b2e_Enabled">
    <vt:lpwstr>true</vt:lpwstr>
  </property>
  <property fmtid="{D5CDD505-2E9C-101B-9397-08002B2CF9AE}" pid="3" name="MSIP_Label_d3fed9c9-9e02-402c-91c6-79672c367b2e_SetDate">
    <vt:lpwstr>2022-12-27T12:42:26Z</vt:lpwstr>
  </property>
  <property fmtid="{D5CDD505-2E9C-101B-9397-08002B2CF9AE}" pid="4" name="MSIP_Label_d3fed9c9-9e02-402c-91c6-79672c367b2e_Method">
    <vt:lpwstr>Standard</vt:lpwstr>
  </property>
  <property fmtid="{D5CDD505-2E9C-101B-9397-08002B2CF9AE}" pid="5" name="MSIP_Label_d3fed9c9-9e02-402c-91c6-79672c367b2e_Name">
    <vt:lpwstr>d3fed9c9-9e02-402c-91c6-79672c367b2e</vt:lpwstr>
  </property>
  <property fmtid="{D5CDD505-2E9C-101B-9397-08002B2CF9AE}" pid="6" name="MSIP_Label_d3fed9c9-9e02-402c-91c6-79672c367b2e_SiteId">
    <vt:lpwstr>ccd25372-eb59-436a-ad74-78a49d784cf3</vt:lpwstr>
  </property>
  <property fmtid="{D5CDD505-2E9C-101B-9397-08002B2CF9AE}" pid="7" name="MSIP_Label_d3fed9c9-9e02-402c-91c6-79672c367b2e_ActionId">
    <vt:lpwstr>e1de86f1-55c5-4093-875d-8e69fb78f63d</vt:lpwstr>
  </property>
  <property fmtid="{D5CDD505-2E9C-101B-9397-08002B2CF9AE}" pid="8" name="MSIP_Label_d3fed9c9-9e02-402c-91c6-79672c367b2e_ContentBits">
    <vt:lpwstr>0</vt:lpwstr>
  </property>
  <property fmtid="{D5CDD505-2E9C-101B-9397-08002B2CF9AE}" pid="9" name="ContentTypeId">
    <vt:lpwstr>0x01010001D19346703D784C8B703CB0A249259B</vt:lpwstr>
  </property>
</Properties>
</file>