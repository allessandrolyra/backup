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3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56" r:id="rId5"/>
    <p:sldId id="940" r:id="rId6"/>
    <p:sldId id="317" r:id="rId7"/>
    <p:sldId id="2147378778" r:id="rId8"/>
    <p:sldId id="2147378779" r:id="rId9"/>
    <p:sldId id="2147378780" r:id="rId10"/>
    <p:sldId id="2147378777" r:id="rId11"/>
    <p:sldId id="308" r:id="rId12"/>
    <p:sldId id="2147378787" r:id="rId13"/>
    <p:sldId id="2147378781" r:id="rId14"/>
    <p:sldId id="2147378776" r:id="rId15"/>
    <p:sldId id="2147378782" r:id="rId16"/>
    <p:sldId id="2147378784" r:id="rId17"/>
    <p:sldId id="2147378786" r:id="rId18"/>
    <p:sldId id="2147378783" r:id="rId19"/>
    <p:sldId id="2147378785" r:id="rId20"/>
    <p:sldId id="2147378775" r:id="rId21"/>
    <p:sldId id="2147378773" r:id="rId22"/>
    <p:sldId id="315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EBF0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CA0E9-6345-4181-8512-96EA8BA6E7C0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7A346E-BE7A-4F7F-AFFA-6A8064F1DA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322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044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5980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3352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8478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Explicação fluxo de Arquitetura de Solução.</a:t>
            </a:r>
          </a:p>
          <a:p>
            <a:endParaRPr lang="pt-BR" dirty="0" smtClean="0"/>
          </a:p>
          <a:p>
            <a:r>
              <a:rPr lang="pt-BR" dirty="0" smtClean="0"/>
              <a:t>Hoje é </a:t>
            </a:r>
            <a:r>
              <a:rPr lang="pt-BR" dirty="0" err="1" smtClean="0"/>
              <a:t>possivel</a:t>
            </a:r>
            <a:r>
              <a:rPr lang="pt-BR" dirty="0" smtClean="0"/>
              <a:t> entrar no menu do Crédito imobiliário </a:t>
            </a:r>
            <a:r>
              <a:rPr lang="pt-BR" dirty="0" err="1" smtClean="0"/>
              <a:t>apartir</a:t>
            </a:r>
            <a:r>
              <a:rPr lang="pt-BR" dirty="0" smtClean="0"/>
              <a:t> de duas formas: 1.Menu do crédito Imobiliário e 2. Menu de Empréstimo.</a:t>
            </a:r>
          </a:p>
          <a:p>
            <a:endParaRPr lang="pt-BR" dirty="0" smtClean="0"/>
          </a:p>
          <a:p>
            <a:r>
              <a:rPr lang="pt-BR" dirty="0" smtClean="0"/>
              <a:t>Na jornada nova precisamos identificar quando foi iniciada pelo Menu de Empréstimo, porque quando o cliente vem por esse caminho a </a:t>
            </a:r>
            <a:r>
              <a:rPr lang="pt-BR" dirty="0" err="1" smtClean="0"/>
              <a:t>idéia</a:t>
            </a:r>
            <a:r>
              <a:rPr lang="pt-BR" dirty="0" smtClean="0"/>
              <a:t> é ser direcionado para o jornada de Simulação. Não tem a necessidade de mostrar o menu completo do Imobiliário. Por isso é importante diferenciar a entrada na jornada do crédito Imobiliário do </a:t>
            </a:r>
            <a:r>
              <a:rPr lang="pt-BR" dirty="0" err="1" smtClean="0"/>
              <a:t>App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*</a:t>
            </a:r>
            <a:r>
              <a:rPr lang="pt-BR" dirty="0" err="1" smtClean="0"/>
              <a:t>Apesear</a:t>
            </a:r>
            <a:r>
              <a:rPr lang="pt-BR" dirty="0" smtClean="0"/>
              <a:t> dessa Jornada (MVP) estamos tratando o Fluxo de Amortização e Quitação Pós venda usando recursos </a:t>
            </a:r>
            <a:r>
              <a:rPr lang="pt-BR" dirty="0" err="1" smtClean="0"/>
              <a:t>própios</a:t>
            </a:r>
            <a:r>
              <a:rPr lang="pt-BR" dirty="0" smtClean="0"/>
              <a:t> sem utilização do FGTS. Vamos precisar fazer uma </a:t>
            </a:r>
            <a:r>
              <a:rPr lang="pt-BR" dirty="0" err="1" smtClean="0"/>
              <a:t>modrenização</a:t>
            </a:r>
            <a:r>
              <a:rPr lang="pt-BR" dirty="0" smtClean="0"/>
              <a:t> e revitalização das Jornadas já existentes Exemplo a parte de SIMULAÇÂO que já existe hoje no Legado.</a:t>
            </a:r>
          </a:p>
          <a:p>
            <a:endParaRPr lang="pt-BR" dirty="0" smtClean="0"/>
          </a:p>
          <a:p>
            <a:r>
              <a:rPr lang="pt-BR" dirty="0" smtClean="0"/>
              <a:t>Com isso a Construção do Crédito imobiliário revitalizado, porque quando o cliente acessar o Menu, vamos usar o Componente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terá uma configuração para direcionar quando a Jornada do cliente segue o caminho do legado ou será direcionada para jornada </a:t>
            </a:r>
            <a:r>
              <a:rPr lang="pt-BR" dirty="0" err="1" smtClean="0"/>
              <a:t>ja</a:t>
            </a:r>
            <a:r>
              <a:rPr lang="pt-BR" dirty="0" smtClean="0"/>
              <a:t> Modernizada na Cloud. Então o Primeiro ponto aqui é fazer essa parametrização no Rotador Junto com o </a:t>
            </a:r>
            <a:r>
              <a:rPr lang="pt-BR" dirty="0" err="1" smtClean="0"/>
              <a:t>Rollout</a:t>
            </a:r>
            <a:r>
              <a:rPr lang="pt-BR" dirty="0" smtClean="0"/>
              <a:t>.</a:t>
            </a:r>
          </a:p>
          <a:p>
            <a:r>
              <a:rPr lang="pt-BR" dirty="0" smtClean="0"/>
              <a:t>Quando o cliente entrar no Menu a </a:t>
            </a:r>
            <a:r>
              <a:rPr lang="pt-BR" dirty="0" err="1" smtClean="0"/>
              <a:t>idéia</a:t>
            </a:r>
            <a:r>
              <a:rPr lang="pt-BR" dirty="0" smtClean="0"/>
              <a:t> é que ela já veja o Menu do Crédito Imobiliário já todo </a:t>
            </a:r>
            <a:r>
              <a:rPr lang="pt-BR" dirty="0" err="1" smtClean="0"/>
              <a:t>Rivitalizado</a:t>
            </a:r>
            <a:r>
              <a:rPr lang="pt-BR" dirty="0" smtClean="0"/>
              <a:t> e aqui que será feito a </a:t>
            </a:r>
            <a:r>
              <a:rPr lang="pt-BR" dirty="0" err="1" smtClean="0"/>
              <a:t>segreção</a:t>
            </a:r>
            <a:r>
              <a:rPr lang="pt-BR" dirty="0" smtClean="0"/>
              <a:t> dos eventos.  (Exemplo: Se o Cliente criar em um evento que não vamos começar a revitalização por agora,- (tipo a Simulação), ela vai esta no menu revitalizado mais ele deve ser direcionado para o Legado para continuar a jornada </a:t>
            </a:r>
            <a:r>
              <a:rPr lang="pt-BR" dirty="0" err="1" smtClean="0"/>
              <a:t>ja</a:t>
            </a:r>
            <a:r>
              <a:rPr lang="pt-BR" dirty="0" smtClean="0"/>
              <a:t> existente.  Caso ele selecione uma Opção do Pós Vendas o cliente </a:t>
            </a:r>
            <a:r>
              <a:rPr lang="pt-BR" dirty="0" err="1" smtClean="0"/>
              <a:t>constinua</a:t>
            </a:r>
            <a:r>
              <a:rPr lang="pt-BR" dirty="0" smtClean="0"/>
              <a:t> na jornada da Azure.</a:t>
            </a:r>
          </a:p>
          <a:p>
            <a:endParaRPr lang="pt-BR" dirty="0" smtClean="0"/>
          </a:p>
          <a:p>
            <a:r>
              <a:rPr lang="pt-BR" dirty="0" smtClean="0"/>
              <a:t>Apenas para explicar a função do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que vai fazer essa orquestração de direcionamentos para a jornada do legado ou Jornada do Pós vendas com isso nos ajuda nesse processo de convivência.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O Cliente vai cair no Micro Front </a:t>
            </a:r>
            <a:r>
              <a:rPr lang="pt-BR" dirty="0" err="1" smtClean="0"/>
              <a:t>End</a:t>
            </a:r>
            <a:r>
              <a:rPr lang="pt-BR" dirty="0" smtClean="0"/>
              <a:t> que vai fazer todas as elegibilidade de Menus. 1.Verifica se a Consulta no serviço veio do Menu de Empréstimos.( Identifica se esse redirecionamento esta vindo de lá ou não) </a:t>
            </a:r>
            <a:r>
              <a:rPr lang="pt-BR" dirty="0" err="1" smtClean="0"/>
              <a:t>Ja</a:t>
            </a:r>
            <a:r>
              <a:rPr lang="pt-BR" dirty="0" smtClean="0"/>
              <a:t> tem um Micro serviço na TI Hibrida.( consegue consultar isso).</a:t>
            </a:r>
          </a:p>
          <a:p>
            <a:r>
              <a:rPr lang="pt-BR" dirty="0" smtClean="0"/>
              <a:t>Isso é importante porque mesmo que o cliente seja elegível, vamos mostrar o Menu completo, podemos mandar direto para opção de Simulação. (tem que ver como a Regra de negócio será aplicada).</a:t>
            </a:r>
          </a:p>
          <a:p>
            <a:endParaRPr lang="pt-BR" dirty="0" smtClean="0"/>
          </a:p>
          <a:p>
            <a:r>
              <a:rPr lang="pt-BR" dirty="0" smtClean="0"/>
              <a:t>Vamos ter o Micro Front </a:t>
            </a:r>
            <a:r>
              <a:rPr lang="pt-BR" dirty="0" err="1" smtClean="0"/>
              <a:t>end</a:t>
            </a:r>
            <a:r>
              <a:rPr lang="pt-BR" dirty="0" smtClean="0"/>
              <a:t> desse menu do pós venda que vai ser feito. (</a:t>
            </a:r>
            <a:r>
              <a:rPr lang="pt-BR" dirty="0" err="1" smtClean="0"/>
              <a:t>stazudvbracrimmenu</a:t>
            </a:r>
            <a:r>
              <a:rPr lang="pt-BR" dirty="0" smtClean="0"/>
              <a:t>).  </a:t>
            </a:r>
          </a:p>
          <a:p>
            <a:endParaRPr lang="pt-BR" dirty="0" smtClean="0"/>
          </a:p>
          <a:p>
            <a:r>
              <a:rPr lang="pt-BR" dirty="0" smtClean="0"/>
              <a:t>.</a:t>
            </a:r>
            <a:r>
              <a:rPr lang="pt-BR" dirty="0" err="1" smtClean="0"/>
              <a:t>crim-bff-mpf-imob</a:t>
            </a:r>
            <a:endParaRPr lang="pt-BR" dirty="0" smtClean="0"/>
          </a:p>
          <a:p>
            <a:r>
              <a:rPr lang="pt-BR" dirty="0" smtClean="0"/>
              <a:t>O BFF  vai ser único para essa </a:t>
            </a:r>
            <a:r>
              <a:rPr lang="pt-BR" dirty="0" err="1" smtClean="0"/>
              <a:t>essa</a:t>
            </a:r>
            <a:r>
              <a:rPr lang="pt-BR" dirty="0" smtClean="0"/>
              <a:t> jornada completa. 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Para fazer consulta que ainda esta no Menu de Empréstimo, vamos ter que passar pelo Gateway Corporativo.  Esse serviço deve estar exposto no Gateway corporativo de Canais para conseguimos acessar.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-contratos.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crim-srv-imob-ocorrencias</a:t>
            </a:r>
            <a:r>
              <a:rPr lang="pt-BR" dirty="0" smtClean="0"/>
              <a:t> : Consulta das </a:t>
            </a:r>
            <a:r>
              <a:rPr lang="pt-BR" dirty="0" err="1" smtClean="0"/>
              <a:t>Ocorrencias</a:t>
            </a:r>
            <a:r>
              <a:rPr lang="pt-BR" dirty="0" smtClean="0"/>
              <a:t> em aberto. (Ocorrências de Amortização dos Contratos) Esse </a:t>
            </a:r>
            <a:r>
              <a:rPr lang="pt-BR" dirty="0" err="1" smtClean="0"/>
              <a:t>microserviço</a:t>
            </a:r>
            <a:r>
              <a:rPr lang="pt-BR" dirty="0" smtClean="0"/>
              <a:t> faz a consulta na Base Federada do SISCRED.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-eventos-menu : Aplicar regras tendo como referência os dados do Ciente, para </a:t>
            </a:r>
            <a:r>
              <a:rPr lang="pt-BR" dirty="0" err="1" smtClean="0"/>
              <a:t>identifivar</a:t>
            </a:r>
            <a:r>
              <a:rPr lang="pt-BR" dirty="0" smtClean="0"/>
              <a:t> quais eventos que </a:t>
            </a:r>
            <a:r>
              <a:rPr lang="pt-BR" dirty="0" err="1" smtClean="0"/>
              <a:t>estara</a:t>
            </a:r>
            <a:r>
              <a:rPr lang="pt-BR" dirty="0" smtClean="0"/>
              <a:t> </a:t>
            </a:r>
            <a:r>
              <a:rPr lang="pt-BR" dirty="0" err="1" smtClean="0"/>
              <a:t>disponivel</a:t>
            </a:r>
            <a:r>
              <a:rPr lang="pt-BR" dirty="0" smtClean="0"/>
              <a:t> para montar o menu.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9564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Explicação fluxo de Arquitetura de Solução.</a:t>
            </a:r>
          </a:p>
          <a:p>
            <a:endParaRPr lang="pt-BR" dirty="0" smtClean="0"/>
          </a:p>
          <a:p>
            <a:r>
              <a:rPr lang="pt-BR" dirty="0" smtClean="0"/>
              <a:t>Hoje é </a:t>
            </a:r>
            <a:r>
              <a:rPr lang="pt-BR" dirty="0" err="1" smtClean="0"/>
              <a:t>possivel</a:t>
            </a:r>
            <a:r>
              <a:rPr lang="pt-BR" dirty="0" smtClean="0"/>
              <a:t> entrar no menu do Crédito imobiliário </a:t>
            </a:r>
            <a:r>
              <a:rPr lang="pt-BR" dirty="0" err="1" smtClean="0"/>
              <a:t>apartir</a:t>
            </a:r>
            <a:r>
              <a:rPr lang="pt-BR" dirty="0" smtClean="0"/>
              <a:t> de duas formas: 1.Menu do crédito Imobiliário e 2. Menu de Empréstimo.</a:t>
            </a:r>
          </a:p>
          <a:p>
            <a:endParaRPr lang="pt-BR" dirty="0" smtClean="0"/>
          </a:p>
          <a:p>
            <a:r>
              <a:rPr lang="pt-BR" dirty="0" smtClean="0"/>
              <a:t>Na jornada nova precisamos identificar quando foi iniciada pelo Menu de Empréstimo, porque quando o cliente vem por esse caminho a </a:t>
            </a:r>
            <a:r>
              <a:rPr lang="pt-BR" dirty="0" err="1" smtClean="0"/>
              <a:t>idéia</a:t>
            </a:r>
            <a:r>
              <a:rPr lang="pt-BR" dirty="0" smtClean="0"/>
              <a:t> é ser direcionado para o jornada de Simulação. Não tem a necessidade de mostrar o menu completo do Imobiliário. Por isso é importante diferenciar a entrada na jornada do crédito Imobiliário do </a:t>
            </a:r>
            <a:r>
              <a:rPr lang="pt-BR" dirty="0" err="1" smtClean="0"/>
              <a:t>App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*</a:t>
            </a:r>
            <a:r>
              <a:rPr lang="pt-BR" dirty="0" err="1" smtClean="0"/>
              <a:t>Apesear</a:t>
            </a:r>
            <a:r>
              <a:rPr lang="pt-BR" dirty="0" smtClean="0"/>
              <a:t> dessa Jornada (MVP) estamos tratando o Fluxo de Amortização e Quitação Pós venda usando recursos </a:t>
            </a:r>
            <a:r>
              <a:rPr lang="pt-BR" dirty="0" err="1" smtClean="0"/>
              <a:t>própios</a:t>
            </a:r>
            <a:r>
              <a:rPr lang="pt-BR" dirty="0" smtClean="0"/>
              <a:t> sem utilização do FGTS. Vamos precisar fazer uma </a:t>
            </a:r>
            <a:r>
              <a:rPr lang="pt-BR" dirty="0" err="1" smtClean="0"/>
              <a:t>modrenização</a:t>
            </a:r>
            <a:r>
              <a:rPr lang="pt-BR" dirty="0" smtClean="0"/>
              <a:t> e revitalização das Jornadas já existentes Exemplo a parte de SIMULAÇÂO que já existe hoje no Legado.</a:t>
            </a:r>
          </a:p>
          <a:p>
            <a:endParaRPr lang="pt-BR" dirty="0" smtClean="0"/>
          </a:p>
          <a:p>
            <a:r>
              <a:rPr lang="pt-BR" dirty="0" smtClean="0"/>
              <a:t>Com isso a Construção do Crédito imobiliário revitalizado, porque quando o cliente acessar o Menu, vamos usar o Componente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terá uma configuração para direcionar quando a Jornada do cliente segue o caminho do legado ou será direcionada para jornada </a:t>
            </a:r>
            <a:r>
              <a:rPr lang="pt-BR" dirty="0" err="1" smtClean="0"/>
              <a:t>ja</a:t>
            </a:r>
            <a:r>
              <a:rPr lang="pt-BR" dirty="0" smtClean="0"/>
              <a:t> Modernizada na Cloud. Então o Primeiro ponto aqui é fazer essa parametrização no Rotador Junto com o </a:t>
            </a:r>
            <a:r>
              <a:rPr lang="pt-BR" dirty="0" err="1" smtClean="0"/>
              <a:t>Rollout</a:t>
            </a:r>
            <a:r>
              <a:rPr lang="pt-BR" dirty="0" smtClean="0"/>
              <a:t>.</a:t>
            </a:r>
          </a:p>
          <a:p>
            <a:r>
              <a:rPr lang="pt-BR" dirty="0" smtClean="0"/>
              <a:t>Quando o cliente entrar no Menu a </a:t>
            </a:r>
            <a:r>
              <a:rPr lang="pt-BR" dirty="0" err="1" smtClean="0"/>
              <a:t>idéia</a:t>
            </a:r>
            <a:r>
              <a:rPr lang="pt-BR" dirty="0" smtClean="0"/>
              <a:t> é que ela já veja o Menu do Crédito Imobiliário já todo </a:t>
            </a:r>
            <a:r>
              <a:rPr lang="pt-BR" dirty="0" err="1" smtClean="0"/>
              <a:t>Rivitalizado</a:t>
            </a:r>
            <a:r>
              <a:rPr lang="pt-BR" dirty="0" smtClean="0"/>
              <a:t> e aqui que será feito a </a:t>
            </a:r>
            <a:r>
              <a:rPr lang="pt-BR" dirty="0" err="1" smtClean="0"/>
              <a:t>segreção</a:t>
            </a:r>
            <a:r>
              <a:rPr lang="pt-BR" dirty="0" smtClean="0"/>
              <a:t> dos eventos.  (Exemplo: Se o Cliente criar em um evento que não vamos começar a revitalização por agora,- (tipo a Simulação), ela vai esta no menu revitalizado mais ele deve ser direcionado para o Legado para continuar a jornada </a:t>
            </a:r>
            <a:r>
              <a:rPr lang="pt-BR" dirty="0" err="1" smtClean="0"/>
              <a:t>ja</a:t>
            </a:r>
            <a:r>
              <a:rPr lang="pt-BR" dirty="0" smtClean="0"/>
              <a:t> existente.  Caso ele selecione uma Opção do Pós Vendas o cliente </a:t>
            </a:r>
            <a:r>
              <a:rPr lang="pt-BR" dirty="0" err="1" smtClean="0"/>
              <a:t>constinua</a:t>
            </a:r>
            <a:r>
              <a:rPr lang="pt-BR" dirty="0" smtClean="0"/>
              <a:t> na jornada da Azure.</a:t>
            </a:r>
          </a:p>
          <a:p>
            <a:endParaRPr lang="pt-BR" dirty="0" smtClean="0"/>
          </a:p>
          <a:p>
            <a:r>
              <a:rPr lang="pt-BR" dirty="0" smtClean="0"/>
              <a:t>Apenas para explicar a função do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que vai fazer essa orquestração de direcionamentos para a jornada do legado ou Jornada do Pós vendas com isso nos ajuda nesse processo de convivência.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O Cliente vai cair no Micro Front </a:t>
            </a:r>
            <a:r>
              <a:rPr lang="pt-BR" dirty="0" err="1" smtClean="0"/>
              <a:t>End</a:t>
            </a:r>
            <a:r>
              <a:rPr lang="pt-BR" dirty="0" smtClean="0"/>
              <a:t> que vai fazer todas as elegibilidade de Menus. 1.Verifica se a Consulta no serviço veio do Menu de Empréstimos.( Identifica se esse redirecionamento esta vindo de lá ou não) </a:t>
            </a:r>
            <a:r>
              <a:rPr lang="pt-BR" dirty="0" err="1" smtClean="0"/>
              <a:t>Ja</a:t>
            </a:r>
            <a:r>
              <a:rPr lang="pt-BR" dirty="0" smtClean="0"/>
              <a:t> tem um Micro serviço na TI Hibrida.( consegue consultar isso).</a:t>
            </a:r>
          </a:p>
          <a:p>
            <a:r>
              <a:rPr lang="pt-BR" dirty="0" smtClean="0"/>
              <a:t>Isso é importante porque mesmo que o cliente seja elegível, vamos mostrar o Menu completo, podemos mandar direto para opção de Simulação. (tem que ver como a Regra de negócio será aplicada).</a:t>
            </a:r>
          </a:p>
          <a:p>
            <a:endParaRPr lang="pt-BR" dirty="0" smtClean="0"/>
          </a:p>
          <a:p>
            <a:r>
              <a:rPr lang="pt-BR" dirty="0" smtClean="0"/>
              <a:t>Vamos ter o Micro Front </a:t>
            </a:r>
            <a:r>
              <a:rPr lang="pt-BR" dirty="0" err="1" smtClean="0"/>
              <a:t>end</a:t>
            </a:r>
            <a:r>
              <a:rPr lang="pt-BR" dirty="0" smtClean="0"/>
              <a:t> desse menu do pós venda que vai ser feito. (</a:t>
            </a:r>
            <a:r>
              <a:rPr lang="pt-BR" dirty="0" err="1" smtClean="0"/>
              <a:t>stazudvbracrimmenu</a:t>
            </a:r>
            <a:r>
              <a:rPr lang="pt-BR" dirty="0" smtClean="0"/>
              <a:t>).  </a:t>
            </a:r>
          </a:p>
          <a:p>
            <a:endParaRPr lang="pt-BR" dirty="0" smtClean="0"/>
          </a:p>
          <a:p>
            <a:r>
              <a:rPr lang="pt-BR" dirty="0" smtClean="0"/>
              <a:t>.</a:t>
            </a:r>
            <a:r>
              <a:rPr lang="pt-BR" dirty="0" err="1" smtClean="0"/>
              <a:t>crim-bff-mpf-imob</a:t>
            </a:r>
            <a:endParaRPr lang="pt-BR" dirty="0" smtClean="0"/>
          </a:p>
          <a:p>
            <a:r>
              <a:rPr lang="pt-BR" dirty="0" smtClean="0"/>
              <a:t>O BFF  vai ser único para essa </a:t>
            </a:r>
            <a:r>
              <a:rPr lang="pt-BR" dirty="0" err="1" smtClean="0"/>
              <a:t>essa</a:t>
            </a:r>
            <a:r>
              <a:rPr lang="pt-BR" dirty="0" smtClean="0"/>
              <a:t> jornada completa. 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Para fazer consulta que ainda esta no Menu de Empréstimo, vamos ter que passar pelo Gateway Corporativo.  Esse serviço deve estar exposto no Gateway corporativo de Canais para conseguimos acessar.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-contratos.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crim-srv-imob-ocorrencias</a:t>
            </a:r>
            <a:r>
              <a:rPr lang="pt-BR" dirty="0" smtClean="0"/>
              <a:t> : Consulta das </a:t>
            </a:r>
            <a:r>
              <a:rPr lang="pt-BR" dirty="0" err="1" smtClean="0"/>
              <a:t>Ocorrencias</a:t>
            </a:r>
            <a:r>
              <a:rPr lang="pt-BR" dirty="0" smtClean="0"/>
              <a:t> em aberto. (Ocorrências de Amortização dos Contratos) Esse </a:t>
            </a:r>
            <a:r>
              <a:rPr lang="pt-BR" dirty="0" err="1" smtClean="0"/>
              <a:t>microserviço</a:t>
            </a:r>
            <a:r>
              <a:rPr lang="pt-BR" dirty="0" smtClean="0"/>
              <a:t> faz a consulta na Base Federada do SISCRED.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-eventos-menu : Aplicar regras tendo como referência os dados do Ciente, para </a:t>
            </a:r>
            <a:r>
              <a:rPr lang="pt-BR" dirty="0" err="1" smtClean="0"/>
              <a:t>identifivar</a:t>
            </a:r>
            <a:r>
              <a:rPr lang="pt-BR" dirty="0" smtClean="0"/>
              <a:t> quais eventos que </a:t>
            </a:r>
            <a:r>
              <a:rPr lang="pt-BR" dirty="0" err="1" smtClean="0"/>
              <a:t>estara</a:t>
            </a:r>
            <a:r>
              <a:rPr lang="pt-BR" dirty="0" smtClean="0"/>
              <a:t> </a:t>
            </a:r>
            <a:r>
              <a:rPr lang="pt-BR" dirty="0" err="1" smtClean="0"/>
              <a:t>disponivel</a:t>
            </a:r>
            <a:r>
              <a:rPr lang="pt-BR" dirty="0" smtClean="0"/>
              <a:t> para montar o menu.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4375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Explicação fluxo de Arquitetura de Solução.</a:t>
            </a:r>
          </a:p>
          <a:p>
            <a:endParaRPr lang="pt-BR" dirty="0" smtClean="0"/>
          </a:p>
          <a:p>
            <a:r>
              <a:rPr lang="pt-BR" dirty="0" smtClean="0"/>
              <a:t>Hoje é </a:t>
            </a:r>
            <a:r>
              <a:rPr lang="pt-BR" dirty="0" err="1" smtClean="0"/>
              <a:t>possivel</a:t>
            </a:r>
            <a:r>
              <a:rPr lang="pt-BR" dirty="0" smtClean="0"/>
              <a:t> entrar no menu do Crédito imobiliário </a:t>
            </a:r>
            <a:r>
              <a:rPr lang="pt-BR" dirty="0" err="1" smtClean="0"/>
              <a:t>apartir</a:t>
            </a:r>
            <a:r>
              <a:rPr lang="pt-BR" dirty="0" smtClean="0"/>
              <a:t> de duas formas: 1.Menu do crédito Imobiliário e 2. Menu de Empréstimo.</a:t>
            </a:r>
          </a:p>
          <a:p>
            <a:endParaRPr lang="pt-BR" dirty="0" smtClean="0"/>
          </a:p>
          <a:p>
            <a:r>
              <a:rPr lang="pt-BR" dirty="0" smtClean="0"/>
              <a:t>Na jornada nova precisamos identificar quando foi iniciada pelo Menu de Empréstimo, porque quando o cliente vem por esse caminho a </a:t>
            </a:r>
            <a:r>
              <a:rPr lang="pt-BR" dirty="0" err="1" smtClean="0"/>
              <a:t>idéia</a:t>
            </a:r>
            <a:r>
              <a:rPr lang="pt-BR" dirty="0" smtClean="0"/>
              <a:t> é ser direcionado para o jornada de Simulação. Não tem a necessidade de mostrar o menu completo do Imobiliário. Por isso é importante diferenciar a entrada na jornada do crédito Imobiliário do </a:t>
            </a:r>
            <a:r>
              <a:rPr lang="pt-BR" dirty="0" err="1" smtClean="0"/>
              <a:t>App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*</a:t>
            </a:r>
            <a:r>
              <a:rPr lang="pt-BR" dirty="0" err="1" smtClean="0"/>
              <a:t>Apesear</a:t>
            </a:r>
            <a:r>
              <a:rPr lang="pt-BR" dirty="0" smtClean="0"/>
              <a:t> dessa Jornada (MVP) estamos tratando o Fluxo de Amortização e Quitação Pós venda usando recursos </a:t>
            </a:r>
            <a:r>
              <a:rPr lang="pt-BR" dirty="0" err="1" smtClean="0"/>
              <a:t>própios</a:t>
            </a:r>
            <a:r>
              <a:rPr lang="pt-BR" dirty="0" smtClean="0"/>
              <a:t> sem utilização do FGTS. Vamos precisar fazer uma </a:t>
            </a:r>
            <a:r>
              <a:rPr lang="pt-BR" dirty="0" err="1" smtClean="0"/>
              <a:t>modrenização</a:t>
            </a:r>
            <a:r>
              <a:rPr lang="pt-BR" dirty="0" smtClean="0"/>
              <a:t> e revitalização das Jornadas já existentes Exemplo a parte de SIMULAÇÂO que já existe hoje no Legado.</a:t>
            </a:r>
          </a:p>
          <a:p>
            <a:endParaRPr lang="pt-BR" dirty="0" smtClean="0"/>
          </a:p>
          <a:p>
            <a:r>
              <a:rPr lang="pt-BR" dirty="0" smtClean="0"/>
              <a:t>Com isso a Construção do Crédito imobiliário revitalizado, porque quando o cliente acessar o Menu, vamos usar o Componente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terá uma configuração para direcionar quando a Jornada do cliente segue o caminho do legado ou será direcionada para jornada </a:t>
            </a:r>
            <a:r>
              <a:rPr lang="pt-BR" dirty="0" err="1" smtClean="0"/>
              <a:t>ja</a:t>
            </a:r>
            <a:r>
              <a:rPr lang="pt-BR" dirty="0" smtClean="0"/>
              <a:t> Modernizada na Cloud. Então o Primeiro ponto aqui é fazer essa parametrização no Rotador Junto com o </a:t>
            </a:r>
            <a:r>
              <a:rPr lang="pt-BR" dirty="0" err="1" smtClean="0"/>
              <a:t>Rollout</a:t>
            </a:r>
            <a:r>
              <a:rPr lang="pt-BR" dirty="0" smtClean="0"/>
              <a:t>.</a:t>
            </a:r>
          </a:p>
          <a:p>
            <a:r>
              <a:rPr lang="pt-BR" dirty="0" smtClean="0"/>
              <a:t>Quando o cliente entrar no Menu a </a:t>
            </a:r>
            <a:r>
              <a:rPr lang="pt-BR" dirty="0" err="1" smtClean="0"/>
              <a:t>idéia</a:t>
            </a:r>
            <a:r>
              <a:rPr lang="pt-BR" dirty="0" smtClean="0"/>
              <a:t> é que ela já veja o Menu do Crédito Imobiliário já todo </a:t>
            </a:r>
            <a:r>
              <a:rPr lang="pt-BR" dirty="0" err="1" smtClean="0"/>
              <a:t>Rivitalizado</a:t>
            </a:r>
            <a:r>
              <a:rPr lang="pt-BR" dirty="0" smtClean="0"/>
              <a:t> e aqui que será feito a </a:t>
            </a:r>
            <a:r>
              <a:rPr lang="pt-BR" dirty="0" err="1" smtClean="0"/>
              <a:t>segreção</a:t>
            </a:r>
            <a:r>
              <a:rPr lang="pt-BR" dirty="0" smtClean="0"/>
              <a:t> dos eventos.  (Exemplo: Se o Cliente criar em um evento que não vamos começar a revitalização por agora,- (tipo a Simulação), ela vai esta no menu revitalizado mais ele deve ser direcionado para o Legado para continuar a jornada </a:t>
            </a:r>
            <a:r>
              <a:rPr lang="pt-BR" dirty="0" err="1" smtClean="0"/>
              <a:t>ja</a:t>
            </a:r>
            <a:r>
              <a:rPr lang="pt-BR" dirty="0" smtClean="0"/>
              <a:t> existente.  Caso ele selecione uma Opção do Pós Vendas o cliente </a:t>
            </a:r>
            <a:r>
              <a:rPr lang="pt-BR" dirty="0" err="1" smtClean="0"/>
              <a:t>constinua</a:t>
            </a:r>
            <a:r>
              <a:rPr lang="pt-BR" dirty="0" smtClean="0"/>
              <a:t> na jornada da Azure.</a:t>
            </a:r>
          </a:p>
          <a:p>
            <a:endParaRPr lang="pt-BR" dirty="0" smtClean="0"/>
          </a:p>
          <a:p>
            <a:r>
              <a:rPr lang="pt-BR" dirty="0" smtClean="0"/>
              <a:t>Apenas para explicar a função do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que vai fazer essa orquestração de direcionamentos para a jornada do legado ou Jornada do Pós vendas com isso nos ajuda nesse processo de convivência.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O Cliente vai cair no Micro Front </a:t>
            </a:r>
            <a:r>
              <a:rPr lang="pt-BR" dirty="0" err="1" smtClean="0"/>
              <a:t>End</a:t>
            </a:r>
            <a:r>
              <a:rPr lang="pt-BR" dirty="0" smtClean="0"/>
              <a:t> que vai fazer todas as elegibilidade de Menus. 1.Verifica se a Consulta no serviço veio do Menu de Empréstimos.( Identifica se esse redirecionamento esta vindo de lá ou não) </a:t>
            </a:r>
            <a:r>
              <a:rPr lang="pt-BR" dirty="0" err="1" smtClean="0"/>
              <a:t>Ja</a:t>
            </a:r>
            <a:r>
              <a:rPr lang="pt-BR" dirty="0" smtClean="0"/>
              <a:t> tem um Micro serviço na TI Hibrida.( consegue consultar isso).</a:t>
            </a:r>
          </a:p>
          <a:p>
            <a:r>
              <a:rPr lang="pt-BR" dirty="0" smtClean="0"/>
              <a:t>Isso é importante porque mesmo que o cliente seja elegível, vamos mostrar o Menu completo, podemos mandar direto para opção de Simulação. (tem que ver como a Regra de negócio será aplicada).</a:t>
            </a:r>
          </a:p>
          <a:p>
            <a:endParaRPr lang="pt-BR" dirty="0" smtClean="0"/>
          </a:p>
          <a:p>
            <a:r>
              <a:rPr lang="pt-BR" dirty="0" smtClean="0"/>
              <a:t>Vamos ter o Micro Front </a:t>
            </a:r>
            <a:r>
              <a:rPr lang="pt-BR" dirty="0" err="1" smtClean="0"/>
              <a:t>end</a:t>
            </a:r>
            <a:r>
              <a:rPr lang="pt-BR" dirty="0" smtClean="0"/>
              <a:t> desse menu do pós venda que vai ser feito. (</a:t>
            </a:r>
            <a:r>
              <a:rPr lang="pt-BR" dirty="0" err="1" smtClean="0"/>
              <a:t>stazudvbracrimmenu</a:t>
            </a:r>
            <a:r>
              <a:rPr lang="pt-BR" dirty="0" smtClean="0"/>
              <a:t>).  </a:t>
            </a:r>
          </a:p>
          <a:p>
            <a:endParaRPr lang="pt-BR" dirty="0" smtClean="0"/>
          </a:p>
          <a:p>
            <a:r>
              <a:rPr lang="pt-BR" dirty="0" smtClean="0"/>
              <a:t>.</a:t>
            </a:r>
            <a:r>
              <a:rPr lang="pt-BR" dirty="0" err="1" smtClean="0"/>
              <a:t>crim-bff-mpf-imob</a:t>
            </a:r>
            <a:endParaRPr lang="pt-BR" dirty="0" smtClean="0"/>
          </a:p>
          <a:p>
            <a:r>
              <a:rPr lang="pt-BR" dirty="0" smtClean="0"/>
              <a:t>O BFF  vai ser único para essa </a:t>
            </a:r>
            <a:r>
              <a:rPr lang="pt-BR" dirty="0" err="1" smtClean="0"/>
              <a:t>essa</a:t>
            </a:r>
            <a:r>
              <a:rPr lang="pt-BR" dirty="0" smtClean="0"/>
              <a:t> jornada completa. 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Para fazer consulta que ainda esta no Menu de Empréstimo, vamos ter que passar pelo Gateway Corporativo.  Esse serviço deve estar exposto no Gateway corporativo de Canais para conseguimos acessar.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-contratos.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crim-srv-imob-ocorrencias</a:t>
            </a:r>
            <a:r>
              <a:rPr lang="pt-BR" dirty="0" smtClean="0"/>
              <a:t> : Consulta das </a:t>
            </a:r>
            <a:r>
              <a:rPr lang="pt-BR" dirty="0" err="1" smtClean="0"/>
              <a:t>Ocorrencias</a:t>
            </a:r>
            <a:r>
              <a:rPr lang="pt-BR" dirty="0" smtClean="0"/>
              <a:t> em aberto. (Ocorrências de Amortização dos Contratos) Esse </a:t>
            </a:r>
            <a:r>
              <a:rPr lang="pt-BR" dirty="0" err="1" smtClean="0"/>
              <a:t>microserviço</a:t>
            </a:r>
            <a:r>
              <a:rPr lang="pt-BR" dirty="0" smtClean="0"/>
              <a:t> faz a consulta na Base Federada do SISCRED.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-eventos-menu : Aplicar regras tendo como referência os dados do Ciente, para </a:t>
            </a:r>
            <a:r>
              <a:rPr lang="pt-BR" dirty="0" err="1" smtClean="0"/>
              <a:t>identifivar</a:t>
            </a:r>
            <a:r>
              <a:rPr lang="pt-BR" dirty="0" smtClean="0"/>
              <a:t> quais eventos que </a:t>
            </a:r>
            <a:r>
              <a:rPr lang="pt-BR" dirty="0" err="1" smtClean="0"/>
              <a:t>estara</a:t>
            </a:r>
            <a:r>
              <a:rPr lang="pt-BR" dirty="0" smtClean="0"/>
              <a:t> </a:t>
            </a:r>
            <a:r>
              <a:rPr lang="pt-BR" dirty="0" err="1" smtClean="0"/>
              <a:t>disponivel</a:t>
            </a:r>
            <a:r>
              <a:rPr lang="pt-BR" dirty="0" smtClean="0"/>
              <a:t> para montar o menu.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3928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Explicação fluxo de Arquitetura de Solução.</a:t>
            </a:r>
          </a:p>
          <a:p>
            <a:endParaRPr lang="pt-BR" dirty="0" smtClean="0"/>
          </a:p>
          <a:p>
            <a:r>
              <a:rPr lang="pt-BR" dirty="0" smtClean="0"/>
              <a:t>Hoje é </a:t>
            </a:r>
            <a:r>
              <a:rPr lang="pt-BR" dirty="0" err="1" smtClean="0"/>
              <a:t>possivel</a:t>
            </a:r>
            <a:r>
              <a:rPr lang="pt-BR" dirty="0" smtClean="0"/>
              <a:t> entrar no menu do Crédito imobiliário </a:t>
            </a:r>
            <a:r>
              <a:rPr lang="pt-BR" dirty="0" err="1" smtClean="0"/>
              <a:t>apartir</a:t>
            </a:r>
            <a:r>
              <a:rPr lang="pt-BR" dirty="0" smtClean="0"/>
              <a:t> de duas formas: 1.Menu do crédito Imobiliário e 2. Menu de Empréstimo.</a:t>
            </a:r>
          </a:p>
          <a:p>
            <a:endParaRPr lang="pt-BR" dirty="0" smtClean="0"/>
          </a:p>
          <a:p>
            <a:r>
              <a:rPr lang="pt-BR" dirty="0" smtClean="0"/>
              <a:t>Na jornada nova precisamos identificar quando foi iniciada pelo Menu de Empréstimo, porque quando o cliente vem por esse caminho a </a:t>
            </a:r>
            <a:r>
              <a:rPr lang="pt-BR" dirty="0" err="1" smtClean="0"/>
              <a:t>idéia</a:t>
            </a:r>
            <a:r>
              <a:rPr lang="pt-BR" dirty="0" smtClean="0"/>
              <a:t> é ser direcionado para o jornada de Simulação. Não tem a necessidade de mostrar o menu completo do Imobiliário. Por isso é importante diferenciar a entrada na jornada do crédito Imobiliário do </a:t>
            </a:r>
            <a:r>
              <a:rPr lang="pt-BR" dirty="0" err="1" smtClean="0"/>
              <a:t>App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*</a:t>
            </a:r>
            <a:r>
              <a:rPr lang="pt-BR" dirty="0" err="1" smtClean="0"/>
              <a:t>Apesear</a:t>
            </a:r>
            <a:r>
              <a:rPr lang="pt-BR" dirty="0" smtClean="0"/>
              <a:t> dessa Jornada (MVP) estamos tratando o Fluxo de Amortização e Quitação Pós venda usando recursos </a:t>
            </a:r>
            <a:r>
              <a:rPr lang="pt-BR" dirty="0" err="1" smtClean="0"/>
              <a:t>própios</a:t>
            </a:r>
            <a:r>
              <a:rPr lang="pt-BR" dirty="0" smtClean="0"/>
              <a:t> sem utilização do FGTS. Vamos precisar fazer uma </a:t>
            </a:r>
            <a:r>
              <a:rPr lang="pt-BR" dirty="0" err="1" smtClean="0"/>
              <a:t>modrenização</a:t>
            </a:r>
            <a:r>
              <a:rPr lang="pt-BR" dirty="0" smtClean="0"/>
              <a:t> e revitalização das Jornadas já existentes Exemplo a parte de SIMULAÇÂO que já existe hoje no Legado.</a:t>
            </a:r>
          </a:p>
          <a:p>
            <a:endParaRPr lang="pt-BR" dirty="0" smtClean="0"/>
          </a:p>
          <a:p>
            <a:r>
              <a:rPr lang="pt-BR" dirty="0" smtClean="0"/>
              <a:t>Com isso a Construção do Crédito imobiliário revitalizado, porque quando o cliente acessar o Menu, vamos usar o Componente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terá uma configuração para direcionar quando a Jornada do cliente segue o caminho do legado ou será direcionada para jornada </a:t>
            </a:r>
            <a:r>
              <a:rPr lang="pt-BR" dirty="0" err="1" smtClean="0"/>
              <a:t>ja</a:t>
            </a:r>
            <a:r>
              <a:rPr lang="pt-BR" dirty="0" smtClean="0"/>
              <a:t> Modernizada na Cloud. Então o Primeiro ponto aqui é fazer essa parametrização no Rotador Junto com o </a:t>
            </a:r>
            <a:r>
              <a:rPr lang="pt-BR" dirty="0" err="1" smtClean="0"/>
              <a:t>Rollout</a:t>
            </a:r>
            <a:r>
              <a:rPr lang="pt-BR" dirty="0" smtClean="0"/>
              <a:t>.</a:t>
            </a:r>
          </a:p>
          <a:p>
            <a:r>
              <a:rPr lang="pt-BR" dirty="0" smtClean="0"/>
              <a:t>Quando o cliente entrar no Menu a </a:t>
            </a:r>
            <a:r>
              <a:rPr lang="pt-BR" dirty="0" err="1" smtClean="0"/>
              <a:t>idéia</a:t>
            </a:r>
            <a:r>
              <a:rPr lang="pt-BR" dirty="0" smtClean="0"/>
              <a:t> é que ela já veja o Menu do Crédito Imobiliário já todo </a:t>
            </a:r>
            <a:r>
              <a:rPr lang="pt-BR" dirty="0" err="1" smtClean="0"/>
              <a:t>Rivitalizado</a:t>
            </a:r>
            <a:r>
              <a:rPr lang="pt-BR" dirty="0" smtClean="0"/>
              <a:t> e aqui que será feito a </a:t>
            </a:r>
            <a:r>
              <a:rPr lang="pt-BR" dirty="0" err="1" smtClean="0"/>
              <a:t>segreção</a:t>
            </a:r>
            <a:r>
              <a:rPr lang="pt-BR" dirty="0" smtClean="0"/>
              <a:t> dos eventos.  (Exemplo: Se o Cliente criar em um evento que não vamos começar a revitalização por agora,- (tipo a Simulação), ela vai esta no menu revitalizado mais ele deve ser direcionado para o Legado para continuar a jornada </a:t>
            </a:r>
            <a:r>
              <a:rPr lang="pt-BR" dirty="0" err="1" smtClean="0"/>
              <a:t>ja</a:t>
            </a:r>
            <a:r>
              <a:rPr lang="pt-BR" dirty="0" smtClean="0"/>
              <a:t> existente.  Caso ele selecione uma Opção do Pós Vendas o cliente </a:t>
            </a:r>
            <a:r>
              <a:rPr lang="pt-BR" dirty="0" err="1" smtClean="0"/>
              <a:t>constinua</a:t>
            </a:r>
            <a:r>
              <a:rPr lang="pt-BR" dirty="0" smtClean="0"/>
              <a:t> na jornada da Azure.</a:t>
            </a:r>
          </a:p>
          <a:p>
            <a:endParaRPr lang="pt-BR" dirty="0" smtClean="0"/>
          </a:p>
          <a:p>
            <a:r>
              <a:rPr lang="pt-BR" dirty="0" smtClean="0"/>
              <a:t>Apenas para explicar a função do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que vai fazer essa orquestração de direcionamentos para a jornada do legado ou Jornada do Pós vendas com isso nos ajuda nesse processo de convivência.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O Cliente vai cair no Micro Front </a:t>
            </a:r>
            <a:r>
              <a:rPr lang="pt-BR" dirty="0" err="1" smtClean="0"/>
              <a:t>End</a:t>
            </a:r>
            <a:r>
              <a:rPr lang="pt-BR" dirty="0" smtClean="0"/>
              <a:t> que vai fazer todas as elegibilidade de Menus. 1.Verifica se a Consulta no serviço veio do Menu de Empréstimos.( Identifica se esse redirecionamento esta vindo de lá ou não) </a:t>
            </a:r>
            <a:r>
              <a:rPr lang="pt-BR" dirty="0" err="1" smtClean="0"/>
              <a:t>Ja</a:t>
            </a:r>
            <a:r>
              <a:rPr lang="pt-BR" dirty="0" smtClean="0"/>
              <a:t> tem um Micro serviço na TI Hibrida.( consegue consultar isso).</a:t>
            </a:r>
          </a:p>
          <a:p>
            <a:r>
              <a:rPr lang="pt-BR" dirty="0" smtClean="0"/>
              <a:t>Isso é importante porque mesmo que o cliente seja elegível, vamos mostrar o Menu completo, podemos mandar direto para opção de Simulação. (tem que ver como a Regra de negócio será aplicada).</a:t>
            </a:r>
          </a:p>
          <a:p>
            <a:endParaRPr lang="pt-BR" dirty="0" smtClean="0"/>
          </a:p>
          <a:p>
            <a:r>
              <a:rPr lang="pt-BR" dirty="0" smtClean="0"/>
              <a:t>Vamos ter o Micro Front </a:t>
            </a:r>
            <a:r>
              <a:rPr lang="pt-BR" dirty="0" err="1" smtClean="0"/>
              <a:t>end</a:t>
            </a:r>
            <a:r>
              <a:rPr lang="pt-BR" dirty="0" smtClean="0"/>
              <a:t> desse menu do pós venda que vai ser feito. (</a:t>
            </a:r>
            <a:r>
              <a:rPr lang="pt-BR" dirty="0" err="1" smtClean="0"/>
              <a:t>stazudvbracrimmenu</a:t>
            </a:r>
            <a:r>
              <a:rPr lang="pt-BR" dirty="0" smtClean="0"/>
              <a:t>).  </a:t>
            </a:r>
          </a:p>
          <a:p>
            <a:endParaRPr lang="pt-BR" dirty="0" smtClean="0"/>
          </a:p>
          <a:p>
            <a:r>
              <a:rPr lang="pt-BR" dirty="0" smtClean="0"/>
              <a:t>.</a:t>
            </a:r>
            <a:r>
              <a:rPr lang="pt-BR" dirty="0" err="1" smtClean="0"/>
              <a:t>crim-bff-mpf-imob</a:t>
            </a:r>
            <a:endParaRPr lang="pt-BR" dirty="0" smtClean="0"/>
          </a:p>
          <a:p>
            <a:r>
              <a:rPr lang="pt-BR" dirty="0" smtClean="0"/>
              <a:t>O BFF  vai ser único para essa </a:t>
            </a:r>
            <a:r>
              <a:rPr lang="pt-BR" dirty="0" err="1" smtClean="0"/>
              <a:t>essa</a:t>
            </a:r>
            <a:r>
              <a:rPr lang="pt-BR" dirty="0" smtClean="0"/>
              <a:t> jornada completa. 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Para fazer consulta que ainda esta no Menu de Empréstimo, vamos ter que passar pelo Gateway Corporativo.  Esse serviço deve estar exposto no Gateway corporativo de Canais para conseguimos acessar.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-contratos.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crim-srv-imob-ocorrencias</a:t>
            </a:r>
            <a:r>
              <a:rPr lang="pt-BR" dirty="0" smtClean="0"/>
              <a:t> : Consulta das </a:t>
            </a:r>
            <a:r>
              <a:rPr lang="pt-BR" dirty="0" err="1" smtClean="0"/>
              <a:t>Ocorrencias</a:t>
            </a:r>
            <a:r>
              <a:rPr lang="pt-BR" dirty="0" smtClean="0"/>
              <a:t> em aberto. (Ocorrências de Amortização dos Contratos) Esse </a:t>
            </a:r>
            <a:r>
              <a:rPr lang="pt-BR" dirty="0" err="1" smtClean="0"/>
              <a:t>microserviço</a:t>
            </a:r>
            <a:r>
              <a:rPr lang="pt-BR" dirty="0" smtClean="0"/>
              <a:t> faz a consulta na Base Federada do SISCRED.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-eventos-menu : Aplicar regras tendo como referência os dados do Ciente, para </a:t>
            </a:r>
            <a:r>
              <a:rPr lang="pt-BR" dirty="0" err="1" smtClean="0"/>
              <a:t>identifivar</a:t>
            </a:r>
            <a:r>
              <a:rPr lang="pt-BR" dirty="0" smtClean="0"/>
              <a:t> quais eventos que </a:t>
            </a:r>
            <a:r>
              <a:rPr lang="pt-BR" dirty="0" err="1" smtClean="0"/>
              <a:t>estara</a:t>
            </a:r>
            <a:r>
              <a:rPr lang="pt-BR" dirty="0" smtClean="0"/>
              <a:t> </a:t>
            </a:r>
            <a:r>
              <a:rPr lang="pt-BR" dirty="0" err="1" smtClean="0"/>
              <a:t>disponivel</a:t>
            </a:r>
            <a:r>
              <a:rPr lang="pt-BR" dirty="0" smtClean="0"/>
              <a:t> para montar o menu.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7334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Explicação fluxo de Arquitetura de Solução.</a:t>
            </a:r>
          </a:p>
          <a:p>
            <a:endParaRPr lang="pt-BR" dirty="0" smtClean="0"/>
          </a:p>
          <a:p>
            <a:r>
              <a:rPr lang="pt-BR" dirty="0" smtClean="0"/>
              <a:t>Hoje é </a:t>
            </a:r>
            <a:r>
              <a:rPr lang="pt-BR" dirty="0" err="1" smtClean="0"/>
              <a:t>possivel</a:t>
            </a:r>
            <a:r>
              <a:rPr lang="pt-BR" dirty="0" smtClean="0"/>
              <a:t> entrar no menu do Crédito imobiliário </a:t>
            </a:r>
            <a:r>
              <a:rPr lang="pt-BR" dirty="0" err="1" smtClean="0"/>
              <a:t>apartir</a:t>
            </a:r>
            <a:r>
              <a:rPr lang="pt-BR" dirty="0" smtClean="0"/>
              <a:t> de duas formas: 1.Menu do crédito Imobiliário e 2. Menu de Empréstimo.</a:t>
            </a:r>
          </a:p>
          <a:p>
            <a:endParaRPr lang="pt-BR" dirty="0" smtClean="0"/>
          </a:p>
          <a:p>
            <a:r>
              <a:rPr lang="pt-BR" dirty="0" smtClean="0"/>
              <a:t>Na jornada nova precisamos identificar quando foi iniciada pelo Menu de Empréstimo, porque quando o cliente vem por esse caminho a </a:t>
            </a:r>
            <a:r>
              <a:rPr lang="pt-BR" dirty="0" err="1" smtClean="0"/>
              <a:t>idéia</a:t>
            </a:r>
            <a:r>
              <a:rPr lang="pt-BR" dirty="0" smtClean="0"/>
              <a:t> é ser direcionado para o jornada de Simulação. Não tem a necessidade de mostrar o menu completo do Imobiliário. Por isso é importante diferenciar a entrada na jornada do crédito Imobiliário do </a:t>
            </a:r>
            <a:r>
              <a:rPr lang="pt-BR" dirty="0" err="1" smtClean="0"/>
              <a:t>App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*</a:t>
            </a:r>
            <a:r>
              <a:rPr lang="pt-BR" dirty="0" err="1" smtClean="0"/>
              <a:t>Apesear</a:t>
            </a:r>
            <a:r>
              <a:rPr lang="pt-BR" dirty="0" smtClean="0"/>
              <a:t> dessa Jornada (MVP) estamos tratando o Fluxo de Amortização e Quitação Pós venda usando recursos </a:t>
            </a:r>
            <a:r>
              <a:rPr lang="pt-BR" dirty="0" err="1" smtClean="0"/>
              <a:t>própios</a:t>
            </a:r>
            <a:r>
              <a:rPr lang="pt-BR" dirty="0" smtClean="0"/>
              <a:t> sem utilização do FGTS. Vamos precisar fazer uma </a:t>
            </a:r>
            <a:r>
              <a:rPr lang="pt-BR" dirty="0" err="1" smtClean="0"/>
              <a:t>modrenização</a:t>
            </a:r>
            <a:r>
              <a:rPr lang="pt-BR" dirty="0" smtClean="0"/>
              <a:t> e revitalização das Jornadas já existentes Exemplo a parte de SIMULAÇÂO que já existe hoje no Legado.</a:t>
            </a:r>
          </a:p>
          <a:p>
            <a:endParaRPr lang="pt-BR" dirty="0" smtClean="0"/>
          </a:p>
          <a:p>
            <a:r>
              <a:rPr lang="pt-BR" dirty="0" smtClean="0"/>
              <a:t>Com isso a Construção do Crédito imobiliário revitalizado, porque quando o cliente acessar o Menu, vamos usar o Componente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terá uma configuração para direcionar quando a Jornada do cliente segue o caminho do legado ou será direcionada para jornada </a:t>
            </a:r>
            <a:r>
              <a:rPr lang="pt-BR" dirty="0" err="1" smtClean="0"/>
              <a:t>ja</a:t>
            </a:r>
            <a:r>
              <a:rPr lang="pt-BR" dirty="0" smtClean="0"/>
              <a:t> Modernizada na Cloud. Então o Primeiro ponto aqui é fazer essa parametrização no Rotador Junto com o </a:t>
            </a:r>
            <a:r>
              <a:rPr lang="pt-BR" dirty="0" err="1" smtClean="0"/>
              <a:t>Rollout</a:t>
            </a:r>
            <a:r>
              <a:rPr lang="pt-BR" dirty="0" smtClean="0"/>
              <a:t>.</a:t>
            </a:r>
          </a:p>
          <a:p>
            <a:r>
              <a:rPr lang="pt-BR" dirty="0" smtClean="0"/>
              <a:t>Quando o cliente entrar no Menu a </a:t>
            </a:r>
            <a:r>
              <a:rPr lang="pt-BR" dirty="0" err="1" smtClean="0"/>
              <a:t>idéia</a:t>
            </a:r>
            <a:r>
              <a:rPr lang="pt-BR" dirty="0" smtClean="0"/>
              <a:t> é que ela já veja o Menu do Crédito Imobiliário já todo </a:t>
            </a:r>
            <a:r>
              <a:rPr lang="pt-BR" dirty="0" err="1" smtClean="0"/>
              <a:t>Rivitalizado</a:t>
            </a:r>
            <a:r>
              <a:rPr lang="pt-BR" dirty="0" smtClean="0"/>
              <a:t> e aqui que será feito a </a:t>
            </a:r>
            <a:r>
              <a:rPr lang="pt-BR" dirty="0" err="1" smtClean="0"/>
              <a:t>segreção</a:t>
            </a:r>
            <a:r>
              <a:rPr lang="pt-BR" dirty="0" smtClean="0"/>
              <a:t> dos eventos.  (Exemplo: Se o Cliente criar em um evento que não vamos começar a revitalização por agora,- (tipo a Simulação), ela vai esta no menu revitalizado mais ele deve ser direcionado para o Legado para continuar a jornada </a:t>
            </a:r>
            <a:r>
              <a:rPr lang="pt-BR" dirty="0" err="1" smtClean="0"/>
              <a:t>ja</a:t>
            </a:r>
            <a:r>
              <a:rPr lang="pt-BR" dirty="0" smtClean="0"/>
              <a:t> existente.  Caso ele selecione uma Opção do Pós Vendas o cliente </a:t>
            </a:r>
            <a:r>
              <a:rPr lang="pt-BR" dirty="0" err="1" smtClean="0"/>
              <a:t>constinua</a:t>
            </a:r>
            <a:r>
              <a:rPr lang="pt-BR" dirty="0" smtClean="0"/>
              <a:t> na jornada da Azure.</a:t>
            </a:r>
          </a:p>
          <a:p>
            <a:endParaRPr lang="pt-BR" dirty="0" smtClean="0"/>
          </a:p>
          <a:p>
            <a:r>
              <a:rPr lang="pt-BR" dirty="0" smtClean="0"/>
              <a:t>Apenas para explicar a função do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que vai fazer essa orquestração de direcionamentos para a jornada do legado ou Jornada do Pós vendas com isso nos ajuda nesse processo de convivência.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O Cliente vai cair no Micro Front </a:t>
            </a:r>
            <a:r>
              <a:rPr lang="pt-BR" dirty="0" err="1" smtClean="0"/>
              <a:t>End</a:t>
            </a:r>
            <a:r>
              <a:rPr lang="pt-BR" dirty="0" smtClean="0"/>
              <a:t> que vai fazer todas as elegibilidade de Menus. 1.Verifica se a Consulta no serviço veio do Menu de Empréstimos.( Identifica se esse redirecionamento esta vindo de lá ou não) </a:t>
            </a:r>
            <a:r>
              <a:rPr lang="pt-BR" dirty="0" err="1" smtClean="0"/>
              <a:t>Ja</a:t>
            </a:r>
            <a:r>
              <a:rPr lang="pt-BR" dirty="0" smtClean="0"/>
              <a:t> tem um Micro serviço na TI Hibrida.( consegue consultar isso).</a:t>
            </a:r>
          </a:p>
          <a:p>
            <a:r>
              <a:rPr lang="pt-BR" dirty="0" smtClean="0"/>
              <a:t>Isso é importante porque mesmo que o cliente seja elegível, vamos mostrar o Menu completo, podemos mandar direto para opção de Simulação. (tem que ver como a Regra de negócio será aplicada).</a:t>
            </a:r>
          </a:p>
          <a:p>
            <a:endParaRPr lang="pt-BR" dirty="0" smtClean="0"/>
          </a:p>
          <a:p>
            <a:r>
              <a:rPr lang="pt-BR" dirty="0" smtClean="0"/>
              <a:t>Vamos ter o Micro Front </a:t>
            </a:r>
            <a:r>
              <a:rPr lang="pt-BR" dirty="0" err="1" smtClean="0"/>
              <a:t>end</a:t>
            </a:r>
            <a:r>
              <a:rPr lang="pt-BR" dirty="0" smtClean="0"/>
              <a:t> desse menu do pós venda que vai ser feito. (</a:t>
            </a:r>
            <a:r>
              <a:rPr lang="pt-BR" dirty="0" err="1" smtClean="0"/>
              <a:t>stazudvbracrimmenu</a:t>
            </a:r>
            <a:r>
              <a:rPr lang="pt-BR" dirty="0" smtClean="0"/>
              <a:t>).  </a:t>
            </a:r>
          </a:p>
          <a:p>
            <a:endParaRPr lang="pt-BR" dirty="0" smtClean="0"/>
          </a:p>
          <a:p>
            <a:r>
              <a:rPr lang="pt-BR" dirty="0" smtClean="0"/>
              <a:t>.</a:t>
            </a:r>
            <a:r>
              <a:rPr lang="pt-BR" dirty="0" err="1" smtClean="0"/>
              <a:t>crim-bff-mpf-imob</a:t>
            </a:r>
            <a:endParaRPr lang="pt-BR" dirty="0" smtClean="0"/>
          </a:p>
          <a:p>
            <a:r>
              <a:rPr lang="pt-BR" dirty="0" smtClean="0"/>
              <a:t>O BFF  vai ser único para essa </a:t>
            </a:r>
            <a:r>
              <a:rPr lang="pt-BR" dirty="0" err="1" smtClean="0"/>
              <a:t>essa</a:t>
            </a:r>
            <a:r>
              <a:rPr lang="pt-BR" dirty="0" smtClean="0"/>
              <a:t> jornada completa. 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Para fazer consulta que ainda esta no Menu de Empréstimo, vamos ter que passar pelo Gateway Corporativo.  Esse serviço deve estar exposto no Gateway corporativo de Canais para conseguimos acessar.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-contratos.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crim-srv-imob-ocorrencias</a:t>
            </a:r>
            <a:r>
              <a:rPr lang="pt-BR" dirty="0" smtClean="0"/>
              <a:t> : Consulta das </a:t>
            </a:r>
            <a:r>
              <a:rPr lang="pt-BR" dirty="0" err="1" smtClean="0"/>
              <a:t>Ocorrencias</a:t>
            </a:r>
            <a:r>
              <a:rPr lang="pt-BR" dirty="0" smtClean="0"/>
              <a:t> em aberto. (Ocorrências de Amortização dos Contratos) Esse </a:t>
            </a:r>
            <a:r>
              <a:rPr lang="pt-BR" dirty="0" err="1" smtClean="0"/>
              <a:t>microserviço</a:t>
            </a:r>
            <a:r>
              <a:rPr lang="pt-BR" dirty="0" smtClean="0"/>
              <a:t> faz a consulta na Base Federada do SISCRED.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-eventos-menu : Aplicar regras tendo como referência os dados do Ciente, para </a:t>
            </a:r>
            <a:r>
              <a:rPr lang="pt-BR" dirty="0" err="1" smtClean="0"/>
              <a:t>identifivar</a:t>
            </a:r>
            <a:r>
              <a:rPr lang="pt-BR" dirty="0" smtClean="0"/>
              <a:t> quais eventos que </a:t>
            </a:r>
            <a:r>
              <a:rPr lang="pt-BR" dirty="0" err="1" smtClean="0"/>
              <a:t>estara</a:t>
            </a:r>
            <a:r>
              <a:rPr lang="pt-BR" dirty="0" smtClean="0"/>
              <a:t> </a:t>
            </a:r>
            <a:r>
              <a:rPr lang="pt-BR" dirty="0" err="1" smtClean="0"/>
              <a:t>disponivel</a:t>
            </a:r>
            <a:r>
              <a:rPr lang="pt-BR" dirty="0" smtClean="0"/>
              <a:t> para montar o menu.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3875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Explicação fluxo de Arquitetura de Solução.</a:t>
            </a:r>
          </a:p>
          <a:p>
            <a:endParaRPr lang="pt-BR" dirty="0" smtClean="0"/>
          </a:p>
          <a:p>
            <a:r>
              <a:rPr lang="pt-BR" dirty="0" smtClean="0"/>
              <a:t>Hoje é </a:t>
            </a:r>
            <a:r>
              <a:rPr lang="pt-BR" dirty="0" err="1" smtClean="0"/>
              <a:t>possivel</a:t>
            </a:r>
            <a:r>
              <a:rPr lang="pt-BR" dirty="0" smtClean="0"/>
              <a:t> entrar no menu do Crédito imobiliário </a:t>
            </a:r>
            <a:r>
              <a:rPr lang="pt-BR" dirty="0" err="1" smtClean="0"/>
              <a:t>apartir</a:t>
            </a:r>
            <a:r>
              <a:rPr lang="pt-BR" dirty="0" smtClean="0"/>
              <a:t> de duas formas: 1.Menu do crédito Imobiliário e 2. Menu de Empréstimo.</a:t>
            </a:r>
          </a:p>
          <a:p>
            <a:endParaRPr lang="pt-BR" dirty="0" smtClean="0"/>
          </a:p>
          <a:p>
            <a:r>
              <a:rPr lang="pt-BR" dirty="0" smtClean="0"/>
              <a:t>Na jornada nova precisamos identificar quando foi iniciada pelo Menu de Empréstimo, porque quando o cliente vem por esse caminho a </a:t>
            </a:r>
            <a:r>
              <a:rPr lang="pt-BR" dirty="0" err="1" smtClean="0"/>
              <a:t>idéia</a:t>
            </a:r>
            <a:r>
              <a:rPr lang="pt-BR" dirty="0" smtClean="0"/>
              <a:t> é ser direcionado para o jornada de Simulação. Não tem a necessidade de mostrar o menu completo do Imobiliário. Por isso é importante diferenciar a entrada na jornada do crédito Imobiliário do </a:t>
            </a:r>
            <a:r>
              <a:rPr lang="pt-BR" dirty="0" err="1" smtClean="0"/>
              <a:t>App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*</a:t>
            </a:r>
            <a:r>
              <a:rPr lang="pt-BR" dirty="0" err="1" smtClean="0"/>
              <a:t>Apesear</a:t>
            </a:r>
            <a:r>
              <a:rPr lang="pt-BR" dirty="0" smtClean="0"/>
              <a:t> dessa Jornada (MVP) estamos tratando o Fluxo de Amortização e Quitação Pós venda usando recursos </a:t>
            </a:r>
            <a:r>
              <a:rPr lang="pt-BR" dirty="0" err="1" smtClean="0"/>
              <a:t>própios</a:t>
            </a:r>
            <a:r>
              <a:rPr lang="pt-BR" dirty="0" smtClean="0"/>
              <a:t> sem utilização do FGTS. Vamos precisar fazer uma </a:t>
            </a:r>
            <a:r>
              <a:rPr lang="pt-BR" dirty="0" err="1" smtClean="0"/>
              <a:t>modrenização</a:t>
            </a:r>
            <a:r>
              <a:rPr lang="pt-BR" dirty="0" smtClean="0"/>
              <a:t> e revitalização das Jornadas já existentes Exemplo a parte de SIMULAÇÂO que já existe hoje no Legado.</a:t>
            </a:r>
          </a:p>
          <a:p>
            <a:endParaRPr lang="pt-BR" dirty="0" smtClean="0"/>
          </a:p>
          <a:p>
            <a:r>
              <a:rPr lang="pt-BR" dirty="0" smtClean="0"/>
              <a:t>Com isso a Construção do Crédito imobiliário revitalizado, porque quando o cliente acessar o Menu, vamos usar o Componente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terá uma configuração para direcionar quando a Jornada do cliente segue o caminho do legado ou será direcionada para jornada </a:t>
            </a:r>
            <a:r>
              <a:rPr lang="pt-BR" dirty="0" err="1" smtClean="0"/>
              <a:t>ja</a:t>
            </a:r>
            <a:r>
              <a:rPr lang="pt-BR" dirty="0" smtClean="0"/>
              <a:t> Modernizada na Cloud. Então o Primeiro ponto aqui é fazer essa parametrização no Rotador Junto com o </a:t>
            </a:r>
            <a:r>
              <a:rPr lang="pt-BR" dirty="0" err="1" smtClean="0"/>
              <a:t>Rollout</a:t>
            </a:r>
            <a:r>
              <a:rPr lang="pt-BR" dirty="0" smtClean="0"/>
              <a:t>.</a:t>
            </a:r>
          </a:p>
          <a:p>
            <a:r>
              <a:rPr lang="pt-BR" dirty="0" smtClean="0"/>
              <a:t>Quando o cliente entrar no Menu a </a:t>
            </a:r>
            <a:r>
              <a:rPr lang="pt-BR" dirty="0" err="1" smtClean="0"/>
              <a:t>idéia</a:t>
            </a:r>
            <a:r>
              <a:rPr lang="pt-BR" dirty="0" smtClean="0"/>
              <a:t> é que ela já veja o Menu do Crédito Imobiliário já todo </a:t>
            </a:r>
            <a:r>
              <a:rPr lang="pt-BR" dirty="0" err="1" smtClean="0"/>
              <a:t>Rivitalizado</a:t>
            </a:r>
            <a:r>
              <a:rPr lang="pt-BR" dirty="0" smtClean="0"/>
              <a:t> e aqui que será feito a </a:t>
            </a:r>
            <a:r>
              <a:rPr lang="pt-BR" dirty="0" err="1" smtClean="0"/>
              <a:t>segreção</a:t>
            </a:r>
            <a:r>
              <a:rPr lang="pt-BR" dirty="0" smtClean="0"/>
              <a:t> dos eventos.  (Exemplo: Se o Cliente criar em um evento que não vamos começar a revitalização por agora,- (tipo a Simulação), ela vai esta no menu revitalizado mais ele deve ser direcionado para o Legado para continuar a jornada </a:t>
            </a:r>
            <a:r>
              <a:rPr lang="pt-BR" dirty="0" err="1" smtClean="0"/>
              <a:t>ja</a:t>
            </a:r>
            <a:r>
              <a:rPr lang="pt-BR" dirty="0" smtClean="0"/>
              <a:t> existente.  Caso ele selecione uma Opção do Pós Vendas o cliente </a:t>
            </a:r>
            <a:r>
              <a:rPr lang="pt-BR" dirty="0" err="1" smtClean="0"/>
              <a:t>constinua</a:t>
            </a:r>
            <a:r>
              <a:rPr lang="pt-BR" dirty="0" smtClean="0"/>
              <a:t> na jornada da Azure.</a:t>
            </a:r>
          </a:p>
          <a:p>
            <a:endParaRPr lang="pt-BR" dirty="0" smtClean="0"/>
          </a:p>
          <a:p>
            <a:r>
              <a:rPr lang="pt-BR" dirty="0" smtClean="0"/>
              <a:t>Apenas para explicar a função do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que vai fazer essa orquestração de direcionamentos para a jornada do legado ou Jornada do Pós vendas com isso nos ajuda nesse processo de convivência.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O Cliente vai cair no Micro Front </a:t>
            </a:r>
            <a:r>
              <a:rPr lang="pt-BR" dirty="0" err="1" smtClean="0"/>
              <a:t>End</a:t>
            </a:r>
            <a:r>
              <a:rPr lang="pt-BR" dirty="0" smtClean="0"/>
              <a:t> que vai fazer todas as elegibilidade de Menus. 1.Verifica se a Consulta no serviço veio do Menu de Empréstimos.( Identifica se esse redirecionamento esta vindo de lá ou não) </a:t>
            </a:r>
            <a:r>
              <a:rPr lang="pt-BR" dirty="0" err="1" smtClean="0"/>
              <a:t>Ja</a:t>
            </a:r>
            <a:r>
              <a:rPr lang="pt-BR" dirty="0" smtClean="0"/>
              <a:t> tem um Micro serviço na TI Hibrida.( consegue consultar isso).</a:t>
            </a:r>
          </a:p>
          <a:p>
            <a:r>
              <a:rPr lang="pt-BR" dirty="0" smtClean="0"/>
              <a:t>Isso é importante porque mesmo que o cliente seja elegível, vamos mostrar o Menu completo, podemos mandar direto para opção de Simulação. (tem que ver como a Regra de negócio será aplicada).</a:t>
            </a:r>
          </a:p>
          <a:p>
            <a:endParaRPr lang="pt-BR" dirty="0" smtClean="0"/>
          </a:p>
          <a:p>
            <a:r>
              <a:rPr lang="pt-BR" dirty="0" smtClean="0"/>
              <a:t>Vamos ter o Micro Front </a:t>
            </a:r>
            <a:r>
              <a:rPr lang="pt-BR" dirty="0" err="1" smtClean="0"/>
              <a:t>end</a:t>
            </a:r>
            <a:r>
              <a:rPr lang="pt-BR" dirty="0" smtClean="0"/>
              <a:t> desse menu do pós venda que vai ser feito. (</a:t>
            </a:r>
            <a:r>
              <a:rPr lang="pt-BR" dirty="0" err="1" smtClean="0"/>
              <a:t>stazudvbracrimmenu</a:t>
            </a:r>
            <a:r>
              <a:rPr lang="pt-BR" dirty="0" smtClean="0"/>
              <a:t>).  </a:t>
            </a:r>
          </a:p>
          <a:p>
            <a:endParaRPr lang="pt-BR" dirty="0" smtClean="0"/>
          </a:p>
          <a:p>
            <a:r>
              <a:rPr lang="pt-BR" dirty="0" smtClean="0"/>
              <a:t>.</a:t>
            </a:r>
            <a:r>
              <a:rPr lang="pt-BR" dirty="0" err="1" smtClean="0"/>
              <a:t>crim-bff-mpf-imob</a:t>
            </a:r>
            <a:endParaRPr lang="pt-BR" dirty="0" smtClean="0"/>
          </a:p>
          <a:p>
            <a:r>
              <a:rPr lang="pt-BR" dirty="0" smtClean="0"/>
              <a:t>O BFF  vai ser único para essa </a:t>
            </a:r>
            <a:r>
              <a:rPr lang="pt-BR" dirty="0" err="1" smtClean="0"/>
              <a:t>essa</a:t>
            </a:r>
            <a:r>
              <a:rPr lang="pt-BR" dirty="0" smtClean="0"/>
              <a:t> jornada completa. 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Para fazer consulta que ainda esta no Menu de Empréstimo, vamos ter que passar pelo Gateway Corporativo.  Esse serviço deve estar exposto no Gateway corporativo de Canais para conseguimos acessar.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-contratos.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crim-srv-imob-ocorrencias</a:t>
            </a:r>
            <a:r>
              <a:rPr lang="pt-BR" dirty="0" smtClean="0"/>
              <a:t> : Consulta das </a:t>
            </a:r>
            <a:r>
              <a:rPr lang="pt-BR" dirty="0" err="1" smtClean="0"/>
              <a:t>Ocorrencias</a:t>
            </a:r>
            <a:r>
              <a:rPr lang="pt-BR" dirty="0" smtClean="0"/>
              <a:t> em aberto. (Ocorrências de Amortização dos Contratos) Esse </a:t>
            </a:r>
            <a:r>
              <a:rPr lang="pt-BR" dirty="0" err="1" smtClean="0"/>
              <a:t>microserviço</a:t>
            </a:r>
            <a:r>
              <a:rPr lang="pt-BR" dirty="0" smtClean="0"/>
              <a:t> faz a consulta na Base Federada do SISCRED.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-eventos-menu : Aplicar regras tendo como referência os dados do Ciente, para </a:t>
            </a:r>
            <a:r>
              <a:rPr lang="pt-BR" dirty="0" err="1" smtClean="0"/>
              <a:t>identifivar</a:t>
            </a:r>
            <a:r>
              <a:rPr lang="pt-BR" dirty="0" smtClean="0"/>
              <a:t> quais eventos que </a:t>
            </a:r>
            <a:r>
              <a:rPr lang="pt-BR" dirty="0" err="1" smtClean="0"/>
              <a:t>estara</a:t>
            </a:r>
            <a:r>
              <a:rPr lang="pt-BR" dirty="0" smtClean="0"/>
              <a:t> </a:t>
            </a:r>
            <a:r>
              <a:rPr lang="pt-BR" dirty="0" err="1" smtClean="0"/>
              <a:t>disponivel</a:t>
            </a:r>
            <a:r>
              <a:rPr lang="pt-BR" dirty="0" smtClean="0"/>
              <a:t> para montar o menu.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81412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Explicação fluxo de Arquitetura de Solução.</a:t>
            </a:r>
          </a:p>
          <a:p>
            <a:endParaRPr lang="pt-BR" dirty="0" smtClean="0"/>
          </a:p>
          <a:p>
            <a:r>
              <a:rPr lang="pt-BR" dirty="0" smtClean="0"/>
              <a:t>Hoje é </a:t>
            </a:r>
            <a:r>
              <a:rPr lang="pt-BR" dirty="0" err="1" smtClean="0"/>
              <a:t>possivel</a:t>
            </a:r>
            <a:r>
              <a:rPr lang="pt-BR" dirty="0" smtClean="0"/>
              <a:t> entrar no menu do Crédito imobiliário </a:t>
            </a:r>
            <a:r>
              <a:rPr lang="pt-BR" dirty="0" err="1" smtClean="0"/>
              <a:t>apartir</a:t>
            </a:r>
            <a:r>
              <a:rPr lang="pt-BR" dirty="0" smtClean="0"/>
              <a:t> de duas formas: 1.Menu do crédito Imobiliário e 2. Menu de Empréstimo.</a:t>
            </a:r>
          </a:p>
          <a:p>
            <a:endParaRPr lang="pt-BR" dirty="0" smtClean="0"/>
          </a:p>
          <a:p>
            <a:r>
              <a:rPr lang="pt-BR" dirty="0" smtClean="0"/>
              <a:t>Na jornada nova precisamos identificar quando foi iniciada pelo Menu de Empréstimo, porque quando o cliente vem por esse caminho a </a:t>
            </a:r>
            <a:r>
              <a:rPr lang="pt-BR" dirty="0" err="1" smtClean="0"/>
              <a:t>idéia</a:t>
            </a:r>
            <a:r>
              <a:rPr lang="pt-BR" dirty="0" smtClean="0"/>
              <a:t> é ser direcionado para o jornada de Simulação. Não tem a necessidade de mostrar o menu completo do Imobiliário. Por isso é importante diferenciar a entrada na jornada do crédito Imobiliário do </a:t>
            </a:r>
            <a:r>
              <a:rPr lang="pt-BR" dirty="0" err="1" smtClean="0"/>
              <a:t>App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*</a:t>
            </a:r>
            <a:r>
              <a:rPr lang="pt-BR" dirty="0" err="1" smtClean="0"/>
              <a:t>Apesear</a:t>
            </a:r>
            <a:r>
              <a:rPr lang="pt-BR" dirty="0" smtClean="0"/>
              <a:t> dessa Jornada (MVP) estamos tratando o Fluxo de Amortização e Quitação Pós venda usando recursos </a:t>
            </a:r>
            <a:r>
              <a:rPr lang="pt-BR" dirty="0" err="1" smtClean="0"/>
              <a:t>própios</a:t>
            </a:r>
            <a:r>
              <a:rPr lang="pt-BR" dirty="0" smtClean="0"/>
              <a:t> sem utilização do FGTS. Vamos precisar fazer uma </a:t>
            </a:r>
            <a:r>
              <a:rPr lang="pt-BR" dirty="0" err="1" smtClean="0"/>
              <a:t>modrenização</a:t>
            </a:r>
            <a:r>
              <a:rPr lang="pt-BR" dirty="0" smtClean="0"/>
              <a:t> e revitalização das Jornadas já existentes Exemplo a parte de SIMULAÇÂO que já existe hoje no Legado.</a:t>
            </a:r>
          </a:p>
          <a:p>
            <a:endParaRPr lang="pt-BR" dirty="0" smtClean="0"/>
          </a:p>
          <a:p>
            <a:r>
              <a:rPr lang="pt-BR" dirty="0" smtClean="0"/>
              <a:t>Com isso a Construção do Crédito imobiliário revitalizado, porque quando o cliente acessar o Menu, vamos usar o Componente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terá uma configuração para direcionar quando a Jornada do cliente segue o caminho do legado ou será direcionada para jornada </a:t>
            </a:r>
            <a:r>
              <a:rPr lang="pt-BR" dirty="0" err="1" smtClean="0"/>
              <a:t>ja</a:t>
            </a:r>
            <a:r>
              <a:rPr lang="pt-BR" dirty="0" smtClean="0"/>
              <a:t> Modernizada na Cloud. Então o Primeiro ponto aqui é fazer essa parametrização no Rotador Junto com o </a:t>
            </a:r>
            <a:r>
              <a:rPr lang="pt-BR" dirty="0" err="1" smtClean="0"/>
              <a:t>Rollout</a:t>
            </a:r>
            <a:r>
              <a:rPr lang="pt-BR" dirty="0" smtClean="0"/>
              <a:t>.</a:t>
            </a:r>
          </a:p>
          <a:p>
            <a:r>
              <a:rPr lang="pt-BR" dirty="0" smtClean="0"/>
              <a:t>Quando o cliente entrar no Menu a </a:t>
            </a:r>
            <a:r>
              <a:rPr lang="pt-BR" dirty="0" err="1" smtClean="0"/>
              <a:t>idéia</a:t>
            </a:r>
            <a:r>
              <a:rPr lang="pt-BR" dirty="0" smtClean="0"/>
              <a:t> é que ela já veja o Menu do Crédito Imobiliário já todo </a:t>
            </a:r>
            <a:r>
              <a:rPr lang="pt-BR" dirty="0" err="1" smtClean="0"/>
              <a:t>Rivitalizado</a:t>
            </a:r>
            <a:r>
              <a:rPr lang="pt-BR" dirty="0" smtClean="0"/>
              <a:t> e aqui que será feito a </a:t>
            </a:r>
            <a:r>
              <a:rPr lang="pt-BR" dirty="0" err="1" smtClean="0"/>
              <a:t>segreção</a:t>
            </a:r>
            <a:r>
              <a:rPr lang="pt-BR" dirty="0" smtClean="0"/>
              <a:t> dos eventos.  (Exemplo: Se o Cliente criar em um evento que não vamos começar a revitalização por agora,- (tipo a Simulação), ela vai esta no menu revitalizado mais ele deve ser direcionado para o Legado para continuar a jornada </a:t>
            </a:r>
            <a:r>
              <a:rPr lang="pt-BR" dirty="0" err="1" smtClean="0"/>
              <a:t>ja</a:t>
            </a:r>
            <a:r>
              <a:rPr lang="pt-BR" dirty="0" smtClean="0"/>
              <a:t> existente.  Caso ele selecione uma Opção do Pós Vendas o cliente </a:t>
            </a:r>
            <a:r>
              <a:rPr lang="pt-BR" dirty="0" err="1" smtClean="0"/>
              <a:t>constinua</a:t>
            </a:r>
            <a:r>
              <a:rPr lang="pt-BR" dirty="0" smtClean="0"/>
              <a:t> na jornada da Azure.</a:t>
            </a:r>
          </a:p>
          <a:p>
            <a:endParaRPr lang="pt-BR" dirty="0" smtClean="0"/>
          </a:p>
          <a:p>
            <a:r>
              <a:rPr lang="pt-BR" dirty="0" smtClean="0"/>
              <a:t>Apenas para explicar a função do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que vai fazer essa orquestração de direcionamentos para a jornada do legado ou Jornada do Pós vendas com isso nos ajuda nesse processo de convivência.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O Cliente vai cair no Micro Front </a:t>
            </a:r>
            <a:r>
              <a:rPr lang="pt-BR" dirty="0" err="1" smtClean="0"/>
              <a:t>End</a:t>
            </a:r>
            <a:r>
              <a:rPr lang="pt-BR" dirty="0" smtClean="0"/>
              <a:t> que vai fazer todas as elegibilidade de Menus. 1.Verifica se a Consulta no serviço veio do Menu de Empréstimos.( Identifica se esse redirecionamento esta vindo de lá ou não) </a:t>
            </a:r>
            <a:r>
              <a:rPr lang="pt-BR" dirty="0" err="1" smtClean="0"/>
              <a:t>Ja</a:t>
            </a:r>
            <a:r>
              <a:rPr lang="pt-BR" dirty="0" smtClean="0"/>
              <a:t> tem um Micro serviço na TI Hibrida.( consegue consultar isso).</a:t>
            </a:r>
          </a:p>
          <a:p>
            <a:r>
              <a:rPr lang="pt-BR" dirty="0" smtClean="0"/>
              <a:t>Isso é importante porque mesmo que o cliente seja elegível, vamos mostrar o Menu completo, podemos mandar direto para opção de Simulação. (tem que ver como a Regra de negócio será aplicada).</a:t>
            </a:r>
          </a:p>
          <a:p>
            <a:endParaRPr lang="pt-BR" dirty="0" smtClean="0"/>
          </a:p>
          <a:p>
            <a:r>
              <a:rPr lang="pt-BR" dirty="0" smtClean="0"/>
              <a:t>Vamos ter o Micro Front </a:t>
            </a:r>
            <a:r>
              <a:rPr lang="pt-BR" dirty="0" err="1" smtClean="0"/>
              <a:t>end</a:t>
            </a:r>
            <a:r>
              <a:rPr lang="pt-BR" dirty="0" smtClean="0"/>
              <a:t> desse menu do pós venda que vai ser feito. (</a:t>
            </a:r>
            <a:r>
              <a:rPr lang="pt-BR" dirty="0" err="1" smtClean="0"/>
              <a:t>stazudvbracrimmenu</a:t>
            </a:r>
            <a:r>
              <a:rPr lang="pt-BR" dirty="0" smtClean="0"/>
              <a:t>).  </a:t>
            </a:r>
          </a:p>
          <a:p>
            <a:endParaRPr lang="pt-BR" dirty="0" smtClean="0"/>
          </a:p>
          <a:p>
            <a:r>
              <a:rPr lang="pt-BR" dirty="0" smtClean="0"/>
              <a:t>.</a:t>
            </a:r>
            <a:r>
              <a:rPr lang="pt-BR" dirty="0" err="1" smtClean="0"/>
              <a:t>crim-bff-mpf-imob</a:t>
            </a:r>
            <a:endParaRPr lang="pt-BR" dirty="0" smtClean="0"/>
          </a:p>
          <a:p>
            <a:r>
              <a:rPr lang="pt-BR" dirty="0" smtClean="0"/>
              <a:t>O BFF  vai ser único para essa </a:t>
            </a:r>
            <a:r>
              <a:rPr lang="pt-BR" dirty="0" err="1" smtClean="0"/>
              <a:t>essa</a:t>
            </a:r>
            <a:r>
              <a:rPr lang="pt-BR" dirty="0" smtClean="0"/>
              <a:t> jornada completa. 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Para fazer consulta que ainda esta no Menu de Empréstimo, vamos ter que passar pelo Gateway Corporativo.  Esse serviço deve estar exposto no Gateway corporativo de Canais para conseguimos acessar.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-contratos.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crim-srv-imob-ocorrencias</a:t>
            </a:r>
            <a:r>
              <a:rPr lang="pt-BR" dirty="0" smtClean="0"/>
              <a:t> : Consulta das </a:t>
            </a:r>
            <a:r>
              <a:rPr lang="pt-BR" dirty="0" err="1" smtClean="0"/>
              <a:t>Ocorrencias</a:t>
            </a:r>
            <a:r>
              <a:rPr lang="pt-BR" dirty="0" smtClean="0"/>
              <a:t> em aberto. (Ocorrências de Amortização dos Contratos) Esse </a:t>
            </a:r>
            <a:r>
              <a:rPr lang="pt-BR" dirty="0" err="1" smtClean="0"/>
              <a:t>microserviço</a:t>
            </a:r>
            <a:r>
              <a:rPr lang="pt-BR" dirty="0" smtClean="0"/>
              <a:t> faz a consulta na Base Federada do SISCRED.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-eventos-menu : Aplicar regras tendo como referência os dados do Ciente, para </a:t>
            </a:r>
            <a:r>
              <a:rPr lang="pt-BR" dirty="0" err="1" smtClean="0"/>
              <a:t>identifivar</a:t>
            </a:r>
            <a:r>
              <a:rPr lang="pt-BR" dirty="0" smtClean="0"/>
              <a:t> quais eventos que </a:t>
            </a:r>
            <a:r>
              <a:rPr lang="pt-BR" dirty="0" err="1" smtClean="0"/>
              <a:t>estara</a:t>
            </a:r>
            <a:r>
              <a:rPr lang="pt-BR" dirty="0" smtClean="0"/>
              <a:t> </a:t>
            </a:r>
            <a:r>
              <a:rPr lang="pt-BR" dirty="0" err="1" smtClean="0"/>
              <a:t>disponivel</a:t>
            </a:r>
            <a:r>
              <a:rPr lang="pt-BR" dirty="0" smtClean="0"/>
              <a:t> para montar o menu.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005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Explicação fluxo de Arquitetura de Solução.</a:t>
            </a:r>
          </a:p>
          <a:p>
            <a:endParaRPr lang="pt-BR" dirty="0" smtClean="0"/>
          </a:p>
          <a:p>
            <a:r>
              <a:rPr lang="pt-BR" dirty="0" smtClean="0"/>
              <a:t>Hoje é </a:t>
            </a:r>
            <a:r>
              <a:rPr lang="pt-BR" dirty="0" err="1" smtClean="0"/>
              <a:t>possivel</a:t>
            </a:r>
            <a:r>
              <a:rPr lang="pt-BR" dirty="0" smtClean="0"/>
              <a:t> entrar no menu do Crédito imobiliário </a:t>
            </a:r>
            <a:r>
              <a:rPr lang="pt-BR" dirty="0" err="1" smtClean="0"/>
              <a:t>apartir</a:t>
            </a:r>
            <a:r>
              <a:rPr lang="pt-BR" dirty="0" smtClean="0"/>
              <a:t> de duas formas: 1.Menu do crédito Imobiliário e 2. Menu de Empréstimo.</a:t>
            </a:r>
          </a:p>
          <a:p>
            <a:endParaRPr lang="pt-BR" dirty="0" smtClean="0"/>
          </a:p>
          <a:p>
            <a:r>
              <a:rPr lang="pt-BR" dirty="0" smtClean="0"/>
              <a:t>Na jornada nova precisamos identificar quando foi iniciada pelo Menu de Empréstimo, porque quando o cliente vem por esse caminho a </a:t>
            </a:r>
            <a:r>
              <a:rPr lang="pt-BR" dirty="0" err="1" smtClean="0"/>
              <a:t>idéia</a:t>
            </a:r>
            <a:r>
              <a:rPr lang="pt-BR" dirty="0" smtClean="0"/>
              <a:t> é ser direcionado para o jornada de Simulação. Não tem a necessidade de mostrar o menu completo do Imobiliário. Por isso é importante diferenciar a entrada na jornada do crédito Imobiliário do </a:t>
            </a:r>
            <a:r>
              <a:rPr lang="pt-BR" dirty="0" err="1" smtClean="0"/>
              <a:t>App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*</a:t>
            </a:r>
            <a:r>
              <a:rPr lang="pt-BR" dirty="0" err="1" smtClean="0"/>
              <a:t>Apesear</a:t>
            </a:r>
            <a:r>
              <a:rPr lang="pt-BR" dirty="0" smtClean="0"/>
              <a:t> dessa Jornada (MVP) estamos tratando o Fluxo de Amortização e Quitação Pós venda usando recursos </a:t>
            </a:r>
            <a:r>
              <a:rPr lang="pt-BR" dirty="0" err="1" smtClean="0"/>
              <a:t>própios</a:t>
            </a:r>
            <a:r>
              <a:rPr lang="pt-BR" dirty="0" smtClean="0"/>
              <a:t> sem utilização do FGTS. Vamos precisar fazer uma </a:t>
            </a:r>
            <a:r>
              <a:rPr lang="pt-BR" dirty="0" err="1" smtClean="0"/>
              <a:t>modrenização</a:t>
            </a:r>
            <a:r>
              <a:rPr lang="pt-BR" dirty="0" smtClean="0"/>
              <a:t> e revitalização das Jornadas já existentes Exemplo a parte de SIMULAÇÂO que já existe hoje no Legado.</a:t>
            </a:r>
          </a:p>
          <a:p>
            <a:endParaRPr lang="pt-BR" dirty="0" smtClean="0"/>
          </a:p>
          <a:p>
            <a:r>
              <a:rPr lang="pt-BR" dirty="0" smtClean="0"/>
              <a:t>Com isso a Construção do Crédito imobiliário revitalizado, porque quando o cliente acessar o Menu, vamos usar o Componente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terá uma configuração para direcionar quando a Jornada do cliente segue o caminho do legado ou será direcionada para jornada </a:t>
            </a:r>
            <a:r>
              <a:rPr lang="pt-BR" dirty="0" err="1" smtClean="0"/>
              <a:t>ja</a:t>
            </a:r>
            <a:r>
              <a:rPr lang="pt-BR" dirty="0" smtClean="0"/>
              <a:t> Modernizada na Cloud. Então o Primeiro ponto aqui é fazer essa parametrização no Rotador Junto com o </a:t>
            </a:r>
            <a:r>
              <a:rPr lang="pt-BR" dirty="0" err="1" smtClean="0"/>
              <a:t>Rollout</a:t>
            </a:r>
            <a:r>
              <a:rPr lang="pt-BR" dirty="0" smtClean="0"/>
              <a:t>.</a:t>
            </a:r>
          </a:p>
          <a:p>
            <a:r>
              <a:rPr lang="pt-BR" dirty="0" smtClean="0"/>
              <a:t>Quando o cliente entrar no Menu a </a:t>
            </a:r>
            <a:r>
              <a:rPr lang="pt-BR" dirty="0" err="1" smtClean="0"/>
              <a:t>idéia</a:t>
            </a:r>
            <a:r>
              <a:rPr lang="pt-BR" dirty="0" smtClean="0"/>
              <a:t> é que ela já veja o Menu do Crédito Imobiliário já todo </a:t>
            </a:r>
            <a:r>
              <a:rPr lang="pt-BR" dirty="0" err="1" smtClean="0"/>
              <a:t>Rivitalizado</a:t>
            </a:r>
            <a:r>
              <a:rPr lang="pt-BR" dirty="0" smtClean="0"/>
              <a:t> e aqui que será feito a </a:t>
            </a:r>
            <a:r>
              <a:rPr lang="pt-BR" dirty="0" err="1" smtClean="0"/>
              <a:t>segreção</a:t>
            </a:r>
            <a:r>
              <a:rPr lang="pt-BR" dirty="0" smtClean="0"/>
              <a:t> dos eventos.  (Exemplo: Se o Cliente criar em um evento que não vamos começar a revitalização por agora,- (tipo a Simulação), ela vai esta no menu revitalizado mais ele deve ser direcionado para o Legado para continuar a jornada </a:t>
            </a:r>
            <a:r>
              <a:rPr lang="pt-BR" dirty="0" err="1" smtClean="0"/>
              <a:t>ja</a:t>
            </a:r>
            <a:r>
              <a:rPr lang="pt-BR" dirty="0" smtClean="0"/>
              <a:t> existente.  Caso ele selecione uma Opção do Pós Vendas o cliente </a:t>
            </a:r>
            <a:r>
              <a:rPr lang="pt-BR" dirty="0" err="1" smtClean="0"/>
              <a:t>constinua</a:t>
            </a:r>
            <a:r>
              <a:rPr lang="pt-BR" dirty="0" smtClean="0"/>
              <a:t> na jornada da Azure.</a:t>
            </a:r>
          </a:p>
          <a:p>
            <a:endParaRPr lang="pt-BR" dirty="0" smtClean="0"/>
          </a:p>
          <a:p>
            <a:r>
              <a:rPr lang="pt-BR" dirty="0" smtClean="0"/>
              <a:t>Apenas para explicar a função do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que vai fazer essa orquestração de direcionamentos para a jornada do legado ou Jornada do Pós vendas com isso nos ajuda nesse processo de convivência.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O Cliente vai cair no Micro Front </a:t>
            </a:r>
            <a:r>
              <a:rPr lang="pt-BR" dirty="0" err="1" smtClean="0"/>
              <a:t>End</a:t>
            </a:r>
            <a:r>
              <a:rPr lang="pt-BR" dirty="0" smtClean="0"/>
              <a:t> que vai fazer todas as elegibilidade de Menus. 1.Verifica se a Consulta no serviço veio do Menu de Empréstimos.( Identifica se esse redirecionamento esta vindo de lá ou não) </a:t>
            </a:r>
            <a:r>
              <a:rPr lang="pt-BR" dirty="0" err="1" smtClean="0"/>
              <a:t>Ja</a:t>
            </a:r>
            <a:r>
              <a:rPr lang="pt-BR" dirty="0" smtClean="0"/>
              <a:t> tem um Micro serviço na TI Hibrida.( consegue consultar isso).</a:t>
            </a:r>
          </a:p>
          <a:p>
            <a:r>
              <a:rPr lang="pt-BR" dirty="0" smtClean="0"/>
              <a:t>Isso é importante porque mesmo que o cliente seja elegível, vamos mostrar o Menu completo, podemos mandar direto para opção de Simulação. (tem que ver como a Regra de negócio será aplicada).</a:t>
            </a:r>
          </a:p>
          <a:p>
            <a:endParaRPr lang="pt-BR" dirty="0" smtClean="0"/>
          </a:p>
          <a:p>
            <a:r>
              <a:rPr lang="pt-BR" dirty="0" smtClean="0"/>
              <a:t>Vamos ter o Micro Front </a:t>
            </a:r>
            <a:r>
              <a:rPr lang="pt-BR" dirty="0" err="1" smtClean="0"/>
              <a:t>end</a:t>
            </a:r>
            <a:r>
              <a:rPr lang="pt-BR" dirty="0" smtClean="0"/>
              <a:t> desse menu do pós venda que vai ser feito. (</a:t>
            </a:r>
            <a:r>
              <a:rPr lang="pt-BR" dirty="0" err="1" smtClean="0"/>
              <a:t>stazudvbracrimmenu</a:t>
            </a:r>
            <a:r>
              <a:rPr lang="pt-BR" dirty="0" smtClean="0"/>
              <a:t>).  </a:t>
            </a:r>
          </a:p>
          <a:p>
            <a:endParaRPr lang="pt-BR" dirty="0" smtClean="0"/>
          </a:p>
          <a:p>
            <a:r>
              <a:rPr lang="pt-BR" dirty="0" smtClean="0"/>
              <a:t>.</a:t>
            </a:r>
            <a:r>
              <a:rPr lang="pt-BR" dirty="0" err="1" smtClean="0"/>
              <a:t>crim-bff-mpf-imob</a:t>
            </a:r>
            <a:endParaRPr lang="pt-BR" dirty="0" smtClean="0"/>
          </a:p>
          <a:p>
            <a:r>
              <a:rPr lang="pt-BR" dirty="0" smtClean="0"/>
              <a:t>O BFF  vai ser único para essa </a:t>
            </a:r>
            <a:r>
              <a:rPr lang="pt-BR" dirty="0" err="1" smtClean="0"/>
              <a:t>essa</a:t>
            </a:r>
            <a:r>
              <a:rPr lang="pt-BR" dirty="0" smtClean="0"/>
              <a:t> jornada completa. 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Para fazer consulta que ainda esta no Menu de Empréstimo, vamos ter que passar pelo Gateway Corporativo.  Esse serviço deve estar exposto no Gateway corporativo de Canais para conseguimos acessar.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-contratos.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crim-srv-imob-ocorrencias</a:t>
            </a:r>
            <a:r>
              <a:rPr lang="pt-BR" dirty="0" smtClean="0"/>
              <a:t> : Consulta das </a:t>
            </a:r>
            <a:r>
              <a:rPr lang="pt-BR" dirty="0" err="1" smtClean="0"/>
              <a:t>Ocorrencias</a:t>
            </a:r>
            <a:r>
              <a:rPr lang="pt-BR" dirty="0" smtClean="0"/>
              <a:t> em aberto. (Ocorrências de Amortização dos Contratos) Esse </a:t>
            </a:r>
            <a:r>
              <a:rPr lang="pt-BR" dirty="0" err="1" smtClean="0"/>
              <a:t>microserviço</a:t>
            </a:r>
            <a:r>
              <a:rPr lang="pt-BR" dirty="0" smtClean="0"/>
              <a:t> faz a consulta na Base Federada do SISCRED.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-eventos-menu : Aplicar regras tendo como referência os dados do Ciente, para </a:t>
            </a:r>
            <a:r>
              <a:rPr lang="pt-BR" dirty="0" err="1" smtClean="0"/>
              <a:t>identifivar</a:t>
            </a:r>
            <a:r>
              <a:rPr lang="pt-BR" dirty="0" smtClean="0"/>
              <a:t> quais eventos que </a:t>
            </a:r>
            <a:r>
              <a:rPr lang="pt-BR" dirty="0" err="1" smtClean="0"/>
              <a:t>estara</a:t>
            </a:r>
            <a:r>
              <a:rPr lang="pt-BR" dirty="0" smtClean="0"/>
              <a:t> </a:t>
            </a:r>
            <a:r>
              <a:rPr lang="pt-BR" dirty="0" err="1" smtClean="0"/>
              <a:t>disponivel</a:t>
            </a:r>
            <a:r>
              <a:rPr lang="pt-BR" dirty="0" smtClean="0"/>
              <a:t> para montar o menu.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9007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8250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9641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3EEEDC-5168-10B8-3B2D-C9EED8AF9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AB4B1B-9775-927F-0FAD-860945E7E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4B9571-6982-8077-6BBD-E0D45D73A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32FAD3-A2B7-6550-6368-CDC210F3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D07689-1267-C333-AAA8-337C3BE8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25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2C73F7-1938-011A-7B1A-03AA2071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0FDC57-438D-4315-D973-299E9A94B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4303E1-2A22-3ACB-2078-CDF728F4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0AA680-49C5-890D-A6E2-70B0B94D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9B4364-5027-9C01-A7B5-39F571E9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7820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33425-E5C6-46AA-186F-75D756272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DDE991-F26D-DE0F-5C83-BF2F11273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546360-AED4-4920-205A-A2AC7D208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DE4B75-94D5-2C01-2418-A6A96991A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11CD59-36AF-3587-835B-369670F0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0074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E1706-5928-BE7C-CF9C-26170488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A5F8F1-B004-893F-BE5F-15FB3DD7E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8470590-C25A-6D2C-C24E-128642550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84E8A5-BE8C-E563-162C-30F6E0057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BC5C26-454F-F687-D822-C5739B55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3AC67F-4647-8E68-DE53-E4BB704C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915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75FB1-E390-B3C7-4E0D-45EE91A45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78757B-85B3-3622-2056-6FAEB8B6E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4C1640-9F8A-B57C-F069-3CF876E1D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D8B69E8-68B7-86E3-1638-E6ED38DE9E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8BADFF-36CF-C13A-5990-59558D886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4C68C6E-B3E4-54D1-C07E-0481CE1F9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7B22C2-F28C-832A-E72B-5027B8FD1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0185BCF-2AE4-9902-AC85-31354AF8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811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3BEE0-B737-1803-77AB-668D05871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9D216B0-CFDD-7C74-FF2D-531EA8DED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DB634B9-E2E2-4301-2422-655CBCBF6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AE85889-3BBC-4C46-8C40-63E7AE94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7197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BB5FE1-D334-56BD-5D66-BBB61ED1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E9390C0-2D97-0062-F765-6EC44404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BFF8BD-5D71-280D-82BE-5E6E5901B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793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F662AA-390F-0D75-EF83-E026C310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5EE8B-E5E4-3AC6-20D9-2CBA96AEA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E7B1AB-3955-C944-2E07-9317E27DE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32B566-90F0-0A77-A82F-9835A3ED3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F552C1-3732-F1E0-DE24-BDCC411B9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9DDEB9-48B3-BEF2-4FC7-2E1BABE2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208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89F5C-EA1E-6FAE-E7ED-CE3153535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B3FBF0C-25BE-594A-6198-910A6F90F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B1DBB2-D8D3-4B57-7F6E-55BB035F1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A8573A-5348-2923-6B2D-11928E54E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052B79-406B-6FE4-E09C-6A3B34584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BF7DE8-1A8B-5EE1-EC8D-4E29B90A9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6020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5A674-EB06-D82D-FEC6-F7DC91540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C2B2EA-7B60-02B8-A4DF-D27E09D4E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263C92-ECBA-F940-DEC4-E01298382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EBA225-325F-1CC2-35DA-392438A4B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A3773D-5D99-A0B6-8156-0D9F3FD6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929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EB49AC-4E53-D82D-CCC9-EE0F12139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673513B-071B-0D39-20D6-F142D78C3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F10F04-A7B8-0ECD-D2DA-0DD21C6F0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E8ABFD-CB18-AD1E-DA06-637712CC1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B4D5F0-2606-C5DE-0F20-98E1D6E51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758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C54A2A45-887C-4E78-8896-C6B1A7DF6AB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BR"/>
              <a:t>  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8205C95-291A-416B-B821-79365581047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en-BR"/>
          </a:p>
        </p:txBody>
      </p:sp>
      <p:sp>
        <p:nvSpPr>
          <p:cNvPr id="19" name="Rectangle 2" descr="Retângulo 2">
            <a:extLst>
              <a:ext uri="{FF2B5EF4-FFF2-40B4-BE49-F238E27FC236}">
                <a16:creationId xmlns:a16="http://schemas.microsoft.com/office/drawing/2014/main" id="{1887CD05-083B-4C05-9DD5-877C08F85EA2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F36279">
                  <a:lumMod val="100000"/>
                </a:srgbClr>
              </a:gs>
              <a:gs pos="12598">
                <a:srgbClr val="E03654"/>
              </a:gs>
              <a:gs pos="51000">
                <a:srgbClr val="CC092F"/>
              </a:gs>
              <a:gs pos="8900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20" name="Picture 8">
            <a:extLst>
              <a:ext uri="{FF2B5EF4-FFF2-40B4-BE49-F238E27FC236}">
                <a16:creationId xmlns:a16="http://schemas.microsoft.com/office/drawing/2014/main" id="{F3A5F342-F49E-4190-89F2-551AEE8072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467" r="48106"/>
          <a:stretch/>
        </p:blipFill>
        <p:spPr>
          <a:xfrm>
            <a:off x="7726712" y="-1"/>
            <a:ext cx="4465288" cy="4009153"/>
          </a:xfrm>
          <a:prstGeom prst="rect">
            <a:avLst/>
          </a:prstGeom>
        </p:spPr>
      </p:pic>
      <p:sp>
        <p:nvSpPr>
          <p:cNvPr id="21" name="TextBox 9">
            <a:extLst>
              <a:ext uri="{FF2B5EF4-FFF2-40B4-BE49-F238E27FC236}">
                <a16:creationId xmlns:a16="http://schemas.microsoft.com/office/drawing/2014/main" id="{55F9FD83-A3F7-4F83-B069-BD90BC994B42}"/>
              </a:ext>
            </a:extLst>
          </p:cNvPr>
          <p:cNvSpPr txBox="1"/>
          <p:nvPr userDrawn="1"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pic>
        <p:nvPicPr>
          <p:cNvPr id="22" name="Picture 10">
            <a:extLst>
              <a:ext uri="{FF2B5EF4-FFF2-40B4-BE49-F238E27FC236}">
                <a16:creationId xmlns:a16="http://schemas.microsoft.com/office/drawing/2014/main" id="{6D9E1175-C925-4BAE-B56C-995AD1BB85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tretch>
            <a:fillRect/>
          </a:stretch>
        </p:blipFill>
        <p:spPr>
          <a:xfrm rot="18735649">
            <a:off x="-2403482" y="2926348"/>
            <a:ext cx="8604708" cy="843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231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3179354-8D5E-DBC4-B6EC-45999138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698E42-C5C1-D9D4-97AF-1A23DDB00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DF1661-6EF9-2749-19F3-6A07D8016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6D23C-12C4-44CD-8D6C-0E7CB70CE34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0D96BE-1C7C-E11E-903A-FED6DB4D4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224AAE-AD2C-C86C-7E30-64825DF159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427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image" Target="../media/image10.png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image" Target="../media/image10.png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image" Target="../media/image10.png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image" Target="../media/image10.png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image" Target="../media/image10.png"/><Relationship Id="rId4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image" Target="../media/image10.png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image" Target="../media/image10.png"/><Relationship Id="rId4" Type="http://schemas.openxmlformats.org/officeDocument/2006/relationships/image" Target="../media/image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image" Target="../media/image10.png"/><Relationship Id="rId4" Type="http://schemas.openxmlformats.org/officeDocument/2006/relationships/image" Target="../media/image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61106-A27A-74B8-869B-750355A663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x-none" dirty="0"/>
              <a:t>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3F9CA-4212-6DB8-8622-7B86C03B5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Rectangle 2" descr="Retângulo 2">
            <a:extLst>
              <a:ext uri="{FF2B5EF4-FFF2-40B4-BE49-F238E27FC236}">
                <a16:creationId xmlns:a16="http://schemas.microsoft.com/office/drawing/2014/main" id="{7AFFA7D4-4CB0-CBA3-FC1F-F1C9DE029F66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F36279">
                  <a:lumMod val="100000"/>
                </a:srgbClr>
              </a:gs>
              <a:gs pos="12598">
                <a:srgbClr val="E03654"/>
              </a:gs>
              <a:gs pos="51000">
                <a:srgbClr val="CC092F"/>
              </a:gs>
              <a:gs pos="8900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8D9DD8-EDCD-D73A-3AB6-B847C60B2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976" y="6284231"/>
            <a:ext cx="1438656" cy="320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884990-3DF9-F0D1-CB63-C496F2AE2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15420" y="3204499"/>
            <a:ext cx="3315767" cy="25268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F479BE-E417-1C02-4A02-64E380FF839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7726712" y="-4465680"/>
            <a:ext cx="8604708" cy="84345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4B1222-640E-C8B4-C5D8-BE38A9AF563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 rot="18735649">
            <a:off x="-2427241" y="4574446"/>
            <a:ext cx="8604708" cy="84345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501923" y="3968878"/>
            <a:ext cx="82468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chemeClr val="bg1"/>
                </a:solidFill>
                <a:latin typeface="Bradesco Sans" pitchFamily="2" charset="77"/>
              </a:rPr>
              <a:t>Bradesco – Sprint </a:t>
            </a:r>
            <a:r>
              <a:rPr lang="pt-BR" sz="2600" b="1" dirty="0" err="1" smtClean="0">
                <a:solidFill>
                  <a:schemeClr val="bg1"/>
                </a:solidFill>
                <a:latin typeface="Bradesco Sans" pitchFamily="2" charset="77"/>
              </a:rPr>
              <a:t>Review</a:t>
            </a:r>
            <a:r>
              <a:rPr lang="pt-BR" sz="2600" b="1" dirty="0" smtClean="0">
                <a:solidFill>
                  <a:schemeClr val="bg1"/>
                </a:solidFill>
                <a:latin typeface="Bradesco Sans" pitchFamily="2" charset="77"/>
              </a:rPr>
              <a:t> Credito Dia a Dia</a:t>
            </a:r>
            <a:endParaRPr lang="pt-BR" sz="2600" b="1" dirty="0">
              <a:solidFill>
                <a:schemeClr val="bg1"/>
              </a:solidFill>
              <a:latin typeface="Bradesco Sans" pitchFamily="2" charset="77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37E9CA8-D47A-2760-C42D-0BEF8AE5CD0C}"/>
              </a:ext>
            </a:extLst>
          </p:cNvPr>
          <p:cNvSpPr txBox="1"/>
          <p:nvPr/>
        </p:nvSpPr>
        <p:spPr>
          <a:xfrm>
            <a:off x="478674" y="4871682"/>
            <a:ext cx="3491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chemeClr val="bg1"/>
                </a:solidFill>
              </a:rPr>
              <a:t>, Alessandro </a:t>
            </a:r>
            <a:endParaRPr lang="pt-BR" sz="1400" b="1" dirty="0">
              <a:solidFill>
                <a:schemeClr val="bg1"/>
              </a:solidFill>
            </a:endParaRPr>
          </a:p>
          <a:p>
            <a:r>
              <a:rPr lang="pt-BR" sz="1400" b="1" dirty="0" smtClean="0">
                <a:solidFill>
                  <a:schemeClr val="bg1"/>
                </a:solidFill>
              </a:rPr>
              <a:t>01/10/2025</a:t>
            </a:r>
            <a:endParaRPr lang="pt-B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877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377125-3CDB-45A2-8B9E-266D3CE468AF}"/>
              </a:ext>
            </a:extLst>
          </p:cNvPr>
          <p:cNvSpPr/>
          <p:nvPr/>
        </p:nvSpPr>
        <p:spPr>
          <a:xfrm>
            <a:off x="0" y="0"/>
            <a:ext cx="4165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e4pContent1">
            <a:extLst>
              <a:ext uri="{FF2B5EF4-FFF2-40B4-BE49-F238E27FC236}">
                <a16:creationId xmlns:a16="http://schemas.microsoft.com/office/drawing/2014/main" id="{42DE98C3-BC61-4597-83B6-575C3D8E47C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18888" y="2505672"/>
            <a:ext cx="6744462" cy="1846659"/>
          </a:xfrm>
          <a:prstGeom prst="rect">
            <a:avLst/>
          </a:prstGeom>
          <a:ln cap="rnd"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  <a:lvl2pPr marL="324000" lvl="1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2pPr>
            <a:lvl3pPr marL="648000" lvl="2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–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3pPr>
            <a:lvl4pPr marL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Trebuchet MS" panose="020B0603020202020204" pitchFamily="34" charset="0"/>
              <a:buChar char="​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Trebuchet MS" panose="020B0603020202020204" pitchFamily="34" charset="0"/>
              <a:buChar char="​"/>
              <a:defRPr sz="2400" b="1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5pPr>
            <a:lvl6pPr marL="324000" lvl="5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5400" baseline="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7pPr>
            <a:lvl8pPr marL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66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4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b="1" dirty="0">
                <a:solidFill>
                  <a:prstClr val="white"/>
                </a:solidFill>
                <a:latin typeface="Bradesco Sans"/>
              </a:rPr>
              <a:t>Objetivo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Exposição dos Cenários </a:t>
            </a:r>
            <a:r>
              <a:rPr lang="pt-BR" sz="2400" dirty="0" smtClean="0">
                <a:solidFill>
                  <a:prstClr val="white"/>
                </a:solidFill>
                <a:latin typeface="Bradesco Sans"/>
              </a:rPr>
              <a:t>de Refinamento</a:t>
            </a:r>
          </a:p>
          <a:p>
            <a:pPr>
              <a:buNone/>
            </a:pPr>
            <a:endParaRPr lang="pt-BR" sz="2400" dirty="0" smtClean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 smtClean="0">
                <a:solidFill>
                  <a:prstClr val="white"/>
                </a:solidFill>
                <a:latin typeface="Bradesco Sans"/>
              </a:rPr>
              <a:t> </a:t>
            </a:r>
            <a:r>
              <a:rPr lang="pt-BR" sz="2400" dirty="0">
                <a:solidFill>
                  <a:prstClr val="white"/>
                </a:solidFill>
                <a:latin typeface="Bradesco Sans"/>
              </a:rPr>
              <a:t>Conclusão</a:t>
            </a:r>
          </a:p>
        </p:txBody>
      </p:sp>
      <p:cxnSp>
        <p:nvCxnSpPr>
          <p:cNvPr id="31" name="Straight Connector 10">
            <a:extLst>
              <a:ext uri="{FF2B5EF4-FFF2-40B4-BE49-F238E27FC236}">
                <a16:creationId xmlns:a16="http://schemas.microsoft.com/office/drawing/2014/main" id="{BC948E63-9079-45D7-AA47-85D7F9EAE21C}"/>
              </a:ext>
            </a:extLst>
          </p:cNvPr>
          <p:cNvCxnSpPr/>
          <p:nvPr/>
        </p:nvCxnSpPr>
        <p:spPr>
          <a:xfrm>
            <a:off x="4818888" y="3022066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10">
            <a:extLst>
              <a:ext uri="{FF2B5EF4-FFF2-40B4-BE49-F238E27FC236}">
                <a16:creationId xmlns:a16="http://schemas.microsoft.com/office/drawing/2014/main" id="{C71711CF-7635-4C41-B8D7-76BA55613317}"/>
              </a:ext>
            </a:extLst>
          </p:cNvPr>
          <p:cNvCxnSpPr/>
          <p:nvPr/>
        </p:nvCxnSpPr>
        <p:spPr>
          <a:xfrm>
            <a:off x="4818888" y="3808708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itle 3">
            <a:extLst>
              <a:ext uri="{FF2B5EF4-FFF2-40B4-BE49-F238E27FC236}">
                <a16:creationId xmlns:a16="http://schemas.microsoft.com/office/drawing/2014/main" id="{95B9E1DE-191E-47C6-BE9E-3B349D7C095A}"/>
              </a:ext>
            </a:extLst>
          </p:cNvPr>
          <p:cNvSpPr txBox="1">
            <a:spLocks/>
          </p:cNvSpPr>
          <p:nvPr/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gradFill>
                  <a:gsLst>
                    <a:gs pos="0">
                      <a:schemeClr val="accent6"/>
                    </a:gs>
                    <a:gs pos="100000">
                      <a:schemeClr val="tx2"/>
                    </a:gs>
                  </a:gsLst>
                  <a:lin ang="8100000" scaled="1"/>
                </a:gra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>
                <a:ln>
                  <a:noFill/>
                </a:ln>
                <a:solidFill>
                  <a:srgbClr val="D1193A"/>
                </a:solidFill>
                <a:effectLst/>
                <a:uLnTx/>
                <a:uFillTx/>
                <a:latin typeface="Bradesco Sans"/>
                <a:ea typeface="+mj-ea"/>
                <a:cs typeface="+mj-cs"/>
                <a:sym typeface="Trebuchet MS" panose="020B0603020202020204" pitchFamily="34" charset="0"/>
              </a:rPr>
              <a:t>Agenda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D1193A"/>
              </a:solidFill>
              <a:effectLst/>
              <a:uLnTx/>
              <a:uFillTx/>
              <a:latin typeface="Bradesco Sans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36" name="Picture 15">
            <a:extLst>
              <a:ext uri="{FF2B5EF4-FFF2-40B4-BE49-F238E27FC236}">
                <a16:creationId xmlns:a16="http://schemas.microsoft.com/office/drawing/2014/main" id="{D05FAC72-765C-4332-A886-74E5824D63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V="1">
            <a:off x="4179405" y="0"/>
            <a:ext cx="416951" cy="6858000"/>
          </a:xfrm>
          <a:prstGeom prst="rect">
            <a:avLst/>
          </a:prstGeom>
        </p:spPr>
      </p:pic>
      <p:cxnSp>
        <p:nvCxnSpPr>
          <p:cNvPr id="37" name="Straight Connector 10">
            <a:extLst>
              <a:ext uri="{FF2B5EF4-FFF2-40B4-BE49-F238E27FC236}">
                <a16:creationId xmlns:a16="http://schemas.microsoft.com/office/drawing/2014/main" id="{002ED6CD-1EF8-47EA-980E-39E2028B4F3E}"/>
              </a:ext>
            </a:extLst>
          </p:cNvPr>
          <p:cNvCxnSpPr/>
          <p:nvPr/>
        </p:nvCxnSpPr>
        <p:spPr>
          <a:xfrm>
            <a:off x="4818888" y="4535188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87497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412537" y="193287"/>
            <a:ext cx="8845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>
                <a:solidFill>
                  <a:srgbClr val="C00000"/>
                </a:solidFill>
                <a:latin typeface="Bradesco Sans" pitchFamily="2" charset="77"/>
              </a:rPr>
              <a:t>Objetivo</a:t>
            </a: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DATI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12537" y="1167916"/>
            <a:ext cx="107305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/>
              </a:rPr>
              <a:t>Entrega da arquitetura Cloud Azure nos ambientes de DEV, HML e PRD para o projeto de 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/>
              </a:rPr>
              <a:t>pós-venda de Crédito dia a Dia, onde deve-se </a:t>
            </a:r>
            <a:r>
              <a:rPr lang="pt-BR" dirty="0">
                <a:latin typeface="Bradesco Sans" panose="00000500000000000000"/>
              </a:rPr>
              <a:t> Substituir o documento de regulamento pelo contrato CCB na jornada de contratação do produto Antecipação de 13º no canal Terminal Financeiro - Liberação Mídias Mobile, </a:t>
            </a:r>
            <a:endParaRPr lang="pt-BR" dirty="0">
              <a:solidFill>
                <a:prstClr val="black"/>
              </a:solidFill>
              <a:latin typeface="Bradesco Sans" panose="00000500000000000000"/>
            </a:endParaRPr>
          </a:p>
          <a:p>
            <a:pPr lvl="0" algn="just">
              <a:defRPr/>
            </a:pPr>
            <a:endParaRPr lang="pt-BR" dirty="0" smtClean="0">
              <a:solidFill>
                <a:prstClr val="black"/>
              </a:solidFill>
              <a:latin typeface="Bradesco Sans" panose="00000500000000000000"/>
            </a:endParaRPr>
          </a:p>
          <a:p>
            <a:pPr lvl="0" algn="just">
              <a:defRPr/>
            </a:pPr>
            <a:r>
              <a:rPr lang="pt-BR" dirty="0" smtClean="0">
                <a:solidFill>
                  <a:prstClr val="black"/>
                </a:solidFill>
                <a:latin typeface="Bradesco Sans" panose="00000500000000000000"/>
              </a:rPr>
              <a:t>Disponibilizar ao Cliente nessa MVP01</a:t>
            </a:r>
          </a:p>
          <a:p>
            <a:pPr lvl="0" algn="just">
              <a:defRPr/>
            </a:pPr>
            <a:endParaRPr lang="pt-BR" dirty="0">
              <a:solidFill>
                <a:prstClr val="black"/>
              </a:solidFill>
              <a:latin typeface="Bradesco Sans" panose="00000500000000000000"/>
            </a:endParaRPr>
          </a:p>
          <a:p>
            <a:pPr lvl="0" algn="just">
              <a:defRPr/>
            </a:pPr>
            <a:r>
              <a:rPr lang="pt-BR" dirty="0" smtClean="0">
                <a:solidFill>
                  <a:prstClr val="black"/>
                </a:solidFill>
                <a:latin typeface="Bradesco Sans" panose="00000500000000000000"/>
              </a:rPr>
              <a:t>Atualização  da jornada de Antecipação de credito com uso do 13º </a:t>
            </a:r>
            <a:endParaRPr lang="pt-BR" dirty="0">
              <a:solidFill>
                <a:prstClr val="black"/>
              </a:solidFill>
              <a:latin typeface="Bradesco Sans" panose="0000050000000000000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smtClean="0">
                <a:solidFill>
                  <a:prstClr val="black"/>
                </a:solidFill>
                <a:latin typeface="Bradesco Sans" panose="00000500000000000000"/>
              </a:rPr>
              <a:t>Credito Dia a Dia</a:t>
            </a:r>
            <a:endParaRPr lang="pt-BR" dirty="0">
              <a:solidFill>
                <a:prstClr val="black"/>
              </a:solidFill>
              <a:latin typeface="Bradesco Sans" panose="0000050000000000000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smtClean="0">
                <a:solidFill>
                  <a:prstClr val="black"/>
                </a:solidFill>
                <a:latin typeface="Bradesco Sans" panose="00000500000000000000"/>
              </a:rPr>
              <a:t>Canal Mobile PF</a:t>
            </a:r>
            <a:endParaRPr lang="pt-BR" dirty="0">
              <a:solidFill>
                <a:prstClr val="black"/>
              </a:solidFill>
              <a:latin typeface="Bradesco Sans" panose="00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42705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412537" y="193287"/>
            <a:ext cx="8845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Front </a:t>
            </a:r>
            <a:r>
              <a:rPr lang="pt-BR" sz="2600" b="1" dirty="0" err="1" smtClean="0">
                <a:solidFill>
                  <a:srgbClr val="C00000"/>
                </a:solidFill>
                <a:latin typeface="Bradesco Sans" pitchFamily="2" charset="77"/>
              </a:rPr>
              <a:t>End</a:t>
            </a:r>
            <a:endParaRPr lang="pt-BR" sz="2600" b="1" dirty="0" smtClean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 smtClean="0">
                <a:solidFill>
                  <a:srgbClr val="C00000"/>
                </a:solidFill>
                <a:latin typeface="Bradesco Sans" pitchFamily="2" charset="77"/>
              </a:rPr>
              <a:t>Credito Dia a Dia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12537" y="1125950"/>
            <a:ext cx="10730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pt-BR" dirty="0" smtClean="0">
                <a:solidFill>
                  <a:prstClr val="black"/>
                </a:solidFill>
                <a:latin typeface="Bradesco Sans" panose="00000500000000000000"/>
              </a:rPr>
              <a:t>Alteração </a:t>
            </a:r>
            <a:r>
              <a:rPr lang="pt-BR" dirty="0">
                <a:solidFill>
                  <a:prstClr val="black"/>
                </a:solidFill>
                <a:latin typeface="Bradesco Sans" panose="00000500000000000000"/>
              </a:rPr>
              <a:t>do Serviço 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/>
              </a:rPr>
              <a:t> no </a:t>
            </a:r>
            <a:r>
              <a:rPr lang="pt-BR" b="1" dirty="0" err="1" smtClean="0">
                <a:solidFill>
                  <a:prstClr val="black"/>
                </a:solidFill>
                <a:latin typeface="Bradesco Sans" panose="00000500000000000000"/>
              </a:rPr>
              <a:t>bcpf_liberacao_credito</a:t>
            </a:r>
            <a:r>
              <a:rPr lang="pt-BR" b="1" dirty="0" smtClean="0">
                <a:solidFill>
                  <a:prstClr val="black"/>
                </a:solidFill>
                <a:latin typeface="Bradesco Sans" panose="00000500000000000000"/>
              </a:rPr>
              <a:t>, 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/>
              </a:rPr>
              <a:t>deve ser ajustado o texto “</a:t>
            </a:r>
            <a:r>
              <a:rPr lang="pt-BR" b="1" dirty="0" smtClean="0">
                <a:solidFill>
                  <a:prstClr val="black"/>
                </a:solidFill>
                <a:latin typeface="Bradesco Sans" panose="00000500000000000000"/>
              </a:rPr>
              <a:t>Regulamento” 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/>
              </a:rPr>
              <a:t>deve ser alterado para “</a:t>
            </a:r>
            <a:r>
              <a:rPr lang="pt-BR" b="1" dirty="0" smtClean="0">
                <a:solidFill>
                  <a:prstClr val="black"/>
                </a:solidFill>
                <a:latin typeface="Bradesco Sans" panose="00000500000000000000"/>
              </a:rPr>
              <a:t>Contrato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/>
              </a:rPr>
              <a:t>”.</a:t>
            </a:r>
            <a:r>
              <a:rPr lang="pt-BR" dirty="0">
                <a:latin typeface="Bradesco Sans" panose="00000500000000000000"/>
              </a:rPr>
              <a:t> </a:t>
            </a:r>
            <a:endParaRPr lang="pt-BR" dirty="0">
              <a:solidFill>
                <a:prstClr val="black"/>
              </a:solidFill>
              <a:latin typeface="Bradesco Sans" panose="00000500000000000000"/>
            </a:endParaRPr>
          </a:p>
          <a:p>
            <a:pPr lvl="0" algn="just">
              <a:defRPr/>
            </a:pPr>
            <a:endParaRPr lang="pt-BR" dirty="0" smtClean="0">
              <a:solidFill>
                <a:prstClr val="black"/>
              </a:solidFill>
              <a:latin typeface="Bradesco Sans" panose="0000050000000000000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0715" y="2220685"/>
            <a:ext cx="2554605" cy="4114800"/>
          </a:xfrm>
          <a:prstGeom prst="rect">
            <a:avLst/>
          </a:prstGeom>
        </p:spPr>
      </p:pic>
      <p:sp>
        <p:nvSpPr>
          <p:cNvPr id="4" name="Seta para a Direita 3"/>
          <p:cNvSpPr/>
          <p:nvPr/>
        </p:nvSpPr>
        <p:spPr>
          <a:xfrm>
            <a:off x="4480256" y="4120717"/>
            <a:ext cx="1158240" cy="539931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9021" y="1686580"/>
            <a:ext cx="2312430" cy="486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156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412537" y="193287"/>
            <a:ext cx="8845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Front </a:t>
            </a:r>
            <a:r>
              <a:rPr lang="pt-BR" sz="2600" b="1" dirty="0" err="1" smtClean="0">
                <a:solidFill>
                  <a:srgbClr val="C00000"/>
                </a:solidFill>
                <a:latin typeface="Bradesco Sans" pitchFamily="2" charset="77"/>
              </a:rPr>
              <a:t>End</a:t>
            </a:r>
            <a:endParaRPr lang="pt-BR" sz="2600" b="1" dirty="0" smtClean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 smtClean="0">
                <a:solidFill>
                  <a:srgbClr val="C00000"/>
                </a:solidFill>
                <a:latin typeface="Bradesco Sans" pitchFamily="2" charset="77"/>
              </a:rPr>
              <a:t>Credito Dia a Dia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691" y="1046454"/>
            <a:ext cx="9002344" cy="525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69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412537" y="193287"/>
            <a:ext cx="8845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Back </a:t>
            </a:r>
            <a:r>
              <a:rPr lang="pt-BR" sz="2600" b="1" dirty="0" err="1" smtClean="0">
                <a:solidFill>
                  <a:srgbClr val="C00000"/>
                </a:solidFill>
                <a:latin typeface="Bradesco Sans" pitchFamily="2" charset="77"/>
              </a:rPr>
              <a:t>End</a:t>
            </a:r>
            <a:endParaRPr lang="pt-BR" sz="2600" b="1" dirty="0" smtClean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 smtClean="0">
                <a:solidFill>
                  <a:srgbClr val="C00000"/>
                </a:solidFill>
                <a:latin typeface="Bradesco Sans" pitchFamily="2" charset="77"/>
              </a:rPr>
              <a:t>Credito Dia a Dia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95944" y="1186910"/>
            <a:ext cx="10730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pt-BR" dirty="0" smtClean="0">
                <a:solidFill>
                  <a:prstClr val="black"/>
                </a:solidFill>
                <a:latin typeface="Bradesco Sans" panose="00000500000000000000"/>
              </a:rPr>
              <a:t>Alteração </a:t>
            </a:r>
            <a:r>
              <a:rPr lang="pt-BR" dirty="0">
                <a:solidFill>
                  <a:prstClr val="black"/>
                </a:solidFill>
                <a:latin typeface="Bradesco Sans" panose="00000500000000000000"/>
              </a:rPr>
              <a:t>do Serviço 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/>
              </a:rPr>
              <a:t> no </a:t>
            </a:r>
            <a:r>
              <a:rPr lang="pt-BR" b="1" dirty="0" err="1" smtClean="0">
                <a:solidFill>
                  <a:prstClr val="black"/>
                </a:solidFill>
                <a:latin typeface="Bradesco Sans" panose="00000500000000000000"/>
              </a:rPr>
              <a:t>bcpf_liberacao_credito</a:t>
            </a:r>
            <a:r>
              <a:rPr lang="pt-BR" b="1" dirty="0" smtClean="0">
                <a:solidFill>
                  <a:prstClr val="black"/>
                </a:solidFill>
                <a:latin typeface="Bradesco Sans" panose="00000500000000000000"/>
              </a:rPr>
              <a:t>,  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/>
              </a:rPr>
              <a:t>utilização do </a:t>
            </a:r>
            <a:r>
              <a:rPr lang="pt-BR" b="1" dirty="0" smtClean="0">
                <a:solidFill>
                  <a:prstClr val="black"/>
                </a:solidFill>
                <a:latin typeface="Bradesco Sans" panose="00000500000000000000"/>
              </a:rPr>
              <a:t>Token </a:t>
            </a:r>
            <a:r>
              <a:rPr lang="pt-BR" b="1" dirty="0" err="1" smtClean="0">
                <a:solidFill>
                  <a:prstClr val="black"/>
                </a:solidFill>
                <a:latin typeface="Bradesco Sans" panose="00000500000000000000"/>
              </a:rPr>
              <a:t>Issue</a:t>
            </a:r>
            <a:endParaRPr lang="pt-BR" b="1" dirty="0" smtClean="0">
              <a:solidFill>
                <a:prstClr val="black"/>
              </a:solidFill>
              <a:latin typeface="Bradesco Sans" panose="00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60305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377125-3CDB-45A2-8B9E-266D3CE468AF}"/>
              </a:ext>
            </a:extLst>
          </p:cNvPr>
          <p:cNvSpPr/>
          <p:nvPr/>
        </p:nvSpPr>
        <p:spPr>
          <a:xfrm>
            <a:off x="0" y="0"/>
            <a:ext cx="4165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e4pContent1">
            <a:extLst>
              <a:ext uri="{FF2B5EF4-FFF2-40B4-BE49-F238E27FC236}">
                <a16:creationId xmlns:a16="http://schemas.microsoft.com/office/drawing/2014/main" id="{42DE98C3-BC61-4597-83B6-575C3D8E47C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18888" y="2505672"/>
            <a:ext cx="6744462" cy="1846659"/>
          </a:xfrm>
          <a:prstGeom prst="rect">
            <a:avLst/>
          </a:prstGeom>
          <a:ln cap="rnd"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  <a:lvl2pPr marL="324000" lvl="1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2pPr>
            <a:lvl3pPr marL="648000" lvl="2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–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3pPr>
            <a:lvl4pPr marL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Trebuchet MS" panose="020B0603020202020204" pitchFamily="34" charset="0"/>
              <a:buChar char="​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Trebuchet MS" panose="020B0603020202020204" pitchFamily="34" charset="0"/>
              <a:buChar char="​"/>
              <a:defRPr sz="2400" b="1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5pPr>
            <a:lvl6pPr marL="324000" lvl="5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5400" baseline="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7pPr>
            <a:lvl8pPr marL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66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4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Objetivo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b="1" dirty="0">
                <a:solidFill>
                  <a:prstClr val="white"/>
                </a:solidFill>
                <a:latin typeface="Bradesco Sans"/>
              </a:rPr>
              <a:t>Exposição dos Cenários de </a:t>
            </a:r>
            <a:r>
              <a:rPr lang="pt-BR" sz="2400" b="1" dirty="0" smtClean="0">
                <a:solidFill>
                  <a:prstClr val="white"/>
                </a:solidFill>
                <a:latin typeface="Bradesco Sans"/>
              </a:rPr>
              <a:t>Refinamento</a:t>
            </a:r>
            <a:endParaRPr lang="pt-BR" sz="2400" b="1" dirty="0">
              <a:solidFill>
                <a:prstClr val="white"/>
              </a:solidFill>
              <a:latin typeface="Bradesco Sans"/>
            </a:endParaRPr>
          </a:p>
          <a:p>
            <a:pPr>
              <a:buNone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 Conclusão</a:t>
            </a:r>
          </a:p>
        </p:txBody>
      </p:sp>
      <p:cxnSp>
        <p:nvCxnSpPr>
          <p:cNvPr id="31" name="Straight Connector 10">
            <a:extLst>
              <a:ext uri="{FF2B5EF4-FFF2-40B4-BE49-F238E27FC236}">
                <a16:creationId xmlns:a16="http://schemas.microsoft.com/office/drawing/2014/main" id="{BC948E63-9079-45D7-AA47-85D7F9EAE21C}"/>
              </a:ext>
            </a:extLst>
          </p:cNvPr>
          <p:cNvCxnSpPr/>
          <p:nvPr/>
        </p:nvCxnSpPr>
        <p:spPr>
          <a:xfrm>
            <a:off x="4818888" y="3045314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10">
            <a:extLst>
              <a:ext uri="{FF2B5EF4-FFF2-40B4-BE49-F238E27FC236}">
                <a16:creationId xmlns:a16="http://schemas.microsoft.com/office/drawing/2014/main" id="{C71711CF-7635-4C41-B8D7-76BA55613317}"/>
              </a:ext>
            </a:extLst>
          </p:cNvPr>
          <p:cNvCxnSpPr/>
          <p:nvPr/>
        </p:nvCxnSpPr>
        <p:spPr>
          <a:xfrm>
            <a:off x="4818888" y="3839705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itle 3">
            <a:extLst>
              <a:ext uri="{FF2B5EF4-FFF2-40B4-BE49-F238E27FC236}">
                <a16:creationId xmlns:a16="http://schemas.microsoft.com/office/drawing/2014/main" id="{95B9E1DE-191E-47C6-BE9E-3B349D7C095A}"/>
              </a:ext>
            </a:extLst>
          </p:cNvPr>
          <p:cNvSpPr txBox="1">
            <a:spLocks/>
          </p:cNvSpPr>
          <p:nvPr/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gradFill>
                  <a:gsLst>
                    <a:gs pos="0">
                      <a:schemeClr val="accent6"/>
                    </a:gs>
                    <a:gs pos="100000">
                      <a:schemeClr val="tx2"/>
                    </a:gs>
                  </a:gsLst>
                  <a:lin ang="8100000" scaled="1"/>
                </a:gra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>
                <a:ln>
                  <a:noFill/>
                </a:ln>
                <a:solidFill>
                  <a:srgbClr val="D1193A"/>
                </a:solidFill>
                <a:effectLst/>
                <a:uLnTx/>
                <a:uFillTx/>
                <a:latin typeface="Bradesco Sans"/>
                <a:ea typeface="+mj-ea"/>
                <a:cs typeface="+mj-cs"/>
                <a:sym typeface="Trebuchet MS" panose="020B0603020202020204" pitchFamily="34" charset="0"/>
              </a:rPr>
              <a:t>Agenda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D1193A"/>
              </a:solidFill>
              <a:effectLst/>
              <a:uLnTx/>
              <a:uFillTx/>
              <a:latin typeface="Bradesco Sans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36" name="Picture 15">
            <a:extLst>
              <a:ext uri="{FF2B5EF4-FFF2-40B4-BE49-F238E27FC236}">
                <a16:creationId xmlns:a16="http://schemas.microsoft.com/office/drawing/2014/main" id="{D05FAC72-765C-4332-A886-74E5824D63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V="1">
            <a:off x="4179405" y="0"/>
            <a:ext cx="416951" cy="6858000"/>
          </a:xfrm>
          <a:prstGeom prst="rect">
            <a:avLst/>
          </a:prstGeom>
        </p:spPr>
      </p:pic>
      <p:cxnSp>
        <p:nvCxnSpPr>
          <p:cNvPr id="37" name="Straight Connector 10">
            <a:extLst>
              <a:ext uri="{FF2B5EF4-FFF2-40B4-BE49-F238E27FC236}">
                <a16:creationId xmlns:a16="http://schemas.microsoft.com/office/drawing/2014/main" id="{002ED6CD-1EF8-47EA-980E-39E2028B4F3E}"/>
              </a:ext>
            </a:extLst>
          </p:cNvPr>
          <p:cNvCxnSpPr/>
          <p:nvPr/>
        </p:nvCxnSpPr>
        <p:spPr>
          <a:xfrm>
            <a:off x="4818888" y="4527439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85318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30908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264982" y="236763"/>
            <a:ext cx="6374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Bradesco – Cenário de Refinamento</a:t>
            </a:r>
            <a:endParaRPr lang="pt-BR" sz="2600" b="1" dirty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Arquitetura 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pic>
        <p:nvPicPr>
          <p:cNvPr id="149" name="Imagem 148">
            <a:extLst>
              <a:ext uri="{FF2B5EF4-FFF2-40B4-BE49-F238E27FC236}">
                <a16:creationId xmlns:a16="http://schemas.microsoft.com/office/drawing/2014/main" id="{C69F268A-EA4B-2CA2-B7E0-A91BCF0C276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8238615" y="6790566"/>
            <a:ext cx="405487" cy="19713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C2CD672-5CA7-8C30-F410-B15144C4B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2066" y="302678"/>
            <a:ext cx="762000" cy="571500"/>
          </a:xfrm>
          <a:prstGeom prst="rect">
            <a:avLst/>
          </a:prstGeom>
        </p:spPr>
      </p:pic>
      <p:sp>
        <p:nvSpPr>
          <p:cNvPr id="49" name="AutoShape 6" descr="data:image/png;base64,iVBORw0KGgoAAAANSUhEUgAAAVAAAAFQCAYAAADp6CbZAAAAAXNSR0IArs4c6QAAAhJ0RVh0bXhmaWxlACUzQ214R3JhcGhNb2RlbCUzRSUzQ3Jvb3QlM0UlM0NteENlbGwlMjBpZCUzRCUyMjAlMjIlMkYlM0UlM0NteENlbGwlMjBpZCUzRCUyMjElMjIlMjBwYXJlbnQlM0QlMjIwJTIyJTJGJTNFJTNDbXhDZWxsJTIwaWQlM0QlMjIyJTIyJTIwdmFsdWUlM0QlMjIlMjIlMjBzdHlsZSUzRCUyMmltYWdlJTNCYXNwZWN0JTNEZml4ZWQlM0JodG1sJTNEMSUzQnBvaW50cyUzRCU1QiU1RCUzQmFsaWduJTNEY2VudGVyJTNCZm9udFNpemUlM0QxMiUzQmltYWdlJTNEaW1nJTJGbGliJTJGYXp1cmUyJTJGbmV0d29ya2luZyUyRkFwcGxpY2F0aW9uX0dhdGV3YXlzLnN2ZyUzQiUyMiUyMHZlcnRleCUzRCUyMjElMjIlMjBwYXJlbnQlM0QlMjIxJTIyJTNFJTNDbXhHZW9tZXRyeSUyMHglM0QlMjIyNjAlMjIlMjB5JTNEJTIyMjkwJTIyJTIwd2lkdGglM0QlMjI2NCUyMiUyMGhlaWdodCUzRCUyMjY0JTIyJTIwYXMlM0QlMjJnZW9tZXRyeSUyMiUyRiUzRSUzQyUyRm14Q2VsbCUzRSUzQyUyRnJvb3QlM0UlM0MlMkZteEdyYXBoTW9kZWwlM0XLSnf0AAAgAElEQVR4Xu19B5wV1dn+c+72zlKlg3RBEUHKqhhF0XRMoiYq1oia2P0So0Y35Isx+fSfRE00YmKvscfeSBS9IlU6Ir132GVhly13/p65O/fO7dPnzMw7v58/nJ057XnPPPc557znPQx0EQKEACFACBhCgBlKRYkIAUKAECAEQARKn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QBgEps0bXVC5r/lbDNKZADuFAb0lgPfRjYD0HwnsnfrqwrdmjJnfIkylqSKBRoAINNDmF6fxN787oiaSxy6HhIvVnVJClEFj/zI8FmLSw3+ctDQsTu2pJkFFgAg0qJYXqN2/eG/EZDDcCbAxKqpMps7YPQObJ0nSbXdPXvqeQM2gqgQQASLQABpdpCZz8mQhVitJqFErTaWOKQq0nUbBEJYi0nQiUZGsGby6EIEGz+bCtJiTpwTUMsZqIPHZTgY9/zKwsAQiUWEMGsCKEIEG0OgiNFmtPJX6KApUzz0kEImKYNCA1oEINKCGd7PZMeUJVqNlzjNpGSllblQCCzNSom6aNLBlE4EG1vTuNFxWnmC1EovPeepRnHxONN37jJSoOwYNeKlEoAHvAE42P648UZO8SGTFvQSEGUALS04aNeBlEYEGvAM41fyY8kScPO0oO0qitLBkB7aUZyoCRKDUK2xHQD3nKUECU7nGR+/jg3IrnoOUqO02pQKiCBCBUk+wFQGnlGdyI0iJ2mpWyrwdASJQ6gq2ISArTwm1YKjhezEVN09FgNp9z53taU7UNvNSxqRAqQ/YhUB02M5qmc1znrnqL0EiEs0FEj03jAApUMPQUcJMCCjKk+8wkuQdRtFoIKmKk8GR53xOlNHqPPVY6xEgArUe00DnKIrypDnRQHdDxxpPBOoY1P4vKDbn6fKwPQvSpET93w0dbSERqKNw+7cwRXlCkmoY40NzZcguQbB7IlH/dkPHW0YE6jjk/ivQA8ozGXQiUf91Q1daRATqCuz+KTRKnqwWSIznmSmOp0B/DzNGO5b80xPdaQkRqDu4+6JUTp4RCYmuSgpDKi0U+z7M2jD97m9RZHtfdEgXGkEE6gLofigyrjylmlzh5gR/TsN5P3RIl9pABOoS8F4u9hdvjZgs5UEetsdPe8t4hJHg/CnXm5Solzuki3UnAnURfC8WrZ7zjNZf7DG69vpJpES92CFdrjMRqMsG8FLxXHlGQtE5T4EWgxKPPTYhhLkSDdGcqJe6pOt1JQJ13QTeqEBs2C6hRu/hb556n++dJxL1RqcUoJZEoAIYQfQq+F15qo9Tbj8yJByK0Oq86P1ShPoRgYpgBYHrEFWerJbvMPKUkjRwTHJC+0iJCtwrxakaEag4thCuJorylFfbg3mFIxFM/zP5iQbT+hpaTQSqAaQgvpIw5xkDwMjJ7ZnO0eSZip8fjydKw/kgfgHa2kwEqg2nQL2VoDz94qWkWNBYe4hEA/UFaG8sEah2rALxpqw8Q+1O8pY5CCUv03jvnpRoILq/7kYSgeqGzL8JbnhrxOQQJ0/uqkRXKgIMNCdK/SIBASJQ6hAyArFhu4Qa+egNZYZSietJ94oep+E8fTMJqwIER8ARIOWpswOQEtUJmH9fJwXqX9tqalmK8lQd/haNJM8jykMVYT5+OFygnwOkRDX1MH+/RATqb/tmbZ2sPJmyYBRgIIw2nZSoUeR8k44I1Dem1NcQ0YbtLW3FONxWgubWEjS3laItkoeSggOx//S1zsG3eQAS2vbpIOBiFUUEKpY9HKmN28qzsaUSW+sHYVv9IGytH4ztBwagpa0oa9tLCuplMi0v3I+eVSvRp3opelWtcAQvDYWEIxLtWNKAk+9eIQL1nUmzN8gt5Vl/uDP2NpyJr3aPwuLtPS1BvSCvCb07rECfDkvQt3oJOpdtsiRfQ5mQEjUEm9cTEYF63YI66s/J8+t1oVomtcfzlBeHJDAwVWB51b3J5wcOd8Hq3SejJG8SBlb3RbfyPOw+1IZ7Z9cjot7hqaMN2V7lCnVo109wfK/XUV60t33xy772RRfXEvAiJWqRLb2SDRGoVyxlsp5ODtv3HOqFWWt/gv5VJ+KU/sUpNX/7q0P4ZONhky3KnDzE2jCkaxjj+ryGTqWbbSsnQ8ZEok4j7mJ5RKAugu9U0SnKU3UQh5WR5eubuuKT9edi5U6+kYnhqC4FOP+Y8pRmtkQk/L9P63GgOWI7BP07foHje/0bvTosd25jKl+dpzlR220rQgFEoCJYwcY6pChPY8E04jVMk/5gSwfM3vADfLF1ckpLfjq6Av075Kf8fdnOZjyz5KCNLU/Mumv5epw68DH0rFwZDQKlXDbg0Z4/kahj1nWvICJQ97C3vWRFeUb3tlupNaPBQJpaK/D5xilYtPUMtEYK0rana1kerh1fmcBZyov/XHAAa/e12o6DUgBjEYzv8xLG930ZDFz92hzUhLHw11OkFE/UMQs7XxARqPOYO1JiTHnaFBhk7d5ReGPF9Tndj3hjvz+0FGN7prop7W2MLii12j+ST8Ccuz99Z9i9KCvcb78taDhvP8YulkAE6iL4dhWdXnlaN2Zdv/dYvLbsF2iTUofm6dpUVshwU00VivJSu9vMdY34cG2TXVDI+fapykevyjx0LAmhrDCE8kKGquJWHNt9HqpLtmHhzrewv2lbex1sGNOTErXVvm5mTgTqJvo2lJ2sPJPpILlIvc/X7x2JV3WQp1LeCX2K8K1BpWlb/ODcA9hcb81QnpP1kdUF6FOVh96V+ehdlZ3k+dxo76rlWLb7PWxtSHXM14tPRnxJidrQ293PkgjUfRtYVgNZeUpSLRiryRD9I1NUEE1/31g3Aq8suUWz8lQ3jIvP6yZUolNJXkp76w9H5KF8U6t+59CCEEP/6nwM7Mj/K5B9TfVeFUV7MKjzbGysX4BVez6BJE+NJkRVseYeLCwxmhPVax+R3ycCFdk6OuqmKE9JNedp1YlDjIWwcd9ReGXpzRkXi7RUtW+HfEwbXZH21ZW7W/DkogYt2aAwj+HobgUY2a0QAzqmX7zSlJHqpariHRjYeR62NazAkl3vy0+swk8pRs6PgRaW9BpH4PeJQAU2jtaqRZWnElVJtdquxKHLtNqs8XmPsstwzyenYXtDSGuVMr7HHetPO7Ik7fN3Vjdi1ob086G8qgOqCzCqe6HsX8pJ1OqrY+kW9O+4EBvqFuLLPbPicftM4pdmtZ+UqNXGcyk/63uhSw0JarFq5WmHYupaNhGRlpvx7JLDWLyj2RKYf3pcOfpXp1eOD807gI118fnQ7hV5mNC7CIM6FqCyyDyB52pAl7L1cqCSVXs/xYa6BbLzV4KCtOpeApFoLmN44DkRqAeMlKmKsTnP2Lnt1lJop5I+qMi/C3xPO1eGXCFacVUUhXDd+EqU5Kd2v7rDEdw/ux6NrRIm9i3GGQPTq1Ur6pEuDz4P27lsCbpXzsPy3TNRf3inVZSZblIgLLVh+p+/t/Q9u9pD+dqLABGovfjalnvisL29mEx+4ckSKvm9NM+LQmUY3PHX2Fp3nPx0zd4WPLJQ2xyllkYP7lSAi45N3ebJ03IFWlrA0LlU/4JQtrL3N0XAfU/3HOL/RrDzYBsamiU0tkbQ2CLhUEtcb54y4DGM6vlOdP+BAfwS9i1kT09KVEuHEfQdIlBBDZOtWjf8e8RklpdmztPCnTXHdD0f2+rOQ6Td15Mrs//9yFrH828PLkFN79RgI1aYhCvYr/a04MvdLdh6oE0mSz0XD0hy0ehfoLpki/07lvjqPClRPeYR5l0iUGFMoa0iaZWntqSa3+pbNRKhyC/BY3iqr7s/rQNXcVZdeSHg52Mr0a3MGqW5raFNJsxVe1pkFcs9kcxcPSpX4ccj7zCThZ60pET1oCXIu0SgghhCSzWiylOqBVCjdlNUhGemw9/0PA8hHyO73omN+0elVOmpxQ1YsatFS1U1vzPyiEKcM7xM8/vJL+5rbMPszYexaEcLDhy2jtyVciYNfBjHdP9AHspbgW8699K4fUiJGu4ILiUkAnUJeL3FJg7b9abW93553msoyksdWn+26TDeWHVIX2YZ3uYdb2I/7tJUjBBnJh1XRJLA/UbnbG7G6r0tCdOUOrLR9GpR/kFcMvpGlBbWaXrfgpdIiVoAolNZ6Ou5TtWKyklAQCbPEN9hFFWeyYrSyvsl205Ft7KbMKxzqpsRj9/5x1l1pgmrvDCEc0eUylsu9Vx8x9K8rYcxd0sz+P87dQ3pEsa3htwbU6BW4p3Onozvnac5UafMa6ocIlBT8Nmf2EnlyVvz+Px7cHTXgTh9QHr3oWQ/Tb0IcH/Oc0aUorRAv08nn9d8dGEDmttMTm7qrTSAs4/+X/TusMxASsNJiEQNQ+dcQiJQ57DWXRInT3DlGfPz1J2FrgRb64fg+cW/lZ3WLx6V3sXo041NeOsrY/6g43oV4btDStPGBtVaUR50hLtTHTawb15rGeneO6JiNX4y8jYzWehOy/jqfIT8RHUD52ACIlAHwdZTlKI8JUmqYV+fBJe8+KD4GcqHmln0/O0vr8HKXSegOJ/h9pM7pK3uvqYI7vlU/3zgN/oVZ1S1enDh72470Ip/LmiQne2dvC4efSOqS7bKQ3k78FcvUqn8SIlEnTSyzrKIQHUC5sTrTitP3qZDLVV4eM6DiEhRl6Kfja1Az4r0oeAemFuPLfVxv8q+HaJzmRv2p1+ht8Pfk/t1Pjz/QILzu922Gd3zDUzs/6TdxaTkT0rUccg1F0gEqhkqZ16MK0/UZHKbsePvszf+AOEN58QaeXK/YkzOMA/apSwfo3sWoW9VHgpDiSqwOcKwYX8bXlp+EL//eB9+MKwUo3ukRqPPhiZfYf9wbSPOO7oM1WnC3ylp+RHJfE5WvYPITiuVFNRj2tirkBdqsyXaXTa7gu+dp+G8neY1lDcRqCHY7EmUVnnaECA93aFqTy38P+w62DfWML6N8oYJlQkNndivBMO75CNf4/oPH2F/ubsVM9dqmzPl85rcTWrBtmjQEh4c+dJRFTgiS4xPTqIPz29AgwMnfPI6fWfonzCo8+dxXByyT3uBYUQY7Z235/MzlCsRqCHYrE8UdVVCrQSpxvbDzpK2fLZGCvHX8BOQkpZ3eMAPfihcdUkI3xlSig5FxrrLoRbgxWUHwQOFZLrW72/F80sPprgnFeUzXHJsedbI8nx/OydRJ1yb+lcvxJThf7TpYOhMwQzif2cgJWr912c8R2NfhPHyKGUaBBKUp/WHZ+bk4011I/Di0ttTasZdmaaOLMd3hpQgTeAkXbbknkevr2rEpv2pR3d8tqkJb65qzOhfyqPOTx1ZljV4MifPx75owI4GfXvedTVCdsGV8NOxV6G8YF9OXC0MTZB8qCopUb2Gs+l9IlCbgNWabVx58qOH+eXsmJCXN2fTWfh0w49TqlzTpxhvnNcN+UnznFrblvweJ9GnFx9EXft+et7S11Yewtwth3NmyeMnnzOiDCO6FmZ8t6VNwrNLDuLLPdZuN00u8IR+z2Fsr1fb/+y8vThzkxLN2WUceYEI1BGY0xciK0+W6Ofpxuf42vKbsW5fNGyd+lpzfW90KbW2i/DhPD8PvjUSJTu+YKT14jU5K8eiFMfv/TWN+Gi9fSd99u2wGD8YfqdLP3dR4StfDKREtXYem96z9uuwqZJ+zDamPCWpJsmxMBq1Iu5oaPv932Y/hua2xJ1HM77XBT8eYU8w4yU7W3HO8zuw5YCx4TafWuB+pdmuRdub8dKKg2jLsuNzQMd8+WgQfi49jweq9WRQfp78tLFXRPfUKg66DtoroX+Akyg527vFEUSgLiCvVp5uKE610fc2dsfjC/6SgsLeW/oin9njqN4SATr9YaMp5LMdk6xkvKGuFU8takhwc+JTAN8fWiJHuj+6WyGUo5X2NUb32b+zukl2weIBl7NdV427DMX5DS5MuKgUqPIzS0rUVF8yk5gI1Ax6BtKmKE87js/V4Si6fMdEvPvVzxJa8r+TOuK6cem3chpoctok93x2AL/9zz5T2Q3rUiCHwst2wByfb330iwbUN0VwxZgKXHJcOQZUZz8r/j/rmuQ996+uzBx56kcjfoveHZZbc9yxDntldEAlJWqqLxlNTARqFDkD6RTlKTm0t11LFeds5g705ya8uvjnvdCvSqOzp5ZC0ryzZn8Eox7YbDB1PFmn0hCmHlOOLlmCMvPwd1VFoYz7+9NVggcu+d1HdXhu6cG0dTy5/+MY1eMt0/W3MgO+sASJ/EStxDRXXkSguRCy6HnUVQm14HOesUuZ61T+4Pz97E0/xGcbz05opZ3Dd6WglghDpz9ssARdrkD5jic+JE93je5eiJo++nZD8XzW7G3Frz7Yh3fTHKY3ottMnD5wRvsg2j37pTm0iUjUkl6lLRMiUG04mXorq/JMngRNLsnm559tOAefb/5hrFR+YuaWm3qZaq/WxJ3/uBHNxtaR0hbBjz/+5qAS5KkCNHctC8nznR2KjSnqV1YcwkWv7E4pr1v5Gvxk5K2pXmcO2y9lEja6tEUkqrUTmnyPCNQkgLmSJyrP3DtNkj2m7b7n/p9zNk+JNePY7kX4+JJuuZplyfNx/9iOFTutOWteqVCvynxcMLIMFYVRwqzpXYTRPTL7juZqCF/Fv+DlXbKjv/qqLNqFy8Zc49qOpNz9gpMorc7nsq/Z50SgZhHMkj6mPCXFSd7GwgxmPWvD+Zi/5Xux1KO6F+Ejhwh0wj+2Y5nFBMobwvfQX3BMOfp1yMfZw0vl7ahmrr/NOYBbPkhc8Kos3olLj+MEKu7F+Oo8zYnaaiAiUJvgjZJndG+7eLozrl8+WjcVC7Z+J4YCH+puvNGZIXzX/9uMJu6EadM1bXQ57jmjo+ncP97QhO88vTMhn6riHbh09LUJx7+LaGfQcN60/bNlQARqA7xeUJ5Ks/+77mJ8se2bCSjsu6Uv8mzyAVUKapUYOt5lzSJSJhOO6VGImRcfYdrC2w60Ycj9/Hz4+MUJ9JLjrjWdtxMZkBK1D2UiUIuxTVSePJI8jxivKD7x7meuuQSLtp+RgMKyq3uhd6WxRRetcK6vi+CYv5l3Y8pW3qjuhfjoEvMEyoNHD/trIoF2KNmGS467QXj7Kv2PlKjWnqnvPSJQfXhlfZuTZ0SSahkTd84zuQGzN/0IszclujH9cXInXDXG+FntWiC9f04Dbvtgr5ZXDb8zpHMBPvvpEcgPmevm3I3p7H/tSqhHdck2XDTqesN1cyMhKVHrUTfXs6yvj2dzjCnPBD9P8Zuzeu9YvLHyppSK7rulT2ybo9Wt4IGWO95lbiun1jq9f2E38MPszFx3zaoD/099dSzZggtH3WgmW1fSEolaCzsRqAV4elF5Ks2ua+qGRxfcl4LC4z/ogrOG2hNM5IXljbjs1URFZ4EZ0mbBo+pPPyX9AXlayuQR7y98eTc+2ZgYcs+rBMrbTCSqxfLa3iEC1YZTxre8qjzVDXrg89RoTPz5hht7o7rY2i6yp1FC/z9vMom69uR9qvLx6JROOL6nMRXKD6676d19mHRkMT7deBhN7SeB8mOOf3y0s8cca2917jeJRHNjpOUNa78OLSX66B218swcEyT9scPx991//q+lv8O2A4NTLMOHvu9M7WbZUJ57LJ32xA4s2Jo7gLKV3eT8Y8pw56RqdCzRtzA2a0MT7vjPfvBITZcdV4GDzRHsPBR1u6ooXAiwXyPy9Ulv6Y6VFsm+merHF5YiETb9/rOWvmcl3kHKiwjUoLW95KqUq4kz1/4Ui7efnva12yZ2wP+cUGmaRPmOnn8tO4j/+7RO3mPu9HX56Ar88oRKdMtyQJ26TnzIzuc9OYleMqocAztGj25Wrr4dvsCB5n/jyz2fON0US8uTJIRDjAKQGAWVCNQAcjHlCdS4cISR5UftLNlxOjiJJl/8LKLbv1GFDkV5mDLM+H7y/U0RvP1VI3YfikCChHdXN8nE5PTFA45wNcoDMme6eF1fXnFIPnqEHzWSKe7osC7/RWnBAYQ3PY/6wzuFd6jP1k9JiRrviUSgOrHzk/JUmr69YSCeWxw9okJ9De9agPOOjsYF5SHh+PnuE3oVIk+jWxA/toMHKZ67JfXYDi0R43WaRtPrJfkM3x1Sion9iuTzlQZ3KkBbRMIX25vl45T5USAz10XJ/ZhuhTh3RKo7V4i1YVT3aCi7/254FE2tDZrKFvklJiH89VwEHZms00hEoDoAu+aVEZNDIeUMIz9oT2XzYUheia8/3DUBjR8eVYrjuicuvhxsiWBszyL5fPhOpXkpPpacjPY0RrBiVwvmbm1GkRLyPQ3O/AiNJxY14GCzPZHvdZg27av8d2JMjyKcNqAYZQXx+dPywj0Y3DksE+d/1z8SjX/kaQ0aqz/NiersNESgGgG74ZURkyMhqZapgyEnh+9MzstDz3lIu882nRNrAa/6rROrUKoiDnXz9jW24Z5wPbqX56FfdZ7MH+v2t8lHYVw6Kvs57up8nDqOWKOZ075WnM/kYf/YnoUIMQYeyq5X5XJsPrACS3d8kDlrD9lfaYQEmhPV01eIQDWglV55qrpc/JxEV44lTnNKjqpV2k5dOthcjX/Mf7BdTQHc/YcfgZHp+mBtI/jRF+kuLee4q9PxoT5ftPnv+ibwo4lFvXhU+xP7FuHcEUvQpWw7Fm1/F9savoxhFq23NrzjbRTyfVKiGjshEWgOoBTyTFCeWegpOTub4yGni6ebUAU95b+64has33+snP7U/sWYdGTmxZY/flIHrh4zXXzkfsHIcnmOUevF83tndSP4/Gjy1bsqHzee0AHHHVGIyqIQ+FTC0p0t+Pucenyx3Tm3qLxQC64Zdw0GdRqK9fsXormtKeHn08v2V9edlKi2XksEmgUnmTz5ue18b7vLh785Uf7qvePx5qro9kQ+DB+Q5LqjQLVhfytmzD+Qs4fxOcTvDS3F8T30ObFvqm/FaysOYVtDm0yWb089Akd3zXwQ3Nr9EUx9eReWOECkI7p+gEkDHhbnMDl7+yUp0Ry9nAg0A0DqYbtvlghyLHVIUh4env93NLVW4jff6JAxCAc/rZK7+Gi9tBxBnC4vFmK4YnQFCkK5h/USGH49cz/un524Z11rHbW+N/XYG9GpZIs/loy0LX0RiWbpHESgacAJmvKMxtuT5E3Sszddhs1138TPxlam7TZtkiSfVtmsc65yaOcC/HhEGQqyrMqrC+xcmodzjy77+hy+3OSpTnfJq3vkc93tuHpWLsePjvqNjJMTIwKByiESzdChiECTgAmi8lQUdnlhNc499hH8z5v5OLlv+mE3P4LjmSXGCKpTSQhnjyhD78rs57Jzk0w9tgId9I38ZUs2tAA97rYn0tO3B/8ZAzvN9o/TkjYFqrQ3HIqw6X+mbZ8JjEEEqoIjpjyhHD3sQT+UFPNmU3Dx9pUVVuO6k55E1/L+mPlVHWZvSE+STy1ukH08jV5cvE3oVYTJA0vAV+vTXcO7FeHUfsYPgvvr3IO49f09RquYNl11STOmjpz69SktajyD0z+ioLBwRKK98+oOQgTajkZMefID4IIy6dnezrKialx3IifPfjIazc3NeG7RfmyuS9yzzofvv/1vHbjbkdmLq9EfDi9D36pUNfqjEeXoXma8a25rkDDkPmsjPt05uSvG93kT/156j4/85vVJ0PbvgkhU1fmN91KzX5BA6ePKk0eS99MOo9y/BBVFHXHNiU/EyJObpbW1FfsOtuDR+fsTyHLd/lb8Q8Pqu1bT8tod270QkweUyKvtynX5mAoUmzhIMyIxdLDwvKUelflYddMglBWGMHP1o/j3sv9niHl8xLxEou2dNfAEmkieSZ++z0doFcWdcP2JT6NTWeopnFyFztt8CP9deygGysx1jfhwrfVBQPjCEp9zPalvsbzyzxewzB5qd8aTO7DrYAQ8IDIPEGLm+vCn/XDqgPie+FnrnsFLi38f58NMmfu7/xCJJm2hMNPHPJmWkydjfHumFI+qFF2MjutQn96XF3XCDSc9k5Y8uTEjkQhaWlrw5ML92NnQJtv3HwsOYN0++0LR8Z0+Zw4qwYPf7Yx8k6eC3v953E+VTznsaIhuM911qA2HWiT5v4bmCJpaJBxsv+eOCNUlIVQVh1BdHP33+8Mq8LOaznLMT/UVJdE744vxyo54n/aX2LgsoX00JxpYBZpVeXry50B7pSuKOuH6k9IrT3UunEB3NbTg6S/qcLg1gukWzX/mqum6G3qjU4nxrtkaYXhwbn2uYnI+Ly8M4eKxnVFZnN5r4LMNL+L5L36TMx+fvxBoJWq8l3q4V8SVJ2pixw7Lv6yqY4d9el9Z1BXXnfRERuWpNivHhg/lt9a34O5Ze/Hg3Ny7j6zoFv86txvOHA5r9xcAACAASURBVGDAh6m98I31El5bYT7E3LeHVWJkz2g4v0zXZ+tfxPOLatuVqP/7T7rvBYyFpYCuzgeOQIOsPKuKOXk+hY6lPTTzXFtbm7yotGhHC054aKMlK/C5Ch/UqQDzr+ie67WMz9/86jDW7k3dT68nw14dCnDhmC6aknAl+q8vpsvBogN8BVKJBopAZeWJtlqA1QSto1cVd8P1E/WRp4IRH8rn5eXhleUNOOeZTbDAiykn/K+ed4QhX9Cdh4Dnl5hTysUFIVxZ0zVjKL90lZ+94SU8u/COnO2y8oXOZX2w+6A9mwYM1VNWom3T7z9rZWDOWAoMgSrKU5KkGnlBoH1WPDok4UMvZYde9N7O57845QXwofQrS/+ABZvftr38jmU9cc0Jj6JjaU9D34WCEU/82Pz9uOTFLYby0Zto2dW90btSexetOwz88Lkd6FIWQteyPPk/tXuUlvJ5tP2fn9gNfP5T7zV30+t4av6vbO8/xQVluGrCw+jXcSTeXzUDb664z9H+m/X7AAI1nNfeO/X2JoHejypPHkle2WHkXuX4Tp/bTnsjVgGuWrh6sevqVNoL1018Enz4btV176d7cP0b263KLms+4ct7YkSX3E6hG+sjOOaBzYgkeSwV5jGZSEsLGArygMIQ/7f9//MY1JuhelcV4C/f64kqE06o8za9gSfn32wbNkX5pbiq5mH07xgNO7jn0Gb89r0zbCvPWMYs/LUMCcRpn74n0LjyRI06BkRcYaaPDWHX8x6VQ/DLU+KEyefN+PxZeP2LCbEjrCi/uqwHrj/pKUvJU/mgXl1+ABe/sAV1TVEXJzuv6yZU4epxlehWmtpd9zUBj3/RgDtm7jVVhUGdC/Hplf3RpSz3Pv1cBS3Y8jaemnczIohkjDlixL7FBaX4ec0j6FM9IlaFuqadqH331JRyjORv5ffB44kGYWHJ1wQq4pxnzypOoC+nfIPPfVELvqJr1cUXivicJ5/7tOvaVNciz4nO3thoVxEJ+fJhNT8Q7oiKfOw5FMH7aw5i2wHzBN6/uhCfXtUf3SvMk6dS4cXbPsCjc26Qz4234uLK8+oTHk0gT54vJ9A73jnFiiJsyIMrUX/PifqWQBVXJUh82B7dEsLkUBDxrZpu3PeoGpyWQHnv5T6F4fUvxA4pM1q/TmW9cd1Jj9tKnuqv7fb3d+J3M3fZ8AHan+XRRxTj9Yv6oG8H7ZHztdZq8bYPVSRqvP8V5Zfh6hMSladShyiBnipM/079vuDr4bwvCTRhzlOwI2d68iH8qakKVPkgXlx0J/gul9ils/58zvOGk58Bd5Z38vpk/SGc/cxGbLdAETpRb65i/3BmN1w4qoM8dWLXtWz7R/jH59cgIrUrZZ32LMorxdUnpirPRAJVKVCd+TtzhJN/50Rt7Dp2dcns+cbJEzUibkWODuGzLxq9uPj3mLX2mVhQqEwtTm4f39N+w8SnHSdPXj9+xO8fZl6FpxedgtV7x7ljfI2l/nJiZ9wxqYscHMSJa9n2j/HPOdeiLZK4DTZX/yzOL8XPMyjPVAWa2pJc+Tv83JdK1FcEGpvzlOJ+nqL9IPeoGoKbsyjQBCW69hnNAoGv7l878XHXyPO+jy/ClrqVcn33NfbCvG1TsGrPCYhIuVfQnSAxXsaEPq146txhOLKj8VijRuv65c4wHvrsKrRGWjWd4SrPeWZRngkE+nZcgYrW3xPqw/1EfTYn6hsCjSlPPucpj8lijp7RZXZB7ntWDs46hFd/oK8tvQczv3o0Z/27VvTH9ROfBA+K7PTFled9sy7GlroV0blbxaEWEg42d8SCbd/F0l2T0NJW7HTV5PIK8xoxuNOn4IfBda/YhCvGP4AhXd3ZR/Hlzs8w47OfoVXiAakz98+igsxznskgqudAk/EX8p6vzvvIxckXBKpWnkL/AgPQqkCVD+XVpffgP5xE26/k9nUp748bTnaPPO/9+CJsrVuZsX68vi1tpVi04wws330W6pqcIdKuZWtk0hzS6RMUhOIH4IVC+bhywoOukehXu+fi759OQ2skutU02Z6F+aW4RoPy9KQCVdrrIyXqeQJNUZ72HvNq+jAxPQpU+UjeXvkA3lnxtxSH1SMqB+Hakx51V3nuX6H5kLXRvadgUNfb8OHqg/hwzUGENxzSfThdNhnL1SYnzGO6vYdOJRsy1isvr8BVJbqak2j4SrREDif0Jz3KM2UOVPB+n+qo6g8l6mkC5eSJSFstWHTOM3lSXMR7vQpU+VD4UJ4P6ZVwFd0rB8o7jEoL0p+eaed4mQ/bFeWZ7YSgZPzH9vk+Lhj9+1jVGlsi4Kv3H6w+iA9WN2DBVn3BmvmOodE9i9GxZBkOHX4R/aoWIU+lNrPZP89lJbpu7xf42yeXobkt2mY+56lHeaoJ9Pb2OVAR+3vW/sGVaGvb9PvP9u7eec8SaILyjH2SqrnOhKM5lBfcf96jchBunvSKIX7jCzVr9sxDz6qhuPrER1BaWGUoHzOJDrcelOc8N+9fnuUnKxnnaInHJxFounpsqW+RAzjn2uHUtTwfR3WNhrx7Y/m9eP/LGar6pC8/3ZEaV0x4AEcdMdEMJIbTrtkzHw+Fr8Th1kP47vAbcdrgy3TnVde4o90PVC0htLc/Oong4vfBvK1EPUmgMnm2K089CkiEX+juVYPxq1ONEejaPQuxatdsnDzgApQUVOj+2MwmUMhzk0ye+hV/sgI1Wx8lPSfQ976cYXgEclXNQxjW7USrqqMrn437lmL5jlmYeOR5hn4QOYHeLjvS67eHCN+DPAcssbAU8aYS9RyBJirPTIpS3L/35DuRNLgx6foKHXhZXm3/WLXabuDwPS0K1EhTcivQ7P0hL1QArkTdWp030mYljbwK/3Z0J5KnD63zqBL1FIFe88LQyQixeDxPUX5Ck0dAWe75TqSbJ2XeiWTmY7IrbVNLdM5zS/3K9CM+je0f2zdxDtSq+r6xLKpADUtQAHxO9IqaBzHUJRcno1hwAr39rXY/UA9+D4kxqKUwIpKn5kQ9Q6DXvDBiMgtJtRKTYjuMxNWZmfWA0UUkox+Y2XRR5XkRNtetjPGTUdydGsIbrV9+KB/TJniLRKMK9BSv68+4Oxcfzoe8EwrPEwR67QsjaqRQ270AG2OWENxOz7dyekWBHmqpx/0fXyLvMLLikgl0THwV3oo8eR4xBWpBhl5TogkK1IL2i5EFm8cibdfdd/bKsBj1yVwL4Ql02rzRBUUbGvkKwcVydCI5gryi8Lx336NysCcIlJPnvR9fiG11X1mGt/0K1Jr+kJ/nHSWaqECtab8Q35eExw73LZk2Y8x8vm1L2Et4Ar32haO+L4XwqrAI6qyYFxSoTJ4fTcW2+tU6W5f9dS8oUKUFXlGi/lSgUSuwCKbcd/by1yzthBZnJj6BvnzUg5KEKy1ut2vZiU6gdpEnB9xLBMrr6wUS9TWBMvz9vh8sv8q1j1VDwcIT6DUvDlsJxoZoaIsnXhGZQO0kTy8SqEKiPx1/H4YfcbKQ/cvPBAqJfXn/j5YNFRL49kqJT6AvDT8ESCUig6inbqISqN3k6VUC5fUOsTxcPuF+IUnU1wQK1nj/D5eV6vm+nH5XeAK9+sVhhxhYiewmLEdLS3MMsXxUhzee80WkX51mbCeSXZ3jUHM9/vLRVGw/sNpWfMdxP1CbVuHfXTnD1v7BWB6m1YhHojKBvtnuxuSD7yPh+4bUeP+PVhCBmvnwaQhvBr3caZ1QnkotvDYHmoyeiErU1wqUhvC5P+Bcb1z94lEPMuDKzBvVlMO6Mm1kE+s5d6T/1Wli7ESKKs8LsL1+TRZHbOvws12Bpt3QaF39+XBNNCWaoEAdaH/qd2gtvur8Afz9rz+iRaRcHJn1eYobk+gRk3PUT97KKQCBxpRn3eroL49y2YivIwrUxvrLEElAKCTOnGiKAnWg/U71F3JjMkWd0cSyI/36xhkSpIs9HSyhXePxYCJuz4EqynNb/RpHg1CM7TsFU22YA32d74Vf+ZCjwTRCLIRpNX91fWGJE+iv3+R74T0eTCSp/hLwWEs/cqS3gEIBeSsni27l9Ho34eHsbnF5Eemvsy7Dlztnm97brnfPuTtDeHt/dm+b/Aa6VfS3pJ8byWQ/jwf61qn+ok/Gt3Ky6+47eylt5TTSKdKlkSMxMVYrATX2fhL2UrTbCrS5tRE3vcZDCtjbznT5+0mBKu2bcvT/YNLgS6zq5rrz4QR6+1s+CGfX3h8lSOGQ5J2ITMK7Mal7FI/IBNYmh7Nz/vO3hrZ7CDCE//unV2LZ9lmkQE3+jFQWdcKvTn/FlaOkle/CXwqUhSF5K7CypwiUd5qfvTB0MmOslklciXrv4gR6y+nubu2fu/F1PDHnZsfB4/FApx5/l+Xlvr70L3hvJT/Sw7mrorgTrj/5SXSt6OdcoWlKkhWoPAfq7UsCwiF4R3kqaHuOQHnF48N5VpNyLqzgq5B8Ff5Xp7vvxjRnw2t4at5tsuO8U6uqMoHatojUTqAO2J+T542nPIPOZb1cZ626xp34tRJQmdfGgfZb3V8Yk8Lw0LBdbXRPEmhMiYLVMnlOVP17IPYpSfIc6Oli7ESSSXTurZBiYcHtDWkuz4Eeb3080LgCtbf+/JemorhjO3n2dp08eQVkAn3zG+11sb/9po4kSHNkAJ/zlCBNf8CjJ3N6lkAVJRrhw3molKjgk6OiKFDl609RojbiN7afjQp0hepID73uARrfF0l5KvaLKVAb7WbXZLmXlaenh/Dqn355ThT8nCR44qgPvhPpFkEUqJpEn5x7qzz+s/M75G5Mds2BynvhTS4KZUtfXtwJN8nDdjGUZwKBvvkNW+1mE66eVp6+IdCYEpWH8yzNwlLypFDyyMvZ5zwakwhzoMkoRIfzt6mG88ob1uETXUSyYwjPHekzLSKZr39FcWdh5jyT7RYdwmdbRDLf/sRJcvPfj9eH7b6YA002Y0yJ8tX59okJ+ZdTJami0ZzaN6wo+1Ycfi6iAk1QonNuhcSi88hW4zeOD+FtWoV/d4USjcla+5YXdcJNp4qnPNUK9DY+B8rXAgXo3zm/L8AXytNXClRpDF+dj2RUokLM+UNUBZowJ5pWiZrHzx0FarzeIs556legxttvdUo/KU9fEihv1M+eGzqZ5bFaCOon2rODeHOgyR/K53w4z5Vo4qHdpr8neQ50rD1+oFyBWnlx8hRZeSYo0DeUVXgrEbA4L+Yv5elbApVJtH1hic+JxgO0KoGY3f036kgvhhtTtk+Ek+jTc29DRIqAMeW0R3P/jutnlxvTvXh3xUOW1bOyhM95Pi3cglE6eylzoKL1c3V94FPyVKa5LP6pESM7UZWoFxSoYkGrlagXFKhXlKeHFGhYYt7188zFZp72A83VuPjCEl+djytPZVe7oqycvPeKAk0kUb46H1eiRvFySoEarZ+XlGcigUbD2bnRn+WdbO0OZMnl+1l5+noIryZWWYmGon6i8t9d3urGz0S69Qx398Ln+uFJfv70vNvx2bqXon82gZ8jCtRE/S6vuQ8je56mFx5X3+d74X/9hsqNyUT7zdpXnZ7vbUdEmv7Aj1e+5ypANhfuawWqYCcrUYmTaFSJxi/nt76VFJTj7imf22xWa7P/ZO2/8Nz836gCFqt/f7XjOY5v5Rxrhx/oXxBdRDJnz2tPfhSDu46zFjybc1u183Pc95ESTs9c+83iF0vP5zzb/E+evp4DTe63ihKVJNRwfzlFScmxNBy+H9V7Mk4eeL7Nn5Y12fNFpBcW/g7b69bI34cZvGQ/ULtW4ZdHt3KaqV/vjkfh28OvQVG+0AdBxgzbcHiv/MOxef8KV/tzwvcTEOUZmCF8+uG8okQz/WInb15LVlz0PDFgsjZ8nFOgZB8j9skc8VabfcGd5AMwbFdzSiCG8MkkCj4nKqifqDW6UcxcuAK90AYF+u8lyhBezHYHolY8JF0Evp/zTLZl4AiUA8CH85xE5VB42qfwLJsiihlBkCkrp+pj2xBeIdCA4Wlyyte6/sznPAOmPAM5hCcl6q4WIgXqLv62lC5J/OC3wCnPwBNoghJVDecF8QKJ9XU/1cd2BWrOy0rG3E94296eACtPItB2BOThPBB1cVLCD8lhbVThiOjeEjzG9bdxDrR9FT62DE/2i4fTsqX/Blt5EoGqxjOxOVEJ8mmfyWuOdB9FwOwU43ib3JiURSSz9aP0Gr2kWTCc5LVMeQRyESkdMFElqtqxFGOMLAFpEwJmpsmVnicEYJXnQMdZH41JJlCuQJMvwj8xAK4l+JDyVMNIBJqsRDmJMm8emazlF9PNd2gRyU30LSiblGfa32gLkPVPFsqcqCSfscTkmJj0rzU4jO83xTYF+s7yh8hONvZXgJRnOpYjBZoGlbTDef/8RrjWEseH8K611HcFh8GPHvZ5YBAjViMCzYAaKVHrlTcpUGuUvMMjojALsJ9nLlIlAs2CECnRXN1H33NSoPrwEuBtUp45jEAEmgMgTqIS9xNVTvskP6c4Yjr9frgf6EXj/mA5L/x78V/A50BN+1npbI/PywszFtwdRlo7KRGoBqTUzva0UyXxlHA9eDihQPXUh5ue3k9rT1KeGniBv0IEqhEoWYlKfMeS2sWJJItG12sZZX6kx0XjbfADVRSozyWhQxKblKdGTiAC1QEUf1VWopxEGT/tMxqImf7VjsN4vpXTJkf6d5bNIHuY74+kPHVyAilQnYClV6I6Mwno63wIf9F4G+dAA4qrRc0m5WkASCJQA6DFSTQ5sr06ErqScfzUwsSI38F77twQXt2tCf/0kebV/Q9EngZ4gIbwBkFThvPynKiyOp/Mh3QfRUC1SuOIAqVVIX2rfCDyNEEDtIhkBrxEJUqMmcKYSQwaJVC7FpGUYCLEoDoYNMwY7TAywwE0hDeDHl9YemroZCkPtfJpnyrBlWngGOS/80Uku+ZA317G98InHqVG95nxACPlafLTl5MTgVqAYoISzXSubvJyffK5ygF4Pq6/jW5My7gjfZZzjQOAr/b2E3la8NkTgVoFojwnSko0pwIkBeq+QuZHDzN+euYFK9+zsv8HNS9SoBZaPq0SJUfRmDJ0VIES7mkcdBFmbUSeFn7yNIS3Ekye17Snhk7OC6GWxxNNXoUO+r1dCvQ1vhOJD+GTVv3pPsELIhwi5Wn1504EajmiynA+FN32GeRFo+RFHLsIlAcToUWk9N6e7f2Phu12fOi0iGQTqmolqo7iFPBl4fFH2rMKLyvQpapoTAHHOWEyGghHIpg+g+Y8bfnYaQ7UFlijmcoLSwlKVAmoqywmBOt+vI2r8FEFGiw8c7eXFoxs/LxpFd5ucJU50RAnUa5EA37JQ/gJ1u+Ff22Rag404BjHms9IeTrRFUiBOoAyV6KRdiUa29oYwMlRGsI74+nPGMJtNGx34MsmR3pHQCYlGoWZFKgD3U1COAKa83QAaRrCOwWyUk5MiQZ0OE8Eam+PI+VpL77pcqchvMOYcz/RELifqFTDGIOkcvj2+/2EI6fYNgf69tK/w+/4ZWsfI+Xp8JccLY4I1AXYFRIFC9bC0unDLsUPRv3CcsQ//uo5PDt3uuX5eiZDWjByzVREoC5Br1aiMRdoJRiG8rsm+zOqVptceD6w83EIhfKjqx8myq8oqsZ3R16DIyoHWI54S1sT3lj8N6zbu1iFV7s80IlfW1sL1uxaGJcXOtPH7WWsfL3pmSSFI2Dk52l5r9KWIRGoNpxseUt0JXrHt19H96qBtrRd5EzX7l6Iu987T+QqKgRPTvIuW4kI1GUDpFWiOeMa2b/VprSwAn86e47L6LhX/JVPD1UkpJD/MpDydK93xEsmAhXACjElmrx3Xglvmcl90Obnpw6dinNG3yoAQs5W4enP78Cs1S/Ew2u6hH8svGlq+eSq5GyXyFgaEagghhBViU4aeiHOHn2LICjZX41n50zHR18954zHu4GRBilP+/uAnhKIQPWgZfO7cRKNrs4rA3WlWLfug0Kiz875LT766tmYld3CO4u9SXna/A3qzZ4IVC9iNr/PSfRr59BaxuOJqobocrEu3k8aehHOHuNfJRpVns/Ki+Cxj8JFvJPtLQHhrx1dabXd5u9Pb/ZEoHoRc+D9ZCXqQJGaivCrEk1WnprAcPAlxkPS0fZMBxHXXhQRqHasHH0zqkR5UGZJqNM+zxg+DWeNutFRLOws7Jk50/HxqmdFjvFCytPODmAybyJQkwDamVxWohJqJb5jKTl6k1JwpqhONj4/c8TlmHKs90lUVp6rnk0fyt1G/BL2/2WxHylPO78ua/ImArUGR9tymfbY0MnIk+TjQWwrxEDGZ3pcif5r3l34cOXjBlruWBJSno5BbbwgIlDj2DmWUhnOywtLMSnqvkQ6c/jlmOLB4fwLMnk+0Q6gCxI+hwRlYOEIo5B0jn1gJgoiAjUBnpNJSYlagzYpT2twpFyiCBCBeqgnJCrRaMUlSPJZQMl6NH5v//NvDp/mCSXKlecHK59I0n/246PVPlFXJVKeHvokiUC9ZCxe15gSFSwo83eOuRrfHXm1sHDKynOF4HOeETZ9xsUr3xMWRKpYCgKkQD3YKeLDeVYT9fxWBRdx8f6sUTeBz4uKdsWH7YpnvBh4xXdGsDDaQOQpWsfRUB8iUA0gifiKqEqU+4ieOWKaMJCR8hTGFL6sCBGoh82aVomqjgiJhxNSKS8Hnp91nBhKNEaesbBGzuKgAX9Snh7+/mgRyePGi82JhqRaCRBqx5LbSvTlhX/Cu0tnCL3DiNGcp+e/QFKgnjdh+8JSSDxne7dI9JWFf8I7S2eIbNkwiDxFto/muhGBaoZK7Bfl4TxXohJqRBqxOk2iLy/4E95dNiO2tubAjIWGkXr0qCbZLkCYlKfY35Ke2hGB6kFL8HcVEo1v+xQjoqVTJJqqPMVof7zbsDAitNou+Gekq3pEoLrgEv9lTqISH87H/ESVrYqZ6u7M83OOvwWnDbvINgC58kw/bHemfZkb1l4+I+Vpm/FdzJgI1EXw7SpaIVG+d16kIey5x9+CSTaQKFeeby+ZoW8orTql2YEpD5rztKuzu5wvEajLBrCr+FQlaldJ+vK1Wom+vuiv4P8JfIWZRDuMBLaPqaoRgZqCT+zEMSUqoSZtzCGbT/XMdKqkVUqUD9n50D3jIc8utS9WHwZSnmJ/IqZrRwRqGkKxM5j22MDJEsuTI9urtg7GT510aeunWSWqkKdIW1kT8QUpT7E/DUtqRwRqCYxiZyIrUSaen6hREo2Rp6iw04KRqJaxvF5EoJZDKmaGMRKVpBrFITE69s20mqKcq2zv83PG3ILTjtK+Ov/Okhngu4ziW4zsrZ9ufLifJ815ivkR2FArIlAbQBU1S1GV6PnjanHykJ/khE145UnkmdOGfnuBCNRvFs3RnksfGzg5j+XVShI/7ZO1B2RWBJ179+eN/w2+kYVEuZvSKwv+JEx9o4tycbzAWLhNYtMfoXiegfqiiEADZe5oYxOUKGcC5XJ5487549MrUXnYvuBP8dMzBamvavmfhu0B/I54k4lAA2p4tRJVmElRVG7enze+NkGJfrD8cTw/9y7Za0CE+vEjVBLwYQhHSHkG9CsiAg2s4ROUqGDHg/xk3O04Zej5eHfpP/HS/LvFtRFfbacFI3Ht40DNSIE6ALLIRXAlGpLa/UQzeqTH3UZFDrCZ2aPejvrzo4dpzlPkvu1E3YhAnUBZ8DLiLk4ZdizZwT+xgXB8atMz/M1AC0aC92mnqkcE6hTSgpeToEQFr6u71SPl6S7+YpVOBCqWPVytjaxEJakWjJRohtgBpDxd7aHiFU4EKp5NXK3Rpf8cODkUUvbOu1oV0QoPRyKR6Y9ctprObRfNMi7WhwjURfBFLfrSx4ZODnElCtSo9kx6edbS7CwuLRiJ2lldrhcRqMsGELV4RYlK4DuW4ldyfHe/3wMg5SlqJxWgXkSgAhhB1CpkV6JKrdPOFqah3OT3PJE+HImw6Y9ctpKG7aJ2UpfrRQTqsgFELz6qREPyaZ8xP8v2SisBk2NtSNoK6uXnjCtPieY8Re+fbtePCNRtC3ig/Ev/OXRyKHbufCbF6au/hyORNlow8kDfdLuKRKBuW8Aj5ctKlEdxkiPb+/ci5elf29rRMiJQO1D1aZ4JSlSk4z6tO1aTlKdP+65dzSICtQtZn+YbVaKhWkl2cfLPJQFh0JynfwzqUEuIQB0C2k/FKMN5flCdQOFEk9e4NN8zsHBEojlPP/VRp9pCBOoU0j4rJ6ZE1avz6mggSnsF93Ii5emzjulwc4hAHQbcT8XJc6Is4tnhPClPP/VGd9pCBOoO7r4plStRsFAtaw/K7JWdSRKjOU/fdEIXG0IE6iL4fik6YWHJA+6gjNGcp1/6ntvtIAJ12wI+KV9RopAg750XmEfDAO0w8km3c70ZRKCum8A/FYgN57mLk4AMSsrTP31NlJYQgYpiCZ/UQyZRhGq5i5N8WIficK8wqmv3IOXpkz4mUjOIQEWyhk/qopAoQzyyfbJXk5P3PCQdDdt90rkEawYRqGAG8Ut1YkpUkmpg3VbLuKLVupWUyNMvXUrIdhCBCmkWf1QqnRJ1cmoUYGGAdhj5ozeJ2QoiUDHt4ptaJShRzZsrleYnBRjVk55x8qTVdt90JEEbQgQqqGH8VK34wpJjq/NEnn7qQAK3hQhUYOP4qWrplagNHqN8hxEpTz91HaHbQgQqtHn8Vbk4idoUCo/I018dxgOtIQL1gJH8VMVLHxo4WQpF/UStXZxnYRaiOU8/9RUvtIUI1AtW8lkdZSUaCdWCqc+dz9TI5PAkye9JAC0Y+ayHeKc5RKDesZWvapqgRDPtnVc2MmV9TsrTVx3DY40hAvWYwfxU3UQlaqBlNOdpADRKYiUCRKBWokl56UZArUT1JWZhFolMf+SK1e/pS0dvEwLWIUAEah2W1Om9ZwAAAnVJREFUlJNBBDiJIi90JySMkSCBgSHrv4zNQ1vkNiJPg4BTMssQIAK1DErKyAwCl8wYUMNCocslCRdny4cxPCZFIg8/Om1N2Ex5lJYQsAIBIlArUKQ8LEFg2kOjC1pCDd9iiJwpgZ0CSH14FDzG2EZA+o+E0DsFkfK3Zlwxv8WSAikTQsAkAkSgJgGk5IQAIRBcBIhAg2t7ajkhQAiYRIAI1CSAlJwQIASCiwARaHBtTy0nBAgBkwgQgZoEkJITAoRAcBEgAg2u7anlhAAhYBIBIlCTAFJyQoAQCC4CRKDBtT21nBAgBEwiQARqEkBKTggQAsFFgAg0uLanlhMChIBJBIhATQJIyQkBQiC4CBCBBtf21HJCgBAwiQARqEkAKTkhQAgEFwEi0ODanlpOCBACJhEgAjUJICUnBAiB4CJABBpc21PLCQFCwCQCRKAmAaTkhAAhEFwEiECDa3tqOSFACJhEgAjUJICUnBAgBIKLABFocG1PLScECAGTCBCBmgSQkhMChEBwESACDa7tqeWEACFgEgEiUJMAUnJCgBAILgJEoMG1PbWcECAETCJABGoSQEpOCBACwUWACDS4tqeWEwKEgEkEiEBNAkjJCQFCILgIEIEG1/bUckKAEDCJABGoSQApOSFACAQXASLQ4NqeWk4IEAImESACNQkgJScECIHgIkAEGlzbU8sJAULAJAJEoCYBpOSEACEQXASIQINre2o5IUAImESACNQkgJScECAEgosAEWhwbU8tJwQIAZMIEIGaBJCSEwKEQHARIAINru2p5YQAIWASASJQkwBSckKAEAguAkSgwbU9tZwQIARMIvD/AVDkvnv22WOGAAAAAElFTkSuQmCC"/>
          <p:cNvSpPr>
            <a:spLocks noChangeAspect="1" noChangeArrowheads="1"/>
          </p:cNvSpPr>
          <p:nvPr/>
        </p:nvSpPr>
        <p:spPr bwMode="auto">
          <a:xfrm>
            <a:off x="155575" y="-381000"/>
            <a:ext cx="80010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4053" y="1336194"/>
            <a:ext cx="15665473" cy="454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2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30908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264982" y="236763"/>
            <a:ext cx="6374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Bradesco – Cenário de Refinamento</a:t>
            </a:r>
            <a:endParaRPr lang="pt-BR" sz="2600" b="1" dirty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Arquitetura 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pic>
        <p:nvPicPr>
          <p:cNvPr id="149" name="Imagem 148">
            <a:extLst>
              <a:ext uri="{FF2B5EF4-FFF2-40B4-BE49-F238E27FC236}">
                <a16:creationId xmlns:a16="http://schemas.microsoft.com/office/drawing/2014/main" id="{C69F268A-EA4B-2CA2-B7E0-A91BCF0C276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8238615" y="6790566"/>
            <a:ext cx="405487" cy="19713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C2CD672-5CA7-8C30-F410-B15144C4B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2066" y="302678"/>
            <a:ext cx="762000" cy="571500"/>
          </a:xfrm>
          <a:prstGeom prst="rect">
            <a:avLst/>
          </a:prstGeom>
        </p:spPr>
      </p:pic>
      <p:sp>
        <p:nvSpPr>
          <p:cNvPr id="49" name="AutoShape 6" descr="data:image/png;base64,iVBORw0KGgoAAAANSUhEUgAAAVAAAAFQCAYAAADp6CbZAAAAAXNSR0IArs4c6QAAAhJ0RVh0bXhmaWxlACUzQ214R3JhcGhNb2RlbCUzRSUzQ3Jvb3QlM0UlM0NteENlbGwlMjBpZCUzRCUyMjAlMjIlMkYlM0UlM0NteENlbGwlMjBpZCUzRCUyMjElMjIlMjBwYXJlbnQlM0QlMjIwJTIyJTJGJTNFJTNDbXhDZWxsJTIwaWQlM0QlMjIyJTIyJTIwdmFsdWUlM0QlMjIlMjIlMjBzdHlsZSUzRCUyMmltYWdlJTNCYXNwZWN0JTNEZml4ZWQlM0JodG1sJTNEMSUzQnBvaW50cyUzRCU1QiU1RCUzQmFsaWduJTNEY2VudGVyJTNCZm9udFNpemUlM0QxMiUzQmltYWdlJTNEaW1nJTJGbGliJTJGYXp1cmUyJTJGbmV0d29ya2luZyUyRkFwcGxpY2F0aW9uX0dhdGV3YXlzLnN2ZyUzQiUyMiUyMHZlcnRleCUzRCUyMjElMjIlMjBwYXJlbnQlM0QlMjIxJTIyJTNFJTNDbXhHZW9tZXRyeSUyMHglM0QlMjIyNjAlMjIlMjB5JTNEJTIyMjkwJTIyJTIwd2lkdGglM0QlMjI2NCUyMiUyMGhlaWdodCUzRCUyMjY0JTIyJTIwYXMlM0QlMjJnZW9tZXRyeSUyMiUyRiUzRSUzQyUyRm14Q2VsbCUzRSUzQyUyRnJvb3QlM0UlM0MlMkZteEdyYXBoTW9kZWwlM0XLSnf0AAAgAElEQVR4Xu19B5wV1dn+c+72zlKlg3RBEUHKqhhF0XRMoiYq1oia2P0So0Y35Isx+fSfRE00YmKvscfeSBS9IlU6Ir132GVhly13/p65O/fO7dPnzMw7v58/nJ057XnPPPc557znPQx0EQKEACFACBhCgBlKRYkIAUKAECAEQARKn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QBgEps0bXVC5r/lbDNKZADuFAb0lgPfRjYD0HwnsnfrqwrdmjJnfIkylqSKBRoAINNDmF6fxN787oiaSxy6HhIvVnVJClEFj/zI8FmLSw3+ctDQsTu2pJkFFgAg0qJYXqN2/eG/EZDDcCbAxKqpMps7YPQObJ0nSbXdPXvqeQM2gqgQQASLQABpdpCZz8mQhVitJqFErTaWOKQq0nUbBEJYi0nQiUZGsGby6EIEGz+bCtJiTpwTUMsZqIPHZTgY9/zKwsAQiUWEMGsCKEIEG0OgiNFmtPJX6KApUzz0kEImKYNCA1oEINKCGd7PZMeUJVqNlzjNpGSllblQCCzNSom6aNLBlE4EG1vTuNFxWnmC1EovPeepRnHxONN37jJSoOwYNeKlEoAHvAE42P648UZO8SGTFvQSEGUALS04aNeBlEYEGvAM41fyY8kScPO0oO0qitLBkB7aUZyoCRKDUK2xHQD3nKUECU7nGR+/jg3IrnoOUqO02pQKiCBCBUk+wFQGnlGdyI0iJ2mpWyrwdASJQ6gq2ISArTwm1YKjhezEVN09FgNp9z53taU7UNvNSxqRAqQ/YhUB02M5qmc1znrnqL0EiEs0FEj03jAApUMPQUcJMCCjKk+8wkuQdRtFoIKmKk8GR53xOlNHqPPVY6xEgArUe00DnKIrypDnRQHdDxxpPBOoY1P4vKDbn6fKwPQvSpET93w0dbSERqKNw+7cwRXlCkmoY40NzZcguQbB7IlH/dkPHW0YE6jjk/ivQA8ozGXQiUf91Q1daRATqCuz+KTRKnqwWSIznmSmOp0B/DzNGO5b80xPdaQkRqDu4+6JUTp4RCYmuSgpDKi0U+z7M2jD97m9RZHtfdEgXGkEE6gLofigyrjylmlzh5gR/TsN5P3RIl9pABOoS8F4u9hdvjZgs5UEetsdPe8t4hJHg/CnXm5Solzuki3UnAnURfC8WrZ7zjNZf7DG69vpJpES92CFdrjMRqMsG8FLxXHlGQtE5T4EWgxKPPTYhhLkSDdGcqJe6pOt1JQJ13QTeqEBs2C6hRu/hb556n++dJxL1RqcUoJZEoAIYQfQq+F15qo9Tbj8yJByK0Oq86P1ShPoRgYpgBYHrEFWerJbvMPKUkjRwTHJC+0iJCtwrxakaEag4thCuJorylFfbg3mFIxFM/zP5iQbT+hpaTQSqAaQgvpIw5xkDwMjJ7ZnO0eSZip8fjydKw/kgfgHa2kwEqg2nQL2VoDz94qWkWNBYe4hEA/UFaG8sEah2rALxpqw8Q+1O8pY5CCUv03jvnpRoILq/7kYSgeqGzL8JbnhrxOQQJ0/uqkRXKgIMNCdK/SIBASJQ6hAyArFhu4Qa+egNZYZSietJ94oep+E8fTMJqwIER8ARIOWpswOQEtUJmH9fJwXqX9tqalmK8lQd/haNJM8jykMVYT5+OFygnwOkRDX1MH+/RATqb/tmbZ2sPJmyYBRgIIw2nZSoUeR8k44I1Dem1NcQ0YbtLW3FONxWgubWEjS3laItkoeSggOx//S1zsG3eQAS2vbpIOBiFUUEKpY9HKmN28qzsaUSW+sHYVv9IGytH4ztBwagpa0oa9tLCuplMi0v3I+eVSvRp3opelWtcAQvDYWEIxLtWNKAk+9eIQL1nUmzN8gt5Vl/uDP2NpyJr3aPwuLtPS1BvSCvCb07rECfDkvQt3oJOpdtsiRfQ5mQEjUEm9cTEYF63YI66s/J8+t1oVomtcfzlBeHJDAwVWB51b3J5wcOd8Hq3SejJG8SBlb3RbfyPOw+1IZ7Z9cjot7hqaMN2V7lCnVo109wfK/XUV60t33xy772RRfXEvAiJWqRLb2SDRGoVyxlsp5ODtv3HOqFWWt/gv5VJ+KU/sUpNX/7q0P4ZONhky3KnDzE2jCkaxjj+ryGTqWbbSsnQ8ZEok4j7mJ5RKAugu9U0SnKU3UQh5WR5eubuuKT9edi5U6+kYnhqC4FOP+Y8pRmtkQk/L9P63GgOWI7BP07foHje/0bvTosd25jKl+dpzlR220rQgFEoCJYwcY6pChPY8E04jVMk/5gSwfM3vADfLF1ckpLfjq6Av075Kf8fdnOZjyz5KCNLU/Mumv5epw68DH0rFwZDQKlXDbg0Z4/kahj1nWvICJQ97C3vWRFeUb3tlupNaPBQJpaK/D5xilYtPUMtEYK0rana1kerh1fmcBZyov/XHAAa/e12o6DUgBjEYzv8xLG930ZDFz92hzUhLHw11OkFE/UMQs7XxARqPOYO1JiTHnaFBhk7d5ReGPF9Tndj3hjvz+0FGN7prop7W2MLii12j+ST8Ccuz99Z9i9KCvcb78taDhvP8YulkAE6iL4dhWdXnlaN2Zdv/dYvLbsF2iTUofm6dpUVshwU00VivJSu9vMdY34cG2TXVDI+fapykevyjx0LAmhrDCE8kKGquJWHNt9HqpLtmHhzrewv2lbex1sGNOTErXVvm5mTgTqJvo2lJ2sPJPpILlIvc/X7x2JV3WQp1LeCX2K8K1BpWlb/ODcA9hcb81QnpP1kdUF6FOVh96V+ehdlZ3k+dxo76rlWLb7PWxtSHXM14tPRnxJidrQ293PkgjUfRtYVgNZeUpSLRiryRD9I1NUEE1/31g3Aq8suUWz8lQ3jIvP6yZUolNJXkp76w9H5KF8U6t+59CCEEP/6nwM7Mj/K5B9TfVeFUV7MKjzbGysX4BVez6BJE+NJkRVseYeLCwxmhPVax+R3ycCFdk6OuqmKE9JNedp1YlDjIWwcd9ReGXpzRkXi7RUtW+HfEwbXZH21ZW7W/DkogYt2aAwj+HobgUY2a0QAzqmX7zSlJHqpariHRjYeR62NazAkl3vy0+swk8pRs6PgRaW9BpH4PeJQAU2jtaqRZWnElVJtdquxKHLtNqs8XmPsstwzyenYXtDSGuVMr7HHetPO7Ik7fN3Vjdi1ob086G8qgOqCzCqe6HsX8pJ1OqrY+kW9O+4EBvqFuLLPbPicftM4pdmtZ+UqNXGcyk/63uhSw0JarFq5WmHYupaNhGRlpvx7JLDWLyj2RKYf3pcOfpXp1eOD807gI118fnQ7hV5mNC7CIM6FqCyyDyB52pAl7L1cqCSVXs/xYa6BbLzV4KCtOpeApFoLmN44DkRqAeMlKmKsTnP2Lnt1lJop5I+qMi/C3xPO1eGXCFacVUUhXDd+EqU5Kd2v7rDEdw/ux6NrRIm9i3GGQPTq1Ur6pEuDz4P27lsCbpXzsPy3TNRf3inVZSZblIgLLVh+p+/t/Q9u9pD+dqLABGovfjalnvisL29mEx+4ckSKvm9NM+LQmUY3PHX2Fp3nPx0zd4WPLJQ2xyllkYP7lSAi45N3ebJ03IFWlrA0LlU/4JQtrL3N0XAfU/3HOL/RrDzYBsamiU0tkbQ2CLhUEtcb54y4DGM6vlOdP+BAfwS9i1kT09KVEuHEfQdIlBBDZOtWjf8e8RklpdmztPCnTXHdD0f2+rOQ6Td15Mrs//9yFrH828PLkFN79RgI1aYhCvYr/a04MvdLdh6oE0mSz0XD0hy0ehfoLpki/07lvjqPClRPeYR5l0iUGFMoa0iaZWntqSa3+pbNRKhyC/BY3iqr7s/rQNXcVZdeSHg52Mr0a3MGqW5raFNJsxVe1pkFcs9kcxcPSpX4ccj7zCThZ60pET1oCXIu0SgghhCSzWiylOqBVCjdlNUhGemw9/0PA8hHyO73omN+0elVOmpxQ1YsatFS1U1vzPyiEKcM7xM8/vJL+5rbMPszYexaEcLDhy2jtyVciYNfBjHdP9AHspbgW8699K4fUiJGu4ILiUkAnUJeL3FJg7b9abW93553msoyksdWn+26TDeWHVIX2YZ3uYdb2I/7tJUjBBnJh1XRJLA/UbnbG7G6r0tCdOUOrLR9GpR/kFcMvpGlBbWaXrfgpdIiVoAolNZ6Ou5TtWKyklAQCbPEN9hFFWeyYrSyvsl205Ft7KbMKxzqpsRj9/5x1l1pgmrvDCEc0eUylsu9Vx8x9K8rYcxd0sz+P87dQ3pEsa3htwbU6BW4p3Onozvnac5UafMa6ocIlBT8Nmf2EnlyVvz+Px7cHTXgTh9QHr3oWQ/Tb0IcH/Oc0aUorRAv08nn9d8dGEDmttMTm7qrTSAs4/+X/TusMxASsNJiEQNQ+dcQiJQ57DWXRInT3DlGfPz1J2FrgRb64fg+cW/lZ3WLx6V3sXo041NeOsrY/6g43oV4btDStPGBtVaUR50hLtTHTawb15rGeneO6JiNX4y8jYzWehOy/jqfIT8RHUD52ACIlAHwdZTlKI8JUmqYV+fBJe8+KD4GcqHmln0/O0vr8HKXSegOJ/h9pM7pK3uvqYI7vlU/3zgN/oVZ1S1enDh72470Ip/LmiQne2dvC4efSOqS7bKQ3k78FcvUqn8SIlEnTSyzrKIQHUC5sTrTitP3qZDLVV4eM6DiEhRl6Kfja1Az4r0oeAemFuPLfVxv8q+HaJzmRv2p1+ht8Pfk/t1Pjz/QILzu922Gd3zDUzs/6TdxaTkT0rUccg1F0gEqhkqZ16MK0/UZHKbsePvszf+AOEN58QaeXK/YkzOMA/apSwfo3sWoW9VHgpDiSqwOcKwYX8bXlp+EL//eB9+MKwUo3ukRqPPhiZfYf9wbSPOO7oM1WnC3ylp+RHJfE5WvYPITiuVFNRj2tirkBdqsyXaXTa7gu+dp+G8neY1lDcRqCHY7EmUVnnaECA93aFqTy38P+w62DfWML6N8oYJlQkNndivBMO75CNf4/oPH2F/ubsVM9dqmzPl85rcTWrBtmjQEh4c+dJRFTgiS4xPTqIPz29AgwMnfPI6fWfonzCo8+dxXByyT3uBYUQY7Z235/MzlCsRqCHYrE8UdVVCrQSpxvbDzpK2fLZGCvHX8BOQkpZ3eMAPfihcdUkI3xlSig5FxrrLoRbgxWUHwQOFZLrW72/F80sPprgnFeUzXHJsedbI8nx/OydRJ1yb+lcvxJThf7TpYOhMwQzif2cgJWr912c8R2NfhPHyKGUaBBKUp/WHZ+bk4011I/Di0ttTasZdmaaOLMd3hpQgTeAkXbbknkevr2rEpv2pR3d8tqkJb65qzOhfyqPOTx1ZljV4MifPx75owI4GfXvedTVCdsGV8NOxV6G8YF9OXC0MTZB8qCopUb2Gs+l9IlCbgNWabVx58qOH+eXsmJCXN2fTWfh0w49TqlzTpxhvnNcN+UnznFrblvweJ9GnFx9EXft+et7S11Yewtwth3NmyeMnnzOiDCO6FmZ8t6VNwrNLDuLLPdZuN00u8IR+z2Fsr1fb/+y8vThzkxLN2WUceYEI1BGY0xciK0+W6Ofpxuf42vKbsW5fNGyd+lpzfW90KbW2i/DhPD8PvjUSJTu+YKT14jU5K8eiFMfv/TWN+Gi9fSd99u2wGD8YfqdLP3dR4StfDKREtXYem96z9uuwqZJ+zDamPCWpJsmxMBq1Iu5oaPv932Y/hua2xJ1HM77XBT8eYU8w4yU7W3HO8zuw5YCx4TafWuB+pdmuRdub8dKKg2jLsuNzQMd8+WgQfi49jweq9WRQfp78tLFXRPfUKg66DtoroX+Akyg527vFEUSgLiCvVp5uKE610fc2dsfjC/6SgsLeW/oin9njqN4SATr9YaMp5LMdk6xkvKGuFU8takhwc+JTAN8fWiJHuj+6WyGUo5X2NUb32b+zukl2weIBl7NdV427DMX5DS5MuKgUqPIzS0rUVF8yk5gI1Ax6BtKmKE87js/V4Si6fMdEvPvVzxJa8r+TOuK6cem3chpoctok93x2AL/9zz5T2Q3rUiCHwst2wByfb330iwbUN0VwxZgKXHJcOQZUZz8r/j/rmuQ996+uzBx56kcjfoveHZZbc9yxDntldEAlJWqqLxlNTARqFDkD6RTlKTm0t11LFeds5g705ya8uvjnvdCvSqOzp5ZC0ryzZn8Eox7YbDB1PFmn0hCmHlOOLlmCMvPwd1VFoYz7+9NVggcu+d1HdXhu6cG0dTy5/+MY1eMt0/W3MgO+sASJ/EStxDRXXkSguRCy6HnUVQm14HOesUuZ61T+4Pz97E0/xGcbz05opZ3Dd6WglghDpz9ssARdrkD5jic+JE93je5eiJo++nZD8XzW7G3Frz7Yh3fTHKY3ottMnD5wRvsg2j37pTm0iUjUkl6lLRMiUG04mXorq/JMngRNLsnm559tOAefb/5hrFR+YuaWm3qZaq/WxJ3/uBHNxtaR0hbBjz/+5qAS5KkCNHctC8nznR2KjSnqV1YcwkWv7E4pr1v5Gvxk5K2pXmcO2y9lEja6tEUkqrUTmnyPCNQkgLmSJyrP3DtNkj2m7b7n/p9zNk+JNePY7kX4+JJuuZplyfNx/9iOFTutOWteqVCvynxcMLIMFYVRwqzpXYTRPTL7juZqCF/Fv+DlXbKjv/qqLNqFy8Zc49qOpNz9gpMorc7nsq/Z50SgZhHMkj6mPCXFSd7GwgxmPWvD+Zi/5Xux1KO6F+Ejhwh0wj+2Y5nFBMobwvfQX3BMOfp1yMfZw0vl7ahmrr/NOYBbPkhc8Kos3olLj+MEKu7F+Oo8zYnaaiAiUJvgjZJndG+7eLozrl8+WjcVC7Z+J4YCH+puvNGZIXzX/9uMJu6EadM1bXQ57jmjo+ncP97QhO88vTMhn6riHbh09LUJx7+LaGfQcN60/bNlQARqA7xeUJ5Ks/+77mJ8se2bCSjsu6Uv8mzyAVUKapUYOt5lzSJSJhOO6VGImRcfYdrC2w60Ycj9/Hz4+MUJ9JLjrjWdtxMZkBK1D2UiUIuxTVSePJI8jxivKD7x7meuuQSLtp+RgMKyq3uhd6WxRRetcK6vi+CYv5l3Y8pW3qjuhfjoEvMEyoNHD/trIoF2KNmGS467QXj7Kv2PlKjWnqnvPSJQfXhlfZuTZ0SSahkTd84zuQGzN/0IszclujH9cXInXDXG+FntWiC9f04Dbvtgr5ZXDb8zpHMBPvvpEcgPmevm3I3p7H/tSqhHdck2XDTqesN1cyMhKVHrUTfXs6yvj2dzjCnPBD9P8Zuzeu9YvLHyppSK7rulT2ybo9Wt4IGWO95lbiun1jq9f2E38MPszFx3zaoD/099dSzZggtH3WgmW1fSEolaCzsRqAV4elF5Ks2ua+qGRxfcl4LC4z/ogrOG2hNM5IXljbjs1URFZ4EZ0mbBo+pPPyX9AXlayuQR7y98eTc+2ZgYcs+rBMrbTCSqxfLa3iEC1YZTxre8qjzVDXrg89RoTPz5hht7o7rY2i6yp1FC/z9vMom69uR9qvLx6JROOL6nMRXKD6676d19mHRkMT7deBhN7SeB8mOOf3y0s8cca2917jeJRHNjpOUNa78OLSX66B218swcEyT9scPx991//q+lv8O2A4NTLMOHvu9M7WbZUJ57LJ32xA4s2Jo7gLKV3eT8Y8pw56RqdCzRtzA2a0MT7vjPfvBITZcdV4GDzRHsPBR1u6ooXAiwXyPy9Ulv6Y6VFsm+merHF5YiETb9/rOWvmcl3kHKiwjUoLW95KqUq4kz1/4Ui7efnva12yZ2wP+cUGmaRPmOnn8tO4j/+7RO3mPu9HX56Ar88oRKdMtyQJ26TnzIzuc9OYleMqocAztGj25Wrr4dvsCB5n/jyz2fON0US8uTJIRDjAKQGAWVCNQAcjHlCdS4cISR5UftLNlxOjiJJl/8LKLbv1GFDkV5mDLM+H7y/U0RvP1VI3YfikCChHdXN8nE5PTFA45wNcoDMme6eF1fXnFIPnqEHzWSKe7osC7/RWnBAYQ3PY/6wzuFd6jP1k9JiRrviUSgOrHzk/JUmr69YSCeWxw9okJ9De9agPOOjsYF5SHh+PnuE3oVIk+jWxA/toMHKZ67JfXYDi0R43WaRtPrJfkM3x1Sion9iuTzlQZ3KkBbRMIX25vl45T5USAz10XJ/ZhuhTh3RKo7V4i1YVT3aCi7/254FE2tDZrKFvklJiH89VwEHZms00hEoDoAu+aVEZNDIeUMIz9oT2XzYUheia8/3DUBjR8eVYrjuicuvhxsiWBszyL5fPhOpXkpPpacjPY0RrBiVwvmbm1GkRLyPQ3O/AiNJxY14GCzPZHvdZg27av8d2JMjyKcNqAYZQXx+dPywj0Y3DksE+d/1z8SjX/kaQ0aqz/NiersNESgGgG74ZURkyMhqZapgyEnh+9MzstDz3lIu882nRNrAa/6rROrUKoiDnXz9jW24Z5wPbqX56FfdZ7MH+v2t8lHYVw6Kvs57up8nDqOWKOZ075WnM/kYf/YnoUIMQYeyq5X5XJsPrACS3d8kDlrD9lfaYQEmhPV01eIQDWglV55qrpc/JxEV44lTnNKjqpV2k5dOthcjX/Mf7BdTQHc/YcfgZHp+mBtI/jRF+kuLee4q9PxoT5ftPnv+ibwo4lFvXhU+xP7FuHcEUvQpWw7Fm1/F9savoxhFq23NrzjbRTyfVKiGjshEWgOoBTyTFCeWegpOTub4yGni6ebUAU95b+64has33+snP7U/sWYdGTmxZY/flIHrh4zXXzkfsHIcnmOUevF83tndSP4/Gjy1bsqHzee0AHHHVGIyqIQ+FTC0p0t+Pucenyx3Tm3qLxQC64Zdw0GdRqK9fsXormtKeHn08v2V9edlKi2XksEmgUnmTz5ue18b7vLh785Uf7qvePx5qro9kQ+DB+Q5LqjQLVhfytmzD+Qs4fxOcTvDS3F8T30ObFvqm/FaysOYVtDm0yWb089Akd3zXwQ3Nr9EUx9eReWOECkI7p+gEkDHhbnMDl7+yUp0Ry9nAg0A0DqYbtvlghyLHVIUh4env93NLVW4jff6JAxCAc/rZK7+Gi9tBxBnC4vFmK4YnQFCkK5h/USGH49cz/un524Z11rHbW+N/XYG9GpZIs/loy0LX0RiWbpHESgacAJmvKMxtuT5E3Sszddhs1138TPxlam7TZtkiSfVtmsc65yaOcC/HhEGQqyrMqrC+xcmodzjy77+hy+3OSpTnfJq3vkc93tuHpWLsePjvqNjJMTIwKByiESzdChiECTgAmi8lQUdnlhNc499hH8z5v5OLlv+mE3P4LjmSXGCKpTSQhnjyhD78rs57Jzk0w9tgId9I38ZUs2tAA97rYn0tO3B/8ZAzvN9o/TkjYFqrQ3HIqw6X+mbZ8JjEEEqoIjpjyhHD3sQT+UFPNmU3Dx9pUVVuO6k55E1/L+mPlVHWZvSE+STy1ukH08jV5cvE3oVYTJA0vAV+vTXcO7FeHUfsYPgvvr3IO49f09RquYNl11STOmjpz69SktajyD0z+ioLBwRKK98+oOQgTajkZMefID4IIy6dnezrKialx3IifPfjIazc3NeG7RfmyuS9yzzofvv/1vHbjbkdmLq9EfDi9D36pUNfqjEeXoXma8a25rkDDkPmsjPt05uSvG93kT/156j4/85vVJ0PbvgkhU1fmN91KzX5BA6ePKk0eS99MOo9y/BBVFHXHNiU/EyJObpbW1FfsOtuDR+fsTyHLd/lb8Q8Pqu1bT8tod270QkweUyKvtynX5mAoUmzhIMyIxdLDwvKUelflYddMglBWGMHP1o/j3sv9niHl8xLxEou2dNfAEmkieSZ++z0doFcWdcP2JT6NTWeopnFyFztt8CP9deygGysx1jfhwrfVBQPjCEp9zPalvsbzyzxewzB5qd8aTO7DrYAQ8IDIPEGLm+vCn/XDqgPie+FnrnsFLi38f58NMmfu7/xCJJm2hMNPHPJmWkydjfHumFI+qFF2MjutQn96XF3XCDSc9k5Y8uTEjkQhaWlrw5ML92NnQJtv3HwsOYN0++0LR8Z0+Zw4qwYPf7Yx8k6eC3v953E+VTznsaIhuM911qA2HWiT5v4bmCJpaJBxsv+eOCNUlIVQVh1BdHP33+8Mq8LOaznLMT/UVJdE744vxyo54n/aX2LgsoX00JxpYBZpVeXry50B7pSuKOuH6k9IrT3UunEB3NbTg6S/qcLg1gukWzX/mqum6G3qjU4nxrtkaYXhwbn2uYnI+Ly8M4eKxnVFZnN5r4LMNL+L5L36TMx+fvxBoJWq8l3q4V8SVJ2pixw7Lv6yqY4d9el9Z1BXXnfRERuWpNivHhg/lt9a34O5Ze/Hg3Ny7j6zoFv86txvOHA5r9xcAACAASURBVGDAh6m98I31El5bYT7E3LeHVWJkz2g4v0zXZ+tfxPOLatuVqP/7T7rvBYyFpYCuzgeOQIOsPKuKOXk+hY6lPTTzXFtbm7yotGhHC054aKMlK/C5Ch/UqQDzr+ie67WMz9/86jDW7k3dT68nw14dCnDhmC6aknAl+q8vpsvBogN8BVKJBopAZeWJtlqA1QSto1cVd8P1E/WRp4IRH8rn5eXhleUNOOeZTbDAiykn/K+ed4QhX9Cdh4Dnl5hTysUFIVxZ0zVjKL90lZ+94SU8u/COnO2y8oXOZX2w+6A9mwYM1VNWom3T7z9rZWDOWAoMgSrKU5KkGnlBoH1WPDok4UMvZYde9N7O57845QXwofQrS/+ABZvftr38jmU9cc0Jj6JjaU9D34WCEU/82Pz9uOTFLYby0Zto2dW90btSexetOwz88Lkd6FIWQteyPPk/tXuUlvJ5tP2fn9gNfP5T7zV30+t4av6vbO8/xQVluGrCw+jXcSTeXzUDb664z9H+m/X7AAI1nNfeO/X2JoHejypPHkle2WHkXuX4Tp/bTnsjVgGuWrh6sevqVNoL1018Enz4btV176d7cP0b263KLms+4ct7YkSX3E6hG+sjOOaBzYgkeSwV5jGZSEsLGArygMIQ/7f9//MY1JuhelcV4C/f64kqE06o8za9gSfn32wbNkX5pbiq5mH07xgNO7jn0Gb89r0zbCvPWMYs/LUMCcRpn74n0LjyRI06BkRcYaaPDWHX8x6VQ/DLU+KEyefN+PxZeP2LCbEjrCi/uqwHrj/pKUvJU/mgXl1+ABe/sAV1TVEXJzuv6yZU4epxlehWmtpd9zUBj3/RgDtm7jVVhUGdC/Hplf3RpSz3Pv1cBS3Y8jaemnczIohkjDlixL7FBaX4ec0j6FM9IlaFuqadqH331JRyjORv5ffB44kGYWHJ1wQq4pxnzypOoC+nfIPPfVELvqJr1cUXivicJ5/7tOvaVNciz4nO3thoVxEJ+fJhNT8Q7oiKfOw5FMH7aw5i2wHzBN6/uhCfXtUf3SvMk6dS4cXbPsCjc26Qz4234uLK8+oTHk0gT54vJ9A73jnFiiJsyIMrUX/PifqWQBVXJUh82B7dEsLkUBDxrZpu3PeoGpyWQHnv5T6F4fUvxA4pM1q/TmW9cd1Jj9tKnuqv7fb3d+J3M3fZ8AHan+XRRxTj9Yv6oG8H7ZHztdZq8bYPVSRqvP8V5Zfh6hMSladShyiBnipM/079vuDr4bwvCTRhzlOwI2d68iH8qakKVPkgXlx0J/gul9ils/58zvOGk58Bd5Z38vpk/SGc/cxGbLdAETpRb65i/3BmN1w4qoM8dWLXtWz7R/jH59cgIrUrZZ32LMorxdUnpirPRAJVKVCd+TtzhJN/50Rt7Dp2dcns+cbJEzUibkWODuGzLxq9uPj3mLX2mVhQqEwtTm4f39N+w8SnHSdPXj9+xO8fZl6FpxedgtV7x7ljfI2l/nJiZ9wxqYscHMSJa9n2j/HPOdeiLZK4DTZX/yzOL8XPMyjPVAWa2pJc+Tv83JdK1FcEGpvzlOJ+nqL9IPeoGoKbsyjQBCW69hnNAoGv7l878XHXyPO+jy/ClrqVcn33NfbCvG1TsGrPCYhIuVfQnSAxXsaEPq146txhOLKj8VijRuv65c4wHvrsKrRGWjWd4SrPeWZRngkE+nZcgYrW3xPqw/1EfTYn6hsCjSlPPucpj8lijp7RZXZB7ntWDs46hFd/oK8tvQczv3o0Z/27VvTH9ROfBA+K7PTFled9sy7GlroV0blbxaEWEg42d8SCbd/F0l2T0NJW7HTV5PIK8xoxuNOn4IfBda/YhCvGP4AhXd3ZR/Hlzs8w47OfoVXiAakz98+igsxznskgqudAk/EX8p6vzvvIxckXBKpWnkL/AgPQqkCVD+XVpffgP5xE26/k9nUp748bTnaPPO/9+CJsrVuZsX68vi1tpVi04wws330W6pqcIdKuZWtk0hzS6RMUhOIH4IVC+bhywoOukehXu+fi759OQ2skutU02Z6F+aW4RoPy9KQCVdrrIyXqeQJNUZ72HvNq+jAxPQpU+UjeXvkA3lnxtxSH1SMqB+Hakx51V3nuX6H5kLXRvadgUNfb8OHqg/hwzUGENxzSfThdNhnL1SYnzGO6vYdOJRsy1isvr8BVJbqak2j4SrREDif0Jz3KM2UOVPB+n+qo6g8l6mkC5eSJSFstWHTOM3lSXMR7vQpU+VD4UJ4P6ZVwFd0rB8o7jEoL0p+eaed4mQ/bFeWZ7YSgZPzH9vk+Lhj9+1jVGlsi4Kv3H6w+iA9WN2DBVn3BmvmOodE9i9GxZBkOHX4R/aoWIU+lNrPZP89lJbpu7xf42yeXobkt2mY+56lHeaoJ9Pb2OVAR+3vW/sGVaGvb9PvP9u7eec8SaILyjH2SqrnOhKM5lBfcf96jchBunvSKIX7jCzVr9sxDz6qhuPrER1BaWGUoHzOJDrcelOc8N+9fnuUnKxnnaInHJxFounpsqW+RAzjn2uHUtTwfR3WNhrx7Y/m9eP/LGar6pC8/3ZEaV0x4AEcdMdEMJIbTrtkzHw+Fr8Th1kP47vAbcdrgy3TnVde4o90PVC0htLc/Oong4vfBvK1EPUmgMnm2K089CkiEX+juVYPxq1ONEejaPQuxatdsnDzgApQUVOj+2MwmUMhzk0ye+hV/sgI1Wx8lPSfQ976cYXgEclXNQxjW7USrqqMrn437lmL5jlmYeOR5hn4QOYHeLjvS67eHCN+DPAcssbAU8aYS9RyBJirPTIpS3L/35DuRNLgx6foKHXhZXm3/WLXabuDwPS0K1EhTcivQ7P0hL1QArkTdWp030mYljbwK/3Z0J5KnD63zqBL1FIFe88LQyQixeDxPUX5Ck0dAWe75TqSbJ2XeiWTmY7IrbVNLdM5zS/3K9CM+je0f2zdxDtSq+r6xLKpADUtQAHxO9IqaBzHUJRcno1hwAr39rXY/UA9+D4kxqKUwIpKn5kQ9Q6DXvDBiMgtJtRKTYjuMxNWZmfWA0UUkox+Y2XRR5XkRNtetjPGTUdydGsIbrV9+KB/TJniLRKMK9BSv68+4Oxcfzoe8EwrPEwR67QsjaqRQ270AG2OWENxOz7dyekWBHmqpx/0fXyLvMLLikgl0THwV3oo8eR4xBWpBhl5TogkK1IL2i5EFm8cibdfdd/bKsBj1yVwL4Ql02rzRBUUbGvkKwcVydCI5gryi8Lx336NysCcIlJPnvR9fiG11X1mGt/0K1Jr+kJ/nHSWaqECtab8Q35eExw73LZk2Y8x8vm1L2Et4Ar32haO+L4XwqrAI6qyYFxSoTJ4fTcW2+tU6W5f9dS8oUKUFXlGi/lSgUSuwCKbcd/by1yzthBZnJj6BvnzUg5KEKy1ut2vZiU6gdpEnB9xLBMrr6wUS9TWBMvz9vh8sv8q1j1VDwcIT6DUvDlsJxoZoaIsnXhGZQO0kTy8SqEKiPx1/H4YfcbKQ/cvPBAqJfXn/j5YNFRL49kqJT6AvDT8ESCUig6inbqISqN3k6VUC5fUOsTxcPuF+IUnU1wQK1nj/D5eV6vm+nH5XeAK9+sVhhxhYiewmLEdLS3MMsXxUhzee80WkX51mbCeSXZ3jUHM9/vLRVGw/sNpWfMdxP1CbVuHfXTnD1v7BWB6m1YhHojKBvtnuxuSD7yPh+4bUeP+PVhCBmvnwaQhvBr3caZ1QnkotvDYHmoyeiErU1wqUhvC5P+Bcb1z94lEPMuDKzBvVlMO6Mm1kE+s5d6T/1Wli7ESKKs8LsL1+TRZHbOvws12Bpt3QaF39+XBNNCWaoEAdaH/qd2gtvur8Afz9rz+iRaRcHJn1eYobk+gRk3PUT97KKQCBxpRn3eroL49y2YivIwrUxvrLEElAKCTOnGiKAnWg/U71F3JjMkWd0cSyI/36xhkSpIs9HSyhXePxYCJuz4EqynNb/RpHg1CM7TsFU22YA32d74Vf+ZCjwTRCLIRpNX91fWGJE+iv3+R74T0eTCSp/hLwWEs/cqS3gEIBeSsni27l9Ho34eHsbnF5Eemvsy7Dlztnm97brnfPuTtDeHt/dm+b/Aa6VfS3pJ8byWQ/jwf61qn+ok/Gt3Ky6+47eylt5TTSKdKlkSMxMVYrATX2fhL2UrTbCrS5tRE3vcZDCtjbznT5+0mBKu2bcvT/YNLgS6zq5rrz4QR6+1s+CGfX3h8lSOGQ5J2ITMK7Mal7FI/IBNYmh7Nz/vO3hrZ7CDCE//unV2LZ9lmkQE3+jFQWdcKvTn/FlaOkle/CXwqUhSF5K7CypwiUd5qfvTB0MmOslklciXrv4gR6y+nubu2fu/F1PDHnZsfB4/FApx5/l+Xlvr70L3hvJT/Sw7mrorgTrj/5SXSt6OdcoWlKkhWoPAfq7UsCwiF4R3kqaHuOQHnF48N5VpNyLqzgq5B8Ff5Xp7vvxjRnw2t4at5tsuO8U6uqMoHatojUTqAO2J+T542nPIPOZb1cZ626xp34tRJQmdfGgfZb3V8Yk8Lw0LBdbXRPEmhMiYLVMnlOVP17IPYpSfIc6Oli7ESSSXTurZBiYcHtDWkuz4Eeb3080LgCtbf+/JemorhjO3n2dp08eQVkAn3zG+11sb/9po4kSHNkAJ/zlCBNf8CjJ3N6lkAVJRrhw3molKjgk6OiKFDl609RojbiN7afjQp0hepID73uARrfF0l5KvaLKVAb7WbXZLmXlaenh/Dqn355ThT8nCR44qgPvhPpFkEUqJpEn5x7qzz+s/M75G5Mds2BynvhTS4KZUtfXtwJN8nDdjGUZwKBvvkNW+1mE66eVp6+IdCYEpWH8yzNwlLypFDyyMvZ5zwakwhzoMkoRIfzt6mG88ob1uETXUSyYwjPHekzLSKZr39FcWdh5jyT7RYdwmdbRDLf/sRJcvPfj9eH7b6YA002Y0yJ8tX59okJ+ZdTJami0ZzaN6wo+1Ycfi6iAk1QonNuhcSi88hW4zeOD+FtWoV/d4USjcla+5YXdcJNp4qnPNUK9DY+B8rXAgXo3zm/L8AXytNXClRpDF+dj2RUokLM+UNUBZowJ5pWiZrHzx0FarzeIs556legxttvdUo/KU9fEihv1M+eGzqZ5bFaCOon2rODeHOgyR/K53w4z5Vo4qHdpr8neQ50rD1+oFyBWnlx8hRZeSYo0DeUVXgrEbA4L+Yv5elbApVJtH1hic+JxgO0KoGY3f036kgvhhtTtk+Ek+jTc29DRIqAMeW0R3P/jutnlxvTvXh3xUOW1bOyhM95Pi3cglE6eylzoKL1c3V94FPyVKa5LP6pESM7UZWoFxSoYkGrlagXFKhXlKeHFGhYYt7188zFZp72A83VuPjCEl+djytPZVe7oqycvPeKAk0kUb46H1eiRvFySoEarZ+XlGcigUbD2bnRn+WdbO0OZMnl+1l5+noIryZWWYmGon6i8t9d3urGz0S69Qx398Ln+uFJfv70vNvx2bqXon82gZ8jCtRE/S6vuQ8je56mFx5X3+d74X/9hsqNyUT7zdpXnZ7vbUdEmv7Aj1e+5ypANhfuawWqYCcrUYmTaFSJxi/nt76VFJTj7imf22xWa7P/ZO2/8Nz836gCFqt/f7XjOY5v5Rxrhx/oXxBdRDJnz2tPfhSDu46zFjybc1u183Pc95ESTs9c+83iF0vP5zzb/E+evp4DTe63ihKVJNRwfzlFScmxNBy+H9V7Mk4eeL7Nn5Y12fNFpBcW/g7b69bI34cZvGQ/ULtW4ZdHt3KaqV/vjkfh28OvQVG+0AdBxgzbcHiv/MOxef8KV/tzwvcTEOUZmCF8+uG8okQz/WInb15LVlz0PDFgsjZ8nFOgZB8j9skc8VabfcGd5AMwbFdzSiCG8MkkCj4nKqifqDW6UcxcuAK90AYF+u8lyhBezHYHolY8JF0Evp/zTLZl4AiUA8CH85xE5VB42qfwLJsiihlBkCkrp+pj2xBeIdCA4Wlyyte6/sznPAOmPAM5hCcl6q4WIgXqLv62lC5J/OC3wCnPwBNoghJVDecF8QKJ9XU/1cd2BWrOy0rG3E94296eACtPItB2BOThPBB1cVLCD8lhbVThiOjeEjzG9bdxDrR9FT62DE/2i4fTsqX/Blt5EoGqxjOxOVEJ8mmfyWuOdB9FwOwU43ib3JiURSSz9aP0Gr2kWTCc5LVMeQRyESkdMFElqtqxFGOMLAFpEwJmpsmVnicEYJXnQMdZH41JJlCuQJMvwj8xAK4l+JDyVMNIBJqsRDmJMm8emazlF9PNd2gRyU30LSiblGfa32gLkPVPFsqcqCSfscTkmJj0rzU4jO83xTYF+s7yh8hONvZXgJRnOpYjBZoGlbTDef/8RrjWEseH8K611HcFh8GPHvZ5YBAjViMCzYAaKVHrlTcpUGuUvMMjojALsJ9nLlIlAs2CECnRXN1H33NSoPrwEuBtUp45jEAEmgMgTqIS9xNVTvskP6c4Yjr9frgf6EXj/mA5L/x78V/A50BN+1npbI/PywszFtwdRlo7KRGoBqTUzva0UyXxlHA9eDihQPXUh5ue3k9rT1KeGniBv0IEqhEoWYlKfMeS2sWJJItG12sZZX6kx0XjbfADVRSozyWhQxKblKdGTiAC1QEUf1VWopxEGT/tMxqImf7VjsN4vpXTJkf6d5bNIHuY74+kPHVyAilQnYClV6I6Mwno63wIf9F4G+dAA4qrRc0m5WkASCJQA6DFSTQ5sr06ErqScfzUwsSI38F77twQXt2tCf/0kebV/Q9EngZ4gIbwBkFThvPynKiyOp/Mh3QfRUC1SuOIAqVVIX2rfCDyNEEDtIhkBrxEJUqMmcKYSQwaJVC7FpGUYCLEoDoYNMwY7TAywwE0hDeDHl9YemroZCkPtfJpnyrBlWngGOS/80Uku+ZA317G98InHqVG95nxACPlafLTl5MTgVqAYoISzXSubvJyffK5ygF4Pq6/jW5My7gjfZZzjQOAr/b2E3la8NkTgVoFojwnSko0pwIkBeq+QuZHDzN+euYFK9+zsv8HNS9SoBZaPq0SJUfRmDJ0VIES7mkcdBFmbUSeFn7yNIS3Ekye17Snhk7OC6GWxxNNXoUO+r1dCvQ1vhOJD+GTVv3pPsELIhwi5Wn1504EajmiynA+FN32GeRFo+RFHLsIlAcToUWk9N6e7f2Phu12fOi0iGQTqmolqo7iFPBl4fFH2rMKLyvQpapoTAHHOWEyGghHIpg+g+Y8bfnYaQ7UFlijmcoLSwlKVAmoqywmBOt+vI2r8FEFGiw8c7eXFoxs/LxpFd5ucJU50RAnUa5EA37JQ/gJ1u+Ff22Rag404BjHms9IeTrRFUiBOoAyV6KRdiUa29oYwMlRGsI74+nPGMJtNGx34MsmR3pHQCYlGoWZFKgD3U1COAKa83QAaRrCOwWyUk5MiQZ0OE8Eam+PI+VpL77pcqchvMOYcz/RELifqFTDGIOkcvj2+/2EI6fYNgf69tK/w+/4ZWsfI+Xp8JccLY4I1AXYFRIFC9bC0unDLsUPRv3CcsQ//uo5PDt3uuX5eiZDWjByzVREoC5Br1aiMRdoJRiG8rsm+zOqVptceD6w83EIhfKjqx8myq8oqsZ3R16DIyoHWI54S1sT3lj8N6zbu1iFV7s80IlfW1sL1uxaGJcXOtPH7WWsfL3pmSSFI2Dk52l5r9KWIRGoNpxseUt0JXrHt19H96qBtrRd5EzX7l6Iu987T+QqKgRPTvIuW4kI1GUDpFWiOeMa2b/VprSwAn86e47L6LhX/JVPD1UkpJD/MpDydK93xEsmAhXACjElmrx3Xglvmcl90Obnpw6dinNG3yoAQs5W4enP78Cs1S/Ew2u6hH8svGlq+eSq5GyXyFgaEagghhBViU4aeiHOHn2LICjZX41n50zHR18954zHu4GRBilP+/uAnhKIQPWgZfO7cRKNrs4rA3WlWLfug0Kiz875LT766tmYld3CO4u9SXna/A3qzZ4IVC9iNr/PSfRr59BaxuOJqobocrEu3k8aehHOHuNfJRpVns/Ki+Cxj8JFvJPtLQHhrx1dabXd5u9Pb/ZEoHoRc+D9ZCXqQJGaivCrEk1WnprAcPAlxkPS0fZMBxHXXhQRqHasHH0zqkR5UGZJqNM+zxg+DWeNutFRLOws7Jk50/HxqmdFjvFCytPODmAybyJQkwDamVxWohJqJb5jKTl6k1JwpqhONj4/c8TlmHKs90lUVp6rnk0fyt1G/BL2/2WxHylPO78ua/ImArUGR9tymfbY0MnIk+TjQWwrxEDGZ3pcif5r3l34cOXjBlruWBJSno5BbbwgIlDj2DmWUhnOywtLMSnqvkQ6c/jlmOLB4fwLMnk+0Q6gCxI+hwRlYOEIo5B0jn1gJgoiAjUBnpNJSYlagzYpT2twpFyiCBCBeqgnJCrRaMUlSPJZQMl6NH5v//NvDp/mCSXKlecHK59I0n/246PVPlFXJVKeHvokiUC9ZCxe15gSFSwo83eOuRrfHXm1sHDKynOF4HOeETZ9xsUr3xMWRKpYCgKkQD3YKeLDeVYT9fxWBRdx8f6sUTeBz4uKdsWH7YpnvBh4xXdGsDDaQOQpWsfRUB8iUA0gifiKqEqU+4ieOWKaMJCR8hTGFL6sCBGoh82aVomqjgiJhxNSKS8Hnp91nBhKNEaesbBGzuKgAX9Snh7+/mgRyePGi82JhqRaCRBqx5LbSvTlhX/Cu0tnCL3DiNGcp+e/QFKgnjdh+8JSSDxne7dI9JWFf8I7S2eIbNkwiDxFto/muhGBaoZK7Bfl4TxXohJqRBqxOk2iLy/4E95dNiO2tubAjIWGkXr0qCbZLkCYlKfY35Ke2hGB6kFL8HcVEo1v+xQjoqVTJJqqPMVof7zbsDAitNou+Gekq3pEoLrgEv9lTqISH87H/ESVrYqZ6u7M83OOvwWnDbvINgC58kw/bHemfZkb1l4+I+Vpm/FdzJgI1EXw7SpaIVG+d16kIey5x9+CSTaQKFeeby+ZoW8orTql2YEpD5rztKuzu5wvEajLBrCr+FQlaldJ+vK1Wom+vuiv4P8JfIWZRDuMBLaPqaoRgZqCT+zEMSUqoSZtzCGbT/XMdKqkVUqUD9n50D3jIc8utS9WHwZSnmJ/IqZrRwRqGkKxM5j22MDJEsuTI9urtg7GT510aeunWSWqkKdIW1kT8QUpT7E/DUtqRwRqCYxiZyIrUSaen6hREo2Rp6iw04KRqJaxvF5EoJZDKmaGMRKVpBrFITE69s20mqKcq2zv83PG3ILTjtK+Ov/Okhngu4ziW4zsrZ9ufLifJ815ivkR2FArIlAbQBU1S1GV6PnjanHykJ/khE145UnkmdOGfnuBCNRvFs3RnksfGzg5j+XVShI/7ZO1B2RWBJ179+eN/w2+kYVEuZvSKwv+JEx9o4tycbzAWLhNYtMfoXiegfqiiEADZe5oYxOUKGcC5XJ5487549MrUXnYvuBP8dMzBamvavmfhu0B/I54k4lAA2p4tRJVmElRVG7enze+NkGJfrD8cTw/9y7Za0CE+vEjVBLwYQhHSHkG9CsiAg2s4ROUqGDHg/xk3O04Zej5eHfpP/HS/LvFtRFfbacFI3Ht40DNSIE6ALLIRXAlGpLa/UQzeqTH3UZFDrCZ2aPejvrzo4dpzlPkvu1E3YhAnUBZ8DLiLk4ZdizZwT+xgXB8atMz/M1AC0aC92mnqkcE6hTSgpeToEQFr6u71SPl6S7+YpVOBCqWPVytjaxEJakWjJRohtgBpDxd7aHiFU4EKp5NXK3Rpf8cODkUUvbOu1oV0QoPRyKR6Y9ctprObRfNMi7WhwjURfBFLfrSx4ZODnElCtSo9kx6edbS7CwuLRiJ2lldrhcRqMsGELV4RYlK4DuW4ldyfHe/3wMg5SlqJxWgXkSgAhhB1CpkV6JKrdPOFqah3OT3PJE+HImw6Y9ctpKG7aJ2UpfrRQTqsgFELz6qREPyaZ8xP8v2SisBk2NtSNoK6uXnjCtPieY8Re+fbtePCNRtC3ig/Ev/OXRyKHbufCbF6au/hyORNlow8kDfdLuKRKBuW8Aj5ctKlEdxkiPb+/ci5elf29rRMiJQO1D1aZ4JSlSk4z6tO1aTlKdP+65dzSICtQtZn+YbVaKhWkl2cfLPJQFh0JynfwzqUEuIQB0C2k/FKMN5flCdQOFEk9e4NN8zsHBEojlPP/VRp9pCBOoU0j4rJ6ZE1avz6mggSnsF93Ii5emzjulwc4hAHQbcT8XJc6Is4tnhPClPP/VGd9pCBOoO7r4plStRsFAtaw/K7JWdSRKjOU/fdEIXG0IE6iL4fik6YWHJA+6gjNGcp1/6ntvtIAJ12wI+KV9RopAg750XmEfDAO0w8km3c70ZRKCum8A/FYgN57mLk4AMSsrTP31NlJYQgYpiCZ/UQyZRhGq5i5N8WIficK8wqmv3IOXpkz4mUjOIQEWyhk/qopAoQzyyfbJXk5P3PCQdDdt90rkEawYRqGAG8Ut1YkpUkmpg3VbLuKLVupWUyNMvXUrIdhCBCmkWf1QqnRJ1cmoUYGGAdhj5ozeJ2QoiUDHt4ptaJShRzZsrleYnBRjVk55x8qTVdt90JEEbQgQqqGH8VK34wpJjq/NEnn7qQAK3hQhUYOP4qWrplagNHqN8hxEpTz91HaHbQgQqtHn8Vbk4idoUCo/I018dxgOtIQL1gJH8VMVLHxo4WQpF/UStXZxnYRaiOU8/9RUvtIUI1AtW8lkdZSUaCdWCqc+dz9TI5PAkye9JAC0Y+ayHeKc5RKDesZWvapqgRDPtnVc2MmV9TsrTVx3DY40hAvWYwfxU3UQlaqBlNOdpADRKYiUCRKBWokl56UZArUT1JWZhFolMf+SK1e/pS0dvEwLWIUAEah2W1Om9ZwAAAnVJREFUlJNBBDiJIi90JySMkSCBgSHrv4zNQ1vkNiJPg4BTMssQIAK1DErKyAwCl8wYUMNCocslCRdny4cxPCZFIg8/Om1N2Ex5lJYQsAIBIlArUKQ8LEFg2kOjC1pCDd9iiJwpgZ0CSH14FDzG2EZA+o+E0DsFkfK3Zlwxv8WSAikTQsAkAkSgJgGk5IQAIRBcBIhAg2t7ajkhQAiYRIAI1CSAlJwQIASCiwARaHBtTy0nBAgBkwgQgZoEkJITAoRAcBEgAg2u7anlhAAhYBIBIlCTAFJyQoAQCC4CRKDBtT21nBAgBEwiQARqEkBKTggQAsFFgAg0uLanlhMChIBJBIhATQJIyQkBQiC4CBCBBtf21HJCgBAwiQARqEkAKTkhQAgEFwEi0ODanlpOCBACJhEgAjUJICUnBAiB4CJABBpc21PLCQFCwCQCRKAmAaTkhAAhEFwEiECDa3tqOSFACJhEgAjUJICUnBAgBIKLABFocG1PLScECAGTCBCBmgSQkhMChEBwESACDa7tqeWEACFgEgEiUJMAUnJCgBAILgJEoMG1PbWcECAETCJABGoSQEpOCBACwUWACDS4tqeWEwKEgEkEiEBNAkjJCQFCILgIEIEG1/bUckKAEDCJABGoSQApOSFACAQXASLQ4NqeWk4IEAImESACNQkgJScECIHgIkAEGlzbU8sJAULAJAJEoCYBpOSEACEQXASIQINre2o5IUAImESACNQkgJScECAEgosAEWhwbU8tJwQIAZMIEIGaBJCSEwKEQHARIAINru2p5YQAIWASASJQkwBSckKAEAguAkSgwbU9tZwQIARMIvD/AVDkvnv22WOGAAAAAElFTkSuQmCC"/>
          <p:cNvSpPr>
            <a:spLocks noChangeAspect="1" noChangeArrowheads="1"/>
          </p:cNvSpPr>
          <p:nvPr/>
        </p:nvSpPr>
        <p:spPr bwMode="auto">
          <a:xfrm>
            <a:off x="155575" y="-381000"/>
            <a:ext cx="80010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763" y="1740893"/>
            <a:ext cx="10734675" cy="2266950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5108491" y="4123929"/>
            <a:ext cx="1680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Frontend_Path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8661743" y="4075996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Backend_Path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955675" y="4123929"/>
            <a:ext cx="5822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API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8743406" y="4513481"/>
            <a:ext cx="34485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dirty="0">
                <a:solidFill>
                  <a:srgbClr val="000000"/>
                </a:solidFill>
                <a:latin typeface="Times New Roman" panose="02020603050405020304" pitchFamily="18" charset="0"/>
              </a:rPr>
              <a:t>https://brai-srv-anteci-formatadordoc-cd-antecipapf.apps.arodvadqemppi11.arocorpp.bradesco.com.br</a:t>
            </a:r>
            <a:endParaRPr lang="pt-BR" sz="1000" dirty="0"/>
          </a:p>
        </p:txBody>
      </p:sp>
      <p:sp>
        <p:nvSpPr>
          <p:cNvPr id="11" name="Retângulo 10"/>
          <p:cNvSpPr/>
          <p:nvPr/>
        </p:nvSpPr>
        <p:spPr>
          <a:xfrm>
            <a:off x="5090889" y="4436537"/>
            <a:ext cx="331288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dirty="0"/>
              <a:t>https://api-adqemp.apps.arodvadqemppi11.arocorpp.bradesco.com.br/antecipacao/formatador-documentos/v1</a:t>
            </a:r>
            <a:endParaRPr lang="pt-BR" sz="1000" dirty="0"/>
          </a:p>
        </p:txBody>
      </p:sp>
      <p:sp>
        <p:nvSpPr>
          <p:cNvPr id="12" name="Retângulo 11"/>
          <p:cNvSpPr/>
          <p:nvPr/>
        </p:nvSpPr>
        <p:spPr>
          <a:xfrm>
            <a:off x="155575" y="4512645"/>
            <a:ext cx="24513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dirty="0"/>
              <a:t>Formatador de documentos para IRPF e </a:t>
            </a:r>
            <a:r>
              <a:rPr lang="pt-BR" sz="1000" b="1" dirty="0" smtClean="0"/>
              <a:t>13</a:t>
            </a:r>
            <a:endParaRPr lang="pt-BR" b="1" dirty="0"/>
          </a:p>
        </p:txBody>
      </p:sp>
      <p:sp>
        <p:nvSpPr>
          <p:cNvPr id="13" name="Retângulo 12"/>
          <p:cNvSpPr/>
          <p:nvPr/>
        </p:nvSpPr>
        <p:spPr>
          <a:xfrm>
            <a:off x="2891437" y="4499563"/>
            <a:ext cx="17812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brai-srv-anteci-formatadordoc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108766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30908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264982" y="236763"/>
            <a:ext cx="6374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Bradesco – </a:t>
            </a:r>
            <a:r>
              <a:rPr lang="pt-BR" sz="2600" b="1" dirty="0">
                <a:solidFill>
                  <a:srgbClr val="C00000"/>
                </a:solidFill>
                <a:latin typeface="Bradesco Sans" pitchFamily="2" charset="77"/>
              </a:rPr>
              <a:t> </a:t>
            </a:r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Atividades</a:t>
            </a:r>
            <a:endParaRPr lang="pt-BR" sz="2600" b="1" dirty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Arquitetura 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pic>
        <p:nvPicPr>
          <p:cNvPr id="149" name="Imagem 148">
            <a:extLst>
              <a:ext uri="{FF2B5EF4-FFF2-40B4-BE49-F238E27FC236}">
                <a16:creationId xmlns:a16="http://schemas.microsoft.com/office/drawing/2014/main" id="{C69F268A-EA4B-2CA2-B7E0-A91BCF0C276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8238615" y="6790566"/>
            <a:ext cx="405487" cy="19713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C2CD672-5CA7-8C30-F410-B15144C4B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2066" y="302678"/>
            <a:ext cx="762000" cy="571500"/>
          </a:xfrm>
          <a:prstGeom prst="rect">
            <a:avLst/>
          </a:prstGeom>
        </p:spPr>
      </p:pic>
      <p:sp>
        <p:nvSpPr>
          <p:cNvPr id="49" name="AutoShape 6" descr="data:image/png;base64,iVBORw0KGgoAAAANSUhEUgAAAVAAAAFQCAYAAADp6CbZAAAAAXNSR0IArs4c6QAAAhJ0RVh0bXhmaWxlACUzQ214R3JhcGhNb2RlbCUzRSUzQ3Jvb3QlM0UlM0NteENlbGwlMjBpZCUzRCUyMjAlMjIlMkYlM0UlM0NteENlbGwlMjBpZCUzRCUyMjElMjIlMjBwYXJlbnQlM0QlMjIwJTIyJTJGJTNFJTNDbXhDZWxsJTIwaWQlM0QlMjIyJTIyJTIwdmFsdWUlM0QlMjIlMjIlMjBzdHlsZSUzRCUyMmltYWdlJTNCYXNwZWN0JTNEZml4ZWQlM0JodG1sJTNEMSUzQnBvaW50cyUzRCU1QiU1RCUzQmFsaWduJTNEY2VudGVyJTNCZm9udFNpemUlM0QxMiUzQmltYWdlJTNEaW1nJTJGbGliJTJGYXp1cmUyJTJGbmV0d29ya2luZyUyRkFwcGxpY2F0aW9uX0dhdGV3YXlzLnN2ZyUzQiUyMiUyMHZlcnRleCUzRCUyMjElMjIlMjBwYXJlbnQlM0QlMjIxJTIyJTNFJTNDbXhHZW9tZXRyeSUyMHglM0QlMjIyNjAlMjIlMjB5JTNEJTIyMjkwJTIyJTIwd2lkdGglM0QlMjI2NCUyMiUyMGhlaWdodCUzRCUyMjY0JTIyJTIwYXMlM0QlMjJnZW9tZXRyeSUyMiUyRiUzRSUzQyUyRm14Q2VsbCUzRSUzQyUyRnJvb3QlM0UlM0MlMkZteEdyYXBoTW9kZWwlM0XLSnf0AAAgAElEQVR4Xu19B5wV1dn+c+72zlKlg3RBEUHKqhhF0XRMoiYq1oia2P0So0Y35Isx+fSfRE00YmKvscfeSBS9IlU6Ir132GVhly13/p65O/fO7dPnzMw7v58/nJ057XnPPPc557znPQx0EQKEACFACBhCgBlKRYkIAUKAECAEQARKn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QBgEps0bXVC5r/lbDNKZADuFAb0lgPfRjYD0HwnsnfrqwrdmjJnfIkylqSKBRoAINNDmF6fxN787oiaSxy6HhIvVnVJClEFj/zI8FmLSw3+ctDQsTu2pJkFFgAg0qJYXqN2/eG/EZDDcCbAxKqpMps7YPQObJ0nSbXdPXvqeQM2gqgQQASLQABpdpCZz8mQhVitJqFErTaWOKQq0nUbBEJYi0nQiUZGsGby6EIEGz+bCtJiTpwTUMsZqIPHZTgY9/zKwsAQiUWEMGsCKEIEG0OgiNFmtPJX6KApUzz0kEImKYNCA1oEINKCGd7PZMeUJVqNlzjNpGSllblQCCzNSom6aNLBlE4EG1vTuNFxWnmC1EovPeepRnHxONN37jJSoOwYNeKlEoAHvAE42P648UZO8SGTFvQSEGUALS04aNeBlEYEGvAM41fyY8kScPO0oO0qitLBkB7aUZyoCRKDUK2xHQD3nKUECU7nGR+/jg3IrnoOUqO02pQKiCBCBUk+wFQGnlGdyI0iJ2mpWyrwdASJQ6gq2ISArTwm1YKjhezEVN09FgNp9z53taU7UNvNSxqRAqQ/YhUB02M5qmc1znrnqL0EiEs0FEj03jAApUMPQUcJMCCjKk+8wkuQdRtFoIKmKk8GR53xOlNHqPPVY6xEgArUe00DnKIrypDnRQHdDxxpPBOoY1P4vKDbn6fKwPQvSpET93w0dbSERqKNw+7cwRXlCkmoY40NzZcguQbB7IlH/dkPHW0YE6jjk/ivQA8ozGXQiUf91Q1daRATqCuz+KTRKnqwWSIznmSmOp0B/DzNGO5b80xPdaQkRqDu4+6JUTp4RCYmuSgpDKi0U+z7M2jD97m9RZHtfdEgXGkEE6gLofigyrjylmlzh5gR/TsN5P3RIl9pABOoS8F4u9hdvjZgs5UEetsdPe8t4hJHg/CnXm5Solzuki3UnAnURfC8WrZ7zjNZf7DG69vpJpES92CFdrjMRqMsG8FLxXHlGQtE5T4EWgxKPPTYhhLkSDdGcqJe6pOt1JQJ13QTeqEBs2C6hRu/hb556n++dJxL1RqcUoJZEoAIYQfQq+F15qo9Tbj8yJByK0Oq86P1ShPoRgYpgBYHrEFWerJbvMPKUkjRwTHJC+0iJCtwrxakaEag4thCuJorylFfbg3mFIxFM/zP5iQbT+hpaTQSqAaQgvpIw5xkDwMjJ7ZnO0eSZip8fjydKw/kgfgHa2kwEqg2nQL2VoDz94qWkWNBYe4hEA/UFaG8sEah2rALxpqw8Q+1O8pY5CCUv03jvnpRoILq/7kYSgeqGzL8JbnhrxOQQJ0/uqkRXKgIMNCdK/SIBASJQ6hAyArFhu4Qa+egNZYZSietJ94oep+E8fTMJqwIER8ARIOWpswOQEtUJmH9fJwXqX9tqalmK8lQd/haNJM8jykMVYT5+OFygnwOkRDX1MH+/RATqb/tmbZ2sPJmyYBRgIIw2nZSoUeR8k44I1Dem1NcQ0YbtLW3FONxWgubWEjS3laItkoeSggOx//S1zsG3eQAS2vbpIOBiFUUEKpY9HKmN28qzsaUSW+sHYVv9IGytH4ztBwagpa0oa9tLCuplMi0v3I+eVSvRp3opelWtcAQvDYWEIxLtWNKAk+9eIQL1nUmzN8gt5Vl/uDP2NpyJr3aPwuLtPS1BvSCvCb07rECfDkvQt3oJOpdtsiRfQ5mQEjUEm9cTEYF63YI66s/J8+t1oVomtcfzlBeHJDAwVWB51b3J5wcOd8Hq3SejJG8SBlb3RbfyPOw+1IZ7Z9cjot7hqaMN2V7lCnVo109wfK/XUV60t33xy772RRfXEvAiJWqRLb2SDRGoVyxlsp5ODtv3HOqFWWt/gv5VJ+KU/sUpNX/7q0P4ZONhky3KnDzE2jCkaxjj+ryGTqWbbSsnQ8ZEok4j7mJ5RKAugu9U0SnKU3UQh5WR5eubuuKT9edi5U6+kYnhqC4FOP+Y8pRmtkQk/L9P63GgOWI7BP07foHje/0bvTosd25jKl+dpzlR220rQgFEoCJYwcY6pChPY8E04jVMk/5gSwfM3vADfLF1ckpLfjq6Av075Kf8fdnOZjyz5KCNLU/Mumv5epw68DH0rFwZDQKlXDbg0Z4/kahj1nWvICJQ97C3vWRFeUb3tlupNaPBQJpaK/D5xilYtPUMtEYK0rana1kerh1fmcBZyov/XHAAa/e12o6DUgBjEYzv8xLG930ZDFz92hzUhLHw11OkFE/UMQs7XxARqPOYO1JiTHnaFBhk7d5ReGPF9Tndj3hjvz+0FGN7prop7W2MLii12j+ST8Ccuz99Z9i9KCvcb78taDhvP8YulkAE6iL4dhWdXnlaN2Zdv/dYvLbsF2iTUofm6dpUVshwU00VivJSu9vMdY34cG2TXVDI+fapykevyjx0LAmhrDCE8kKGquJWHNt9HqpLtmHhzrewv2lbex1sGNOTErXVvm5mTgTqJvo2lJ2sPJPpILlIvc/X7x2JV3WQp1LeCX2K8K1BpWlb/ODcA9hcb81QnpP1kdUF6FOVh96V+ehdlZ3k+dxo76rlWLb7PWxtSHXM14tPRnxJidrQ293PkgjUfRtYVgNZeUpSLRiryRD9I1NUEE1/31g3Aq8suUWz8lQ3jIvP6yZUolNJXkp76w9H5KF8U6t+59CCEEP/6nwM7Mj/K5B9TfVeFUV7MKjzbGysX4BVez6BJE+NJkRVseYeLCwxmhPVax+R3ycCFdk6OuqmKE9JNedp1YlDjIWwcd9ReGXpzRkXi7RUtW+HfEwbXZH21ZW7W/DkogYt2aAwj+HobgUY2a0QAzqmX7zSlJHqpariHRjYeR62NazAkl3vy0+swk8pRs6PgRaW9BpH4PeJQAU2jtaqRZWnElVJtdquxKHLtNqs8XmPsstwzyenYXtDSGuVMr7HHetPO7Ik7fN3Vjdi1ob086G8qgOqCzCqe6HsX8pJ1OqrY+kW9O+4EBvqFuLLPbPicftM4pdmtZ+UqNXGcyk/63uhSw0JarFq5WmHYupaNhGRlpvx7JLDWLyj2RKYf3pcOfpXp1eOD807gI118fnQ7hV5mNC7CIM6FqCyyDyB52pAl7L1cqCSVXs/xYa6BbLzV4KCtOpeApFoLmN44DkRqAeMlKmKsTnP2Lnt1lJop5I+qMi/C3xPO1eGXCFacVUUhXDd+EqU5Kd2v7rDEdw/ux6NrRIm9i3GGQPTq1Ur6pEuDz4P27lsCbpXzsPy3TNRf3inVZSZblIgLLVh+p+/t/Q9u9pD+dqLABGovfjalnvisL29mEx+4ckSKvm9NM+LQmUY3PHX2Fp3nPx0zd4WPLJQ2xyllkYP7lSAi45N3ebJ03IFWlrA0LlU/4JQtrL3N0XAfU/3HOL/RrDzYBsamiU0tkbQ2CLhUEtcb54y4DGM6vlOdP+BAfwS9i1kT09KVEuHEfQdIlBBDZOtWjf8e8RklpdmztPCnTXHdD0f2+rOQ6Td15Mrs//9yFrH828PLkFN79RgI1aYhCvYr/a04MvdLdh6oE0mSz0XD0hy0ehfoLpki/07lvjqPClRPeYR5l0iUGFMoa0iaZWntqSa3+pbNRKhyC/BY3iqr7s/rQNXcVZdeSHg52Mr0a3MGqW5raFNJsxVe1pkFcs9kcxcPSpX4ccj7zCThZ60pET1oCXIu0SgghhCSzWiylOqBVCjdlNUhGemw9/0PA8hHyO73omN+0elVOmpxQ1YsatFS1U1vzPyiEKcM7xM8/vJL+5rbMPszYexaEcLDhy2jtyVciYNfBjHdP9AHspbgW8699K4fUiJGu4ILiUkAnUJeL3FJg7b9abW93553msoyksdWn+26TDeWHVIX2YZ3uYdb2I/7tJUjBBnJh1XRJLA/UbnbG7G6r0tCdOUOrLR9GpR/kFcMvpGlBbWaXrfgpdIiVoAolNZ6Ou5TtWKyklAQCbPEN9hFFWeyYrSyvsl205Ft7KbMKxzqpsRj9/5x1l1pgmrvDCEc0eUylsu9Vx8x9K8rYcxd0sz+P87dQ3pEsa3htwbU6BW4p3Onozvnac5UafMa6ocIlBT8Nmf2EnlyVvz+Px7cHTXgTh9QHr3oWQ/Tb0IcH/Oc0aUorRAv08nn9d8dGEDmttMTm7qrTSAs4/+X/TusMxASsNJiEQNQ+dcQiJQ57DWXRInT3DlGfPz1J2FrgRb64fg+cW/lZ3WLx6V3sXo041NeOsrY/6g43oV4btDStPGBtVaUR50hLtTHTawb15rGeneO6JiNX4y8jYzWehOy/jqfIT8RHUD52ACIlAHwdZTlKI8JUmqYV+fBJe8+KD4GcqHmln0/O0vr8HKXSegOJ/h9pM7pK3uvqYI7vlU/3zgN/oVZ1S1enDh72470Ip/LmiQne2dvC4efSOqS7bKQ3k78FcvUqn8SIlEnTSyzrKIQHUC5sTrTitP3qZDLVV4eM6DiEhRl6Kfja1Az4r0oeAemFuPLfVxv8q+HaJzmRv2p1+ht8Pfk/t1Pjz/QILzu922Gd3zDUzs/6TdxaTkT0rUccg1F0gEqhkqZ16MK0/UZHKbsePvszf+AOEN58QaeXK/YkzOMA/apSwfo3sWoW9VHgpDiSqwOcKwYX8bXlp+EL//eB9+MKwUo3ukRqPPhiZfYf9wbSPOO7oM1WnC3ylp+RHJfE5WvYPITiuVFNRj2tirkBdqsyXaXTa7gu+dp+G8neY1lDcRqCHY7EmUVnnaECA93aFqTy38P+w62DfWML6N8oYJlQkNndivBMO75CNf4/oPH2F/ubsVM9dqmzPl85rcTWrBtmjQEh4c+dJRFTgiS4xPTqIPz29AgwMnfPI6fWfonzCo8+dxXByyT3uBYUQY7Z235/MzlCsRqCHYrE8UdVVCrQSpxvbDzpK2fLZGCvHX8BOQkpZ3eMAPfihcdUkI3xlSig5FxrrLoRbgxWUHwQOFZLrW72/F80sPprgnFeUzXHJsedbI8nx/OydRJ1yb+lcvxJThf7TpYOhMwQzif2cgJWr912c8R2NfhPHyKGUaBBKUp/WHZ+bk4011I/Di0ttTasZdmaaOLMd3hpQgTeAkXbbknkevr2rEpv2pR3d8tqkJb65qzOhfyqPOTx1ZljV4MifPx75owI4GfXvedTVCdsGV8NOxV6G8YF9OXC0MTZB8qCopUb2Gs+l9IlCbgNWabVx58qOH+eXsmJCXN2fTWfh0w49TqlzTpxhvnNcN+UnznFrblvweJ9GnFx9EXft+et7S11Yewtwth3NmyeMnnzOiDCO6FmZ8t6VNwrNLDuLLPdZuN00u8IR+z2Fsr1fb/+y8vThzkxLN2WUceYEI1BGY0xciK0+W6Ofpxuf42vKbsW5fNGyd+lpzfW90KbW2i/DhPD8PvjUSJTu+YKT14jU5K8eiFMfv/TWN+Gi9fSd99u2wGD8YfqdLP3dR4StfDKREtXYem96z9uuwqZJ+zDamPCWpJsmxMBq1Iu5oaPv932Y/hua2xJ1HM77XBT8eYU8w4yU7W3HO8zuw5YCx4TafWuB+pdmuRdub8dKKg2jLsuNzQMd8+WgQfi49jweq9WRQfp78tLFXRPfUKg66DtoroX+Akyg527vFEUSgLiCvVp5uKE610fc2dsfjC/6SgsLeW/oin9njqN4SATr9YaMp5LMdk6xkvKGuFU8takhwc+JTAN8fWiJHuj+6WyGUo5X2NUb32b+zukl2weIBl7NdV427DMX5DS5MuKgUqPIzS0rUVF8yk5gI1Ax6BtKmKE87js/V4Si6fMdEvPvVzxJa8r+TOuK6cem3chpoctok93x2AL/9zz5T2Q3rUiCHwst2wByfb330iwbUN0VwxZgKXHJcOQZUZz8r/j/rmuQ996+uzBx56kcjfoveHZZbc9yxDntldEAlJWqqLxlNTARqFDkD6RTlKTm0t11LFeds5g705ya8uvjnvdCvSqOzp5ZC0ryzZn8Eox7YbDB1PFmn0hCmHlOOLlmCMvPwd1VFoYz7+9NVggcu+d1HdXhu6cG0dTy5/+MY1eMt0/W3MgO+sASJ/EStxDRXXkSguRCy6HnUVQm14HOesUuZ61T+4Pz97E0/xGcbz05opZ3Dd6WglghDpz9ssARdrkD5jic+JE93je5eiJo++nZD8XzW7G3Frz7Yh3fTHKY3ottMnD5wRvsg2j37pTm0iUjUkl6lLRMiUG04mXorq/JMngRNLsnm559tOAefb/5hrFR+YuaWm3qZaq/WxJ3/uBHNxtaR0hbBjz/+5qAS5KkCNHctC8nznR2KjSnqV1YcwkWv7E4pr1v5Gvxk5K2pXmcO2y9lEja6tEUkqrUTmnyPCNQkgLmSJyrP3DtNkj2m7b7n/p9zNk+JNePY7kX4+JJuuZplyfNx/9iOFTutOWteqVCvynxcMLIMFYVRwqzpXYTRPTL7juZqCF/Fv+DlXbKjv/qqLNqFy8Zc49qOpNz9gpMorc7nsq/Z50SgZhHMkj6mPCXFSd7GwgxmPWvD+Zi/5Xux1KO6F+Ejhwh0wj+2Y5nFBMobwvfQX3BMOfp1yMfZw0vl7ahmrr/NOYBbPkhc8Kos3olLj+MEKu7F+Oo8zYnaaiAiUJvgjZJndG+7eLozrl8+WjcVC7Z+J4YCH+puvNGZIXzX/9uMJu6EadM1bXQ57jmjo+ncP97QhO88vTMhn6riHbh09LUJx7+LaGfQcN60/bNlQARqA7xeUJ5Ks/+77mJ8se2bCSjsu6Uv8mzyAVUKapUYOt5lzSJSJhOO6VGImRcfYdrC2w60Ycj9/Hz4+MUJ9JLjrjWdtxMZkBK1D2UiUIuxTVSePJI8jxivKD7x7meuuQSLtp+RgMKyq3uhd6WxRRetcK6vi+CYv5l3Y8pW3qjuhfjoEvMEyoNHD/trIoF2KNmGS467QXj7Kv2PlKjWnqnvPSJQfXhlfZuTZ0SSahkTd84zuQGzN/0IszclujH9cXInXDXG+FntWiC9f04Dbvtgr5ZXDb8zpHMBPvvpEcgPmevm3I3p7H/tSqhHdck2XDTqesN1cyMhKVHrUTfXs6yvj2dzjCnPBD9P8Zuzeu9YvLHyppSK7rulT2ybo9Wt4IGWO95lbiun1jq9f2E38MPszFx3zaoD/099dSzZggtH3WgmW1fSEolaCzsRqAV4elF5Ks2ua+qGRxfcl4LC4z/ogrOG2hNM5IXljbjs1URFZ4EZ0mbBo+pPPyX9AXlayuQR7y98eTc+2ZgYcs+rBMrbTCSqxfLa3iEC1YZTxre8qjzVDXrg89RoTPz5hht7o7rY2i6yp1FC/z9vMom69uR9qvLx6JROOL6nMRXKD6676d19mHRkMT7deBhN7SeB8mOOf3y0s8cca2917jeJRHNjpOUNa78OLSX66B218swcEyT9scPx991//q+lv8O2A4NTLMOHvu9M7WbZUJ57LJ32xA4s2Jo7gLKV3eT8Y8pw56RqdCzRtzA2a0MT7vjPfvBITZcdV4GDzRHsPBR1u6ooXAiwXyPy9Ulv6Y6VFsm+merHF5YiETb9/rOWvmcl3kHKiwjUoLW95KqUq4kz1/4Ui7efnva12yZ2wP+cUGmaRPmOnn8tO4j/+7RO3mPu9HX56Ar88oRKdMtyQJ26TnzIzuc9OYleMqocAztGj25Wrr4dvsCB5n/jyz2fON0US8uTJIRDjAKQGAWVCNQAcjHlCdS4cISR5UftLNlxOjiJJl/8LKLbv1GFDkV5mDLM+H7y/U0RvP1VI3YfikCChHdXN8nE5PTFA45wNcoDMme6eF1fXnFIPnqEHzWSKe7osC7/RWnBAYQ3PY/6wzuFd6jP1k9JiRrviUSgOrHzk/JUmr69YSCeWxw9okJ9De9agPOOjsYF5SHh+PnuE3oVIk+jWxA/toMHKZ67JfXYDi0R43WaRtPrJfkM3x1Sion9iuTzlQZ3KkBbRMIX25vl45T5USAz10XJ/ZhuhTh3RKo7V4i1YVT3aCi7/254FE2tDZrKFvklJiH89VwEHZms00hEoDoAu+aVEZNDIeUMIz9oT2XzYUheia8/3DUBjR8eVYrjuicuvhxsiWBszyL5fPhOpXkpPpacjPY0RrBiVwvmbm1GkRLyPQ3O/AiNJxY14GCzPZHvdZg27av8d2JMjyKcNqAYZQXx+dPywj0Y3DksE+d/1z8SjX/kaQ0aqz/NiersNESgGgG74ZURkyMhqZapgyEnh+9MzstDz3lIu882nRNrAa/6rROrUKoiDnXz9jW24Z5wPbqX56FfdZ7MH+v2t8lHYVw6Kvs57up8nDqOWKOZ075WnM/kYf/YnoUIMQYeyq5X5XJsPrACS3d8kDlrD9lfaYQEmhPV01eIQDWglV55qrpc/JxEV44lTnNKjqpV2k5dOthcjX/Mf7BdTQHc/YcfgZHp+mBtI/jRF+kuLee4q9PxoT5ftPnv+ibwo4lFvXhU+xP7FuHcEUvQpWw7Fm1/F9savoxhFq23NrzjbRTyfVKiGjshEWgOoBTyTFCeWegpOTub4yGni6ebUAU95b+64has33+snP7U/sWYdGTmxZY/flIHrh4zXXzkfsHIcnmOUevF83tndSP4/Gjy1bsqHzee0AHHHVGIyqIQ+FTC0p0t+Pucenyx3Tm3qLxQC64Zdw0GdRqK9fsXormtKeHn08v2V9edlKi2XksEmgUnmTz5ue18b7vLh785Uf7qvePx5qro9kQ+DB+Q5LqjQLVhfytmzD+Qs4fxOcTvDS3F8T30ObFvqm/FaysOYVtDm0yWb089Akd3zXwQ3Nr9EUx9eReWOECkI7p+gEkDHhbnMDl7+yUp0Ry9nAg0A0DqYbtvlghyLHVIUh4env93NLVW4jff6JAxCAc/rZK7+Gi9tBxBnC4vFmK4YnQFCkK5h/USGH49cz/un524Z11rHbW+N/XYG9GpZIs/loy0LX0RiWbpHESgacAJmvKMxtuT5E3Sszddhs1138TPxlam7TZtkiSfVtmsc65yaOcC/HhEGQqyrMqrC+xcmodzjy77+hy+3OSpTnfJq3vkc93tuHpWLsePjvqNjJMTIwKByiESzdChiECTgAmi8lQUdnlhNc499hH8z5v5OLlv+mE3P4LjmSXGCKpTSQhnjyhD78rs57Jzk0w9tgId9I38ZUs2tAA97rYn0tO3B/8ZAzvN9o/TkjYFqrQ3HIqw6X+mbZ8JjEEEqoIjpjyhHD3sQT+UFPNmU3Dx9pUVVuO6k55E1/L+mPlVHWZvSE+STy1ukH08jV5cvE3oVYTJA0vAV+vTXcO7FeHUfsYPgvvr3IO49f09RquYNl11STOmjpz69SktajyD0z+ioLBwRKK98+oOQgTajkZMefID4IIy6dnezrKialx3IifPfjIazc3NeG7RfmyuS9yzzofvv/1vHbjbkdmLq9EfDi9D36pUNfqjEeXoXma8a25rkDDkPmsjPt05uSvG93kT/156j4/85vVJ0PbvgkhU1fmN91KzX5BA6ePKk0eS99MOo9y/BBVFHXHNiU/EyJObpbW1FfsOtuDR+fsTyHLd/lb8Q8Pqu1bT8tod270QkweUyKvtynX5mAoUmzhIMyIxdLDwvKUelflYddMglBWGMHP1o/j3sv9niHl8xLxEou2dNfAEmkieSZ++z0doFcWdcP2JT6NTWeopnFyFztt8CP9deygGysx1jfhwrfVBQPjCEp9zPalvsbzyzxewzB5qd8aTO7DrYAQ8IDIPEGLm+vCn/XDqgPie+FnrnsFLi38f58NMmfu7/xCJJm2hMNPHPJmWkydjfHumFI+qFF2MjutQn96XF3XCDSc9k5Y8uTEjkQhaWlrw5ML92NnQJtv3HwsOYN0++0LR8Z0+Zw4qwYPf7Yx8k6eC3v953E+VTznsaIhuM911qA2HWiT5v4bmCJpaJBxsv+eOCNUlIVQVh1BdHP33+8Mq8LOaznLMT/UVJdE744vxyo54n/aX2LgsoX00JxpYBZpVeXry50B7pSuKOuH6k9IrT3UunEB3NbTg6S/qcLg1gukWzX/mqum6G3qjU4nxrtkaYXhwbn2uYnI+Ly8M4eKxnVFZnN5r4LMNL+L5L36TMx+fvxBoJWq8l3q4V8SVJ2pixw7Lv6yqY4d9el9Z1BXXnfRERuWpNivHhg/lt9a34O5Ze/Hg3Ny7j6zoFv86txvOHA5r9xcAACAASURBVGDAh6m98I31El5bYT7E3LeHVWJkz2g4v0zXZ+tfxPOLatuVqP/7T7rvBYyFpYCuzgeOQIOsPKuKOXk+hY6lPTTzXFtbm7yotGhHC054aKMlK/C5Ch/UqQDzr+ie67WMz9/86jDW7k3dT68nw14dCnDhmC6aknAl+q8vpsvBogN8BVKJBopAZeWJtlqA1QSto1cVd8P1E/WRp4IRH8rn5eXhleUNOOeZTbDAiykn/K+ed4QhX9Cdh4Dnl5hTysUFIVxZ0zVjKL90lZ+94SU8u/COnO2y8oXOZX2w+6A9mwYM1VNWom3T7z9rZWDOWAoMgSrKU5KkGnlBoH1WPDok4UMvZYde9N7O57845QXwofQrS/+ABZvftr38jmU9cc0Jj6JjaU9D34WCEU/82Pz9uOTFLYby0Zto2dW90btSexetOwz88Lkd6FIWQteyPPk/tXuUlvJ5tP2fn9gNfP5T7zV30+t4av6vbO8/xQVluGrCw+jXcSTeXzUDb664z9H+m/X7AAI1nNfeO/X2JoHejypPHkle2WHkXuX4Tp/bTnsjVgGuWrh6sevqVNoL1018Enz4btV176d7cP0b263KLms+4ct7YkSX3E6hG+sjOOaBzYgkeSwV5jGZSEsLGArygMIQ/7f9//MY1JuhelcV4C/f64kqE06o8za9gSfn32wbNkX5pbiq5mH07xgNO7jn0Gb89r0zbCvPWMYs/LUMCcRpn74n0LjyRI06BkRcYaaPDWHX8x6VQ/DLU+KEyefN+PxZeP2LCbEjrCi/uqwHrj/pKUvJU/mgXl1+ABe/sAV1TVEXJzuv6yZU4epxlehWmtpd9zUBj3/RgDtm7jVVhUGdC/Hplf3RpSz3Pv1cBS3Y8jaemnczIohkjDlixL7FBaX4ec0j6FM9IlaFuqadqH331JRyjORv5ffB44kGYWHJ1wQq4pxnzypOoC+nfIPPfVELvqJr1cUXivicJ5/7tOvaVNciz4nO3thoVxEJ+fJhNT8Q7oiKfOw5FMH7aw5i2wHzBN6/uhCfXtUf3SvMk6dS4cXbPsCjc26Qz4234uLK8+oTHk0gT54vJ9A73jnFiiJsyIMrUX/PifqWQBVXJUh82B7dEsLkUBDxrZpu3PeoGpyWQHnv5T6F4fUvxA4pM1q/TmW9cd1Jj9tKnuqv7fb3d+J3M3fZ8AHan+XRRxTj9Yv6oG8H7ZHztdZq8bYPVSRqvP8V5Zfh6hMSladShyiBnipM/079vuDr4bwvCTRhzlOwI2d68iH8qakKVPkgXlx0J/gul9ils/58zvOGk58Bd5Z38vpk/SGc/cxGbLdAETpRb65i/3BmN1w4qoM8dWLXtWz7R/jH59cgIrUrZZ32LMorxdUnpirPRAJVKVCd+TtzhJN/50Rt7Dp2dcns+cbJEzUibkWODuGzLxq9uPj3mLX2mVhQqEwtTm4f39N+w8SnHSdPXj9+xO8fZl6FpxedgtV7x7ljfI2l/nJiZ9wxqYscHMSJa9n2j/HPOdeiLZK4DTZX/yzOL8XPMyjPVAWa2pJc+Tv83JdK1FcEGpvzlOJ+nqL9IPeoGoKbsyjQBCW69hnNAoGv7l878XHXyPO+jy/ClrqVcn33NfbCvG1TsGrPCYhIuVfQnSAxXsaEPq146txhOLKj8VijRuv65c4wHvrsKrRGWjWd4SrPeWZRngkE+nZcgYrW3xPqw/1EfTYn6hsCjSlPPucpj8lijp7RZXZB7ntWDs46hFd/oK8tvQczv3o0Z/27VvTH9ROfBA+K7PTFled9sy7GlroV0blbxaEWEg42d8SCbd/F0l2T0NJW7HTV5PIK8xoxuNOn4IfBda/YhCvGP4AhXd3ZR/Hlzs8w47OfoVXiAakz98+igsxznskgqudAk/EX8p6vzvvIxckXBKpWnkL/AgPQqkCVD+XVpffgP5xE26/k9nUp748bTnaPPO/9+CJsrVuZsX68vi1tpVi04wws330W6pqcIdKuZWtk0hzS6RMUhOIH4IVC+bhywoOukehXu+fi759OQ2skutU02Z6F+aW4RoPy9KQCVdrrIyXqeQJNUZ72HvNq+jAxPQpU+UjeXvkA3lnxtxSH1SMqB+Hakx51V3nuX6H5kLXRvadgUNfb8OHqg/hwzUGENxzSfThdNhnL1SYnzGO6vYdOJRsy1isvr8BVJbqak2j4SrREDif0Jz3KM2UOVPB+n+qo6g8l6mkC5eSJSFstWHTOM3lSXMR7vQpU+VD4UJ4P6ZVwFd0rB8o7jEoL0p+eaed4mQ/bFeWZ7YSgZPzH9vk+Lhj9+1jVGlsi4Kv3H6w+iA9WN2DBVn3BmvmOodE9i9GxZBkOHX4R/aoWIU+lNrPZP89lJbpu7xf42yeXobkt2mY+56lHeaoJ9Pb2OVAR+3vW/sGVaGvb9PvP9u7eec8SaILyjH2SqrnOhKM5lBfcf96jchBunvSKIX7jCzVr9sxDz6qhuPrER1BaWGUoHzOJDrcelOc8N+9fnuUnKxnnaInHJxFounpsqW+RAzjn2uHUtTwfR3WNhrx7Y/m9eP/LGar6pC8/3ZEaV0x4AEcdMdEMJIbTrtkzHw+Fr8Th1kP47vAbcdrgy3TnVde4o90PVC0htLc/Oong4vfBvK1EPUmgMnm2K089CkiEX+juVYPxq1ONEejaPQuxatdsnDzgApQUVOj+2MwmUMhzk0ye+hV/sgI1Wx8lPSfQ976cYXgEclXNQxjW7USrqqMrn437lmL5jlmYeOR5hn4QOYHeLjvS67eHCN+DPAcssbAU8aYS9RyBJirPTIpS3L/35DuRNLgx6foKHXhZXm3/WLXabuDwPS0K1EhTcivQ7P0hL1QArkTdWp030mYljbwK/3Z0J5KnD63zqBL1FIFe88LQyQixeDxPUX5Ck0dAWe75TqSbJ2XeiWTmY7IrbVNLdM5zS/3K9CM+je0f2zdxDtSq+r6xLKpADUtQAHxO9IqaBzHUJRcno1hwAr39rXY/UA9+D4kxqKUwIpKn5kQ9Q6DXvDBiMgtJtRKTYjuMxNWZmfWA0UUkox+Y2XRR5XkRNtetjPGTUdydGsIbrV9+KB/TJniLRKMK9BSv68+4Oxcfzoe8EwrPEwR67QsjaqRQ270AG2OWENxOz7dyekWBHmqpx/0fXyLvMLLikgl0THwV3oo8eR4xBWpBhl5TogkK1IL2i5EFm8cibdfdd/bKsBj1yVwL4Ql02rzRBUUbGvkKwcVydCI5gryi8Lx336NysCcIlJPnvR9fiG11X1mGt/0K1Jr+kJ/nHSWaqECtab8Q35eExw73LZk2Y8x8vm1L2Et4Ar32haO+L4XwqrAI6qyYFxSoTJ4fTcW2+tU6W5f9dS8oUKUFXlGi/lSgUSuwCKbcd/by1yzthBZnJj6BvnzUg5KEKy1ut2vZiU6gdpEnB9xLBMrr6wUS9TWBMvz9vh8sv8q1j1VDwcIT6DUvDlsJxoZoaIsnXhGZQO0kTy8SqEKiPx1/H4YfcbKQ/cvPBAqJfXn/j5YNFRL49kqJT6AvDT8ESCUig6inbqISqN3k6VUC5fUOsTxcPuF+IUnU1wQK1nj/D5eV6vm+nH5XeAK9+sVhhxhYiewmLEdLS3MMsXxUhzee80WkX51mbCeSXZ3jUHM9/vLRVGw/sNpWfMdxP1CbVuHfXTnD1v7BWB6m1YhHojKBvtnuxuSD7yPh+4bUeP+PVhCBmvnwaQhvBr3caZ1QnkotvDYHmoyeiErU1wqUhvC5P+Bcb1z94lEPMuDKzBvVlMO6Mm1kE+s5d6T/1Wli7ESKKs8LsL1+TRZHbOvws12Bpt3QaF39+XBNNCWaoEAdaH/qd2gtvur8Afz9rz+iRaRcHJn1eYobk+gRk3PUT97KKQCBxpRn3eroL49y2YivIwrUxvrLEElAKCTOnGiKAnWg/U71F3JjMkWd0cSyI/36xhkSpIs9HSyhXePxYCJuz4EqynNb/RpHg1CM7TsFU22YA32d74Vf+ZCjwTRCLIRpNX91fWGJE+iv3+R74T0eTCSp/hLwWEs/cqS3gEIBeSsni27l9Ho34eHsbnF5Eemvsy7Dlztnm97brnfPuTtDeHt/dm+b/Aa6VfS3pJ8byWQ/jwf61qn+ok/Gt3Ky6+47eylt5TTSKdKlkSMxMVYrATX2fhL2UrTbCrS5tRE3vcZDCtjbznT5+0mBKu2bcvT/YNLgS6zq5rrz4QR6+1s+CGfX3h8lSOGQ5J2ITMK7Mal7FI/IBNYmh7Nz/vO3hrZ7CDCE//unV2LZ9lmkQE3+jFQWdcKvTn/FlaOkle/CXwqUhSF5K7CypwiUd5qfvTB0MmOslklciXrv4gR6y+nubu2fu/F1PDHnZsfB4/FApx5/l+Xlvr70L3hvJT/Sw7mrorgTrj/5SXSt6OdcoWlKkhWoPAfq7UsCwiF4R3kqaHuOQHnF48N5VpNyLqzgq5B8Ff5Xp7vvxjRnw2t4at5tsuO8U6uqMoHatojUTqAO2J+T542nPIPOZb1cZ626xp34tRJQmdfGgfZb3V8Yk8Lw0LBdbXRPEmhMiYLVMnlOVP17IPYpSfIc6Oli7ESSSXTurZBiYcHtDWkuz4Eeb3080LgCtbf+/JemorhjO3n2dp08eQVkAn3zG+11sb/9po4kSHNkAJ/zlCBNf8CjJ3N6lkAVJRrhw3molKjgk6OiKFDl609RojbiN7afjQp0hepID73uARrfF0l5KvaLKVAb7WbXZLmXlaenh/Dqn355ThT8nCR44qgPvhPpFkEUqJpEn5x7qzz+s/M75G5Mds2BynvhTS4KZUtfXtwJN8nDdjGUZwKBvvkNW+1mE66eVp6+IdCYEpWH8yzNwlLypFDyyMvZ5zwakwhzoMkoRIfzt6mG88ob1uETXUSyYwjPHekzLSKZr39FcWdh5jyT7RYdwmdbRDLf/sRJcvPfj9eH7b6YA002Y0yJ8tX59okJ+ZdTJami0ZzaN6wo+1Ycfi6iAk1QonNuhcSi88hW4zeOD+FtWoV/d4USjcla+5YXdcJNp4qnPNUK9DY+B8rXAgXo3zm/L8AXytNXClRpDF+dj2RUokLM+UNUBZowJ5pWiZrHzx0FarzeIs556legxttvdUo/KU9fEihv1M+eGzqZ5bFaCOon2rODeHOgyR/K53w4z5Vo4qHdpr8neQ50rD1+oFyBWnlx8hRZeSYo0DeUVXgrEbA4L+Yv5elbApVJtH1hic+JxgO0KoGY3f036kgvhhtTtk+Ek+jTc29DRIqAMeW0R3P/jutnlxvTvXh3xUOW1bOyhM95Pi3cglE6eylzoKL1c3V94FPyVKa5LP6pESM7UZWoFxSoYkGrlagXFKhXlKeHFGhYYt7188zFZp72A83VuPjCEl+djytPZVe7oqycvPeKAk0kUb46H1eiRvFySoEarZ+XlGcigUbD2bnRn+WdbO0OZMnl+1l5+noIryZWWYmGon6i8t9d3urGz0S69Qx398Ln+uFJfv70vNvx2bqXon82gZ8jCtRE/S6vuQ8je56mFx5X3+d74X/9hsqNyUT7zdpXnZ7vbUdEmv7Aj1e+5ypANhfuawWqYCcrUYmTaFSJxi/nt76VFJTj7imf22xWa7P/ZO2/8Nz836gCFqt/f7XjOY5v5Rxrhx/oXxBdRDJnz2tPfhSDu46zFjybc1u183Pc95ESTs9c+83iF0vP5zzb/E+evp4DTe63ihKVJNRwfzlFScmxNBy+H9V7Mk4eeL7Nn5Y12fNFpBcW/g7b69bI34cZvGQ/ULtW4ZdHt3KaqV/vjkfh28OvQVG+0AdBxgzbcHiv/MOxef8KV/tzwvcTEOUZmCF8+uG8okQz/WInb15LVlz0PDFgsjZ8nFOgZB8j9skc8VabfcGd5AMwbFdzSiCG8MkkCj4nKqifqDW6UcxcuAK90AYF+u8lyhBezHYHolY8JF0Evp/zTLZl4AiUA8CH85xE5VB42qfwLJsiihlBkCkrp+pj2xBeIdCA4Wlyyte6/sznPAOmPAM5hCcl6q4WIgXqLv62lC5J/OC3wCnPwBNoghJVDecF8QKJ9XU/1cd2BWrOy0rG3E94296eACtPItB2BOThPBB1cVLCD8lhbVThiOjeEjzG9bdxDrR9FT62DE/2i4fTsqX/Blt5EoGqxjOxOVEJ8mmfyWuOdB9FwOwU43ib3JiURSSz9aP0Gr2kWTCc5LVMeQRyESkdMFElqtqxFGOMLAFpEwJmpsmVnicEYJXnQMdZH41JJlCuQJMvwj8xAK4l+JDyVMNIBJqsRDmJMm8emazlF9PNd2gRyU30LSiblGfa32gLkPVPFsqcqCSfscTkmJj0rzU4jO83xTYF+s7yh8hONvZXgJRnOpYjBZoGlbTDef/8RrjWEseH8K611HcFh8GPHvZ5YBAjViMCzYAaKVHrlTcpUGuUvMMjojALsJ9nLlIlAs2CECnRXN1H33NSoPrwEuBtUp45jEAEmgMgTqIS9xNVTvskP6c4Yjr9frgf6EXj/mA5L/x78V/A50BN+1npbI/PywszFtwdRlo7KRGoBqTUzva0UyXxlHA9eDihQPXUh5ue3k9rT1KeGniBv0IEqhEoWYlKfMeS2sWJJItG12sZZX6kx0XjbfADVRSozyWhQxKblKdGTiAC1QEUf1VWopxEGT/tMxqImf7VjsN4vpXTJkf6d5bNIHuY74+kPHVyAilQnYClV6I6Mwno63wIf9F4G+dAA4qrRc0m5WkASCJQA6DFSTQ5sr06ErqScfzUwsSI38F77twQXt2tCf/0kebV/Q9EngZ4gIbwBkFThvPynKiyOp/Mh3QfRUC1SuOIAqVVIX2rfCDyNEEDtIhkBrxEJUqMmcKYSQwaJVC7FpGUYCLEoDoYNMwY7TAywwE0hDeDHl9YemroZCkPtfJpnyrBlWngGOS/80Uku+ZA317G98InHqVG95nxACPlafLTl5MTgVqAYoISzXSubvJyffK5ygF4Pq6/jW5My7gjfZZzjQOAr/b2E3la8NkTgVoFojwnSko0pwIkBeq+QuZHDzN+euYFK9+zsv8HNS9SoBZaPq0SJUfRmDJ0VIES7mkcdBFmbUSeFn7yNIS3Ekye17Snhk7OC6GWxxNNXoUO+r1dCvQ1vhOJD+GTVv3pPsELIhwi5Wn1504EajmiynA+FN32GeRFo+RFHLsIlAcToUWk9N6e7f2Phu12fOi0iGQTqmolqo7iFPBl4fFH2rMKLyvQpapoTAHHOWEyGghHIpg+g+Y8bfnYaQ7UFlijmcoLSwlKVAmoqywmBOt+vI2r8FEFGiw8c7eXFoxs/LxpFd5ucJU50RAnUa5EA37JQ/gJ1u+Ff22Rag404BjHms9IeTrRFUiBOoAyV6KRdiUa29oYwMlRGsI74+nPGMJtNGx34MsmR3pHQCYlGoWZFKgD3U1COAKa83QAaRrCOwWyUk5MiQZ0OE8Eam+PI+VpL77pcqchvMOYcz/RELifqFTDGIOkcvj2+/2EI6fYNgf69tK/w+/4ZWsfI+Xp8JccLY4I1AXYFRIFC9bC0unDLsUPRv3CcsQ//uo5PDt3uuX5eiZDWjByzVREoC5Br1aiMRdoJRiG8rsm+zOqVptceD6w83EIhfKjqx8myq8oqsZ3R16DIyoHWI54S1sT3lj8N6zbu1iFV7s80IlfW1sL1uxaGJcXOtPH7WWsfL3pmSSFI2Dk52l5r9KWIRGoNpxseUt0JXrHt19H96qBtrRd5EzX7l6Iu987T+QqKgRPTvIuW4kI1GUDpFWiOeMa2b/VprSwAn86e47L6LhX/JVPD1UkpJD/MpDydK93xEsmAhXACjElmrx3Xglvmcl90Obnpw6dinNG3yoAQs5W4enP78Cs1S/Ew2u6hH8svGlq+eSq5GyXyFgaEagghhBViU4aeiHOHn2LICjZX41n50zHR18954zHu4GRBilP+/uAnhKIQPWgZfO7cRKNrs4rA3WlWLfug0Kiz875LT766tmYld3CO4u9SXna/A3qzZ4IVC9iNr/PSfRr59BaxuOJqobocrEu3k8aehHOHuNfJRpVns/Ki+Cxj8JFvJPtLQHhrx1dabXd5u9Pb/ZEoHoRc+D9ZCXqQJGaivCrEk1WnprAcPAlxkPS0fZMBxHXXhQRqHasHH0zqkR5UGZJqNM+zxg+DWeNutFRLOws7Jk50/HxqmdFjvFCytPODmAybyJQkwDamVxWohJqJb5jKTl6k1JwpqhONj4/c8TlmHKs90lUVp6rnk0fyt1G/BL2/2WxHylPO78ua/ImArUGR9tymfbY0MnIk+TjQWwrxEDGZ3pcif5r3l34cOXjBlruWBJSno5BbbwgIlDj2DmWUhnOywtLMSnqvkQ6c/jlmOLB4fwLMnk+0Q6gCxI+hwRlYOEIo5B0jn1gJgoiAjUBnpNJSYlagzYpT2twpFyiCBCBeqgnJCrRaMUlSPJZQMl6NH5v//NvDp/mCSXKlecHK59I0n/246PVPlFXJVKeHvokiUC9ZCxe15gSFSwo83eOuRrfHXm1sHDKynOF4HOeETZ9xsUr3xMWRKpYCgKkQD3YKeLDeVYT9fxWBRdx8f6sUTeBz4uKdsWH7YpnvBh4xXdGsDDaQOQpWsfRUB8iUA0gifiKqEqU+4ieOWKaMJCR8hTGFL6sCBGoh82aVomqjgiJhxNSKS8Hnp91nBhKNEaesbBGzuKgAX9Snh7+/mgRyePGi82JhqRaCRBqx5LbSvTlhX/Cu0tnCL3DiNGcp+e/QFKgnjdh+8JSSDxne7dI9JWFf8I7S2eIbNkwiDxFto/muhGBaoZK7Bfl4TxXohJqRBqxOk2iLy/4E95dNiO2tubAjIWGkXr0qCbZLkCYlKfY35Ke2hGB6kFL8HcVEo1v+xQjoqVTJJqqPMVof7zbsDAitNou+Gekq3pEoLrgEv9lTqISH87H/ESVrYqZ6u7M83OOvwWnDbvINgC58kw/bHemfZkb1l4+I+Vpm/FdzJgI1EXw7SpaIVG+d16kIey5x9+CSTaQKFeeby+ZoW8orTql2YEpD5rztKuzu5wvEajLBrCr+FQlaldJ+vK1Wom+vuiv4P8JfIWZRDuMBLaPqaoRgZqCT+zEMSUqoSZtzCGbT/XMdKqkVUqUD9n50D3jIc8utS9WHwZSnmJ/IqZrRwRqGkKxM5j22MDJEsuTI9urtg7GT510aeunWSWqkKdIW1kT8QUpT7E/DUtqRwRqCYxiZyIrUSaen6hREo2Rp6iw04KRqJaxvF5EoJZDKmaGMRKVpBrFITE69s20mqKcq2zv83PG3ILTjtK+Ov/Okhngu4ziW4zsrZ9ufLifJ815ivkR2FArIlAbQBU1S1GV6PnjanHykJ/khE145UnkmdOGfnuBCNRvFs3RnksfGzg5j+XVShI/7ZO1B2RWBJ179+eN/w2+kYVEuZvSKwv+JEx9o4tycbzAWLhNYtMfoXiegfqiiEADZe5oYxOUKGcC5XJ5487549MrUXnYvuBP8dMzBamvavmfhu0B/I54k4lAA2p4tRJVmElRVG7enze+NkGJfrD8cTw/9y7Za0CE+vEjVBLwYQhHSHkG9CsiAg2s4ROUqGDHg/xk3O04Zej5eHfpP/HS/LvFtRFfbacFI3Ht40DNSIE6ALLIRXAlGpLa/UQzeqTH3UZFDrCZ2aPejvrzo4dpzlPkvu1E3YhAnUBZ8DLiLk4ZdizZwT+xgXB8atMz/M1AC0aC92mnqkcE6hTSgpeToEQFr6u71SPl6S7+YpVOBCqWPVytjaxEJakWjJRohtgBpDxd7aHiFU4EKp5NXK3Rpf8cODkUUvbOu1oV0QoPRyKR6Y9ctprObRfNMi7WhwjURfBFLfrSx4ZODnElCtSo9kx6edbS7CwuLRiJ2lldrhcRqMsGELV4RYlK4DuW4ldyfHe/3wMg5SlqJxWgXkSgAhhB1CpkV6JKrdPOFqah3OT3PJE+HImw6Y9ctpKG7aJ2UpfrRQTqsgFELz6qREPyaZ8xP8v2SisBk2NtSNoK6uXnjCtPieY8Re+fbtePCNRtC3ig/Ev/OXRyKHbufCbF6au/hyORNlow8kDfdLuKRKBuW8Aj5ctKlEdxkiPb+/ci5elf29rRMiJQO1D1aZ4JSlSk4z6tO1aTlKdP+65dzSICtQtZn+YbVaKhWkl2cfLPJQFh0JynfwzqUEuIQB0C2k/FKMN5flCdQOFEk9e4NN8zsHBEojlPP/VRp9pCBOoU0j4rJ6ZE1avz6mggSnsF93Ii5emzjulwc4hAHQbcT8XJc6Is4tnhPClPP/VGd9pCBOoO7r4plStRsFAtaw/K7JWdSRKjOU/fdEIXG0IE6iL4fik6YWHJA+6gjNGcp1/6ntvtIAJ12wI+KV9RopAg750XmEfDAO0w8km3c70ZRKCum8A/FYgN57mLk4AMSsrTP31NlJYQgYpiCZ/UQyZRhGq5i5N8WIficK8wqmv3IOXpkz4mUjOIQEWyhk/qopAoQzyyfbJXk5P3PCQdDdt90rkEawYRqGAG8Ut1YkpUkmpg3VbLuKLVupWUyNMvXUrIdhCBCmkWf1QqnRJ1cmoUYGGAdhj5ozeJ2QoiUDHt4ptaJShRzZsrleYnBRjVk55x8qTVdt90JEEbQgQqqGH8VK34wpJjq/NEnn7qQAK3hQhUYOP4qWrplagNHqN8hxEpTz91HaHbQgQqtHn8Vbk4idoUCo/I018dxgOtIQL1gJH8VMVLHxo4WQpF/UStXZxnYRaiOU8/9RUvtIUI1AtW8lkdZSUaCdWCqc+dz9TI5PAkye9JAC0Y+ayHeKc5RKDesZWvapqgRDPtnVc2MmV9TsrTVx3DY40hAvWYwfxU3UQlaqBlNOdpADRKYiUCRKBWokl56UZArUT1JWZhFolMf+SK1e/pS0dvEwLWIUAEah2W1Om9ZwAAAnVJREFUlJNBBDiJIi90JySMkSCBgSHrv4zNQ1vkNiJPg4BTMssQIAK1DErKyAwCl8wYUMNCocslCRdny4cxPCZFIg8/Om1N2Ex5lJYQsAIBIlArUKQ8LEFg2kOjC1pCDd9iiJwpgZ0CSH14FDzG2EZA+o+E0DsFkfK3Zlwxv8WSAikTQsAkAkSgJgGk5IQAIRBcBIhAg2t7ajkhQAiYRIAI1CSAlJwQIASCiwARaHBtTy0nBAgBkwgQgZoEkJITAoRAcBEgAg2u7anlhAAhYBIBIlCTAFJyQoAQCC4CRKDBtT21nBAgBEwiQARqEkBKTggQAsFFgAg0uLanlhMChIBJBIhATQJIyQkBQiC4CBCBBtf21HJCgBAwiQARqEkAKTkhQAgEFwEi0ODanlpOCBACJhEgAjUJICUnBAiB4CJABBpc21PLCQFCwCQCRKAmAaTkhAAhEFwEiECDa3tqOSFACJhEgAjUJICUnBAgBIKLABFocG1PLScECAGTCBCBmgSQkhMChEBwESACDa7tqeWEACFgEgEiUJMAUnJCgBAILgJEoMG1PbWcECAETCJABGoSQEpOCBACwUWACDS4tqeWEwKEgEkEiEBNAkjJCQFCILgIEIEG1/bUckKAEDCJABGoSQApOSFACAQXASLQ4NqeWk4IEAImESACNQkgJScECIHgIkAEGlzbU8sJAULAJAJEoCYBpOSEACEQXASIQINre2o5IUAImESACNQkgJScECAEgosAEWhwbU8tJwQIAZMIEIGaBJCSEwKEQHARIAINru2p5YQAIWASASJQkwBSckKAEAguAkSgwbU9tZwQIARMIvD/AVDkvnv22WOGAAAAAElFTkSuQmCC"/>
          <p:cNvSpPr>
            <a:spLocks noChangeAspect="1" noChangeArrowheads="1"/>
          </p:cNvSpPr>
          <p:nvPr/>
        </p:nvSpPr>
        <p:spPr bwMode="auto">
          <a:xfrm>
            <a:off x="155575" y="-381000"/>
            <a:ext cx="80010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64982" y="1282255"/>
            <a:ext cx="1073059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1. Dependências no </a:t>
            </a: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pom.xml   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2. Classe para buscar o certificado no </a:t>
            </a:r>
            <a:r>
              <a:rPr lang="pt-BR" b="1" dirty="0" err="1">
                <a:solidFill>
                  <a:schemeClr val="accent6">
                    <a:lumMod val="75000"/>
                  </a:schemeClr>
                </a:solidFill>
              </a:rPr>
              <a:t>Diretorio</a:t>
            </a: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 a </a:t>
            </a: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OCP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3. Classe </a:t>
            </a:r>
            <a:r>
              <a:rPr lang="pt-BR" b="1" dirty="0" err="1">
                <a:solidFill>
                  <a:schemeClr val="accent6">
                    <a:lumMod val="75000"/>
                  </a:schemeClr>
                </a:solidFill>
              </a:rPr>
              <a:t>StringPemReader</a:t>
            </a: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 para adaptar o </a:t>
            </a: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certificado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4. Configuração do </a:t>
            </a:r>
            <a:r>
              <a:rPr lang="pt-BR" b="1" dirty="0" err="1">
                <a:solidFill>
                  <a:schemeClr val="accent6">
                    <a:lumMod val="75000"/>
                  </a:schemeClr>
                </a:solidFill>
              </a:rPr>
              <a:t>TokenIssuer</a:t>
            </a: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 com </a:t>
            </a: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OCP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5. Serviço para gerar o Token </a:t>
            </a: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LEAP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6.  Comunicação com SRV (</a:t>
            </a:r>
            <a:r>
              <a:rPr lang="pt-BR" b="1" dirty="0" err="1">
                <a:solidFill>
                  <a:schemeClr val="accent6">
                    <a:lumMod val="75000"/>
                  </a:schemeClr>
                </a:solidFill>
              </a:rPr>
              <a:t>azure</a:t>
            </a: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)   - </a:t>
            </a:r>
            <a:r>
              <a:rPr lang="pt-BR" b="1" dirty="0" err="1" smtClean="0">
                <a:solidFill>
                  <a:schemeClr val="accent6">
                    <a:lumMod val="75000"/>
                  </a:schemeClr>
                </a:solidFill>
              </a:rPr>
              <a:t>brai-srv-anteci-formatadordoc</a:t>
            </a:r>
            <a:endParaRPr lang="pt-BR" b="1" dirty="0">
              <a:solidFill>
                <a:schemeClr val="accent6">
                  <a:lumMod val="75000"/>
                </a:schemeClr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  <a:defRPr/>
            </a:pPr>
            <a:r>
              <a:rPr lang="pt-BR" b="1" dirty="0" smtClean="0">
                <a:solidFill>
                  <a:srgbClr val="FF0000"/>
                </a:solidFill>
              </a:rPr>
              <a:t> </a:t>
            </a:r>
            <a:r>
              <a:rPr lang="pt-BR" b="1" dirty="0" err="1">
                <a:solidFill>
                  <a:srgbClr val="FF0000"/>
                </a:solidFill>
              </a:rPr>
              <a:t>Metodo</a:t>
            </a:r>
            <a:r>
              <a:rPr lang="pt-BR" b="1" dirty="0">
                <a:solidFill>
                  <a:srgbClr val="FF0000"/>
                </a:solidFill>
              </a:rPr>
              <a:t> geração do TOKEN (em teste</a:t>
            </a:r>
            <a:r>
              <a:rPr lang="pt-BR" b="1" dirty="0" smtClean="0">
                <a:solidFill>
                  <a:srgbClr val="FF0000"/>
                </a:solidFill>
              </a:rPr>
              <a:t>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  <a:defRPr/>
            </a:pPr>
            <a:r>
              <a:rPr lang="pt-BR" b="1" dirty="0" smtClean="0">
                <a:solidFill>
                  <a:srgbClr val="FF0000"/>
                </a:solidFill>
              </a:rPr>
              <a:t>02</a:t>
            </a:r>
            <a:r>
              <a:rPr lang="pt-BR" b="1" dirty="0">
                <a:solidFill>
                  <a:srgbClr val="FF0000"/>
                </a:solidFill>
              </a:rPr>
              <a:t>. </a:t>
            </a:r>
            <a:r>
              <a:rPr lang="pt-BR" b="1" dirty="0" err="1">
                <a:solidFill>
                  <a:srgbClr val="FF0000"/>
                </a:solidFill>
              </a:rPr>
              <a:t>Cominicação</a:t>
            </a:r>
            <a:r>
              <a:rPr lang="pt-BR" b="1" dirty="0">
                <a:solidFill>
                  <a:srgbClr val="FF0000"/>
                </a:solidFill>
              </a:rPr>
              <a:t> </a:t>
            </a:r>
            <a:endParaRPr lang="pt-BR" dirty="0">
              <a:solidFill>
                <a:srgbClr val="FF0000"/>
              </a:solidFill>
            </a:endParaRPr>
          </a:p>
          <a:p>
            <a:pPr lvl="1"/>
            <a:r>
              <a:rPr lang="pt-BR" b="1" dirty="0">
                <a:solidFill>
                  <a:srgbClr val="FF0000"/>
                </a:solidFill>
              </a:rPr>
              <a:t>     </a:t>
            </a:r>
            <a:r>
              <a:rPr lang="pt-BR" b="1" dirty="0" smtClean="0">
                <a:solidFill>
                  <a:srgbClr val="FF0000"/>
                </a:solidFill>
              </a:rPr>
              <a:t> </a:t>
            </a:r>
            <a:r>
              <a:rPr lang="pt-BR" b="1" dirty="0">
                <a:solidFill>
                  <a:srgbClr val="FF0000"/>
                </a:solidFill>
              </a:rPr>
              <a:t>POST    </a:t>
            </a:r>
            <a:endParaRPr lang="pt-BR" dirty="0">
              <a:solidFill>
                <a:srgbClr val="FF0000"/>
              </a:solidFill>
            </a:endParaRPr>
          </a:p>
          <a:p>
            <a:r>
              <a:rPr lang="pt-BR" b="1" dirty="0"/>
              <a:t>      </a:t>
            </a:r>
            <a:endParaRPr lang="pt-BR" dirty="0"/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endParaRPr lang="pt-BR" dirty="0">
              <a:solidFill>
                <a:prstClr val="black"/>
              </a:solidFill>
              <a:latin typeface="Bradesco Sans" panose="0000050000000000000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7114274" y="944649"/>
            <a:ext cx="107305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 smtClean="0"/>
              <a:t>Geração de Massas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 smtClean="0"/>
              <a:t>Criação de Jornadas</a:t>
            </a:r>
          </a:p>
          <a:p>
            <a:r>
              <a:rPr lang="pt-BR" b="1" dirty="0"/>
              <a:t>      </a:t>
            </a:r>
            <a:endParaRPr lang="pt-BR" dirty="0"/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endParaRPr lang="pt-BR" dirty="0">
              <a:solidFill>
                <a:prstClr val="black"/>
              </a:solidFill>
              <a:latin typeface="Bradesco Sans" panose="00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357567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833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67382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228036" y="196341"/>
            <a:ext cx="6374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Bradesco – Terminal Financeiro</a:t>
            </a:r>
            <a:endParaRPr lang="pt-BR" sz="2600" b="1" dirty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Arquitetura 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pic>
        <p:nvPicPr>
          <p:cNvPr id="149" name="Imagem 148">
            <a:extLst>
              <a:ext uri="{FF2B5EF4-FFF2-40B4-BE49-F238E27FC236}">
                <a16:creationId xmlns:a16="http://schemas.microsoft.com/office/drawing/2014/main" id="{C69F268A-EA4B-2CA2-B7E0-A91BCF0C276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8238615" y="6790566"/>
            <a:ext cx="405487" cy="19713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C2CD672-5CA7-8C30-F410-B15144C4B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2066" y="302678"/>
            <a:ext cx="762000" cy="571500"/>
          </a:xfrm>
          <a:prstGeom prst="rect">
            <a:avLst/>
          </a:prstGeom>
        </p:spPr>
      </p:pic>
      <p:sp>
        <p:nvSpPr>
          <p:cNvPr id="49" name="AutoShape 6" descr="data:image/png;base64,iVBORw0KGgoAAAANSUhEUgAAAVAAAAFQCAYAAADp6CbZAAAAAXNSR0IArs4c6QAAAhJ0RVh0bXhmaWxlACUzQ214R3JhcGhNb2RlbCUzRSUzQ3Jvb3QlM0UlM0NteENlbGwlMjBpZCUzRCUyMjAlMjIlMkYlM0UlM0NteENlbGwlMjBpZCUzRCUyMjElMjIlMjBwYXJlbnQlM0QlMjIwJTIyJTJGJTNFJTNDbXhDZWxsJTIwaWQlM0QlMjIyJTIyJTIwdmFsdWUlM0QlMjIlMjIlMjBzdHlsZSUzRCUyMmltYWdlJTNCYXNwZWN0JTNEZml4ZWQlM0JodG1sJTNEMSUzQnBvaW50cyUzRCU1QiU1RCUzQmFsaWduJTNEY2VudGVyJTNCZm9udFNpemUlM0QxMiUzQmltYWdlJTNEaW1nJTJGbGliJTJGYXp1cmUyJTJGbmV0d29ya2luZyUyRkFwcGxpY2F0aW9uX0dhdGV3YXlzLnN2ZyUzQiUyMiUyMHZlcnRleCUzRCUyMjElMjIlMjBwYXJlbnQlM0QlMjIxJTIyJTNFJTNDbXhHZW9tZXRyeSUyMHglM0QlMjIyNjAlMjIlMjB5JTNEJTIyMjkwJTIyJTIwd2lkdGglM0QlMjI2NCUyMiUyMGhlaWdodCUzRCUyMjY0JTIyJTIwYXMlM0QlMjJnZW9tZXRyeSUyMiUyRiUzRSUzQyUyRm14Q2VsbCUzRSUzQyUyRnJvb3QlM0UlM0MlMkZteEdyYXBoTW9kZWwlM0XLSnf0AAAgAElEQVR4Xu19B5wV1dn+c+72zlKlg3RBEUHKqhhF0XRMoiYq1oia2P0So0Y35Isx+fSfRE00YmKvscfeSBS9IlU6Ir132GVhly13/p65O/fO7dPnzMw7v58/nJ057XnPPPc557znPQx0EQKEACFACBhCgBlKRYkIAUKAECAEQARKn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QBgEps0bXVC5r/lbDNKZADuFAb0lgPfRjYD0HwnsnfrqwrdmjJnfIkylqSKBRoAINNDmF6fxN787oiaSxy6HhIvVnVJClEFj/zI8FmLSw3+ctDQsTu2pJkFFgAg0qJYXqN2/eG/EZDDcCbAxKqpMps7YPQObJ0nSbXdPXvqeQM2gqgQQASLQABpdpCZz8mQhVitJqFErTaWOKQq0nUbBEJYi0nQiUZGsGby6EIEGz+bCtJiTpwTUMsZqIPHZTgY9/zKwsAQiUWEMGsCKEIEG0OgiNFmtPJX6KApUzz0kEImKYNCA1oEINKCGd7PZMeUJVqNlzjNpGSllblQCCzNSom6aNLBlE4EG1vTuNFxWnmC1EovPeepRnHxONN37jJSoOwYNeKlEoAHvAE42P648UZO8SGTFvQSEGUALS04aNeBlEYEGvAM41fyY8kScPO0oO0qitLBkB7aUZyoCRKDUK2xHQD3nKUECU7nGR+/jg3IrnoOUqO02pQKiCBCBUk+wFQGnlGdyI0iJ2mpWyrwdASJQ6gq2ISArTwm1YKjhezEVN09FgNp9z53taU7UNvNSxqRAqQ/YhUB02M5qmc1znrnqL0EiEs0FEj03jAApUMPQUcJMCCjKk+8wkuQdRtFoIKmKk8GR53xOlNHqPPVY6xEgArUe00DnKIrypDnRQHdDxxpPBOoY1P4vKDbn6fKwPQvSpET93w0dbSERqKNw+7cwRXlCkmoY40NzZcguQbB7IlH/dkPHW0YE6jjk/ivQA8ozGXQiUf91Q1daRATqCuz+KTRKnqwWSIznmSmOp0B/DzNGO5b80xPdaQkRqDu4+6JUTp4RCYmuSgpDKi0U+z7M2jD97m9RZHtfdEgXGkEE6gLofigyrjylmlzh5gR/TsN5P3RIl9pABOoS8F4u9hdvjZgs5UEetsdPe8t4hJHg/CnXm5Solzuki3UnAnURfC8WrZ7zjNZf7DG69vpJpES92CFdrjMRqMsG8FLxXHlGQtE5T4EWgxKPPTYhhLkSDdGcqJe6pOt1JQJ13QTeqEBs2C6hRu/hb556n++dJxL1RqcUoJZEoAIYQfQq+F15qo9Tbj8yJByK0Oq86P1ShPoRgYpgBYHrEFWerJbvMPKUkjRwTHJC+0iJCtwrxakaEag4thCuJorylFfbg3mFIxFM/zP5iQbT+hpaTQSqAaQgvpIw5xkDwMjJ7ZnO0eSZip8fjydKw/kgfgHa2kwEqg2nQL2VoDz94qWkWNBYe4hEA/UFaG8sEah2rALxpqw8Q+1O8pY5CCUv03jvnpRoILq/7kYSgeqGzL8JbnhrxOQQJ0/uqkRXKgIMNCdK/SIBASJQ6hAyArFhu4Qa+egNZYZSietJ94oep+E8fTMJqwIER8ARIOWpswOQEtUJmH9fJwXqX9tqalmK8lQd/haNJM8jykMVYT5+OFygnwOkRDX1MH+/RATqb/tmbZ2sPJmyYBRgIIw2nZSoUeR8k44I1Dem1NcQ0YbtLW3FONxWgubWEjS3laItkoeSggOx//S1zsG3eQAS2vbpIOBiFUUEKpY9HKmN28qzsaUSW+sHYVv9IGytH4ztBwagpa0oa9tLCuplMi0v3I+eVSvRp3opelWtcAQvDYWEIxLtWNKAk+9eIQL1nUmzN8gt5Vl/uDP2NpyJr3aPwuLtPS1BvSCvCb07rECfDkvQt3oJOpdtsiRfQ5mQEjUEm9cTEYF63YI66s/J8+t1oVomtcfzlBeHJDAwVWB51b3J5wcOd8Hq3SejJG8SBlb3RbfyPOw+1IZ7Z9cjot7hqaMN2V7lCnVo109wfK/XUV60t33xy772RRfXEvAiJWqRLb2SDRGoVyxlsp5ODtv3HOqFWWt/gv5VJ+KU/sUpNX/7q0P4ZONhky3KnDzE2jCkaxjj+ryGTqWbbSsnQ8ZEok4j7mJ5RKAugu9U0SnKU3UQh5WR5eubuuKT9edi5U6+kYnhqC4FOP+Y8pRmtkQk/L9P63GgOWI7BP07foHje/0bvTosd25jKl+dpzlR220rQgFEoCJYwcY6pChPY8E04jVMk/5gSwfM3vADfLF1ckpLfjq6Av075Kf8fdnOZjyz5KCNLU/Mumv5epw68DH0rFwZDQKlXDbg0Z4/kahj1nWvICJQ97C3vWRFeUb3tlupNaPBQJpaK/D5xilYtPUMtEYK0rana1kerh1fmcBZyov/XHAAa/e12o6DUgBjEYzv8xLG930ZDFz92hzUhLHw11OkFE/UMQs7XxARqPOYO1JiTHnaFBhk7d5ReGPF9Tndj3hjvz+0FGN7prop7W2MLii12j+ST8Ccuz99Z9i9KCvcb78taDhvP8YulkAE6iL4dhWdXnlaN2Zdv/dYvLbsF2iTUofm6dpUVshwU00VivJSu9vMdY34cG2TXVDI+fapykevyjx0LAmhrDCE8kKGquJWHNt9HqpLtmHhzrewv2lbex1sGNOTErXVvm5mTgTqJvo2lJ2sPJPpILlIvc/X7x2JV3WQp1LeCX2K8K1BpWlb/ODcA9hcb81QnpP1kdUF6FOVh96V+ehdlZ3k+dxo76rlWLb7PWxtSHXM14tPRnxJidrQ293PkgjUfRtYVgNZeUpSLRiryRD9I1NUEE1/31g3Aq8suUWz8lQ3jIvP6yZUolNJXkp76w9H5KF8U6t+59CCEEP/6nwM7Mj/K5B9TfVeFUV7MKjzbGysX4BVez6BJE+NJkRVseYeLCwxmhPVax+R3ycCFdk6OuqmKE9JNedp1YlDjIWwcd9ReGXpzRkXi7RUtW+HfEwbXZH21ZW7W/DkogYt2aAwj+HobgUY2a0QAzqmX7zSlJHqpariHRjYeR62NazAkl3vy0+swk8pRs6PgRaW9BpH4PeJQAU2jtaqRZWnElVJtdquxKHLtNqs8XmPsstwzyenYXtDSGuVMr7HHetPO7Ik7fN3Vjdi1ob086G8qgOqCzCqe6HsX8pJ1OqrY+kW9O+4EBvqFuLLPbPicftM4pdmtZ+UqNXGcyk/63uhSw0JarFq5WmHYupaNhGRlpvx7JLDWLyj2RKYf3pcOfpXp1eOD807gI118fnQ7hV5mNC7CIM6FqCyyDyB52pAl7L1cqCSVXs/xYa6BbLzV4KCtOpeApFoLmN44DkRqAeMlKmKsTnP2Lnt1lJop5I+qMi/C3xPO1eGXCFacVUUhXDd+EqU5Kd2v7rDEdw/ux6NrRIm9i3GGQPTq1Ur6pEuDz4P27lsCbpXzsPy3TNRf3inVZSZblIgLLVh+p+/t/Q9u9pD+dqLABGovfjalnvisL29mEx+4ckSKvm9NM+LQmUY3PHX2Fp3nPx0zd4WPLJQ2xyllkYP7lSAi45N3ebJ03IFWlrA0LlU/4JQtrL3N0XAfU/3HOL/RrDzYBsamiU0tkbQ2CLhUEtcb54y4DGM6vlOdP+BAfwS9i1kT09KVEuHEfQdIlBBDZOtWjf8e8RklpdmztPCnTXHdD0f2+rOQ6Td15Mrs//9yFrH828PLkFN79RgI1aYhCvYr/a04MvdLdh6oE0mSz0XD0hy0ehfoLpki/07lvjqPClRPeYR5l0iUGFMoa0iaZWntqSa3+pbNRKhyC/BY3iqr7s/rQNXcVZdeSHg52Mr0a3MGqW5raFNJsxVe1pkFcs9kcxcPSpX4ccj7zCThZ60pET1oCXIu0SgghhCSzWiylOqBVCjdlNUhGemw9/0PA8hHyO73omN+0elVOmpxQ1YsatFS1U1vzPyiEKcM7xM8/vJL+5rbMPszYexaEcLDhy2jtyVciYNfBjHdP9AHspbgW8699K4fUiJGu4ILiUkAnUJeL3FJg7b9abW93553msoyksdWn+26TDeWHVIX2YZ3uYdb2I/7tJUjBBnJh1XRJLA/UbnbG7G6r0tCdOUOrLR9GpR/kFcMvpGlBbWaXrfgpdIiVoAolNZ6Ou5TtWKyklAQCbPEN9hFFWeyYrSyvsl205Ft7KbMKxzqpsRj9/5x1l1pgmrvDCEc0eUylsu9Vx8x9K8rYcxd0sz+P87dQ3pEsa3htwbU6BW4p3Onozvnac5UafMa6ocIlBT8Nmf2EnlyVvz+Px7cHTXgTh9QHr3oWQ/Tb0IcH/Oc0aUorRAv08nn9d8dGEDmttMTm7qrTSAs4/+X/TusMxASsNJiEQNQ+dcQiJQ57DWXRInT3DlGfPz1J2FrgRb64fg+cW/lZ3WLx6V3sXo041NeOsrY/6g43oV4btDStPGBtVaUR50hLtTHTawb15rGeneO6JiNX4y8jYzWehOy/jqfIT8RHUD52ACIlAHwdZTlKI8JUmqYV+fBJe8+KD4GcqHmln0/O0vr8HKXSegOJ/h9pM7pK3uvqYI7vlU/3zgN/oVZ1S1enDh72470Ip/LmiQne2dvC4efSOqS7bKQ3k78FcvUqn8SIlEnTSyzrKIQHUC5sTrTitP3qZDLVV4eM6DiEhRl6Kfja1Az4r0oeAemFuPLfVxv8q+HaJzmRv2p1+ht8Pfk/t1Pjz/QILzu922Gd3zDUzs/6TdxaTkT0rUccg1F0gEqhkqZ16MK0/UZHKbsePvszf+AOEN58QaeXK/YkzOMA/apSwfo3sWoW9VHgpDiSqwOcKwYX8bXlp+EL//eB9+MKwUo3ukRqPPhiZfYf9wbSPOO7oM1WnC3ylp+RHJfE5WvYPITiuVFNRj2tirkBdqsyXaXTa7gu+dp+G8neY1lDcRqCHY7EmUVnnaECA93aFqTy38P+w62DfWML6N8oYJlQkNndivBMO75CNf4/oPH2F/ubsVM9dqmzPl85rcTWrBtmjQEh4c+dJRFTgiS4xPTqIPz29AgwMnfPI6fWfonzCo8+dxXByyT3uBYUQY7Z235/MzlCsRqCHYrE8UdVVCrQSpxvbDzpK2fLZGCvHX8BOQkpZ3eMAPfihcdUkI3xlSig5FxrrLoRbgxWUHwQOFZLrW72/F80sPprgnFeUzXHJsedbI8nx/OydRJ1yb+lcvxJThf7TpYOhMwQzif2cgJWr912c8R2NfhPHyKGUaBBKUp/WHZ+bk4011I/Di0ttTasZdmaaOLMd3hpQgTeAkXbbknkevr2rEpv2pR3d8tqkJb65qzOhfyqPOTx1ZljV4MifPx75owI4GfXvedTVCdsGV8NOxV6G8YF9OXC0MTZB8qCopUb2Gs+l9IlCbgNWabVx58qOH+eXsmJCXN2fTWfh0w49TqlzTpxhvnNcN+UnznFrblvweJ9GnFx9EXft+et7S11Yewtwth3NmyeMnnzOiDCO6FmZ8t6VNwrNLDuLLPdZuN00u8IR+z2Fsr1fb/+y8vThzkxLN2WUceYEI1BGY0xciK0+W6Ofpxuf42vKbsW5fNGyd+lpzfW90KbW2i/DhPD8PvjUSJTu+YKT14jU5K8eiFMfv/TWN+Gi9fSd99u2wGD8YfqdLP3dR4StfDKREtXYem96z9uuwqZJ+zDamPCWpJsmxMBq1Iu5oaPv932Y/hua2xJ1HM77XBT8eYU8w4yU7W3HO8zuw5YCx4TafWuB+pdmuRdub8dKKg2jLsuNzQMd8+WgQfi49jweq9WRQfp78tLFXRPfUKg66DtoroX+Akyg527vFEUSgLiCvVp5uKE610fc2dsfjC/6SgsLeW/oin9njqN4SATr9YaMp5LMdk6xkvKGuFU8takhwc+JTAN8fWiJHuj+6WyGUo5X2NUb32b+zukl2weIBl7NdV427DMX5DS5MuKgUqPIzS0rUVF8yk5gI1Ax6BtKmKE87js/V4Si6fMdEvPvVzxJa8r+TOuK6cem3chpoctok93x2AL/9zz5T2Q3rUiCHwst2wByfb330iwbUN0VwxZgKXHJcOQZUZz8r/j/rmuQ996+uzBx56kcjfoveHZZbc9yxDntldEAlJWqqLxlNTARqFDkD6RTlKTm0t11LFeds5g705ya8uvjnvdCvSqOzp5ZC0ryzZn8Eox7YbDB1PFmn0hCmHlOOLlmCMvPwd1VFoYz7+9NVggcu+d1HdXhu6cG0dTy5/+MY1eMt0/W3MgO+sASJ/EStxDRXXkSguRCy6HnUVQm14HOesUuZ61T+4Pz97E0/xGcbz05opZ3Dd6WglghDpz9ssARdrkD5jic+JE93je5eiJo++nZD8XzW7G3Frz7Yh3fTHKY3ottMnD5wRvsg2j37pTm0iUjUkl6lLRMiUG04mXorq/JMngRNLsnm559tOAefb/5hrFR+YuaWm3qZaq/WxJ3/uBHNxtaR0hbBjz/+5qAS5KkCNHctC8nznR2KjSnqV1YcwkWv7E4pr1v5Gvxk5K2pXmcO2y9lEja6tEUkqrUTmnyPCNQkgLmSJyrP3DtNkj2m7b7n/p9zNk+JNePY7kX4+JJuuZplyfNx/9iOFTutOWteqVCvynxcMLIMFYVRwqzpXYTRPTL7juZqCF/Fv+DlXbKjv/qqLNqFy8Zc49qOpNz9gpMorc7nsq/Z50SgZhHMkj6mPCXFSd7GwgxmPWvD+Zi/5Xux1KO6F+Ejhwh0wj+2Y5nFBMobwvfQX3BMOfp1yMfZw0vl7ahmrr/NOYBbPkhc8Kos3olLj+MEKu7F+Oo8zYnaaiAiUJvgjZJndG+7eLozrl8+WjcVC7Z+J4YCH+puvNGZIXzX/9uMJu6EadM1bXQ57jmjo+ncP97QhO88vTMhn6riHbh09LUJx7+LaGfQcN60/bNlQARqA7xeUJ5Ks/+77mJ8se2bCSjsu6Uv8mzyAVUKapUYOt5lzSJSJhOO6VGImRcfYdrC2w60Ycj9/Hz4+MUJ9JLjrjWdtxMZkBK1D2UiUIuxTVSePJI8jxivKD7x7meuuQSLtp+RgMKyq3uhd6WxRRetcK6vi+CYv5l3Y8pW3qjuhfjoEvMEyoNHD/trIoF2KNmGS467QXj7Kv2PlKjWnqnvPSJQfXhlfZuTZ0SSahkTd84zuQGzN/0IszclujH9cXInXDXG+FntWiC9f04Dbvtgr5ZXDb8zpHMBPvvpEcgPmevm3I3p7H/tSqhHdck2XDTqesN1cyMhKVHrUTfXs6yvj2dzjCnPBD9P8Zuzeu9YvLHyppSK7rulT2ybo9Wt4IGWO95lbiun1jq9f2E38MPszFx3zaoD/099dSzZggtH3WgmW1fSEolaCzsRqAV4elF5Ks2ua+qGRxfcl4LC4z/ogrOG2hNM5IXljbjs1URFZ4EZ0mbBo+pPPyX9AXlayuQR7y98eTc+2ZgYcs+rBMrbTCSqxfLa3iEC1YZTxre8qjzVDXrg89RoTPz5hht7o7rY2i6yp1FC/z9vMom69uR9qvLx6JROOL6nMRXKD6676d19mHRkMT7deBhN7SeB8mOOf3y0s8cca2917jeJRHNjpOUNa78OLSX66B218swcEyT9scPx991//q+lv8O2A4NTLMOHvu9M7WbZUJ57LJ32xA4s2Jo7gLKV3eT8Y8pw56RqdCzRtzA2a0MT7vjPfvBITZcdV4GDzRHsPBR1u6ooXAiwXyPy9Ulv6Y6VFsm+merHF5YiETb9/rOWvmcl3kHKiwjUoLW95KqUq4kz1/4Ui7efnva12yZ2wP+cUGmaRPmOnn8tO4j/+7RO3mPu9HX56Ar88oRKdMtyQJ26TnzIzuc9OYleMqocAztGj25Wrr4dvsCB5n/jyz2fON0US8uTJIRDjAKQGAWVCNQAcjHlCdS4cISR5UftLNlxOjiJJl/8LKLbv1GFDkV5mDLM+H7y/U0RvP1VI3YfikCChHdXN8nE5PTFA45wNcoDMme6eF1fXnFIPnqEHzWSKe7osC7/RWnBAYQ3PY/6wzuFd6jP1k9JiRrviUSgOrHzk/JUmr69YSCeWxw9okJ9De9agPOOjsYF5SHh+PnuE3oVIk+jWxA/toMHKZ67JfXYDi0R43WaRtPrJfkM3x1Sion9iuTzlQZ3KkBbRMIX25vl45T5USAz10XJ/ZhuhTh3RKo7V4i1YVT3aCi7/254FE2tDZrKFvklJiH89VwEHZms00hEoDoAu+aVEZNDIeUMIz9oT2XzYUheia8/3DUBjR8eVYrjuicuvhxsiWBszyL5fPhOpXkpPpacjPY0RrBiVwvmbm1GkRLyPQ3O/AiNJxY14GCzPZHvdZg27av8d2JMjyKcNqAYZQXx+dPywj0Y3DksE+d/1z8SjX/kaQ0aqz/NiersNESgGgG74ZURkyMhqZapgyEnh+9MzstDz3lIu882nRNrAa/6rROrUKoiDnXz9jW24Z5wPbqX56FfdZ7MH+v2t8lHYVw6Kvs57up8nDqOWKOZ075WnM/kYf/YnoUIMQYeyq5X5XJsPrACS3d8kDlrD9lfaYQEmhPV01eIQDWglV55qrpc/JxEV44lTnNKjqpV2k5dOthcjX/Mf7BdTQHc/YcfgZHp+mBtI/jRF+kuLee4q9PxoT5ftPnv+ibwo4lFvXhU+xP7FuHcEUvQpWw7Fm1/F9savoxhFq23NrzjbRTyfVKiGjshEWgOoBTyTFCeWegpOTub4yGni6ebUAU95b+64has33+snP7U/sWYdGTmxZY/flIHrh4zXXzkfsHIcnmOUevF83tndSP4/Gjy1bsqHzee0AHHHVGIyqIQ+FTC0p0t+Pucenyx3Tm3qLxQC64Zdw0GdRqK9fsXormtKeHn08v2V9edlKi2XksEmgUnmTz5ue18b7vLh785Uf7qvePx5qro9kQ+DB+Q5LqjQLVhfytmzD+Qs4fxOcTvDS3F8T30ObFvqm/FaysOYVtDm0yWb089Akd3zXwQ3Nr9EUx9eReWOECkI7p+gEkDHhbnMDl7+yUp0Ry9nAg0A0DqYbtvlghyLHVIUh4env93NLVW4jff6JAxCAc/rZK7+Gi9tBxBnC4vFmK4YnQFCkK5h/USGH49cz/un524Z11rHbW+N/XYG9GpZIs/loy0LX0RiWbpHESgacAJmvKMxtuT5E3Sszddhs1138TPxlam7TZtkiSfVtmsc65yaOcC/HhEGQqyrMqrC+xcmodzjy77+hy+3OSpTnfJq3vkc93tuHpWLsePjvqNjJMTIwKByiESzdChiECTgAmi8lQUdnlhNc499hH8z5v5OLlv+mE3P4LjmSXGCKpTSQhnjyhD78rs57Jzk0w9tgId9I38ZUs2tAA97rYn0tO3B/8ZAzvN9o/TkjYFqrQ3HIqw6X+mbZ8JjEEEqoIjpjyhHD3sQT+UFPNmU3Dx9pUVVuO6k55E1/L+mPlVHWZvSE+STy1ukH08jV5cvE3oVYTJA0vAV+vTXcO7FeHUfsYPgvvr3IO49f09RquYNl11STOmjpz69SktajyD0z+ioLBwRKK98+oOQgTajkZMefID4IIy6dnezrKialx3IifPfjIazc3NeG7RfmyuS9yzzofvv/1vHbjbkdmLq9EfDi9D36pUNfqjEeXoXma8a25rkDDkPmsjPt05uSvG93kT/156j4/85vVJ0PbvgkhU1fmN91KzX5BA6ePKk0eS99MOo9y/BBVFHXHNiU/EyJObpbW1FfsOtuDR+fsTyHLd/lb8Q8Pqu1bT8tod270QkweUyKvtynX5mAoUmzhIMyIxdLDwvKUelflYddMglBWGMHP1o/j3sv9niHl8xLxEou2dNfAEmkieSZ++z0doFcWdcP2JT6NTWeopnFyFztt8CP9deygGysx1jfhwrfVBQPjCEp9zPalvsbzyzxewzB5qd8aTO7DrYAQ8IDIPEGLm+vCn/XDqgPie+FnrnsFLi38f58NMmfu7/xCJJm2hMNPHPJmWkydjfHumFI+qFF2MjutQn96XF3XCDSc9k5Y8uTEjkQhaWlrw5ML92NnQJtv3HwsOYN0++0LR8Z0+Zw4qwYPf7Yx8k6eC3v953E+VTznsaIhuM911qA2HWiT5v4bmCJpaJBxsv+eOCNUlIVQVh1BdHP33+8Mq8LOaznLMT/UVJdE744vxyo54n/aX2LgsoX00JxpYBZpVeXry50B7pSuKOuH6k9IrT3UunEB3NbTg6S/qcLg1gukWzX/mqum6G3qjU4nxrtkaYXhwbn2uYnI+Ly8M4eKxnVFZnN5r4LMNL+L5L36TMx+fvxBoJWq8l3q4V8SVJ2pixw7Lv6yqY4d9el9Z1BXXnfRERuWpNivHhg/lt9a34O5Ze/Hg3Ny7j6zoFv86txvOHA5r9xcAACAASURBVGDAh6m98I31El5bYT7E3LeHVWJkz2g4v0zXZ+tfxPOLatuVqP/7T7rvBYyFpYCuzgeOQIOsPKuKOXk+hY6lPTTzXFtbm7yotGhHC054aKMlK/C5Ch/UqQDzr+ie67WMz9/86jDW7k3dT68nw14dCnDhmC6aknAl+q8vpsvBogN8BVKJBopAZeWJtlqA1QSto1cVd8P1E/WRp4IRH8rn5eXhleUNOOeZTbDAiykn/K+ed4QhX9Cdh4Dnl5hTysUFIVxZ0zVjKL90lZ+94SU8u/COnO2y8oXOZX2w+6A9mwYM1VNWom3T7z9rZWDOWAoMgSrKU5KkGnlBoH1WPDok4UMvZYde9N7O57845QXwofQrS/+ABZvftr38jmU9cc0Jj6JjaU9D34WCEU/82Pz9uOTFLYby0Zto2dW90btSexetOwz88Lkd6FIWQteyPPk/tXuUlvJ5tP2fn9gNfP5T7zV30+t4av6vbO8/xQVluGrCw+jXcSTeXzUDb664z9H+m/X7AAI1nNfeO/X2JoHejypPHkle2WHkXuX4Tp/bTnsjVgGuWrh6sevqVNoL1018Enz4btV176d7cP0b263KLms+4ct7YkSX3E6hG+sjOOaBzYgkeSwV5jGZSEsLGArygMIQ/7f9//MY1JuhelcV4C/f64kqE06o8za9gSfn32wbNkX5pbiq5mH07xgNO7jn0Gb89r0zbCvPWMYs/LUMCcRpn74n0LjyRI06BkRcYaaPDWHX8x6VQ/DLU+KEyefN+PxZeP2LCbEjrCi/uqwHrj/pKUvJU/mgXl1+ABe/sAV1TVEXJzuv6yZU4epxlehWmtpd9zUBj3/RgDtm7jVVhUGdC/Hplf3RpSz3Pv1cBS3Y8jaemnczIohkjDlixL7FBaX4ec0j6FM9IlaFuqadqH331JRyjORv5ffB44kGYWHJ1wQq4pxnzypOoC+nfIPPfVELvqJr1cUXivicJ5/7tOvaVNciz4nO3thoVxEJ+fJhNT8Q7oiKfOw5FMH7aw5i2wHzBN6/uhCfXtUf3SvMk6dS4cXbPsCjc26Qz4234uLK8+oTHk0gT54vJ9A73jnFiiJsyIMrUX/PifqWQBVXJUh82B7dEsLkUBDxrZpu3PeoGpyWQHnv5T6F4fUvxA4pM1q/TmW9cd1Jj9tKnuqv7fb3d+J3M3fZ8AHan+XRRxTj9Yv6oG8H7ZHztdZq8bYPVSRqvP8V5Zfh6hMSladShyiBnipM/079vuDr4bwvCTRhzlOwI2d68iH8qakKVPkgXlx0J/gul9ils/58zvOGk58Bd5Z38vpk/SGc/cxGbLdAETpRb65i/3BmN1w4qoM8dWLXtWz7R/jH59cgIrUrZZ32LMorxdUnpirPRAJVKVCd+TtzhJN/50Rt7Dp2dcns+cbJEzUibkWODuGzLxq9uPj3mLX2mVhQqEwtTm4f39N+w8SnHSdPXj9+xO8fZl6FpxedgtV7x7ljfI2l/nJiZ9wxqYscHMSJa9n2j/HPOdeiLZK4DTZX/yzOL8XPMyjPVAWa2pJc+Tv83JdK1FcEGpvzlOJ+nqL9IPeoGoKbsyjQBCW69hnNAoGv7l878XHXyPO+jy/ClrqVcn33NfbCvG1TsGrPCYhIuVfQnSAxXsaEPq146txhOLKj8VijRuv65c4wHvrsKrRGWjWd4SrPeWZRngkE+nZcgYrW3xPqw/1EfTYn6hsCjSlPPucpj8lijp7RZXZB7ntWDs46hFd/oK8tvQczv3o0Z/27VvTH9ROfBA+K7PTFled9sy7GlroV0blbxaEWEg42d8SCbd/F0l2T0NJW7HTV5PIK8xoxuNOn4IfBda/YhCvGP4AhXd3ZR/Hlzs8w47OfoVXiAakz98+igsxznskgqudAk/EX8p6vzvvIxckXBKpWnkL/AgPQqkCVD+XVpffgP5xE26/k9nUp748bTnaPPO/9+CJsrVuZsX68vi1tpVi04wws330W6pqcIdKuZWtk0hzS6RMUhOIH4IVC+bhywoOukehXu+fi759OQ2skutU02Z6F+aW4RoPy9KQCVdrrIyXqeQJNUZ72HvNq+jAxPQpU+UjeXvkA3lnxtxSH1SMqB+Hakx51V3nuX6H5kLXRvadgUNfb8OHqg/hwzUGENxzSfThdNhnL1SYnzGO6vYdOJRsy1isvr8BVJbqak2j4SrREDif0Jz3KM2UOVPB+n+qo6g8l6mkC5eSJSFstWHTOM3lSXMR7vQpU+VD4UJ4P6ZVwFd0rB8o7jEoL0p+eaed4mQ/bFeWZ7YSgZPzH9vk+Lhj9+1jVGlsi4Kv3H6w+iA9WN2DBVn3BmvmOodE9i9GxZBkOHX4R/aoWIU+lNrPZP89lJbpu7xf42yeXobkt2mY+56lHeaoJ9Pb2OVAR+3vW/sGVaGvb9PvP9u7eec8SaILyjH2SqrnOhKM5lBfcf96jchBunvSKIX7jCzVr9sxDz6qhuPrER1BaWGUoHzOJDrcelOc8N+9fnuUnKxnnaInHJxFounpsqW+RAzjn2uHUtTwfR3WNhrx7Y/m9eP/LGar6pC8/3ZEaV0x4AEcdMdEMJIbTrtkzHw+Fr8Th1kP47vAbcdrgy3TnVde4o90PVC0htLc/Oong4vfBvK1EPUmgMnm2K089CkiEX+juVYPxq1ONEejaPQuxatdsnDzgApQUVOj+2MwmUMhzk0ye+hV/sgI1Wx8lPSfQ976cYXgEclXNQxjW7USrqqMrn437lmL5jlmYeOR5hn4QOYHeLjvS67eHCN+DPAcssbAU8aYS9RyBJirPTIpS3L/35DuRNLgx6foKHXhZXm3/WLXabuDwPS0K1EhTcivQ7P0hL1QArkTdWp030mYljbwK/3Z0J5KnD63zqBL1FIFe88LQyQixeDxPUX5Ck0dAWe75TqSbJ2XeiWTmY7IrbVNLdM5zS/3K9CM+je0f2zdxDtSq+r6xLKpADUtQAHxO9IqaBzHUJRcno1hwAr39rXY/UA9+D4kxqKUwIpKn5kQ9Q6DXvDBiMgtJtRKTYjuMxNWZmfWA0UUkox+Y2XRR5XkRNtetjPGTUdydGsIbrV9+KB/TJniLRKMK9BSv68+4Oxcfzoe8EwrPEwR67QsjaqRQ270AG2OWENxOz7dyekWBHmqpx/0fXyLvMLLikgl0THwV3oo8eR4xBWpBhl5TogkK1IL2i5EFm8cibdfdd/bKsBj1yVwL4Ql02rzRBUUbGvkKwcVydCI5gryi8Lx336NysCcIlJPnvR9fiG11X1mGt/0K1Jr+kJ/nHSWaqECtab8Q35eExw73LZk2Y8x8vm1L2Et4Ar32haO+L4XwqrAI6qyYFxSoTJ4fTcW2+tU6W5f9dS8oUKUFXlGi/lSgUSuwCKbcd/by1yzthBZnJj6BvnzUg5KEKy1ut2vZiU6gdpEnB9xLBMrr6wUS9TWBMvz9vh8sv8q1j1VDwcIT6DUvDlsJxoZoaIsnXhGZQO0kTy8SqEKiPx1/H4YfcbKQ/cvPBAqJfXn/j5YNFRL49kqJT6AvDT8ESCUig6inbqISqN3k6VUC5fUOsTxcPuF+IUnU1wQK1nj/D5eV6vm+nH5XeAK9+sVhhxhYiewmLEdLS3MMsXxUhzee80WkX51mbCeSXZ3jUHM9/vLRVGw/sNpWfMdxP1CbVuHfXTnD1v7BWB6m1YhHojKBvtnuxuSD7yPh+4bUeP+PVhCBmvnwaQhvBr3caZ1QnkotvDYHmoyeiErU1wqUhvC5P+Bcb1z94lEPMuDKzBvVlMO6Mm1kE+s5d6T/1Wli7ESKKs8LsL1+TRZHbOvws12Bpt3QaF39+XBNNCWaoEAdaH/qd2gtvur8Afz9rz+iRaRcHJn1eYobk+gRk3PUT97KKQCBxpRn3eroL49y2YivIwrUxvrLEElAKCTOnGiKAnWg/U71F3JjMkWd0cSyI/36xhkSpIs9HSyhXePxYCJuz4EqynNb/RpHg1CM7TsFU22YA32d74Vf+ZCjwTRCLIRpNX91fWGJE+iv3+R74T0eTCSp/hLwWEs/cqS3gEIBeSsni27l9Ho34eHsbnF5Eemvsy7Dlztnm97brnfPuTtDeHt/dm+b/Aa6VfS3pJ8byWQ/jwf61qn+ok/Gt3Ky6+47eylt5TTSKdKlkSMxMVYrATX2fhL2UrTbCrS5tRE3vcZDCtjbznT5+0mBKu2bcvT/YNLgS6zq5rrz4QR6+1s+CGfX3h8lSOGQ5J2ITMK7Mal7FI/IBNYmh7Nz/vO3hrZ7CDCE//unV2LZ9lmkQE3+jFQWdcKvTn/FlaOkle/CXwqUhSF5K7CypwiUd5qfvTB0MmOslklciXrv4gR6y+nubu2fu/F1PDHnZsfB4/FApx5/l+Xlvr70L3hvJT/Sw7mrorgTrj/5SXSt6OdcoWlKkhWoPAfq7UsCwiF4R3kqaHuOQHnF48N5VpNyLqzgq5B8Ff5Xp7vvxjRnw2t4at5tsuO8U6uqMoHatojUTqAO2J+T542nPIPOZb1cZ626xp34tRJQmdfGgfZb3V8Yk8Lw0LBdbXRPEmhMiYLVMnlOVP17IPYpSfIc6Oli7ESSSXTurZBiYcHtDWkuz4Eeb3080LgCtbf+/JemorhjO3n2dp08eQVkAn3zG+11sb/9po4kSHNkAJ/zlCBNf8CjJ3N6lkAVJRrhw3molKjgk6OiKFDl609RojbiN7afjQp0hepID73uARrfF0l5KvaLKVAb7WbXZLmXlaenh/Dqn355ThT8nCR44qgPvhPpFkEUqJpEn5x7qzz+s/M75G5Mds2BynvhTS4KZUtfXtwJN8nDdjGUZwKBvvkNW+1mE66eVp6+IdCYEpWH8yzNwlLypFDyyMvZ5zwakwhzoMkoRIfzt6mG88ob1uETXUSyYwjPHekzLSKZr39FcWdh5jyT7RYdwmdbRDLf/sRJcvPfj9eH7b6YA002Y0yJ8tX59okJ+ZdTJami0ZzaN6wo+1Ycfi6iAk1QonNuhcSi88hW4zeOD+FtWoV/d4USjcla+5YXdcJNp4qnPNUK9DY+B8rXAgXo3zm/L8AXytNXClRpDF+dj2RUokLM+UNUBZowJ5pWiZrHzx0FarzeIs556legxttvdUo/KU9fEihv1M+eGzqZ5bFaCOon2rODeHOgyR/K53w4z5Vo4qHdpr8neQ50rD1+oFyBWnlx8hRZeSYo0DeUVXgrEbA4L+Yv5elbApVJtH1hic+JxgO0KoGY3f036kgvhhtTtk+Ek+jTc29DRIqAMeW0R3P/jutnlxvTvXh3xUOW1bOyhM95Pi3cglE6eylzoKL1c3V94FPyVKa5LP6pESM7UZWoFxSoYkGrlagXFKhXlKeHFGhYYt7188zFZp72A83VuPjCEl+djytPZVe7oqycvPeKAk0kUb46H1eiRvFySoEarZ+XlGcigUbD2bnRn+WdbO0OZMnl+1l5+noIryZWWYmGon6i8t9d3urGz0S69Qx398Ln+uFJfv70vNvx2bqXon82gZ8jCtRE/S6vuQ8je56mFx5X3+d74X/9hsqNyUT7zdpXnZ7vbUdEmv7Aj1e+5ypANhfuawWqYCcrUYmTaFSJxi/nt76VFJTj7imf22xWa7P/ZO2/8Nz836gCFqt/f7XjOY5v5Rxrhx/oXxBdRDJnz2tPfhSDu46zFjybc1u183Pc95ESTs9c+83iF0vP5zzb/E+evp4DTe63ihKVJNRwfzlFScmxNBy+H9V7Mk4eeL7Nn5Y12fNFpBcW/g7b69bI34cZvGQ/ULtW4ZdHt3KaqV/vjkfh28OvQVG+0AdBxgzbcHiv/MOxef8KV/tzwvcTEOUZmCF8+uG8okQz/WInb15LVlz0PDFgsjZ8nFOgZB8j9skc8VabfcGd5AMwbFdzSiCG8MkkCj4nKqifqDW6UcxcuAK90AYF+u8lyhBezHYHolY8JF0Evp/zTLZl4AiUA8CH85xE5VB42qfwLJsiihlBkCkrp+pj2xBeIdCA4Wlyyte6/sznPAOmPAM5hCcl6q4WIgXqLv62lC5J/OC3wCnPwBNoghJVDecF8QKJ9XU/1cd2BWrOy0rG3E94296eACtPItB2BOThPBB1cVLCD8lhbVThiOjeEjzG9bdxDrR9FT62DE/2i4fTsqX/Blt5EoGqxjOxOVEJ8mmfyWuOdB9FwOwU43ib3JiURSSz9aP0Gr2kWTCc5LVMeQRyESkdMFElqtqxFGOMLAFpEwJmpsmVnicEYJXnQMdZH41JJlCuQJMvwj8xAK4l+JDyVMNIBJqsRDmJMm8emazlF9PNd2gRyU30LSiblGfa32gLkPVPFsqcqCSfscTkmJj0rzU4jO83xTYF+s7yh8hONvZXgJRnOpYjBZoGlbTDef/8RrjWEseH8K611HcFh8GPHvZ5YBAjViMCzYAaKVHrlTcpUGuUvMMjojALsJ9nLlIlAs2CECnRXN1H33NSoPrwEuBtUp45jEAEmgMgTqIS9xNVTvskP6c4Yjr9frgf6EXj/mA5L/x78V/A50BN+1npbI/PywszFtwdRlo7KRGoBqTUzva0UyXxlHA9eDihQPXUh5ue3k9rT1KeGniBv0IEqhEoWYlKfMeS2sWJJItG12sZZX6kx0XjbfADVRSozyWhQxKblKdGTiAC1QEUf1VWopxEGT/tMxqImf7VjsN4vpXTJkf6d5bNIHuY74+kPHVyAilQnYClV6I6Mwno63wIf9F4G+dAA4qrRc0m5WkASCJQA6DFSTQ5sr06ErqScfzUwsSI38F77twQXt2tCf/0kebV/Q9EngZ4gIbwBkFThvPynKiyOp/Mh3QfRUC1SuOIAqVVIX2rfCDyNEEDtIhkBrxEJUqMmcKYSQwaJVC7FpGUYCLEoDoYNMwY7TAywwE0hDeDHl9YemroZCkPtfJpnyrBlWngGOS/80Uku+ZA317G98InHqVG95nxACPlafLTl5MTgVqAYoISzXSubvJyffK5ygF4Pq6/jW5My7gjfZZzjQOAr/b2E3la8NkTgVoFojwnSko0pwIkBeq+QuZHDzN+euYFK9+zsv8HNS9SoBZaPq0SJUfRmDJ0VIES7mkcdBFmbUSeFn7yNIS3Ekye17Snhk7OC6GWxxNNXoUO+r1dCvQ1vhOJD+GTVv3pPsELIhwi5Wn1504EajmiynA+FN32GeRFo+RFHLsIlAcToUWk9N6e7f2Phu12fOi0iGQTqmolqo7iFPBl4fFH2rMKLyvQpapoTAHHOWEyGghHIpg+g+Y8bfnYaQ7UFlijmcoLSwlKVAmoqywmBOt+vI2r8FEFGiw8c7eXFoxs/LxpFd5ucJU50RAnUa5EA37JQ/gJ1u+Ff22Rag404BjHms9IeTrRFUiBOoAyV6KRdiUa29oYwMlRGsI74+nPGMJtNGx34MsmR3pHQCYlGoWZFKgD3U1COAKa83QAaRrCOwWyUk5MiQZ0OE8Eam+PI+VpL77pcqchvMOYcz/RELifqFTDGIOkcvj2+/2EI6fYNgf69tK/w+/4ZWsfI+Xp8JccLY4I1AXYFRIFC9bC0unDLsUPRv3CcsQ//uo5PDt3uuX5eiZDWjByzVREoC5Br1aiMRdoJRiG8rsm+zOqVptceD6w83EIhfKjqx8myq8oqsZ3R16DIyoHWI54S1sT3lj8N6zbu1iFV7s80IlfW1sL1uxaGJcXOtPH7WWsfL3pmSSFI2Dk52l5r9KWIRGoNpxseUt0JXrHt19H96qBtrRd5EzX7l6Iu987T+QqKgRPTvIuW4kI1GUDpFWiOeMa2b/VprSwAn86e47L6LhX/JVPD1UkpJD/MpDydK93xEsmAhXACjElmrx3Xglvmcl90Obnpw6dinNG3yoAQs5W4enP78Cs1S/Ew2u6hH8svGlq+eSq5GyXyFgaEagghhBViU4aeiHOHn2LICjZX41n50zHR18954zHu4GRBilP+/uAnhKIQPWgZfO7cRKNrs4rA3WlWLfug0Kiz875LT766tmYld3CO4u9SXna/A3qzZ4IVC9iNr/PSfRr59BaxuOJqobocrEu3k8aehHOHuNfJRpVns/Ki+Cxj8JFvJPtLQHhrx1dabXd5u9Pb/ZEoHoRc+D9ZCXqQJGaivCrEk1WnprAcPAlxkPS0fZMBxHXXhQRqHasHH0zqkR5UGZJqNM+zxg+DWeNutFRLOws7Jk50/HxqmdFjvFCytPODmAybyJQkwDamVxWohJqJb5jKTl6k1JwpqhONj4/c8TlmHKs90lUVp6rnk0fyt1G/BL2/2WxHylPO78ua/ImArUGR9tymfbY0MnIk+TjQWwrxEDGZ3pcif5r3l34cOXjBlruWBJSno5BbbwgIlDj2DmWUhnOywtLMSnqvkQ6c/jlmOLB4fwLMnk+0Q6gCxI+hwRlYOEIo5B0jn1gJgoiAjUBnpNJSYlagzYpT2twpFyiCBCBeqgnJCrRaMUlSPJZQMl6NH5v//NvDp/mCSXKlecHK59I0n/246PVPlFXJVKeHvokiUC9ZCxe15gSFSwo83eOuRrfHXm1sHDKynOF4HOeETZ9xsUr3xMWRKpYCgKkQD3YKeLDeVYT9fxWBRdx8f6sUTeBz4uKdsWH7YpnvBh4xXdGsDDaQOQpWsfRUB8iUA0gifiKqEqU+4ieOWKaMJCR8hTGFL6sCBGoh82aVomqjgiJhxNSKS8Hnp91nBhKNEaesbBGzuKgAX9Snh7+/mgRyePGi82JhqRaCRBqx5LbSvTlhX/Cu0tnCL3DiNGcp+e/QFKgnjdh+8JSSDxne7dI9JWFf8I7S2eIbNkwiDxFto/muhGBaoZK7Bfl4TxXohJqRBqxOk2iLy/4E95dNiO2tubAjIWGkXr0qCbZLkCYlKfY35Ke2hGB6kFL8HcVEo1v+xQjoqVTJJqqPMVof7zbsDAitNou+Gekq3pEoLrgEv9lTqISH87H/ESVrYqZ6u7M83OOvwWnDbvINgC58kw/bHemfZkb1l4+I+Vpm/FdzJgI1EXw7SpaIVG+d16kIey5x9+CSTaQKFeeby+ZoW8orTql2YEpD5rztKuzu5wvEajLBrCr+FQlaldJ+vK1Wom+vuiv4P8JfIWZRDuMBLaPqaoRgZqCT+zEMSUqoSZtzCGbT/XMdKqkVUqUD9n50D3jIc8utS9WHwZSnmJ/IqZrRwRqGkKxM5j22MDJEsuTI9urtg7GT510aeunWSWqkKdIW1kT8QUpT7E/DUtqRwRqCYxiZyIrUSaen6hREo2Rp6iw04KRqJaxvF5EoJZDKmaGMRKVpBrFITE69s20mqKcq2zv83PG3ILTjtK+Ov/Okhngu4ziW4zsrZ9ufLifJ815ivkR2FArIlAbQBU1S1GV6PnjanHykJ/khE145UnkmdOGfnuBCNRvFs3RnksfGzg5j+XVShI/7ZO1B2RWBJ179+eN/w2+kYVEuZvSKwv+JEx9o4tycbzAWLhNYtMfoXiegfqiiEADZe5oYxOUKGcC5XJ5487549MrUXnYvuBP8dMzBamvavmfhu0B/I54k4lAA2p4tRJVmElRVG7enze+NkGJfrD8cTw/9y7Za0CE+vEjVBLwYQhHSHkG9CsiAg2s4ROUqGDHg/xk3O04Zej5eHfpP/HS/LvFtRFfbacFI3Ht40DNSIE6ALLIRXAlGpLa/UQzeqTH3UZFDrCZ2aPejvrzo4dpzlPkvu1E3YhAnUBZ8DLiLk4ZdizZwT+xgXB8atMz/M1AC0aC92mnqkcE6hTSgpeToEQFr6u71SPl6S7+YpVOBCqWPVytjaxEJakWjJRohtgBpDxd7aHiFU4EKp5NXK3Rpf8cODkUUvbOu1oV0QoPRyKR6Y9ctprObRfNMi7WhwjURfBFLfrSx4ZODnElCtSo9kx6edbS7CwuLRiJ2lldrhcRqMsGELV4RYlK4DuW4ldyfHe/3wMg5SlqJxWgXkSgAhhB1CpkV6JKrdPOFqah3OT3PJE+HImw6Y9ctpKG7aJ2UpfrRQTqsgFELz6qREPyaZ8xP8v2SisBk2NtSNoK6uXnjCtPieY8Re+fbtePCNRtC3ig/Ev/OXRyKHbufCbF6au/hyORNlow8kDfdLuKRKBuW8Aj5ctKlEdxkiPb+/ci5elf29rRMiJQO1D1aZ4JSlSk4z6tO1aTlKdP+65dzSICtQtZn+YbVaKhWkl2cfLPJQFh0JynfwzqUEuIQB0C2k/FKMN5flCdQOFEk9e4NN8zsHBEojlPP/VRp9pCBOoU0j4rJ6ZE1avz6mggSnsF93Ii5emzjulwc4hAHQbcT8XJc6Is4tnhPClPP/VGd9pCBOoO7r4plStRsFAtaw/K7JWdSRKjOU/fdEIXG0IE6iL4fik6YWHJA+6gjNGcp1/6ntvtIAJ12wI+KV9RopAg750XmEfDAO0w8km3c70ZRKCum8A/FYgN57mLk4AMSsrTP31NlJYQgYpiCZ/UQyZRhGq5i5N8WIficK8wqmv3IOXpkz4mUjOIQEWyhk/qopAoQzyyfbJXk5P3PCQdDdt90rkEawYRqGAG8Ut1YkpUkmpg3VbLuKLVupWUyNMvXUrIdhCBCmkWf1QqnRJ1cmoUYGGAdhj5ozeJ2QoiUDHt4ptaJShRzZsrleYnBRjVk55x8qTVdt90JEEbQgQqqGH8VK34wpJjq/NEnn7qQAK3hQhUYOP4qWrplagNHqN8hxEpTz91HaHbQgQqtHn8Vbk4idoUCo/I018dxgOtIQL1gJH8VMVLHxo4WQpF/UStXZxnYRaiOU8/9RUvtIUI1AtW8lkdZSUaCdWCqc+dz9TI5PAkye9JAC0Y+ayHeKc5RKDesZWvapqgRDPtnVc2MmV9TsrTVx3DY40hAvWYwfxU3UQlaqBlNOdpADRKYiUCRKBWokl56UZArUT1JWZhFolMf+SK1e/pS0dvEwLWIUAEah2W1Om9ZwAAAnVJREFUlJNBBDiJIi90JySMkSCBgSHrv4zNQ1vkNiJPg4BTMssQIAK1DErKyAwCl8wYUMNCocslCRdny4cxPCZFIg8/Om1N2Ex5lJYQsAIBIlArUKQ8LEFg2kOjC1pCDd9iiJwpgZ0CSH14FDzG2EZA+o+E0DsFkfK3Zlwxv8WSAikTQsAkAkSgJgGk5IQAIRBcBIhAg2t7ajkhQAiYRIAI1CSAlJwQIASCiwARaHBtTy0nBAgBkwgQgZoEkJITAoRAcBEgAg2u7anlhAAhYBIBIlCTAFJyQoAQCC4CRKDBtT21nBAgBEwiQARqEkBKTggQAsFFgAg0uLanlhMChIBJBIhATQJIyQkBQiC4CBCBBtf21HJCgBAwiQARqEkAKTkhQAgEFwEi0ODanlpOCBACJhEgAjUJICUnBAiB4CJABBpc21PLCQFCwCQCRKAmAaTkhAAhEFwEiECDa3tqOSFACJhEgAjUJICUnBAgBIKLABFocG1PLScECAGTCBCBmgSQkhMChEBwESACDa7tqeWEACFgEgEiUJMAUnJCgBAILgJEoMG1PbWcECAETCJABGoSQEpOCBACwUWACDS4tqeWEwKEgEkEiEBNAkjJCQFCILgIEIEG1/bUckKAEDCJABGoSQApOSFACAQXASLQ4NqeWk4IEAImESACNQkgJScECIHgIkAEGlzbU8sJAULAJAJEoCYBpOSEACEQXASIQINre2o5IUAImESACNQkgJScECAEgosAEWhwbU8tJwQIAZMIEIGaBJCSEwKEQHARIAINru2p5YQAIWASASJQkwBSckKAEAguAkSgwbU9tZwQIARMIvD/AVDkvnv22WOGAAAAAElFTkSuQmCC"/>
          <p:cNvSpPr>
            <a:spLocks noChangeAspect="1" noChangeArrowheads="1"/>
          </p:cNvSpPr>
          <p:nvPr/>
        </p:nvSpPr>
        <p:spPr bwMode="auto">
          <a:xfrm>
            <a:off x="155575" y="-381000"/>
            <a:ext cx="80010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13658" y="930738"/>
            <a:ext cx="3856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 smtClean="0"/>
              <a:t>Pré</a:t>
            </a:r>
            <a:r>
              <a:rPr lang="pt-BR" b="1" dirty="0" smtClean="0"/>
              <a:t> requisitos:</a:t>
            </a:r>
          </a:p>
          <a:p>
            <a:r>
              <a:rPr lang="pt-BR" b="1" dirty="0" smtClean="0">
                <a:solidFill>
                  <a:srgbClr val="FF0000"/>
                </a:solidFill>
              </a:rPr>
              <a:t>Geração de Massas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052778" y="2458659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Subproduto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08755" y="2405574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Massa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860893" y="1773724"/>
            <a:ext cx="208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70C0"/>
                </a:solidFill>
              </a:rPr>
              <a:t>Antecipação do 13º 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04950" y="3121641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825806568-80</a:t>
            </a:r>
            <a:endParaRPr lang="pt-BR" dirty="0" smtClean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108106" y="2432131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Agencia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476098" y="2431593"/>
            <a:ext cx="1143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Conta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133401" y="3097370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0002</a:t>
            </a:r>
            <a:endParaRPr lang="pt-BR" b="1" dirty="0" smtClean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511557" y="3121641"/>
            <a:ext cx="118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128112-7</a:t>
            </a:r>
            <a:endParaRPr lang="pt-BR" b="1" dirty="0" smtClean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306021" y="3109877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7138</a:t>
            </a:r>
            <a:endParaRPr lang="pt-BR" b="1" dirty="0" smtClean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732131" y="2456006"/>
            <a:ext cx="1054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Status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8176400" y="2456006"/>
            <a:ext cx="1836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Observação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09305" y="3474343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530661161-31</a:t>
            </a:r>
            <a:endParaRPr lang="pt-BR" b="1" dirty="0" smtClean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137756" y="3450072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0002</a:t>
            </a:r>
            <a:endParaRPr lang="pt-BR" b="1" dirty="0" smtClean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515912" y="3474343"/>
            <a:ext cx="118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133244-9</a:t>
            </a:r>
            <a:endParaRPr lang="pt-BR" b="1" dirty="0" smtClean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310376" y="3462579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7138</a:t>
            </a:r>
            <a:endParaRPr lang="pt-BR" b="1" dirty="0" smtClean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13658" y="3792208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624583305-17</a:t>
            </a:r>
            <a:endParaRPr lang="pt-BR" dirty="0" smtClean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142109" y="3767937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0002</a:t>
            </a:r>
            <a:endParaRPr lang="pt-BR" b="1" dirty="0" smtClean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520265" y="3792208"/>
            <a:ext cx="118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133247-3</a:t>
            </a:r>
            <a:endParaRPr lang="pt-BR" b="1" dirty="0" smtClean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314729" y="3780444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7140</a:t>
            </a:r>
            <a:endParaRPr lang="pt-BR" b="1" dirty="0" smtClean="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741388" y="3767937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OK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04950" y="4154763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259410701-87</a:t>
            </a:r>
            <a:endParaRPr lang="pt-BR" dirty="0" smtClean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133401" y="4130492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0002</a:t>
            </a:r>
            <a:endParaRPr lang="pt-BR" b="1" dirty="0" smtClean="0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511557" y="4154763"/>
            <a:ext cx="118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133248-1</a:t>
            </a:r>
            <a:endParaRPr lang="pt-BR" b="1" dirty="0" smtClean="0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306021" y="4142999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7140</a:t>
            </a:r>
            <a:endParaRPr lang="pt-BR" b="1" dirty="0" smtClean="0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732680" y="4130492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OK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13658" y="4500221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566017050-12</a:t>
            </a:r>
            <a:endParaRPr lang="pt-BR" dirty="0" smtClean="0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142109" y="4475950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0002</a:t>
            </a:r>
            <a:endParaRPr lang="pt-BR" b="1" dirty="0" smtClean="0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520265" y="4500221"/>
            <a:ext cx="118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133253-8</a:t>
            </a:r>
            <a:endParaRPr lang="pt-BR" b="1" dirty="0" smtClean="0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314729" y="4488457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7141</a:t>
            </a:r>
            <a:endParaRPr lang="pt-BR" b="1" dirty="0" smtClean="0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741388" y="4475950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Erro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13658" y="4872211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702563660-63</a:t>
            </a:r>
            <a:endParaRPr lang="pt-BR" dirty="0" smtClean="0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142109" y="4847940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0002</a:t>
            </a:r>
            <a:endParaRPr lang="pt-BR" b="1" dirty="0" smtClean="0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520265" y="4872211"/>
            <a:ext cx="118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133254-6</a:t>
            </a:r>
            <a:endParaRPr lang="pt-BR" b="1" dirty="0" smtClean="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314729" y="4860447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7141</a:t>
            </a:r>
            <a:endParaRPr lang="pt-BR" b="1" dirty="0" smtClean="0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741388" y="4847940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Erro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04950" y="5242306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376145020-60</a:t>
            </a:r>
            <a:endParaRPr lang="pt-BR" dirty="0" smtClean="0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133401" y="5218035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0002</a:t>
            </a:r>
            <a:endParaRPr lang="pt-BR" b="1" dirty="0" smtClean="0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511557" y="5242306"/>
            <a:ext cx="118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133373-9</a:t>
            </a:r>
            <a:endParaRPr lang="pt-BR" b="1" dirty="0" smtClean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306021" y="5230542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7899</a:t>
            </a:r>
            <a:endParaRPr lang="pt-BR" b="1" dirty="0" smtClean="0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732680" y="5218035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Erro</a:t>
            </a: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2" name="Rectangle 5"/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4" name="Rectangle 6"/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7782882" y="4500221"/>
            <a:ext cx="377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Gerando novas massas para validar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7782882" y="4857789"/>
            <a:ext cx="377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Gerando novas massas para validar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7782882" y="5227121"/>
            <a:ext cx="377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Gerando novas massas para validar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7782882" y="3146975"/>
            <a:ext cx="377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Gerando novas massas para validar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7782882" y="3498713"/>
            <a:ext cx="377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Gerando novas massas para validar</a:t>
            </a:r>
          </a:p>
        </p:txBody>
      </p:sp>
      <p:sp>
        <p:nvSpPr>
          <p:cNvPr id="66" name="Rectangle 7"/>
          <p:cNvSpPr>
            <a:spLocks noChangeArrowheads="1"/>
          </p:cNvSpPr>
          <p:nvPr/>
        </p:nvSpPr>
        <p:spPr bwMode="auto">
          <a:xfrm>
            <a:off x="290744" y="601410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04401" y="5615059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434510866-70</a:t>
            </a:r>
            <a:endParaRPr lang="pt-BR" dirty="0"/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526163" y="5577809"/>
            <a:ext cx="118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133374-7</a:t>
            </a:r>
            <a:endParaRPr lang="pt-BR" dirty="0"/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314180" y="5556433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7899</a:t>
            </a:r>
            <a:endParaRPr lang="pt-BR" b="1" dirty="0" smtClean="0"/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7808485" y="5556433"/>
            <a:ext cx="377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Gerando novas massas para validar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732131" y="5554620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Erro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137756" y="5577809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0002</a:t>
            </a:r>
            <a:endParaRPr lang="pt-BR" b="1" dirty="0" smtClean="0"/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728326" y="3139001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Erro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723971" y="3436962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Erro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314180" y="2800522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7139</a:t>
            </a:r>
            <a:endParaRPr lang="pt-BR" b="1" dirty="0" smtClean="0"/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753233" y="2733769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OK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71495" y="2794990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002285493-29</a:t>
            </a:r>
            <a:endParaRPr lang="pt-BR" dirty="0" smtClean="0"/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526163" y="2804122"/>
            <a:ext cx="118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132501-9</a:t>
            </a:r>
            <a:endParaRPr lang="pt-BR" b="1" dirty="0" smtClean="0"/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111897" y="2805506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0002</a:t>
            </a:r>
            <a:endParaRPr lang="pt-BR" b="1" dirty="0" smtClean="0"/>
          </a:p>
        </p:txBody>
      </p:sp>
    </p:spTree>
    <p:extLst>
      <p:ext uri="{BB962C8B-B14F-4D97-AF65-F5344CB8AC3E}">
        <p14:creationId xmlns:p14="http://schemas.microsoft.com/office/powerpoint/2010/main" val="281213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833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67382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228036" y="196341"/>
            <a:ext cx="6374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Bradesco – Terminal Financeiro</a:t>
            </a:r>
            <a:endParaRPr lang="pt-BR" sz="2600" b="1" dirty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Arquitetura 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pic>
        <p:nvPicPr>
          <p:cNvPr id="149" name="Imagem 148">
            <a:extLst>
              <a:ext uri="{FF2B5EF4-FFF2-40B4-BE49-F238E27FC236}">
                <a16:creationId xmlns:a16="http://schemas.microsoft.com/office/drawing/2014/main" id="{C69F268A-EA4B-2CA2-B7E0-A91BCF0C276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8238615" y="6790566"/>
            <a:ext cx="405487" cy="19713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C2CD672-5CA7-8C30-F410-B15144C4B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2066" y="302678"/>
            <a:ext cx="762000" cy="571500"/>
          </a:xfrm>
          <a:prstGeom prst="rect">
            <a:avLst/>
          </a:prstGeom>
        </p:spPr>
      </p:pic>
      <p:sp>
        <p:nvSpPr>
          <p:cNvPr id="49" name="AutoShape 6" descr="data:image/png;base64,iVBORw0KGgoAAAANSUhEUgAAAVAAAAFQCAYAAADp6CbZAAAAAXNSR0IArs4c6QAAAhJ0RVh0bXhmaWxlACUzQ214R3JhcGhNb2RlbCUzRSUzQ3Jvb3QlM0UlM0NteENlbGwlMjBpZCUzRCUyMjAlMjIlMkYlM0UlM0NteENlbGwlMjBpZCUzRCUyMjElMjIlMjBwYXJlbnQlM0QlMjIwJTIyJTJGJTNFJTNDbXhDZWxsJTIwaWQlM0QlMjIyJTIyJTIwdmFsdWUlM0QlMjIlMjIlMjBzdHlsZSUzRCUyMmltYWdlJTNCYXNwZWN0JTNEZml4ZWQlM0JodG1sJTNEMSUzQnBvaW50cyUzRCU1QiU1RCUzQmFsaWduJTNEY2VudGVyJTNCZm9udFNpemUlM0QxMiUzQmltYWdlJTNEaW1nJTJGbGliJTJGYXp1cmUyJTJGbmV0d29ya2luZyUyRkFwcGxpY2F0aW9uX0dhdGV3YXlzLnN2ZyUzQiUyMiUyMHZlcnRleCUzRCUyMjElMjIlMjBwYXJlbnQlM0QlMjIxJTIyJTNFJTNDbXhHZW9tZXRyeSUyMHglM0QlMjIyNjAlMjIlMjB5JTNEJTIyMjkwJTIyJTIwd2lkdGglM0QlMjI2NCUyMiUyMGhlaWdodCUzRCUyMjY0JTIyJTIwYXMlM0QlMjJnZW9tZXRyeSUyMiUyRiUzRSUzQyUyRm14Q2VsbCUzRSUzQyUyRnJvb3QlM0UlM0MlMkZteEdyYXBoTW9kZWwlM0XLSnf0AAAgAElEQVR4Xu19B5wV1dn+c+72zlKlg3RBEUHKqhhF0XRMoiYq1oia2P0So0Y35Isx+fSfRE00YmKvscfeSBS9IlU6Ir132GVhly13/p65O/fO7dPnzMw7v58/nJ057XnPPPc557znPQx0EQKEACFACBhCgBlKRYkIAUKAECAEQARKn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QBgEps0bXVC5r/lbDNKZADuFAb0lgPfRjYD0HwnsnfrqwrdmjJnfIkylqSKBRoAINNDmF6fxN787oiaSxy6HhIvVnVJClEFj/zI8FmLSw3+ctDQsTu2pJkFFgAg0qJYXqN2/eG/EZDDcCbAxKqpMps7YPQObJ0nSbXdPXvqeQM2gqgQQASLQABpdpCZz8mQhVitJqFErTaWOKQq0nUbBEJYi0nQiUZGsGby6EIEGz+bCtJiTpwTUMsZqIPHZTgY9/zKwsAQiUWEMGsCKEIEG0OgiNFmtPJX6KApUzz0kEImKYNCA1oEINKCGd7PZMeUJVqNlzjNpGSllblQCCzNSom6aNLBlE4EG1vTuNFxWnmC1EovPeepRnHxONN37jJSoOwYNeKlEoAHvAE42P648UZO8SGTFvQSEGUALS04aNeBlEYEGvAM41fyY8kScPO0oO0qitLBkB7aUZyoCRKDUK2xHQD3nKUECU7nGR+/jg3IrnoOUqO02pQKiCBCBUk+wFQGnlGdyI0iJ2mpWyrwdASJQ6gq2ISArTwm1YKjhezEVN09FgNp9z53taU7UNvNSxqRAqQ/YhUB02M5qmc1znrnqL0EiEs0FEj03jAApUMPQUcJMCCjKk+8wkuQdRtFoIKmKk8GR53xOlNHqPPVY6xEgArUe00DnKIrypDnRQHdDxxpPBOoY1P4vKDbn6fKwPQvSpET93w0dbSERqKNw+7cwRXlCkmoY40NzZcguQbB7IlH/dkPHW0YE6jjk/ivQA8ozGXQiUf91Q1daRATqCuz+KTRKnqwWSIznmSmOp0B/DzNGO5b80xPdaQkRqDu4+6JUTp4RCYmuSgpDKi0U+z7M2jD97m9RZHtfdEgXGkEE6gLofigyrjylmlzh5gR/TsN5P3RIl9pABOoS8F4u9hdvjZgs5UEetsdPe8t4hJHg/CnXm5Solzuki3UnAnURfC8WrZ7zjNZf7DG69vpJpES92CFdrjMRqMsG8FLxXHlGQtE5T4EWgxKPPTYhhLkSDdGcqJe6pOt1JQJ13QTeqEBs2C6hRu/hb556n++dJxL1RqcUoJZEoAIYQfQq+F15qo9Tbj8yJByK0Oq86P1ShPoRgYpgBYHrEFWerJbvMPKUkjRwTHJC+0iJCtwrxakaEag4thCuJorylFfbg3mFIxFM/zP5iQbT+hpaTQSqAaQgvpIw5xkDwMjJ7ZnO0eSZip8fjydKw/kgfgHa2kwEqg2nQL2VoDz94qWkWNBYe4hEA/UFaG8sEah2rALxpqw8Q+1O8pY5CCUv03jvnpRoILq/7kYSgeqGzL8JbnhrxOQQJ0/uqkRXKgIMNCdK/SIBASJQ6hAyArFhu4Qa+egNZYZSietJ94oep+E8fTMJqwIER8ARIOWpswOQEtUJmH9fJwXqX9tqalmK8lQd/haNJM8jykMVYT5+OFygnwOkRDX1MH+/RATqb/tmbZ2sPJmyYBRgIIw2nZSoUeR8k44I1Dem1NcQ0YbtLW3FONxWgubWEjS3laItkoeSggOx//S1zsG3eQAS2vbpIOBiFUUEKpY9HKmN28qzsaUSW+sHYVv9IGytH4ztBwagpa0oa9tLCuplMi0v3I+eVSvRp3opelWtcAQvDYWEIxLtWNKAk+9eIQL1nUmzN8gt5Vl/uDP2NpyJr3aPwuLtPS1BvSCvCb07rECfDkvQt3oJOpdtsiRfQ5mQEjUEm9cTEYF63YI66s/J8+t1oVomtcfzlBeHJDAwVWB51b3J5wcOd8Hq3SejJG8SBlb3RbfyPOw+1IZ7Z9cjot7hqaMN2V7lCnVo109wfK/XUV60t33xy772RRfXEvAiJWqRLb2SDRGoVyxlsp5ODtv3HOqFWWt/gv5VJ+KU/sUpNX/7q0P4ZONhky3KnDzE2jCkaxjj+ryGTqWbbSsnQ8ZEok4j7mJ5RKAugu9U0SnKU3UQh5WR5eubuuKT9edi5U6+kYnhqC4FOP+Y8pRmtkQk/L9P63GgOWI7BP07foHje/0bvTosd25jKl+dpzlR220rQgFEoCJYwcY6pChPY8E04jVMk/5gSwfM3vADfLF1ckpLfjq6Av075Kf8fdnOZjyz5KCNLU/Mumv5epw68DH0rFwZDQKlXDbg0Z4/kahj1nWvICJQ97C3vWRFeUb3tlupNaPBQJpaK/D5xilYtPUMtEYK0rana1kerh1fmcBZyov/XHAAa/e12o6DUgBjEYzv8xLG930ZDFz92hzUhLHw11OkFE/UMQs7XxARqPOYO1JiTHnaFBhk7d5ReGPF9Tndj3hjvz+0FGN7prop7W2MLii12j+ST8Ccuz99Z9i9KCvcb78taDhvP8YulkAE6iL4dhWdXnlaN2Zdv/dYvLbsF2iTUofm6dpUVshwU00VivJSu9vMdY34cG2TXVDI+fapykevyjx0LAmhrDCE8kKGquJWHNt9HqpLtmHhzrewv2lbex1sGNOTErXVvm5mTgTqJvo2lJ2sPJPpILlIvc/X7x2JV3WQp1LeCX2K8K1BpWlb/ODcA9hcb81QnpP1kdUF6FOVh96V+ehdlZ3k+dxo76rlWLb7PWxtSHXM14tPRnxJidrQ293PkgjUfRtYVgNZeUpSLRiryRD9I1NUEE1/31g3Aq8suUWz8lQ3jIvP6yZUolNJXkp76w9H5KF8U6t+59CCEEP/6nwM7Mj/K5B9TfVeFUV7MKjzbGysX4BVez6BJE+NJkRVseYeLCwxmhPVax+R3ycCFdk6OuqmKE9JNedp1YlDjIWwcd9ReGXpzRkXi7RUtW+HfEwbXZH21ZW7W/DkogYt2aAwj+HobgUY2a0QAzqmX7zSlJHqpariHRjYeR62NazAkl3vy0+swk8pRs6PgRaW9BpH4PeJQAU2jtaqRZWnElVJtdquxKHLtNqs8XmPsstwzyenYXtDSGuVMr7HHetPO7Ik7fN3Vjdi1ob086G8qgOqCzCqe6HsX8pJ1OqrY+kW9O+4EBvqFuLLPbPicftM4pdmtZ+UqNXGcyk/63uhSw0JarFq5WmHYupaNhGRlpvx7JLDWLyj2RKYf3pcOfpXp1eOD807gI118fnQ7hV5mNC7CIM6FqCyyDyB52pAl7L1cqCSVXs/xYa6BbLzV4KCtOpeApFoLmN44DkRqAeMlKmKsTnP2Lnt1lJop5I+qMi/C3xPO1eGXCFacVUUhXDd+EqU5Kd2v7rDEdw/ux6NrRIm9i3GGQPTq1Ur6pEuDz4P27lsCbpXzsPy3TNRf3inVZSZblIgLLVh+p+/t/Q9u9pD+dqLABGovfjalnvisL29mEx+4ckSKvm9NM+LQmUY3PHX2Fp3nPx0zd4WPLJQ2xyllkYP7lSAi45N3ebJ03IFWlrA0LlU/4JQtrL3N0XAfU/3HOL/RrDzYBsamiU0tkbQ2CLhUEtcb54y4DGM6vlOdP+BAfwS9i1kT09KVEuHEfQdIlBBDZOtWjf8e8RklpdmztPCnTXHdD0f2+rOQ6Td15Mrs//9yFrH828PLkFN79RgI1aYhCvYr/a04MvdLdh6oE0mSz0XD0hy0ehfoLpki/07lvjqPClRPeYR5l0iUGFMoa0iaZWntqSa3+pbNRKhyC/BY3iqr7s/rQNXcVZdeSHg52Mr0a3MGqW5raFNJsxVe1pkFcs9kcxcPSpX4ccj7zCThZ60pET1oCXIu0SgghhCSzWiylOqBVCjdlNUhGemw9/0PA8hHyO73omN+0elVOmpxQ1YsatFS1U1vzPyiEKcM7xM8/vJL+5rbMPszYexaEcLDhy2jtyVciYNfBjHdP9AHspbgW8699K4fUiJGu4ILiUkAnUJeL3FJg7b9abW93553msoyksdWn+26TDeWHVIX2YZ3uYdb2I/7tJUjBBnJh1XRJLA/UbnbG7G6r0tCdOUOrLR9GpR/kFcMvpGlBbWaXrfgpdIiVoAolNZ6Ou5TtWKyklAQCbPEN9hFFWeyYrSyvsl205Ft7KbMKxzqpsRj9/5x1l1pgmrvDCEc0eUylsu9Vx8x9K8rYcxd0sz+P87dQ3pEsa3htwbU6BW4p3Onozvnac5UafMa6ocIlBT8Nmf2EnlyVvz+Px7cHTXgTh9QHr3oWQ/Tb0IcH/Oc0aUorRAv08nn9d8dGEDmttMTm7qrTSAs4/+X/TusMxASsNJiEQNQ+dcQiJQ57DWXRInT3DlGfPz1J2FrgRb64fg+cW/lZ3WLx6V3sXo041NeOsrY/6g43oV4btDStPGBtVaUR50hLtTHTawb15rGeneO6JiNX4y8jYzWehOy/jqfIT8RHUD52ACIlAHwdZTlKI8JUmqYV+fBJe8+KD4GcqHmln0/O0vr8HKXSegOJ/h9pM7pK3uvqYI7vlU/3zgN/oVZ1S1enDh72470Ip/LmiQne2dvC4efSOqS7bKQ3k78FcvUqn8SIlEnTSyzrKIQHUC5sTrTitP3qZDLVV4eM6DiEhRl6Kfja1Az4r0oeAemFuPLfVxv8q+HaJzmRv2p1+ht8Pfk/t1Pjz/QILzu922Gd3zDUzs/6TdxaTkT0rUccg1F0gEqhkqZ16MK0/UZHKbsePvszf+AOEN58QaeXK/YkzOMA/apSwfo3sWoW9VHgpDiSqwOcKwYX8bXlp+EL//eB9+MKwUo3ukRqPPhiZfYf9wbSPOO7oM1WnC3ylp+RHJfE5WvYPITiuVFNRj2tirkBdqsyXaXTa7gu+dp+G8neY1lDcRqCHY7EmUVnnaECA93aFqTy38P+w62DfWML6N8oYJlQkNndivBMO75CNf4/oPH2F/ubsVM9dqmzPl85rcTWrBtmjQEh4c+dJRFTgiS4xPTqIPz29AgwMnfPI6fWfonzCo8+dxXByyT3uBYUQY7Z235/MzlCsRqCHYrE8UdVVCrQSpxvbDzpK2fLZGCvHX8BOQkpZ3eMAPfihcdUkI3xlSig5FxrrLoRbgxWUHwQOFZLrW72/F80sPprgnFeUzXHJsedbI8nx/OydRJ1yb+lcvxJThf7TpYOhMwQzif2cgJWr912c8R2NfhPHyKGUaBBKUp/WHZ+bk4011I/Di0ttTasZdmaaOLMd3hpQgTeAkXbbknkevr2rEpv2pR3d8tqkJb65qzOhfyqPOTx1ZljV4MifPx75owI4GfXvedTVCdsGV8NOxV6G8YF9OXC0MTZB8qCopUb2Gs+l9IlCbgNWabVx58qOH+eXsmJCXN2fTWfh0w49TqlzTpxhvnNcN+UnznFrblvweJ9GnFx9EXft+et7S11Yewtwth3NmyeMnnzOiDCO6FmZ8t6VNwrNLDuLLPdZuN00u8IR+z2Fsr1fb/+y8vThzkxLN2WUceYEI1BGY0xciK0+W6Ofpxuf42vKbsW5fNGyd+lpzfW90KbW2i/DhPD8PvjUSJTu+YKT14jU5K8eiFMfv/TWN+Gi9fSd99u2wGD8YfqdLP3dR4StfDKREtXYem96z9uuwqZJ+zDamPCWpJsmxMBq1Iu5oaPv932Y/hua2xJ1HM77XBT8eYU8w4yU7W3HO8zuw5YCx4TafWuB+pdmuRdub8dKKg2jLsuNzQMd8+WgQfi49jweq9WRQfp78tLFXRPfUKg66DtoroX+Akyg527vFEUSgLiCvVp5uKE610fc2dsfjC/6SgsLeW/oin9njqN4SATr9YaMp5LMdk6xkvKGuFU8takhwc+JTAN8fWiJHuj+6WyGUo5X2NUb32b+zukl2weIBl7NdV427DMX5DS5MuKgUqPIzS0rUVF8yk5gI1Ax6BtKmKE87js/V4Si6fMdEvPvVzxJa8r+TOuK6cem3chpoctok93x2AL/9zz5T2Q3rUiCHwst2wByfb330iwbUN0VwxZgKXHJcOQZUZz8r/j/rmuQ996+uzBx56kcjfoveHZZbc9yxDntldEAlJWqqLxlNTARqFDkD6RTlKTm0t11LFeds5g705ya8uvjnvdCvSqOzp5ZC0ryzZn8Eox7YbDB1PFmn0hCmHlOOLlmCMvPwd1VFoYz7+9NVggcu+d1HdXhu6cG0dTy5/+MY1eMt0/W3MgO+sASJ/EStxDRXXkSguRCy6HnUVQm14HOesUuZ61T+4Pz97E0/xGcbz05opZ3Dd6WglghDpz9ssARdrkD5jic+JE93je5eiJo++nZD8XzW7G3Frz7Yh3fTHKY3ottMnD5wRvsg2j37pTm0iUjUkl6lLRMiUG04mXorq/JMngRNLsnm559tOAefb/5hrFR+YuaWm3qZaq/WxJ3/uBHNxtaR0hbBjz/+5qAS5KkCNHctC8nznR2KjSnqV1YcwkWv7E4pr1v5Gvxk5K2pXmcO2y9lEja6tEUkqrUTmnyPCNQkgLmSJyrP3DtNkj2m7b7n/p9zNk+JNePY7kX4+JJuuZplyfNx/9iOFTutOWteqVCvynxcMLIMFYVRwqzpXYTRPTL7juZqCF/Fv+DlXbKjv/qqLNqFy8Zc49qOpNz9gpMorc7nsq/Z50SgZhHMkj6mPCXFSd7GwgxmPWvD+Zi/5Xux1KO6F+Ejhwh0wj+2Y5nFBMobwvfQX3BMOfp1yMfZw0vl7ahmrr/NOYBbPkhc8Kos3olLj+MEKu7F+Oo8zYnaaiAiUJvgjZJndG+7eLozrl8+WjcVC7Z+J4YCH+puvNGZIXzX/9uMJu6EadM1bXQ57jmjo+ncP97QhO88vTMhn6riHbh09LUJx7+LaGfQcN60/bNlQARqA7xeUJ5Ks/+77mJ8se2bCSjsu6Uv8mzyAVUKapUYOt5lzSJSJhOO6VGImRcfYdrC2w60Ycj9/Hz4+MUJ9JLjrjWdtxMZkBK1D2UiUIuxTVSePJI8jxivKD7x7meuuQSLtp+RgMKyq3uhd6WxRRetcK6vi+CYv5l3Y8pW3qjuhfjoEvMEyoNHD/trIoF2KNmGS467QXj7Kv2PlKjWnqnvPSJQfXhlfZuTZ0SSahkTd84zuQGzN/0IszclujH9cXInXDXG+FntWiC9f04Dbvtgr5ZXDb8zpHMBPvvpEcgPmevm3I3p7H/tSqhHdck2XDTqesN1cyMhKVHrUTfXs6yvj2dzjCnPBD9P8Zuzeu9YvLHyppSK7rulT2ybo9Wt4IGWO95lbiun1jq9f2E38MPszFx3zaoD/099dSzZggtH3WgmW1fSEolaCzsRqAV4elF5Ks2ua+qGRxfcl4LC4z/ogrOG2hNM5IXljbjs1URFZ4EZ0mbBo+pPPyX9AXlayuQR7y98eTc+2ZgYcs+rBMrbTCSqxfLa3iEC1YZTxre8qjzVDXrg89RoTPz5hht7o7rY2i6yp1FC/z9vMom69uR9qvLx6JROOL6nMRXKD6676d19mHRkMT7deBhN7SeB8mOOf3y0s8cca2917jeJRHNjpOUNa78OLSX66B218swcEyT9scPx991//q+lv8O2A4NTLMOHvu9M7WbZUJ57LJ32xA4s2Jo7gLKV3eT8Y8pw56RqdCzRtzA2a0MT7vjPfvBITZcdV4GDzRHsPBR1u6ooXAiwXyPy9Ulv6Y6VFsm+merHF5YiETb9/rOWvmcl3kHKiwjUoLW95KqUq4kz1/4Ui7efnva12yZ2wP+cUGmaRPmOnn8tO4j/+7RO3mPu9HX56Ar88oRKdMtyQJ26TnzIzuc9OYleMqocAztGj25Wrr4dvsCB5n/jyz2fON0US8uTJIRDjAKQGAWVCNQAcjHlCdS4cISR5UftLNlxOjiJJl/8LKLbv1GFDkV5mDLM+H7y/U0RvP1VI3YfikCChHdXN8nE5PTFA45wNcoDMme6eF1fXnFIPnqEHzWSKe7osC7/RWnBAYQ3PY/6wzuFd6jP1k9JiRrviUSgOrHzk/JUmr69YSCeWxw9okJ9De9agPOOjsYF5SHh+PnuE3oVIk+jWxA/toMHKZ67JfXYDi0R43WaRtPrJfkM3x1Sion9iuTzlQZ3KkBbRMIX25vl45T5USAz10XJ/ZhuhTh3RKo7V4i1YVT3aCi7/254FE2tDZrKFvklJiH89VwEHZms00hEoDoAu+aVEZNDIeUMIz9oT2XzYUheia8/3DUBjR8eVYrjuicuvhxsiWBszyL5fPhOpXkpPpacjPY0RrBiVwvmbm1GkRLyPQ3O/AiNJxY14GCzPZHvdZg27av8d2JMjyKcNqAYZQXx+dPywj0Y3DksE+d/1z8SjX/kaQ0aqz/NiersNESgGgG74ZURkyMhqZapgyEnh+9MzstDz3lIu882nRNrAa/6rROrUKoiDnXz9jW24Z5wPbqX56FfdZ7MH+v2t8lHYVw6Kvs57up8nDqOWKOZ075WnM/kYf/YnoUIMQYeyq5X5XJsPrACS3d8kDlrD9lfaYQEmhPV01eIQDWglV55qrpc/JxEV44lTnNKjqpV2k5dOthcjX/Mf7BdTQHc/YcfgZHp+mBtI/jRF+kuLee4q9PxoT5ftPnv+ibwo4lFvXhU+xP7FuHcEUvQpWw7Fm1/F9savoxhFq23NrzjbRTyfVKiGjshEWgOoBTyTFCeWegpOTub4yGni6ebUAU95b+64has33+snP7U/sWYdGTmxZY/flIHrh4zXXzkfsHIcnmOUevF83tndSP4/Gjy1bsqHzee0AHHHVGIyqIQ+FTC0p0t+Pucenyx3Tm3qLxQC64Zdw0GdRqK9fsXormtKeHn08v2V9edlKi2XksEmgUnmTz5ue18b7vLh785Uf7qvePx5qro9kQ+DB+Q5LqjQLVhfytmzD+Qs4fxOcTvDS3F8T30ObFvqm/FaysOYVtDm0yWb089Akd3zXwQ3Nr9EUx9eReWOECkI7p+gEkDHhbnMDl7+yUp0Ry9nAg0A0DqYbtvlghyLHVIUh4env93NLVW4jff6JAxCAc/rZK7+Gi9tBxBnC4vFmK4YnQFCkK5h/USGH49cz/un524Z11rHbW+N/XYG9GpZIs/loy0LX0RiWbpHESgacAJmvKMxtuT5E3Sszddhs1138TPxlam7TZtkiSfVtmsc65yaOcC/HhEGQqyrMqrC+xcmodzjy77+hy+3OSpTnfJq3vkc93tuHpWLsePjvqNjJMTIwKByiESzdChiECTgAmi8lQUdnlhNc499hH8z5v5OLlv+mE3P4LjmSXGCKpTSQhnjyhD78rs57Jzk0w9tgId9I38ZUs2tAA97rYn0tO3B/8ZAzvN9o/TkjYFqrQ3HIqw6X+mbZ8JjEEEqoIjpjyhHD3sQT+UFPNmU3Dx9pUVVuO6k55E1/L+mPlVHWZvSE+STy1ukH08jV5cvE3oVYTJA0vAV+vTXcO7FeHUfsYPgvvr3IO49f09RquYNl11STOmjpz69SktajyD0z+ioLBwRKK98+oOQgTajkZMefID4IIy6dnezrKialx3IifPfjIazc3NeG7RfmyuS9yzzofvv/1vHbjbkdmLq9EfDi9D36pUNfqjEeXoXma8a25rkDDkPmsjPt05uSvG93kT/156j4/85vVJ0PbvgkhU1fmN91KzX5BA6ePKk0eS99MOo9y/BBVFHXHNiU/EyJObpbW1FfsOtuDR+fsTyHLd/lb8Q8Pqu1bT8tod270QkweUyKvtynX5mAoUmzhIMyIxdLDwvKUelflYddMglBWGMHP1o/j3sv9niHl8xLxEou2dNfAEmkieSZ++z0doFcWdcP2JT6NTWeopnFyFztt8CP9deygGysx1jfhwrfVBQPjCEp9zPalvsbzyzxewzB5qd8aTO7DrYAQ8IDIPEGLm+vCn/XDqgPie+FnrnsFLi38f58NMmfu7/xCJJm2hMNPHPJmWkydjfHumFI+qFF2MjutQn96XF3XCDSc9k5Y8uTEjkQhaWlrw5ML92NnQJtv3HwsOYN0++0LR8Z0+Zw4qwYPf7Yx8k6eC3v953E+VTznsaIhuM911qA2HWiT5v4bmCJpaJBxsv+eOCNUlIVQVh1BdHP33+8Mq8LOaznLMT/UVJdE744vxyo54n/aX2LgsoX00JxpYBZpVeXry50B7pSuKOuH6k9IrT3UunEB3NbTg6S/qcLg1gukWzX/mqum6G3qjU4nxrtkaYXhwbn2uYnI+Ly8M4eKxnVFZnN5r4LMNL+L5L36TMx+fvxBoJWq8l3q4V8SVJ2pixw7Lv6yqY4d9el9Z1BXXnfRERuWpNivHhg/lt9a34O5Ze/Hg3Ny7j6zoFv86txvOHA5r9xcAACAASURBVGDAh6m98I31El5bYT7E3LeHVWJkz2g4v0zXZ+tfxPOLatuVqP/7T7rvBYyFpYCuzgeOQIOsPKuKOXk+hY6lPTTzXFtbm7yotGhHC054aKMlK/C5Ch/UqQDzr+ie67WMz9/86jDW7k3dT68nw14dCnDhmC6aknAl+q8vpsvBogN8BVKJBopAZeWJtlqA1QSto1cVd8P1E/WRp4IRH8rn5eXhleUNOOeZTbDAiykn/K+ed4QhX9Cdh4Dnl5hTysUFIVxZ0zVjKL90lZ+94SU8u/COnO2y8oXOZX2w+6A9mwYM1VNWom3T7z9rZWDOWAoMgSrKU5KkGnlBoH1WPDok4UMvZYde9N7O57845QXwofQrS/+ABZvftr38jmU9cc0Jj6JjaU9D34WCEU/82Pz9uOTFLYby0Zto2dW90btSexetOwz88Lkd6FIWQteyPPk/tXuUlvJ5tP2fn9gNfP5T7zV30+t4av6vbO8/xQVluGrCw+jXcSTeXzUDb664z9H+m/X7AAI1nNfeO/X2JoHejypPHkle2WHkXuX4Tp/bTnsjVgGuWrh6sevqVNoL1018Enz4btV176d7cP0b263KLms+4ct7YkSX3E6hG+sjOOaBzYgkeSwV5jGZSEsLGArygMIQ/7f9//MY1JuhelcV4C/f64kqE06o8za9gSfn32wbNkX5pbiq5mH07xgNO7jn0Gb89r0zbCvPWMYs/LUMCcRpn74n0LjyRI06BkRcYaaPDWHX8x6VQ/DLU+KEyefN+PxZeP2LCbEjrCi/uqwHrj/pKUvJU/mgXl1+ABe/sAV1TVEXJzuv6yZU4epxlehWmtpd9zUBj3/RgDtm7jVVhUGdC/Hplf3RpSz3Pv1cBS3Y8jaemnczIohkjDlixL7FBaX4ec0j6FM9IlaFuqadqH331JRyjORv5ffB44kGYWHJ1wQq4pxnzypOoC+nfIPPfVELvqJr1cUXivicJ5/7tOvaVNciz4nO3thoVxEJ+fJhNT8Q7oiKfOw5FMH7aw5i2wHzBN6/uhCfXtUf3SvMk6dS4cXbPsCjc26Qz4234uLK8+oTHk0gT54vJ9A73jnFiiJsyIMrUX/PifqWQBVXJUh82B7dEsLkUBDxrZpu3PeoGpyWQHnv5T6F4fUvxA4pM1q/TmW9cd1Jj9tKnuqv7fb3d+J3M3fZ8AHan+XRRxTj9Yv6oG8H7ZHztdZq8bYPVSRqvP8V5Zfh6hMSladShyiBnipM/079vuDr4bwvCTRhzlOwI2d68iH8qakKVPkgXlx0J/gul9ils/58zvOGk58Bd5Z38vpk/SGc/cxGbLdAETpRb65i/3BmN1w4qoM8dWLXtWz7R/jH59cgIrUrZZ32LMorxdUnpirPRAJVKVCd+TtzhJN/50Rt7Dp2dcns+cbJEzUibkWODuGzLxq9uPj3mLX2mVhQqEwtTm4f39N+w8SnHSdPXj9+xO8fZl6FpxedgtV7x7ljfI2l/nJiZ9wxqYscHMSJa9n2j/HPOdeiLZK4DTZX/yzOL8XPMyjPVAWa2pJc+Tv83JdK1FcEGpvzlOJ+nqL9IPeoGoKbsyjQBCW69hnNAoGv7l878XHXyPO+jy/ClrqVcn33NfbCvG1TsGrPCYhIuVfQnSAxXsaEPq146txhOLKj8VijRuv65c4wHvrsKrRGWjWd4SrPeWZRngkE+nZcgYrW3xPqw/1EfTYn6hsCjSlPPucpj8lijp7RZXZB7ntWDs46hFd/oK8tvQczv3o0Z/27VvTH9ROfBA+K7PTFled9sy7GlroV0blbxaEWEg42d8SCbd/F0l2T0NJW7HTV5PIK8xoxuNOn4IfBda/YhCvGP4AhXd3ZR/Hlzs8w47OfoVXiAakz98+igsxznskgqudAk/EX8p6vzvvIxckXBKpWnkL/AgPQqkCVD+XVpffgP5xE26/k9nUp748bTnaPPO/9+CJsrVuZsX68vi1tpVi04wws330W6pqcIdKuZWtk0hzS6RMUhOIH4IVC+bhywoOukehXu+fi759OQ2skutU02Z6F+aW4RoPy9KQCVdrrIyXqeQJNUZ72HvNq+jAxPQpU+UjeXvkA3lnxtxSH1SMqB+Hakx51V3nuX6H5kLXRvadgUNfb8OHqg/hwzUGENxzSfThdNhnL1SYnzGO6vYdOJRsy1isvr8BVJbqak2j4SrREDif0Jz3KM2UOVPB+n+qo6g8l6mkC5eSJSFstWHTOM3lSXMR7vQpU+VD4UJ4P6ZVwFd0rB8o7jEoL0p+eaed4mQ/bFeWZ7YSgZPzH9vk+Lhj9+1jVGlsi4Kv3H6w+iA9WN2DBVn3BmvmOodE9i9GxZBkOHX4R/aoWIU+lNrPZP89lJbpu7xf42yeXobkt2mY+56lHeaoJ9Pb2OVAR+3vW/sGVaGvb9PvP9u7eec8SaILyjH2SqrnOhKM5lBfcf96jchBunvSKIX7jCzVr9sxDz6qhuPrER1BaWGUoHzOJDrcelOc8N+9fnuUnKxnnaInHJxFounpsqW+RAzjn2uHUtTwfR3WNhrx7Y/m9eP/LGar6pC8/3ZEaV0x4AEcdMdEMJIbTrtkzHw+Fr8Th1kP47vAbcdrgy3TnVde4o90PVC0htLc/Oong4vfBvK1EPUmgMnm2K089CkiEX+juVYPxq1ONEejaPQuxatdsnDzgApQUVOj+2MwmUMhzk0ye+hV/sgI1Wx8lPSfQ976cYXgEclXNQxjW7USrqqMrn437lmL5jlmYeOR5hn4QOYHeLjvS67eHCN+DPAcssbAU8aYS9RyBJirPTIpS3L/35DuRNLgx6foKHXhZXm3/WLXabuDwPS0K1EhTcivQ7P0hL1QArkTdWp030mYljbwK/3Z0J5KnD63zqBL1FIFe88LQyQixeDxPUX5Ck0dAWe75TqSbJ2XeiWTmY7IrbVNLdM5zS/3K9CM+je0f2zdxDtSq+r6xLKpADUtQAHxO9IqaBzHUJRcno1hwAr39rXY/UA9+D4kxqKUwIpKn5kQ9Q6DXvDBiMgtJtRKTYjuMxNWZmfWA0UUkox+Y2XRR5XkRNtetjPGTUdydGsIbrV9+KB/TJniLRKMK9BSv68+4Oxcfzoe8EwrPEwR67QsjaqRQ270AG2OWENxOz7dyekWBHmqpx/0fXyLvMLLikgl0THwV3oo8eR4xBWpBhl5TogkK1IL2i5EFm8cibdfdd/bKsBj1yVwL4Ql02rzRBUUbGvkKwcVydCI5gryi8Lx336NysCcIlJPnvR9fiG11X1mGt/0K1Jr+kJ/nHSWaqECtab8Q35eExw73LZk2Y8x8vm1L2Et4Ar32haO+L4XwqrAI6qyYFxSoTJ4fTcW2+tU6W5f9dS8oUKUFXlGi/lSgUSuwCKbcd/by1yzthBZnJj6BvnzUg5KEKy1ut2vZiU6gdpEnB9xLBMrr6wUS9TWBMvz9vh8sv8q1j1VDwcIT6DUvDlsJxoZoaIsnXhGZQO0kTy8SqEKiPx1/H4YfcbKQ/cvPBAqJfXn/j5YNFRL49kqJT6AvDT8ESCUig6inbqISqN3k6VUC5fUOsTxcPuF+IUnU1wQK1nj/D5eV6vm+nH5XeAK9+sVhhxhYiewmLEdLS3MMsXxUhzee80WkX51mbCeSXZ3jUHM9/vLRVGw/sNpWfMdxP1CbVuHfXTnD1v7BWB6m1YhHojKBvtnuxuSD7yPh+4bUeP+PVhCBmvnwaQhvBr3caZ1QnkotvDYHmoyeiErU1wqUhvC5P+Bcb1z94lEPMuDKzBvVlMO6Mm1kE+s5d6T/1Wli7ESKKs8LsL1+TRZHbOvws12Bpt3QaF39+XBNNCWaoEAdaH/qd2gtvur8Afz9rz+iRaRcHJn1eYobk+gRk3PUT97KKQCBxpRn3eroL49y2YivIwrUxvrLEElAKCTOnGiKAnWg/U71F3JjMkWd0cSyI/36xhkSpIs9HSyhXePxYCJuz4EqynNb/RpHg1CM7TsFU22YA32d74Vf+ZCjwTRCLIRpNX91fWGJE+iv3+R74T0eTCSp/hLwWEs/cqS3gEIBeSsni27l9Ho34eHsbnF5Eemvsy7Dlztnm97brnfPuTtDeHt/dm+b/Aa6VfS3pJ8byWQ/jwf61qn+ok/Gt3Ky6+47eylt5TTSKdKlkSMxMVYrATX2fhL2UrTbCrS5tRE3vcZDCtjbznT5+0mBKu2bcvT/YNLgS6zq5rrz4QR6+1s+CGfX3h8lSOGQ5J2ITMK7Mal7FI/IBNYmh7Nz/vO3hrZ7CDCE//unV2LZ9lmkQE3+jFQWdcKvTn/FlaOkle/CXwqUhSF5K7CypwiUd5qfvTB0MmOslklciXrv4gR6y+nubu2fu/F1PDHnZsfB4/FApx5/l+Xlvr70L3hvJT/Sw7mrorgTrj/5SXSt6OdcoWlKkhWoPAfq7UsCwiF4R3kqaHuOQHnF48N5VpNyLqzgq5B8Ff5Xp7vvxjRnw2t4at5tsuO8U6uqMoHatojUTqAO2J+T542nPIPOZb1cZ626xp34tRJQmdfGgfZb3V8Yk8Lw0LBdbXRPEmhMiYLVMnlOVP17IPYpSfIc6Oli7ESSSXTurZBiYcHtDWkuz4Eeb3080LgCtbf+/JemorhjO3n2dp08eQVkAn3zG+11sb/9po4kSHNkAJ/zlCBNf8CjJ3N6lkAVJRrhw3molKjgk6OiKFDl609RojbiN7afjQp0hepID73uARrfF0l5KvaLKVAb7WbXZLmXlaenh/Dqn355ThT8nCR44qgPvhPpFkEUqJpEn5x7qzz+s/M75G5Mds2BynvhTS4KZUtfXtwJN8nDdjGUZwKBvvkNW+1mE66eVp6+IdCYEpWH8yzNwlLypFDyyMvZ5zwakwhzoMkoRIfzt6mG88ob1uETXUSyYwjPHekzLSKZr39FcWdh5jyT7RYdwmdbRDLf/sRJcvPfj9eH7b6YA002Y0yJ8tX59okJ+ZdTJami0ZzaN6wo+1Ycfi6iAk1QonNuhcSi88hW4zeOD+FtWoV/d4USjcla+5YXdcJNp4qnPNUK9DY+B8rXAgXo3zm/L8AXytNXClRpDF+dj2RUokLM+UNUBZowJ5pWiZrHzx0FarzeIs556legxttvdUo/KU9fEihv1M+eGzqZ5bFaCOon2rODeHOgyR/K53w4z5Vo4qHdpr8neQ50rD1+oFyBWnlx8hRZeSYo0DeUVXgrEbA4L+Yv5elbApVJtH1hic+JxgO0KoGY3f036kgvhhtTtk+Ek+jTc29DRIqAMeW0R3P/jutnlxvTvXh3xUOW1bOyhM95Pi3cglE6eylzoKL1c3V94FPyVKa5LP6pESM7UZWoFxSoYkGrlagXFKhXlKeHFGhYYt7188zFZp72A83VuPjCEl+djytPZVe7oqycvPeKAk0kUb46H1eiRvFySoEarZ+XlGcigUbD2bnRn+WdbO0OZMnl+1l5+noIryZWWYmGon6i8t9d3urGz0S69Qx398Ln+uFJfv70vNvx2bqXon82gZ8jCtRE/S6vuQ8je56mFx5X3+d74X/9hsqNyUT7zdpXnZ7vbUdEmv7Aj1e+5ypANhfuawWqYCcrUYmTaFSJxi/nt76VFJTj7imf22xWa7P/ZO2/8Nz836gCFqt/f7XjOY5v5Rxrhx/oXxBdRDJnz2tPfhSDu46zFjybc1u183Pc95ESTs9c+83iF0vP5zzb/E+evp4DTe63ihKVJNRwfzlFScmxNBy+H9V7Mk4eeL7Nn5Y12fNFpBcW/g7b69bI34cZvGQ/ULtW4ZdHt3KaqV/vjkfh28OvQVG+0AdBxgzbcHiv/MOxef8KV/tzwvcTEOUZmCF8+uG8okQz/WInb15LVlz0PDFgsjZ8nFOgZB8j9skc8VabfcGd5AMwbFdzSiCG8MkkCj4nKqifqDW6UcxcuAK90AYF+u8lyhBezHYHolY8JF0Evp/zTLZl4AiUA8CH85xE5VB42qfwLJsiihlBkCkrp+pj2xBeIdCA4Wlyyte6/sznPAOmPAM5hCcl6q4WIgXqLv62lC5J/OC3wCnPwBNoghJVDecF8QKJ9XU/1cd2BWrOy0rG3E94296eACtPItB2BOThPBB1cVLCD8lhbVThiOjeEjzG9bdxDrR9FT62DE/2i4fTsqX/Blt5EoGqxjOxOVEJ8mmfyWuOdB9FwOwU43ib3JiURSSz9aP0Gr2kWTCc5LVMeQRyESkdMFElqtqxFGOMLAFpEwJmpsmVnicEYJXnQMdZH41JJlCuQJMvwj8xAK4l+JDyVMNIBJqsRDmJMm8emazlF9PNd2gRyU30LSiblGfa32gLkPVPFsqcqCSfscTkmJj0rzU4jO83xTYF+s7yh8hONvZXgJRnOpYjBZoGlbTDef/8RrjWEseH8K611HcFh8GPHvZ5YBAjViMCzYAaKVHrlTcpUGuUvMMjojALsJ9nLlIlAs2CECnRXN1H33NSoPrwEuBtUp45jEAEmgMgTqIS9xNVTvskP6c4Yjr9frgf6EXj/mA5L/x78V/A50BN+1npbI/PywszFtwdRlo7KRGoBqTUzva0UyXxlHA9eDihQPXUh5ue3k9rT1KeGniBv0IEqhEoWYlKfMeS2sWJJItG12sZZX6kx0XjbfADVRSozyWhQxKblKdGTiAC1QEUf1VWopxEGT/tMxqImf7VjsN4vpXTJkf6d5bNIHuY74+kPHVyAilQnYClV6I6Mwno63wIf9F4G+dAA4qrRc0m5WkASCJQA6DFSTQ5sr06ErqScfzUwsSI38F77twQXt2tCf/0kebV/Q9EngZ4gIbwBkFThvPynKiyOp/Mh3QfRUC1SuOIAqVVIX2rfCDyNEEDtIhkBrxEJUqMmcKYSQwaJVC7FpGUYCLEoDoYNMwY7TAywwE0hDeDHl9YemroZCkPtfJpnyrBlWngGOS/80Uku+ZA317G98InHqVG95nxACPlafLTl5MTgVqAYoISzXSubvJyffK5ygF4Pq6/jW5My7gjfZZzjQOAr/b2E3la8NkTgVoFojwnSko0pwIkBeq+QuZHDzN+euYFK9+zsv8HNS9SoBZaPq0SJUfRmDJ0VIES7mkcdBFmbUSeFn7yNIS3Ekye17Snhk7OC6GWxxNNXoUO+r1dCvQ1vhOJD+GTVv3pPsELIhwi5Wn1504EajmiynA+FN32GeRFo+RFHLsIlAcToUWk9N6e7f2Phu12fOi0iGQTqmolqo7iFPBl4fFH2rMKLyvQpapoTAHHOWEyGghHIpg+g+Y8bfnYaQ7UFlijmcoLSwlKVAmoqywmBOt+vI2r8FEFGiw8c7eXFoxs/LxpFd5ucJU50RAnUa5EA37JQ/gJ1u+Ff22Rag404BjHms9IeTrRFUiBOoAyV6KRdiUa29oYwMlRGsI74+nPGMJtNGx34MsmR3pHQCYlGoWZFKgD3U1COAKa83QAaRrCOwWyUk5MiQZ0OE8Eam+PI+VpL77pcqchvMOYcz/RELifqFTDGIOkcvj2+/2EI6fYNgf69tK/w+/4ZWsfI+Xp8JccLY4I1AXYFRIFC9bC0unDLsUPRv3CcsQ//uo5PDt3uuX5eiZDWjByzVREoC5Br1aiMRdoJRiG8rsm+zOqVptceD6w83EIhfKjqx8myq8oqsZ3R16DIyoHWI54S1sT3lj8N6zbu1iFV7s80IlfW1sL1uxaGJcXOtPH7WWsfL3pmSSFI2Dk52l5r9KWIRGoNpxseUt0JXrHt19H96qBtrRd5EzX7l6Iu987T+QqKgRPTvIuW4kI1GUDpFWiOeMa2b/VprSwAn86e47L6LhX/JVPD1UkpJD/MpDydK93xEsmAhXACjElmrx3Xglvmcl90Obnpw6dinNG3yoAQs5W4enP78Cs1S/Ew2u6hH8svGlq+eSq5GyXyFgaEagghhBViU4aeiHOHn2LICjZX41n50zHR18954zHu4GRBilP+/uAnhKIQPWgZfO7cRKNrs4rA3WlWLfug0Kiz875LT766tmYld3CO4u9SXna/A3qzZ4IVC9iNr/PSfRr59BaxuOJqobocrEu3k8aehHOHuNfJRpVns/Ki+Cxj8JFvJPtLQHhrx1dabXd5u9Pb/ZEoHoRc+D9ZCXqQJGaivCrEk1WnprAcPAlxkPS0fZMBxHXXhQRqHasHH0zqkR5UGZJqNM+zxg+DWeNutFRLOws7Jk50/HxqmdFjvFCytPODmAybyJQkwDamVxWohJqJb5jKTl6k1JwpqhONj4/c8TlmHKs90lUVp6rnk0fyt1G/BL2/2WxHylPO78ua/ImArUGR9tymfbY0MnIk+TjQWwrxEDGZ3pcif5r3l34cOXjBlruWBJSno5BbbwgIlDj2DmWUhnOywtLMSnqvkQ6c/jlmOLB4fwLMnk+0Q6gCxI+hwRlYOEIo5B0jn1gJgoiAjUBnpNJSYlagzYpT2twpFyiCBCBeqgnJCrRaMUlSPJZQMl6NH5v//NvDp/mCSXKlecHK59I0n/246PVPlFXJVKeHvokiUC9ZCxe15gSFSwo83eOuRrfHXm1sHDKynOF4HOeETZ9xsUr3xMWRKpYCgKkQD3YKeLDeVYT9fxWBRdx8f6sUTeBz4uKdsWH7YpnvBh4xXdGsDDaQOQpWsfRUB8iUA0gifiKqEqU+4ieOWKaMJCR8hTGFL6sCBGoh82aVomqjgiJhxNSKS8Hnp91nBhKNEaesbBGzuKgAX9Snh7+/mgRyePGi82JhqRaCRBqx5LbSvTlhX/Cu0tnCL3DiNGcp+e/QFKgnjdh+8JSSDxne7dI9JWFf8I7S2eIbNkwiDxFto/muhGBaoZK7Bfl4TxXohJqRBqxOk2iLy/4E95dNiO2tubAjIWGkXr0qCbZLkCYlKfY35Ke2hGB6kFL8HcVEo1v+xQjoqVTJJqqPMVof7zbsDAitNou+Gekq3pEoLrgEv9lTqISH87H/ESVrYqZ6u7M83OOvwWnDbvINgC58kw/bHemfZkb1l4+I+Vpm/FdzJgI1EXw7SpaIVG+d16kIey5x9+CSTaQKFeeby+ZoW8orTql2YEpD5rztKuzu5wvEajLBrCr+FQlaldJ+vK1Wom+vuiv4P8JfIWZRDuMBLaPqaoRgZqCT+zEMSUqoSZtzCGbT/XMdKqkVUqUD9n50D3jIc8utS9WHwZSnmJ/IqZrRwRqGkKxM5j22MDJEsuTI9urtg7GT510aeunWSWqkKdIW1kT8QUpT7E/DUtqRwRqCYxiZyIrUSaen6hREo2Rp6iw04KRqJaxvF5EoJZDKmaGMRKVpBrFITE69s20mqKcq2zv83PG3ILTjtK+Ov/Okhngu4ziW4zsrZ9ufLifJ815ivkR2FArIlAbQBU1S1GV6PnjanHykJ/khE145UnkmdOGfnuBCNRvFs3RnksfGzg5j+XVShI/7ZO1B2RWBJ179+eN/w2+kYVEuZvSKwv+JEx9o4tycbzAWLhNYtMfoXiegfqiiEADZe5oYxOUKGcC5XJ5487549MrUXnYvuBP8dMzBamvavmfhu0B/I54k4lAA2p4tRJVmElRVG7enze+NkGJfrD8cTw/9y7Za0CE+vEjVBLwYQhHSHkG9CsiAg2s4ROUqGDHg/xk3O04Zej5eHfpP/HS/LvFtRFfbacFI3Ht40DNSIE6ALLIRXAlGpLa/UQzeqTH3UZFDrCZ2aPejvrzo4dpzlPkvu1E3YhAnUBZ8DLiLk4ZdizZwT+xgXB8atMz/M1AC0aC92mnqkcE6hTSgpeToEQFr6u71SPl6S7+YpVOBCqWPVytjaxEJakWjJRohtgBpDxd7aHiFU4EKp5NXK3Rpf8cODkUUvbOu1oV0QoPRyKR6Y9ctprObRfNMi7WhwjURfBFLfrSx4ZODnElCtSo9kx6edbS7CwuLRiJ2lldrhcRqMsGELV4RYlK4DuW4ldyfHe/3wMg5SlqJxWgXkSgAhhB1CpkV6JKrdPOFqah3OT3PJE+HImw6Y9ctpKG7aJ2UpfrRQTqsgFELz6qREPyaZ8xP8v2SisBk2NtSNoK6uXnjCtPieY8Re+fbtePCNRtC3ig/Ev/OXRyKHbufCbF6au/hyORNlow8kDfdLuKRKBuW8Aj5ctKlEdxkiPb+/ci5elf29rRMiJQO1D1aZ4JSlSk4z6tO1aTlKdP+65dzSICtQtZn+YbVaKhWkl2cfLPJQFh0JynfwzqUEuIQB0C2k/FKMN5flCdQOFEk9e4NN8zsHBEojlPP/VRp9pCBOoU0j4rJ6ZE1avz6mggSnsF93Ii5emzjulwc4hAHQbcT8XJc6Is4tnhPClPP/VGd9pCBOoO7r4plStRsFAtaw/K7JWdSRKjOU/fdEIXG0IE6iL4fik6YWHJA+6gjNGcp1/6ntvtIAJ12wI+KV9RopAg750XmEfDAO0w8km3c70ZRKCum8A/FYgN57mLk4AMSsrTP31NlJYQgYpiCZ/UQyZRhGq5i5N8WIficK8wqmv3IOXpkz4mUjOIQEWyhk/qopAoQzyyfbJXk5P3PCQdDdt90rkEawYRqGAG8Ut1YkpUkmpg3VbLuKLVupWUyNMvXUrIdhCBCmkWf1QqnRJ1cmoUYGGAdhj5ozeJ2QoiUDHt4ptaJShRzZsrleYnBRjVk55x8qTVdt90JEEbQgQqqGH8VK34wpJjq/NEnn7qQAK3hQhUYOP4qWrplagNHqN8hxEpTz91HaHbQgQqtHn8Vbk4idoUCo/I018dxgOtIQL1gJH8VMVLHxo4WQpF/UStXZxnYRaiOU8/9RUvtIUI1AtW8lkdZSUaCdWCqc+dz9TI5PAkye9JAC0Y+ayHeKc5RKDesZWvapqgRDPtnVc2MmV9TsrTVx3DY40hAvWYwfxU3UQlaqBlNOdpADRKYiUCRKBWokl56UZArUT1JWZhFolMf+SK1e/pS0dvEwLWIUAEah2W1Om9ZwAAAnVJREFUlJNBBDiJIi90JySMkSCBgSHrv4zNQ1vkNiJPg4BTMssQIAK1DErKyAwCl8wYUMNCocslCRdny4cxPCZFIg8/Om1N2Ex5lJYQsAIBIlArUKQ8LEFg2kOjC1pCDd9iiJwpgZ0CSH14FDzG2EZA+o+E0DsFkfK3Zlwxv8WSAikTQsAkAkSgJgGk5IQAIRBcBIhAg2t7ajkhQAiYRIAI1CSAlJwQIASCiwARaHBtTy0nBAgBkwgQgZoEkJITAoRAcBEgAg2u7anlhAAhYBIBIlCTAFJyQoAQCC4CRKDBtT21nBAgBEwiQARqEkBKTggQAsFFgAg0uLanlhMChIBJBIhATQJIyQkBQiC4CBCBBtf21HJCgBAwiQARqEkAKTkhQAgEFwEi0ODanlpOCBACJhEgAjUJICUnBAiB4CJABBpc21PLCQFCwCQCRKAmAaTkhAAhEFwEiECDa3tqOSFACJhEgAjUJICUnBAgBIKLABFocG1PLScECAGTCBCBmgSQkhMChEBwESACDa7tqeWEACFgEgEiUJMAUnJCgBAILgJEoMG1PbWcECAETCJABGoSQEpOCBACwUWACDS4tqeWEwKEgEkEiEBNAkjJCQFCILgIEIEG1/bUckKAEDCJABGoSQApOSFACAQXASLQ4NqeWk4IEAImESACNQkgJScECIHgIkAEGlzbU8sJAULAJAJEoCYBpOSEACEQXASIQINre2o5IUAImESACNQkgJScECAEgosAEWhwbU8tJwQIAZMIEIGaBJCSEwKEQHARIAINru2p5YQAIWASASJQkwBSckKAEAguAkSgwbU9tZwQIARMIvD/AVDkvnv22WOGAAAAAElFTkSuQmCC"/>
          <p:cNvSpPr>
            <a:spLocks noChangeAspect="1" noChangeArrowheads="1"/>
          </p:cNvSpPr>
          <p:nvPr/>
        </p:nvSpPr>
        <p:spPr bwMode="auto">
          <a:xfrm>
            <a:off x="155575" y="-381000"/>
            <a:ext cx="80010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2" name="Rectangle 5"/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4" name="Rectangle 6"/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675" y="2391626"/>
            <a:ext cx="7089962" cy="4056704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11274" y="1856165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566017050-12</a:t>
            </a:r>
            <a:endParaRPr lang="pt-BR" dirty="0" smtClean="0"/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339725" y="1831894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0002</a:t>
            </a:r>
            <a:endParaRPr lang="pt-BR" b="1" dirty="0" smtClean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717881" y="1856165"/>
            <a:ext cx="118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133253-8</a:t>
            </a:r>
            <a:endParaRPr lang="pt-BR" b="1" dirty="0" smtClean="0"/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512345" y="1844401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7141</a:t>
            </a:r>
            <a:endParaRPr lang="pt-BR" b="1" dirty="0" smtClean="0"/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7980498" y="1856165"/>
            <a:ext cx="377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Erro de Cadastro Incompleto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272277" y="1401087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Subproduto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28254" y="1348002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Massa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230717" y="845763"/>
            <a:ext cx="208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70C0"/>
                </a:solidFill>
              </a:rPr>
              <a:t>Antecipação do 13º 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327605" y="1374559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Agencia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695597" y="1374021"/>
            <a:ext cx="1143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Conta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951630" y="1398434"/>
            <a:ext cx="1054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Status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8395899" y="1398434"/>
            <a:ext cx="1836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Observação</a:t>
            </a:r>
          </a:p>
        </p:txBody>
      </p:sp>
    </p:spTree>
    <p:extLst>
      <p:ext uri="{BB962C8B-B14F-4D97-AF65-F5344CB8AC3E}">
        <p14:creationId xmlns:p14="http://schemas.microsoft.com/office/powerpoint/2010/main" val="43618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833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67382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228036" y="196341"/>
            <a:ext cx="6374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Bradesco – Terminal Financeiro</a:t>
            </a:r>
            <a:endParaRPr lang="pt-BR" sz="2600" b="1" dirty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Arquitetura 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pic>
        <p:nvPicPr>
          <p:cNvPr id="149" name="Imagem 148">
            <a:extLst>
              <a:ext uri="{FF2B5EF4-FFF2-40B4-BE49-F238E27FC236}">
                <a16:creationId xmlns:a16="http://schemas.microsoft.com/office/drawing/2014/main" id="{C69F268A-EA4B-2CA2-B7E0-A91BCF0C276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8238615" y="6790566"/>
            <a:ext cx="405487" cy="19713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C2CD672-5CA7-8C30-F410-B15144C4B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2066" y="302678"/>
            <a:ext cx="762000" cy="571500"/>
          </a:xfrm>
          <a:prstGeom prst="rect">
            <a:avLst/>
          </a:prstGeom>
        </p:spPr>
      </p:pic>
      <p:sp>
        <p:nvSpPr>
          <p:cNvPr id="49" name="AutoShape 6" descr="data:image/png;base64,iVBORw0KGgoAAAANSUhEUgAAAVAAAAFQCAYAAADp6CbZAAAAAXNSR0IArs4c6QAAAhJ0RVh0bXhmaWxlACUzQ214R3JhcGhNb2RlbCUzRSUzQ3Jvb3QlM0UlM0NteENlbGwlMjBpZCUzRCUyMjAlMjIlMkYlM0UlM0NteENlbGwlMjBpZCUzRCUyMjElMjIlMjBwYXJlbnQlM0QlMjIwJTIyJTJGJTNFJTNDbXhDZWxsJTIwaWQlM0QlMjIyJTIyJTIwdmFsdWUlM0QlMjIlMjIlMjBzdHlsZSUzRCUyMmltYWdlJTNCYXNwZWN0JTNEZml4ZWQlM0JodG1sJTNEMSUzQnBvaW50cyUzRCU1QiU1RCUzQmFsaWduJTNEY2VudGVyJTNCZm9udFNpemUlM0QxMiUzQmltYWdlJTNEaW1nJTJGbGliJTJGYXp1cmUyJTJGbmV0d29ya2luZyUyRkFwcGxpY2F0aW9uX0dhdGV3YXlzLnN2ZyUzQiUyMiUyMHZlcnRleCUzRCUyMjElMjIlMjBwYXJlbnQlM0QlMjIxJTIyJTNFJTNDbXhHZW9tZXRyeSUyMHglM0QlMjIyNjAlMjIlMjB5JTNEJTIyMjkwJTIyJTIwd2lkdGglM0QlMjI2NCUyMiUyMGhlaWdodCUzRCUyMjY0JTIyJTIwYXMlM0QlMjJnZW9tZXRyeSUyMiUyRiUzRSUzQyUyRm14Q2VsbCUzRSUzQyUyRnJvb3QlM0UlM0MlMkZteEdyYXBoTW9kZWwlM0XLSnf0AAAgAElEQVR4Xu19B5wV1dn+c+72zlKlg3RBEUHKqhhF0XRMoiYq1oia2P0So0Y35Isx+fSfRE00YmKvscfeSBS9IlU6Ir132GVhly13/p65O/fO7dPnzMw7v58/nJ057XnPPPc557znPQx0EQKEACFACBhCgBlKRYkIAUKAECAEQARKn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QBgEps0bXVC5r/lbDNKZADuFAb0lgPfRjYD0HwnsnfrqwrdmjJnfIkylqSKBRoAINNDmF6fxN787oiaSxy6HhIvVnVJClEFj/zI8FmLSw3+ctDQsTu2pJkFFgAg0qJYXqN2/eG/EZDDcCbAxKqpMps7YPQObJ0nSbXdPXvqeQM2gqgQQASLQABpdpCZz8mQhVitJqFErTaWOKQq0nUbBEJYi0nQiUZGsGby6EIEGz+bCtJiTpwTUMsZqIPHZTgY9/zKwsAQiUWEMGsCKEIEG0OgiNFmtPJX6KApUzz0kEImKYNCA1oEINKCGd7PZMeUJVqNlzjNpGSllblQCCzNSom6aNLBlE4EG1vTuNFxWnmC1EovPeepRnHxONN37jJSoOwYNeKlEoAHvAE42P648UZO8SGTFvQSEGUALS04aNeBlEYEGvAM41fyY8kScPO0oO0qitLBkB7aUZyoCRKDUK2xHQD3nKUECU7nGR+/jg3IrnoOUqO02pQKiCBCBUk+wFQGnlGdyI0iJ2mpWyrwdASJQ6gq2ISArTwm1YKjhezEVN09FgNp9z53taU7UNvNSxqRAqQ/YhUB02M5qmc1znrnqL0EiEs0FEj03jAApUMPQUcJMCCjKk+8wkuQdRtFoIKmKk8GR53xOlNHqPPVY6xEgArUe00DnKIrypDnRQHdDxxpPBOoY1P4vKDbn6fKwPQvSpET93w0dbSERqKNw+7cwRXlCkmoY40NzZcguQbB7IlH/dkPHW0YE6jjk/ivQA8ozGXQiUf91Q1daRATqCuz+KTRKnqwWSIznmSmOp0B/DzNGO5b80xPdaQkRqDu4+6JUTp4RCYmuSgpDKi0U+z7M2jD97m9RZHtfdEgXGkEE6gLofigyrjylmlzh5gR/TsN5P3RIl9pABOoS8F4u9hdvjZgs5UEetsdPe8t4hJHg/CnXm5Solzuki3UnAnURfC8WrZ7zjNZf7DG69vpJpES92CFdrjMRqMsG8FLxXHlGQtE5T4EWgxKPPTYhhLkSDdGcqJe6pOt1JQJ13QTeqEBs2C6hRu/hb556n++dJxL1RqcUoJZEoAIYQfQq+F15qo9Tbj8yJByK0Oq86P1ShPoRgYpgBYHrEFWerJbvMPKUkjRwTHJC+0iJCtwrxakaEag4thCuJorylFfbg3mFIxFM/zP5iQbT+hpaTQSqAaQgvpIw5xkDwMjJ7ZnO0eSZip8fjydKw/kgfgHa2kwEqg2nQL2VoDz94qWkWNBYe4hEA/UFaG8sEah2rALxpqw8Q+1O8pY5CCUv03jvnpRoILq/7kYSgeqGzL8JbnhrxOQQJ0/uqkRXKgIMNCdK/SIBASJQ6hAyArFhu4Qa+egNZYZSietJ94oep+E8fTMJqwIER8ARIOWpswOQEtUJmH9fJwXqX9tqalmK8lQd/haNJM8jykMVYT5+OFygnwOkRDX1MH+/RATqb/tmbZ2sPJmyYBRgIIw2nZSoUeR8k44I1Dem1NcQ0YbtLW3FONxWgubWEjS3laItkoeSggOx//S1zsG3eQAS2vbpIOBiFUUEKpY9HKmN28qzsaUSW+sHYVv9IGytH4ztBwagpa0oa9tLCuplMi0v3I+eVSvRp3opelWtcAQvDYWEIxLtWNKAk+9eIQL1nUmzN8gt5Vl/uDP2NpyJr3aPwuLtPS1BvSCvCb07rECfDkvQt3oJOpdtsiRfQ5mQEjUEm9cTEYF63YI66s/J8+t1oVomtcfzlBeHJDAwVWB51b3J5wcOd8Hq3SejJG8SBlb3RbfyPOw+1IZ7Z9cjot7hqaMN2V7lCnVo109wfK/XUV60t33xy772RRfXEvAiJWqRLb2SDRGoVyxlsp5ODtv3HOqFWWt/gv5VJ+KU/sUpNX/7q0P4ZONhky3KnDzE2jCkaxjj+ryGTqWbbSsnQ8ZEok4j7mJ5RKAugu9U0SnKU3UQh5WR5eubuuKT9edi5U6+kYnhqC4FOP+Y8pRmtkQk/L9P63GgOWI7BP07foHje/0bvTosd25jKl+dpzlR220rQgFEoCJYwcY6pChPY8E04jVMk/5gSwfM3vADfLF1ckpLfjq6Av075Kf8fdnOZjyz5KCNLU/Mumv5epw68DH0rFwZDQKlXDbg0Z4/kahj1nWvICJQ97C3vWRFeUb3tlupNaPBQJpaK/D5xilYtPUMtEYK0rana1kerh1fmcBZyov/XHAAa/e12o6DUgBjEYzv8xLG930ZDFz92hzUhLHw11OkFE/UMQs7XxARqPOYO1JiTHnaFBhk7d5ReGPF9Tndj3hjvz+0FGN7prop7W2MLii12j+ST8Ccuz99Z9i9KCvcb78taDhvP8YulkAE6iL4dhWdXnlaN2Zdv/dYvLbsF2iTUofm6dpUVshwU00VivJSu9vMdY34cG2TXVDI+fapykevyjx0LAmhrDCE8kKGquJWHNt9HqpLtmHhzrewv2lbex1sGNOTErXVvm5mTgTqJvo2lJ2sPJPpILlIvc/X7x2JV3WQp1LeCX2K8K1BpWlb/ODcA9hcb81QnpP1kdUF6FOVh96V+ehdlZ3k+dxo76rlWLb7PWxtSHXM14tPRnxJidrQ293PkgjUfRtYVgNZeUpSLRiryRD9I1NUEE1/31g3Aq8suUWz8lQ3jIvP6yZUolNJXkp76w9H5KF8U6t+59CCEEP/6nwM7Mj/K5B9TfVeFUV7MKjzbGysX4BVez6BJE+NJkRVseYeLCwxmhPVax+R3ycCFdk6OuqmKE9JNedp1YlDjIWwcd9ReGXpzRkXi7RUtW+HfEwbXZH21ZW7W/DkogYt2aAwj+HobgUY2a0QAzqmX7zSlJHqpariHRjYeR62NazAkl3vy0+swk8pRs6PgRaW9BpH4PeJQAU2jtaqRZWnElVJtdquxKHLtNqs8XmPsstwzyenYXtDSGuVMr7HHetPO7Ik7fN3Vjdi1ob086G8qgOqCzCqe6HsX8pJ1OqrY+kW9O+4EBvqFuLLPbPicftM4pdmtZ+UqNXGcyk/63uhSw0JarFq5WmHYupaNhGRlpvx7JLDWLyj2RKYf3pcOfpXp1eOD807gI118fnQ7hV5mNC7CIM6FqCyyDyB52pAl7L1cqCSVXs/xYa6BbLzV4KCtOpeApFoLmN44DkRqAeMlKmKsTnP2Lnt1lJop5I+qMi/C3xPO1eGXCFacVUUhXDd+EqU5Kd2v7rDEdw/ux6NrRIm9i3GGQPTq1Ur6pEuDz4P27lsCbpXzsPy3TNRf3inVZSZblIgLLVh+p+/t/Q9u9pD+dqLABGovfjalnvisL29mEx+4ckSKvm9NM+LQmUY3PHX2Fp3nPx0zd4WPLJQ2xyllkYP7lSAi45N3ebJ03IFWlrA0LlU/4JQtrL3N0XAfU/3HOL/RrDzYBsamiU0tkbQ2CLhUEtcb54y4DGM6vlOdP+BAfwS9i1kT09KVEuHEfQdIlBBDZOtWjf8e8RklpdmztPCnTXHdD0f2+rOQ6Td15Mrs//9yFrH828PLkFN79RgI1aYhCvYr/a04MvdLdh6oE0mSz0XD0hy0ehfoLpki/07lvjqPClRPeYR5l0iUGFMoa0iaZWntqSa3+pbNRKhyC/BY3iqr7s/rQNXcVZdeSHg52Mr0a3MGqW5raFNJsxVe1pkFcs9kcxcPSpX4ccj7zCThZ60pET1oCXIu0SgghhCSzWiylOqBVCjdlNUhGemw9/0PA8hHyO73omN+0elVOmpxQ1YsatFS1U1vzPyiEKcM7xM8/vJL+5rbMPszYexaEcLDhy2jtyVciYNfBjHdP9AHspbgW8699K4fUiJGu4ILiUkAnUJeL3FJg7b9abW93553msoyksdWn+26TDeWHVIX2YZ3uYdb2I/7tJUjBBnJh1XRJLA/UbnbG7G6r0tCdOUOrLR9GpR/kFcMvpGlBbWaXrfgpdIiVoAolNZ6Ou5TtWKyklAQCbPEN9hFFWeyYrSyvsl205Ft7KbMKxzqpsRj9/5x1l1pgmrvDCEc0eUylsu9Vx8x9K8rYcxd0sz+P87dQ3pEsa3htwbU6BW4p3Onozvnac5UafMa6ocIlBT8Nmf2EnlyVvz+Px7cHTXgTh9QHr3oWQ/Tb0IcH/Oc0aUorRAv08nn9d8dGEDmttMTm7qrTSAs4/+X/TusMxASsNJiEQNQ+dcQiJQ57DWXRInT3DlGfPz1J2FrgRb64fg+cW/lZ3WLx6V3sXo041NeOsrY/6g43oV4btDStPGBtVaUR50hLtTHTawb15rGeneO6JiNX4y8jYzWehOy/jqfIT8RHUD52ACIlAHwdZTlKI8JUmqYV+fBJe8+KD4GcqHmln0/O0vr8HKXSegOJ/h9pM7pK3uvqYI7vlU/3zgN/oVZ1S1enDh72470Ip/LmiQne2dvC4efSOqS7bKQ3k78FcvUqn8SIlEnTSyzrKIQHUC5sTrTitP3qZDLVV4eM6DiEhRl6Kfja1Az4r0oeAemFuPLfVxv8q+HaJzmRv2p1+ht8Pfk/t1Pjz/QILzu922Gd3zDUzs/6TdxaTkT0rUccg1F0gEqhkqZ16MK0/UZHKbsePvszf+AOEN58QaeXK/YkzOMA/apSwfo3sWoW9VHgpDiSqwOcKwYX8bXlp+EL//eB9+MKwUo3ukRqPPhiZfYf9wbSPOO7oM1WnC3ylp+RHJfE5WvYPITiuVFNRj2tirkBdqsyXaXTa7gu+dp+G8neY1lDcRqCHY7EmUVnnaECA93aFqTy38P+w62DfWML6N8oYJlQkNndivBMO75CNf4/oPH2F/ubsVM9dqmzPl85rcTWrBtmjQEh4c+dJRFTgiS4xPTqIPz29AgwMnfPI6fWfonzCo8+dxXByyT3uBYUQY7Z235/MzlCsRqCHYrE8UdVVCrQSpxvbDzpK2fLZGCvHX8BOQkpZ3eMAPfihcdUkI3xlSig5FxrrLoRbgxWUHwQOFZLrW72/F80sPprgnFeUzXHJsedbI8nx/OydRJ1yb+lcvxJThf7TpYOhMwQzif2cgJWr912c8R2NfhPHyKGUaBBKUp/WHZ+bk4011I/Di0ttTasZdmaaOLMd3hpQgTeAkXbbknkevr2rEpv2pR3d8tqkJb65qzOhfyqPOTx1ZljV4MifPx75owI4GfXvedTVCdsGV8NOxV6G8YF9OXC0MTZB8qCopUb2Gs+l9IlCbgNWabVx58qOH+eXsmJCXN2fTWfh0w49TqlzTpxhvnNcN+UnznFrblvweJ9GnFx9EXft+et7S11Yewtwth3NmyeMnnzOiDCO6FmZ8t6VNwrNLDuLLPdZuN00u8IR+z2Fsr1fb/+y8vThzkxLN2WUceYEI1BGY0xciK0+W6Ofpxuf42vKbsW5fNGyd+lpzfW90KbW2i/DhPD8PvjUSJTu+YKT14jU5K8eiFMfv/TWN+Gi9fSd99u2wGD8YfqdLP3dR4StfDKREtXYem96z9uuwqZJ+zDamPCWpJsmxMBq1Iu5oaPv932Y/hua2xJ1HM77XBT8eYU8w4yU7W3HO8zuw5YCx4TafWuB+pdmuRdub8dKKg2jLsuNzQMd8+WgQfi49jweq9WRQfp78tLFXRPfUKg66DtoroX+Akyg527vFEUSgLiCvVp5uKE610fc2dsfjC/6SgsLeW/oin9njqN4SATr9YaMp5LMdk6xkvKGuFU8takhwc+JTAN8fWiJHuj+6WyGUo5X2NUb32b+zukl2weIBl7NdV427DMX5DS5MuKgUqPIzS0rUVF8yk5gI1Ax6BtKmKE87js/V4Si6fMdEvPvVzxJa8r+TOuK6cem3chpoctok93x2AL/9zz5T2Q3rUiCHwst2wByfb330iwbUN0VwxZgKXHJcOQZUZz8r/j/rmuQ996+uzBx56kcjfoveHZZbc9yxDntldEAlJWqqLxlNTARqFDkD6RTlKTm0t11LFeds5g705ya8uvjnvdCvSqOzp5ZC0ryzZn8Eox7YbDB1PFmn0hCmHlOOLlmCMvPwd1VFoYz7+9NVggcu+d1HdXhu6cG0dTy5/+MY1eMt0/W3MgO+sASJ/EStxDRXXkSguRCy6HnUVQm14HOesUuZ61T+4Pz97E0/xGcbz05opZ3Dd6WglghDpz9ssARdrkD5jic+JE93je5eiJo++nZD8XzW7G3Frz7Yh3fTHKY3ottMnD5wRvsg2j37pTm0iUjUkl6lLRMiUG04mXorq/JMngRNLsnm559tOAefb/5hrFR+YuaWm3qZaq/WxJ3/uBHNxtaR0hbBjz/+5qAS5KkCNHctC8nznR2KjSnqV1YcwkWv7E4pr1v5Gvxk5K2pXmcO2y9lEja6tEUkqrUTmnyPCNQkgLmSJyrP3DtNkj2m7b7n/p9zNk+JNePY7kX4+JJuuZplyfNx/9iOFTutOWteqVCvynxcMLIMFYVRwqzpXYTRPTL7juZqCF/Fv+DlXbKjv/qqLNqFy8Zc49qOpNz9gpMorc7nsq/Z50SgZhHMkj6mPCXFSd7GwgxmPWvD+Zi/5Xux1KO6F+Ejhwh0wj+2Y5nFBMobwvfQX3BMOfp1yMfZw0vl7ahmrr/NOYBbPkhc8Kos3olLj+MEKu7F+Oo8zYnaaiAiUJvgjZJndG+7eLozrl8+WjcVC7Z+J4YCH+puvNGZIXzX/9uMJu6EadM1bXQ57jmjo+ncP97QhO88vTMhn6riHbh09LUJx7+LaGfQcN60/bNlQARqA7xeUJ5Ks/+77mJ8se2bCSjsu6Uv8mzyAVUKapUYOt5lzSJSJhOO6VGImRcfYdrC2w60Ycj9/Hz4+MUJ9JLjrjWdtxMZkBK1D2UiUIuxTVSePJI8jxivKD7x7meuuQSLtp+RgMKyq3uhd6WxRRetcK6vi+CYv5l3Y8pW3qjuhfjoEvMEyoNHD/trIoF2KNmGS467QXj7Kv2PlKjWnqnvPSJQfXhlfZuTZ0SSahkTd84zuQGzN/0IszclujH9cXInXDXG+FntWiC9f04Dbvtgr5ZXDb8zpHMBPvvpEcgPmevm3I3p7H/tSqhHdck2XDTqesN1cyMhKVHrUTfXs6yvj2dzjCnPBD9P8Zuzeu9YvLHyppSK7rulT2ybo9Wt4IGWO95lbiun1jq9f2E38MPszFx3zaoD/099dSzZggtH3WgmW1fSEolaCzsRqAV4elF5Ks2ua+qGRxfcl4LC4z/ogrOG2hNM5IXljbjs1URFZ4EZ0mbBo+pPPyX9AXlayuQR7y98eTc+2ZgYcs+rBMrbTCSqxfLa3iEC1YZTxre8qjzVDXrg89RoTPz5hht7o7rY2i6yp1FC/z9vMom69uR9qvLx6JROOL6nMRXKD6676d19mHRkMT7deBhN7SeB8mOOf3y0s8cca2917jeJRHNjpOUNa78OLSX66B218swcEyT9scPx991//q+lv8O2A4NTLMOHvu9M7WbZUJ57LJ32xA4s2Jo7gLKV3eT8Y8pw56RqdCzRtzA2a0MT7vjPfvBITZcdV4GDzRHsPBR1u6ooXAiwXyPy9Ulv6Y6VFsm+merHF5YiETb9/rOWvmcl3kHKiwjUoLW95KqUq4kz1/4Ui7efnva12yZ2wP+cUGmaRPmOnn8tO4j/+7RO3mPu9HX56Ar88oRKdMtyQJ26TnzIzuc9OYleMqocAztGj25Wrr4dvsCB5n/jyz2fON0US8uTJIRDjAKQGAWVCNQAcjHlCdS4cISR5UftLNlxOjiJJl/8LKLbv1GFDkV5mDLM+H7y/U0RvP1VI3YfikCChHdXN8nE5PTFA45wNcoDMme6eF1fXnFIPnqEHzWSKe7osC7/RWnBAYQ3PY/6wzuFd6jP1k9JiRrviUSgOrHzk/JUmr69YSCeWxw9okJ9De9agPOOjsYF5SHh+PnuE3oVIk+jWxA/toMHKZ67JfXYDi0R43WaRtPrJfkM3x1Sion9iuTzlQZ3KkBbRMIX25vl45T5USAz10XJ/ZhuhTh3RKo7V4i1YVT3aCi7/254FE2tDZrKFvklJiH89VwEHZms00hEoDoAu+aVEZNDIeUMIz9oT2XzYUheia8/3DUBjR8eVYrjuicuvhxsiWBszyL5fPhOpXkpPpacjPY0RrBiVwvmbm1GkRLyPQ3O/AiNJxY14GCzPZHvdZg27av8d2JMjyKcNqAYZQXx+dPywj0Y3DksE+d/1z8SjX/kaQ0aqz/NiersNESgGgG74ZURkyMhqZapgyEnh+9MzstDz3lIu882nRNrAa/6rROrUKoiDnXz9jW24Z5wPbqX56FfdZ7MH+v2t8lHYVw6Kvs57up8nDqOWKOZ075WnM/kYf/YnoUIMQYeyq5X5XJsPrACS3d8kDlrD9lfaYQEmhPV01eIQDWglV55qrpc/JxEV44lTnNKjqpV2k5dOthcjX/Mf7BdTQHc/YcfgZHp+mBtI/jRF+kuLee4q9PxoT5ftPnv+ibwo4lFvXhU+xP7FuHcEUvQpWw7Fm1/F9savoxhFq23NrzjbRTyfVKiGjshEWgOoBTyTFCeWegpOTub4yGni6ebUAU95b+64has33+snP7U/sWYdGTmxZY/flIHrh4zXXzkfsHIcnmOUevF83tndSP4/Gjy1bsqHzee0AHHHVGIyqIQ+FTC0p0t+Pucenyx3Tm3qLxQC64Zdw0GdRqK9fsXormtKeHn08v2V9edlKi2XksEmgUnmTz5ue18b7vLh785Uf7qvePx5qro9kQ+DB+Q5LqjQLVhfytmzD+Qs4fxOcTvDS3F8T30ObFvqm/FaysOYVtDm0yWb089Akd3zXwQ3Nr9EUx9eReWOECkI7p+gEkDHhbnMDl7+yUp0Ry9nAg0A0DqYbtvlghyLHVIUh4env93NLVW4jff6JAxCAc/rZK7+Gi9tBxBnC4vFmK4YnQFCkK5h/USGH49cz/un524Z11rHbW+N/XYG9GpZIs/loy0LX0RiWbpHESgacAJmvKMxtuT5E3Sszddhs1138TPxlam7TZtkiSfVtmsc65yaOcC/HhEGQqyrMqrC+xcmodzjy77+hy+3OSpTnfJq3vkc93tuHpWLsePjvqNjJMTIwKByiESzdChiECTgAmi8lQUdnlhNc499hH8z5v5OLlv+mE3P4LjmSXGCKpTSQhnjyhD78rs57Jzk0w9tgId9I38ZUs2tAA97rYn0tO3B/8ZAzvN9o/TkjYFqrQ3HIqw6X+mbZ8JjEEEqoIjpjyhHD3sQT+UFPNmU3Dx9pUVVuO6k55E1/L+mPlVHWZvSE+STy1ukH08jV5cvE3oVYTJA0vAV+vTXcO7FeHUfsYPgvvr3IO49f09RquYNl11STOmjpz69SktajyD0z+ioLBwRKK98+oOQgTajkZMefID4IIy6dnezrKialx3IifPfjIazc3NeG7RfmyuS9yzzofvv/1vHbjbkdmLq9EfDi9D36pUNfqjEeXoXma8a25rkDDkPmsjPt05uSvG93kT/156j4/85vVJ0PbvgkhU1fmN91KzX5BA6ePKk0eS99MOo9y/BBVFHXHNiU/EyJObpbW1FfsOtuDR+fsTyHLd/lb8Q8Pqu1bT8tod270QkweUyKvtynX5mAoUmzhIMyIxdLDwvKUelflYddMglBWGMHP1o/j3sv9niHl8xLxEou2dNfAEmkieSZ++z0doFcWdcP2JT6NTWeopnFyFztt8CP9deygGysx1jfhwrfVBQPjCEp9zPalvsbzyzxewzB5qd8aTO7DrYAQ8IDIPEGLm+vCn/XDqgPie+FnrnsFLi38f58NMmfu7/xCJJm2hMNPHPJmWkydjfHumFI+qFF2MjutQn96XF3XCDSc9k5Y8uTEjkQhaWlrw5ML92NnQJtv3HwsOYN0++0LR8Z0+Zw4qwYPf7Yx8k6eC3v953E+VTznsaIhuM911qA2HWiT5v4bmCJpaJBxsv+eOCNUlIVQVh1BdHP33+8Mq8LOaznLMT/UVJdE744vxyo54n/aX2LgsoX00JxpYBZpVeXry50B7pSuKOuH6k9IrT3UunEB3NbTg6S/qcLg1gukWzX/mqum6G3qjU4nxrtkaYXhwbn2uYnI+Ly8M4eKxnVFZnN5r4LMNL+L5L36TMx+fvxBoJWq8l3q4V8SVJ2pixw7Lv6yqY4d9el9Z1BXXnfRERuWpNivHhg/lt9a34O5Ze/Hg3Ny7j6zoFv86txvOHA5r9xcAACAASURBVGDAh6m98I31El5bYT7E3LeHVWJkz2g4v0zXZ+tfxPOLatuVqP/7T7rvBYyFpYCuzgeOQIOsPKuKOXk+hY6lPTTzXFtbm7yotGhHC054aKMlK/C5Ch/UqQDzr+ie67WMz9/86jDW7k3dT68nw14dCnDhmC6aknAl+q8vpsvBogN8BVKJBopAZeWJtlqA1QSto1cVd8P1E/WRp4IRH8rn5eXhleUNOOeZTbDAiykn/K+ed4QhX9Cdh4Dnl5hTysUFIVxZ0zVjKL90lZ+94SU8u/COnO2y8oXOZX2w+6A9mwYM1VNWom3T7z9rZWDOWAoMgSrKU5KkGnlBoH1WPDok4UMvZYde9N7O57845QXwofQrS/+ABZvftr38jmU9cc0Jj6JjaU9D34WCEU/82Pz9uOTFLYby0Zto2dW90btSexetOwz88Lkd6FIWQteyPPk/tXuUlvJ5tP2fn9gNfP5T7zV30+t4av6vbO8/xQVluGrCw+jXcSTeXzUDb664z9H+m/X7AAI1nNfeO/X2JoHejypPHkle2WHkXuX4Tp/bTnsjVgGuWrh6sevqVNoL1018Enz4btV176d7cP0b263KLms+4ct7YkSX3E6hG+sjOOaBzYgkeSwV5jGZSEsLGArygMIQ/7f9//MY1JuhelcV4C/f64kqE06o8za9gSfn32wbNkX5pbiq5mH07xgNO7jn0Gb89r0zbCvPWMYs/LUMCcRpn74n0LjyRI06BkRcYaaPDWHX8x6VQ/DLU+KEyefN+PxZeP2LCbEjrCi/uqwHrj/pKUvJU/mgXl1+ABe/sAV1TVEXJzuv6yZU4epxlehWmtpd9zUBj3/RgDtm7jVVhUGdC/Hplf3RpSz3Pv1cBS3Y8jaemnczIohkjDlixL7FBaX4ec0j6FM9IlaFuqadqH331JRyjORv5ffB44kGYWHJ1wQq4pxnzypOoC+nfIPPfVELvqJr1cUXivicJ5/7tOvaVNciz4nO3thoVxEJ+fJhNT8Q7oiKfOw5FMH7aw5i2wHzBN6/uhCfXtUf3SvMk6dS4cXbPsCjc26Qz4234uLK8+oTHk0gT54vJ9A73jnFiiJsyIMrUX/PifqWQBVXJUh82B7dEsLkUBDxrZpu3PeoGpyWQHnv5T6F4fUvxA4pM1q/TmW9cd1Jj9tKnuqv7fb3d+J3M3fZ8AHan+XRRxTj9Yv6oG8H7ZHztdZq8bYPVSRqvP8V5Zfh6hMSladShyiBnipM/079vuDr4bwvCTRhzlOwI2d68iH8qakKVPkgXlx0J/gul9ils/58zvOGk58Bd5Z38vpk/SGc/cxGbLdAETpRb65i/3BmN1w4qoM8dWLXtWz7R/jH59cgIrUrZZ32LMorxdUnpirPRAJVKVCd+TtzhJN/50Rt7Dp2dcns+cbJEzUibkWODuGzLxq9uPj3mLX2mVhQqEwtTm4f39N+w8SnHSdPXj9+xO8fZl6FpxedgtV7x7ljfI2l/nJiZ9wxqYscHMSJa9n2j/HPOdeiLZK4DTZX/yzOL8XPMyjPVAWa2pJc+Tv83JdK1FcEGpvzlOJ+nqL9IPeoGoKbsyjQBCW69hnNAoGv7l878XHXyPO+jy/ClrqVcn33NfbCvG1TsGrPCYhIuVfQnSAxXsaEPq146txhOLKj8VijRuv65c4wHvrsKrRGWjWd4SrPeWZRngkE+nZcgYrW3xPqw/1EfTYn6hsCjSlPPucpj8lijp7RZXZB7ntWDs46hFd/oK8tvQczv3o0Z/27VvTH9ROfBA+K7PTFled9sy7GlroV0blbxaEWEg42d8SCbd/F0l2T0NJW7HTV5PIK8xoxuNOn4IfBda/YhCvGP4AhXd3ZR/Hlzs8w47OfoVXiAakz98+igsxznskgqudAk/EX8p6vzvvIxckXBKpWnkL/AgPQqkCVD+XVpffgP5xE26/k9nUp748bTnaPPO/9+CJsrVuZsX68vi1tpVi04wws330W6pqcIdKuZWtk0hzS6RMUhOIH4IVC+bhywoOukehXu+fi759OQ2skutU02Z6F+aW4RoPy9KQCVdrrIyXqeQJNUZ72HvNq+jAxPQpU+UjeXvkA3lnxtxSH1SMqB+Hakx51V3nuX6H5kLXRvadgUNfb8OHqg/hwzUGENxzSfThdNhnL1SYnzGO6vYdOJRsy1isvr8BVJbqak2j4SrREDif0Jz3KM2UOVPB+n+qo6g8l6mkC5eSJSFstWHTOM3lSXMR7vQpU+VD4UJ4P6ZVwFd0rB8o7jEoL0p+eaed4mQ/bFeWZ7YSgZPzH9vk+Lhj9+1jVGlsi4Kv3H6w+iA9WN2DBVn3BmvmOodE9i9GxZBkOHX4R/aoWIU+lNrPZP89lJbpu7xf42yeXobkt2mY+56lHeaoJ9Pb2OVAR+3vW/sGVaGvb9PvP9u7eec8SaILyjH2SqrnOhKM5lBfcf96jchBunvSKIX7jCzVr9sxDz6qhuPrER1BaWGUoHzOJDrcelOc8N+9fnuUnKxnnaInHJxFounpsqW+RAzjn2uHUtTwfR3WNhrx7Y/m9eP/LGar6pC8/3ZEaV0x4AEcdMdEMJIbTrtkzHw+Fr8Th1kP47vAbcdrgy3TnVde4o90PVC0htLc/Oong4vfBvK1EPUmgMnm2K089CkiEX+juVYPxq1ONEejaPQuxatdsnDzgApQUVOj+2MwmUMhzk0ye+hV/sgI1Wx8lPSfQ976cYXgEclXNQxjW7USrqqMrn437lmL5jlmYeOR5hn4QOYHeLjvS67eHCN+DPAcssbAU8aYS9RyBJirPTIpS3L/35DuRNLgx6foKHXhZXm3/WLXabuDwPS0K1EhTcivQ7P0hL1QArkTdWp030mYljbwK/3Z0J5KnD63zqBL1FIFe88LQyQixeDxPUX5Ck0dAWe75TqSbJ2XeiWTmY7IrbVNLdM5zS/3K9CM+je0f2zdxDtSq+r6xLKpADUtQAHxO9IqaBzHUJRcno1hwAr39rXY/UA9+D4kxqKUwIpKn5kQ9Q6DXvDBiMgtJtRKTYjuMxNWZmfWA0UUkox+Y2XRR5XkRNtetjPGTUdydGsIbrV9+KB/TJniLRKMK9BSv68+4Oxcfzoe8EwrPEwR67QsjaqRQ270AG2OWENxOz7dyekWBHmqpx/0fXyLvMLLikgl0THwV3oo8eR4xBWpBhl5TogkK1IL2i5EFm8cibdfdd/bKsBj1yVwL4Ql02rzRBUUbGvkKwcVydCI5gryi8Lx336NysCcIlJPnvR9fiG11X1mGt/0K1Jr+kJ/nHSWaqECtab8Q35eExw73LZk2Y8x8vm1L2Et4Ar32haO+L4XwqrAI6qyYFxSoTJ4fTcW2+tU6W5f9dS8oUKUFXlGi/lSgUSuwCKbcd/by1yzthBZnJj6BvnzUg5KEKy1ut2vZiU6gdpEnB9xLBMrr6wUS9TWBMvz9vh8sv8q1j1VDwcIT6DUvDlsJxoZoaIsnXhGZQO0kTy8SqEKiPx1/H4YfcbKQ/cvPBAqJfXn/j5YNFRL49kqJT6AvDT8ESCUig6inbqISqN3k6VUC5fUOsTxcPuF+IUnU1wQK1nj/D5eV6vm+nH5XeAK9+sVhhxhYiewmLEdLS3MMsXxUhzee80WkX51mbCeSXZ3jUHM9/vLRVGw/sNpWfMdxP1CbVuHfXTnD1v7BWB6m1YhHojKBvtnuxuSD7yPh+4bUeP+PVhCBmvnwaQhvBr3caZ1QnkotvDYHmoyeiErU1wqUhvC5P+Bcb1z94lEPMuDKzBvVlMO6Mm1kE+s5d6T/1Wli7ESKKs8LsL1+TRZHbOvws12Bpt3QaF39+XBNNCWaoEAdaH/qd2gtvur8Afz9rz+iRaRcHJn1eYobk+gRk3PUT97KKQCBxpRn3eroL49y2YivIwrUxvrLEElAKCTOnGiKAnWg/U71F3JjMkWd0cSyI/36xhkSpIs9HSyhXePxYCJuz4EqynNb/RpHg1CM7TsFU22YA32d74Vf+ZCjwTRCLIRpNX91fWGJE+iv3+R74T0eTCSp/hLwWEs/cqS3gEIBeSsni27l9Ho34eHsbnF5Eemvsy7Dlztnm97brnfPuTtDeHt/dm+b/Aa6VfS3pJ8byWQ/jwf61qn+ok/Gt3Ky6+47eylt5TTSKdKlkSMxMVYrATX2fhL2UrTbCrS5tRE3vcZDCtjbznT5+0mBKu2bcvT/YNLgS6zq5rrz4QR6+1s+CGfX3h8lSOGQ5J2ITMK7Mal7FI/IBNYmh7Nz/vO3hrZ7CDCE//unV2LZ9lmkQE3+jFQWdcKvTn/FlaOkle/CXwqUhSF5K7CypwiUd5qfvTB0MmOslklciXrv4gR6y+nubu2fu/F1PDHnZsfB4/FApx5/l+Xlvr70L3hvJT/Sw7mrorgTrj/5SXSt6OdcoWlKkhWoPAfq7UsCwiF4R3kqaHuOQHnF48N5VpNyLqzgq5B8Ff5Xp7vvxjRnw2t4at5tsuO8U6uqMoHatojUTqAO2J+T542nPIPOZb1cZ626xp34tRJQmdfGgfZb3V8Yk8Lw0LBdbXRPEmhMiYLVMnlOVP17IPYpSfIc6Oli7ESSSXTurZBiYcHtDWkuz4Eeb3080LgCtbf+/JemorhjO3n2dp08eQVkAn3zG+11sb/9po4kSHNkAJ/zlCBNf8CjJ3N6lkAVJRrhw3molKjgk6OiKFDl609RojbiN7afjQp0hepID73uARrfF0l5KvaLKVAb7WbXZLmXlaenh/Dqn355ThT8nCR44qgPvhPpFkEUqJpEn5x7qzz+s/M75G5Mds2BynvhTS4KZUtfXtwJN8nDdjGUZwKBvvkNW+1mE66eVp6+IdCYEpWH8yzNwlLypFDyyMvZ5zwakwhzoMkoRIfzt6mG88ob1uETXUSyYwjPHekzLSKZr39FcWdh5jyT7RYdwmdbRDLf/sRJcvPfj9eH7b6YA002Y0yJ8tX59okJ+ZdTJami0ZzaN6wo+1Ycfi6iAk1QonNuhcSi88hW4zeOD+FtWoV/d4USjcla+5YXdcJNp4qnPNUK9DY+B8rXAgXo3zm/L8AXytNXClRpDF+dj2RUokLM+UNUBZowJ5pWiZrHzx0FarzeIs556legxttvdUo/KU9fEihv1M+eGzqZ5bFaCOon2rODeHOgyR/K53w4z5Vo4qHdpr8neQ50rD1+oFyBWnlx8hRZeSYo0DeUVXgrEbA4L+Yv5elbApVJtH1hic+JxgO0KoGY3f036kgvhhtTtk+Ek+jTc29DRIqAMeW0R3P/jutnlxvTvXh3xUOW1bOyhM95Pi3cglE6eylzoKL1c3V94FPyVKa5LP6pESM7UZWoFxSoYkGrlagXFKhXlKeHFGhYYt7188zFZp72A83VuPjCEl+djytPZVe7oqycvPeKAk0kUb46H1eiRvFySoEarZ+XlGcigUbD2bnRn+WdbO0OZMnl+1l5+noIryZWWYmGon6i8t9d3urGz0S69Qx398Ln+uFJfv70vNvx2bqXon82gZ8jCtRE/S6vuQ8je56mFx5X3+d74X/9hsqNyUT7zdpXnZ7vbUdEmv7Aj1e+5ypANhfuawWqYCcrUYmTaFSJxi/nt76VFJTj7imf22xWa7P/ZO2/8Nz836gCFqt/f7XjOY5v5Rxrhx/oXxBdRDJnz2tPfhSDu46zFjybc1u183Pc95ESTs9c+83iF0vP5zzb/E+evp4DTe63ihKVJNRwfzlFScmxNBy+H9V7Mk4eeL7Nn5Y12fNFpBcW/g7b69bI34cZvGQ/ULtW4ZdHt3KaqV/vjkfh28OvQVG+0AdBxgzbcHiv/MOxef8KV/tzwvcTEOUZmCF8+uG8okQz/WInb15LVlz0PDFgsjZ8nFOgZB8j9skc8VabfcGd5AMwbFdzSiCG8MkkCj4nKqifqDW6UcxcuAK90AYF+u8lyhBezHYHolY8JF0Evp/zTLZl4AiUA8CH85xE5VB42qfwLJsiihlBkCkrp+pj2xBeIdCA4Wlyyte6/sznPAOmPAM5hCcl6q4WIgXqLv62lC5J/OC3wCnPwBNoghJVDecF8QKJ9XU/1cd2BWrOy0rG3E94296eACtPItB2BOThPBB1cVLCD8lhbVThiOjeEjzG9bdxDrR9FT62DE/2i4fTsqX/Blt5EoGqxjOxOVEJ8mmfyWuOdB9FwOwU43ib3JiURSSz9aP0Gr2kWTCc5LVMeQRyESkdMFElqtqxFGOMLAFpEwJmpsmVnicEYJXnQMdZH41JJlCuQJMvwj8xAK4l+JDyVMNIBJqsRDmJMm8emazlF9PNd2gRyU30LSiblGfa32gLkPVPFsqcqCSfscTkmJj0rzU4jO83xTYF+s7yh8hONvZXgJRnOpYjBZoGlbTDef/8RrjWEseH8K611HcFh8GPHvZ5YBAjViMCzYAaKVHrlTcpUGuUvMMjojALsJ9nLlIlAs2CECnRXN1H33NSoPrwEuBtUp45jEAEmgMgTqIS9xNVTvskP6c4Yjr9frgf6EXj/mA5L/x78V/A50BN+1npbI/PywszFtwdRlo7KRGoBqTUzva0UyXxlHA9eDihQPXUh5ue3k9rT1KeGniBv0IEqhEoWYlKfMeS2sWJJItG12sZZX6kx0XjbfADVRSozyWhQxKblKdGTiAC1QEUf1VWopxEGT/tMxqImf7VjsN4vpXTJkf6d5bNIHuY74+kPHVyAilQnYClV6I6Mwno63wIf9F4G+dAA4qrRc0m5WkASCJQA6DFSTQ5sr06ErqScfzUwsSI38F77twQXt2tCf/0kebV/Q9EngZ4gIbwBkFThvPynKiyOp/Mh3QfRUC1SuOIAqVVIX2rfCDyNEEDtIhkBrxEJUqMmcKYSQwaJVC7FpGUYCLEoDoYNMwY7TAywwE0hDeDHl9YemroZCkPtfJpnyrBlWngGOS/80Uku+ZA317G98InHqVG95nxACPlafLTl5MTgVqAYoISzXSubvJyffK5ygF4Pq6/jW5My7gjfZZzjQOAr/b2E3la8NkTgVoFojwnSko0pwIkBeq+QuZHDzN+euYFK9+zsv8HNS9SoBZaPq0SJUfRmDJ0VIES7mkcdBFmbUSeFn7yNIS3Ekye17Snhk7OC6GWxxNNXoUO+r1dCvQ1vhOJD+GTVv3pPsELIhwi5Wn1504EajmiynA+FN32GeRFo+RFHLsIlAcToUWk9N6e7f2Phu12fOi0iGQTqmolqo7iFPBl4fFH2rMKLyvQpapoTAHHOWEyGghHIpg+g+Y8bfnYaQ7UFlijmcoLSwlKVAmoqywmBOt+vI2r8FEFGiw8c7eXFoxs/LxpFd5ucJU50RAnUa5EA37JQ/gJ1u+Ff22Rag404BjHms9IeTrRFUiBOoAyV6KRdiUa29oYwMlRGsI74+nPGMJtNGx34MsmR3pHQCYlGoWZFKgD3U1COAKa83QAaRrCOwWyUk5MiQZ0OE8Eam+PI+VpL77pcqchvMOYcz/RELifqFTDGIOkcvj2+/2EI6fYNgf69tK/w+/4ZWsfI+Xp8JccLY4I1AXYFRIFC9bC0unDLsUPRv3CcsQ//uo5PDt3uuX5eiZDWjByzVREoC5Br1aiMRdoJRiG8rsm+zOqVptceD6w83EIhfKjqx8myq8oqsZ3R16DIyoHWI54S1sT3lj8N6zbu1iFV7s80IlfW1sL1uxaGJcXOtPH7WWsfL3pmSSFI2Dk52l5r9KWIRGoNpxseUt0JXrHt19H96qBtrRd5EzX7l6Iu987T+QqKgRPTvIuW4kI1GUDpFWiOeMa2b/VprSwAn86e47L6LhX/JVPD1UkpJD/MpDydK93xEsmAhXACjElmrx3Xglvmcl90Obnpw6dinNG3yoAQs5W4enP78Cs1S/Ew2u6hH8svGlq+eSq5GyXyFgaEagghhBViU4aeiHOHn2LICjZX41n50zHR18954zHu4GRBilP+/uAnhKIQPWgZfO7cRKNrs4rA3WlWLfug0Kiz875LT766tmYld3CO4u9SXna/A3qzZ4IVC9iNr/PSfRr59BaxuOJqobocrEu3k8aehHOHuNfJRpVns/Ki+Cxj8JFvJPtLQHhrx1dabXd5u9Pb/ZEoHoRc+D9ZCXqQJGaivCrEk1WnprAcPAlxkPS0fZMBxHXXhQRqHasHH0zqkR5UGZJqNM+zxg+DWeNutFRLOws7Jk50/HxqmdFjvFCytPODmAybyJQkwDamVxWohJqJb5jKTl6k1JwpqhONj4/c8TlmHKs90lUVp6rnk0fyt1G/BL2/2WxHylPO78ua/ImArUGR9tymfbY0MnIk+TjQWwrxEDGZ3pcif5r3l34cOXjBlruWBJSno5BbbwgIlDj2DmWUhnOywtLMSnqvkQ6c/jlmOLB4fwLMnk+0Q6gCxI+hwRlYOEIo5B0jn1gJgoiAjUBnpNJSYlagzYpT2twpFyiCBCBeqgnJCrRaMUlSPJZQMl6NH5v//NvDp/mCSXKlecHK59I0n/246PVPlFXJVKeHvokiUC9ZCxe15gSFSwo83eOuRrfHXm1sHDKynOF4HOeETZ9xsUr3xMWRKpYCgKkQD3YKeLDeVYT9fxWBRdx8f6sUTeBz4uKdsWH7YpnvBh4xXdGsDDaQOQpWsfRUB8iUA0gifiKqEqU+4ieOWKaMJCR8hTGFL6sCBGoh82aVomqjgiJhxNSKS8Hnp91nBhKNEaesbBGzuKgAX9Snh7+/mgRyePGi82JhqRaCRBqx5LbSvTlhX/Cu0tnCL3DiNGcp+e/QFKgnjdh+8JSSDxne7dI9JWFf8I7S2eIbNkwiDxFto/muhGBaoZK7Bfl4TxXohJqRBqxOk2iLy/4E95dNiO2tubAjIWGkXr0qCbZLkCYlKfY35Ke2hGB6kFL8HcVEo1v+xQjoqVTJJqqPMVof7zbsDAitNou+Gekq3pEoLrgEv9lTqISH87H/ESVrYqZ6u7M83OOvwWnDbvINgC58kw/bHemfZkb1l4+I+Vpm/FdzJgI1EXw7SpaIVG+d16kIey5x9+CSTaQKFeeby+ZoW8orTql2YEpD5rztKuzu5wvEajLBrCr+FQlaldJ+vK1Wom+vuiv4P8JfIWZRDuMBLaPqaoRgZqCT+zEMSUqoSZtzCGbT/XMdKqkVUqUD9n50D3jIc8utS9WHwZSnmJ/IqZrRwRqGkKxM5j22MDJEsuTI9urtg7GT510aeunWSWqkKdIW1kT8QUpT7E/DUtqRwRqCYxiZyIrUSaen6hREo2Rp6iw04KRqJaxvF5EoJZDKmaGMRKVpBrFITE69s20mqKcq2zv83PG3ILTjtK+Ov/Okhngu4ziW4zsrZ9ufLifJ815ivkR2FArIlAbQBU1S1GV6PnjanHykJ/khE145UnkmdOGfnuBCNRvFs3RnksfGzg5j+XVShI/7ZO1B2RWBJ179+eN/w2+kYVEuZvSKwv+JEx9o4tycbzAWLhNYtMfoXiegfqiiEADZe5oYxOUKGcC5XJ5487549MrUXnYvuBP8dMzBamvavmfhu0B/I54k4lAA2p4tRJVmElRVG7enze+NkGJfrD8cTw/9y7Za0CE+vEjVBLwYQhHSHkG9CsiAg2s4ROUqGDHg/xk3O04Zej5eHfpP/HS/LvFtRFfbacFI3Ht40DNSIE6ALLIRXAlGpLa/UQzeqTH3UZFDrCZ2aPejvrzo4dpzlPkvu1E3YhAnUBZ8DLiLk4ZdizZwT+xgXB8atMz/M1AC0aC92mnqkcE6hTSgpeToEQFr6u71SPl6S7+YpVOBCqWPVytjaxEJakWjJRohtgBpDxd7aHiFU4EKp5NXK3Rpf8cODkUUvbOu1oV0QoPRyKR6Y9ctprObRfNMi7WhwjURfBFLfrSx4ZODnElCtSo9kx6edbS7CwuLRiJ2lldrhcRqMsGELV4RYlK4DuW4ldyfHe/3wMg5SlqJxWgXkSgAhhB1CpkV6JKrdPOFqah3OT3PJE+HImw6Y9ctpKG7aJ2UpfrRQTqsgFELz6qREPyaZ8xP8v2SisBk2NtSNoK6uXnjCtPieY8Re+fbtePCNRtC3ig/Ev/OXRyKHbufCbF6au/hyORNlow8kDfdLuKRKBuW8Aj5ctKlEdxkiPb+/ci5elf29rRMiJQO1D1aZ4JSlSk4z6tO1aTlKdP+65dzSICtQtZn+YbVaKhWkl2cfLPJQFh0JynfwzqUEuIQB0C2k/FKMN5flCdQOFEk9e4NN8zsHBEojlPP/VRp9pCBOoU0j4rJ6ZE1avz6mggSnsF93Ii5emzjulwc4hAHQbcT8XJc6Is4tnhPClPP/VGd9pCBOoO7r4plStRsFAtaw/K7JWdSRKjOU/fdEIXG0IE6iL4fik6YWHJA+6gjNGcp1/6ntvtIAJ12wI+KV9RopAg750XmEfDAO0w8km3c70ZRKCum8A/FYgN57mLk4AMSsrTP31NlJYQgYpiCZ/UQyZRhGq5i5N8WIficK8wqmv3IOXpkz4mUjOIQEWyhk/qopAoQzyyfbJXk5P3PCQdDdt90rkEawYRqGAG8Ut1YkpUkmpg3VbLuKLVupWUyNMvXUrIdhCBCmkWf1QqnRJ1cmoUYGGAdhj5ozeJ2QoiUDHt4ptaJShRzZsrleYnBRjVk55x8qTVdt90JEEbQgQqqGH8VK34wpJjq/NEnn7qQAK3hQhUYOP4qWrplagNHqN8hxEpTz91HaHbQgQqtHn8Vbk4idoUCo/I018dxgOtIQL1gJH8VMVLHxo4WQpF/UStXZxnYRaiOU8/9RUvtIUI1AtW8lkdZSUaCdWCqc+dz9TI5PAkye9JAC0Y+ayHeKc5RKDesZWvapqgRDPtnVc2MmV9TsrTVx3DY40hAvWYwfxU3UQlaqBlNOdpADRKYiUCRKBWokl56UZArUT1JWZhFolMf+SK1e/pS0dvEwLWIUAEah2W1Om9ZwAAAnVJREFUlJNBBDiJIi90JySMkSCBgSHrv4zNQ1vkNiJPg4BTMssQIAK1DErKyAwCl8wYUMNCocslCRdny4cxPCZFIg8/Om1N2Ex5lJYQsAIBIlArUKQ8LEFg2kOjC1pCDd9iiJwpgZ0CSH14FDzG2EZA+o+E0DsFkfK3Zlwxv8WSAikTQsAkAkSgJgGk5IQAIRBcBIhAg2t7ajkhQAiYRIAI1CSAlJwQIASCiwARaHBtTy0nBAgBkwgQgZoEkJITAoRAcBEgAg2u7anlhAAhYBIBIlCTAFJyQoAQCC4CRKDBtT21nBAgBEwiQARqEkBKTggQAsFFgAg0uLanlhMChIBJBIhATQJIyQkBQiC4CBCBBtf21HJCgBAwiQARqEkAKTkhQAgEFwEi0ODanlpOCBACJhEgAjUJICUnBAiB4CJABBpc21PLCQFCwCQCRKAmAaTkhAAhEFwEiECDa3tqOSFACJhEgAjUJICUnBAgBIKLABFocG1PLScECAGTCBCBmgSQkhMChEBwESACDa7tqeWEACFgEgEiUJMAUnJCgBAILgJEoMG1PbWcECAETCJABGoSQEpOCBACwUWACDS4tqeWEwKEgEkEiEBNAkjJCQFCILgIEIEG1/bUckKAEDCJABGoSQApOSFACAQXASLQ4NqeWk4IEAImESACNQkgJScECIHgIkAEGlzbU8sJAULAJAJEoCYBpOSEACEQXASIQINre2o5IUAImESACNQkgJScECAEgosAEWhwbU8tJwQIAZMIEIGaBJCSEwKEQHARIAINru2p5YQAIWASASJQkwBSckKAEAguAkSgwbU9tZwQIARMIvD/AVDkvnv22WOGAAAAAElFTkSuQmCC"/>
          <p:cNvSpPr>
            <a:spLocks noChangeAspect="1" noChangeArrowheads="1"/>
          </p:cNvSpPr>
          <p:nvPr/>
        </p:nvSpPr>
        <p:spPr bwMode="auto">
          <a:xfrm>
            <a:off x="155575" y="-381000"/>
            <a:ext cx="80010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2" name="Rectangle 5"/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4" name="Rectangle 6"/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7980498" y="1856165"/>
            <a:ext cx="377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Erro de Cadastro Incompleto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272277" y="1401087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Subproduto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28254" y="1348002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Massa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230717" y="845763"/>
            <a:ext cx="208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70C0"/>
                </a:solidFill>
              </a:rPr>
              <a:t>Antecipação do 13º 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327605" y="1374559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Agencia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695597" y="1374021"/>
            <a:ext cx="1143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Conta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951630" y="1398434"/>
            <a:ext cx="1054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Status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8395899" y="1398434"/>
            <a:ext cx="1836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Observação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254" y="2607910"/>
            <a:ext cx="7268333" cy="3785290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28254" y="1771745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376145020-60</a:t>
            </a:r>
            <a:endParaRPr lang="pt-BR" dirty="0" smtClean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356705" y="1747474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0002</a:t>
            </a:r>
            <a:endParaRPr lang="pt-BR" b="1" dirty="0" smtClean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734861" y="1771745"/>
            <a:ext cx="118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133373-9</a:t>
            </a:r>
            <a:endParaRPr lang="pt-BR" b="1" dirty="0" smtClean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306933" y="1771745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7899</a:t>
            </a:r>
            <a:endParaRPr lang="pt-BR" b="1" dirty="0" smtClean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28254" y="2196207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434510866-70</a:t>
            </a:r>
            <a:endParaRPr lang="pt-BR" dirty="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750016" y="2158957"/>
            <a:ext cx="118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133374-7</a:t>
            </a:r>
            <a:endParaRPr lang="pt-BR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314627" y="2141077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7899</a:t>
            </a:r>
            <a:endParaRPr lang="pt-BR" b="1" dirty="0" smtClean="0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361609" y="2158957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0002</a:t>
            </a:r>
            <a:endParaRPr lang="pt-BR" b="1" dirty="0" smtClean="0"/>
          </a:p>
        </p:txBody>
      </p:sp>
    </p:spTree>
    <p:extLst>
      <p:ext uri="{BB962C8B-B14F-4D97-AF65-F5344CB8AC3E}">
        <p14:creationId xmlns:p14="http://schemas.microsoft.com/office/powerpoint/2010/main" val="3860417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64964" y="1956253"/>
            <a:ext cx="2089592" cy="435133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032" y="1745452"/>
            <a:ext cx="2221774" cy="477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342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833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67382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228036" y="196341"/>
            <a:ext cx="6374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Bradesco – Terminal Financeiro</a:t>
            </a:r>
            <a:endParaRPr lang="pt-BR" sz="2600" b="1" dirty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Arquitetura 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pic>
        <p:nvPicPr>
          <p:cNvPr id="149" name="Imagem 148">
            <a:extLst>
              <a:ext uri="{FF2B5EF4-FFF2-40B4-BE49-F238E27FC236}">
                <a16:creationId xmlns:a16="http://schemas.microsoft.com/office/drawing/2014/main" id="{C69F268A-EA4B-2CA2-B7E0-A91BCF0C276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8238615" y="6790566"/>
            <a:ext cx="405487" cy="19713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C2CD672-5CA7-8C30-F410-B15144C4B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2066" y="302678"/>
            <a:ext cx="762000" cy="571500"/>
          </a:xfrm>
          <a:prstGeom prst="rect">
            <a:avLst/>
          </a:prstGeom>
        </p:spPr>
      </p:pic>
      <p:sp>
        <p:nvSpPr>
          <p:cNvPr id="49" name="AutoShape 6" descr="data:image/png;base64,iVBORw0KGgoAAAANSUhEUgAAAVAAAAFQCAYAAADp6CbZAAAAAXNSR0IArs4c6QAAAhJ0RVh0bXhmaWxlACUzQ214R3JhcGhNb2RlbCUzRSUzQ3Jvb3QlM0UlM0NteENlbGwlMjBpZCUzRCUyMjAlMjIlMkYlM0UlM0NteENlbGwlMjBpZCUzRCUyMjElMjIlMjBwYXJlbnQlM0QlMjIwJTIyJTJGJTNFJTNDbXhDZWxsJTIwaWQlM0QlMjIyJTIyJTIwdmFsdWUlM0QlMjIlMjIlMjBzdHlsZSUzRCUyMmltYWdlJTNCYXNwZWN0JTNEZml4ZWQlM0JodG1sJTNEMSUzQnBvaW50cyUzRCU1QiU1RCUzQmFsaWduJTNEY2VudGVyJTNCZm9udFNpemUlM0QxMiUzQmltYWdlJTNEaW1nJTJGbGliJTJGYXp1cmUyJTJGbmV0d29ya2luZyUyRkFwcGxpY2F0aW9uX0dhdGV3YXlzLnN2ZyUzQiUyMiUyMHZlcnRleCUzRCUyMjElMjIlMjBwYXJlbnQlM0QlMjIxJTIyJTNFJTNDbXhHZW9tZXRyeSUyMHglM0QlMjIyNjAlMjIlMjB5JTNEJTIyMjkwJTIyJTIwd2lkdGglM0QlMjI2NCUyMiUyMGhlaWdodCUzRCUyMjY0JTIyJTIwYXMlM0QlMjJnZW9tZXRyeSUyMiUyRiUzRSUzQyUyRm14Q2VsbCUzRSUzQyUyRnJvb3QlM0UlM0MlMkZteEdyYXBoTW9kZWwlM0XLSnf0AAAgAElEQVR4Xu19B5wV1dn+c+72zlKlg3RBEUHKqhhF0XRMoiYq1oia2P0So0Y35Isx+fSfRE00YmKvscfeSBS9IlU6Ir132GVhly13/p65O/fO7dPnzMw7v58/nJ057XnPPPc557znPQx0EQKEACFACBhCgBlKRYkIAUKAECAEQARKn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QBgEps0bXVC5r/lbDNKZADuFAb0lgPfRjYD0HwnsnfrqwrdmjJnfIkylqSKBRoAINNDmF6fxN787oiaSxy6HhIvVnVJClEFj/zI8FmLSw3+ctDQsTu2pJkFFgAg0qJYXqN2/eG/EZDDcCbAxKqpMps7YPQObJ0nSbXdPXvqeQM2gqgQQASLQABpdpCZz8mQhVitJqFErTaWOKQq0nUbBEJYi0nQiUZGsGby6EIEGz+bCtJiTpwTUMsZqIPHZTgY9/zKwsAQiUWEMGsCKEIEG0OgiNFmtPJX6KApUzz0kEImKYNCA1oEINKCGd7PZMeUJVqNlzjNpGSllblQCCzNSom6aNLBlE4EG1vTuNFxWnmC1EovPeepRnHxONN37jJSoOwYNeKlEoAHvAE42P648UZO8SGTFvQSEGUALS04aNeBlEYEGvAM41fyY8kScPO0oO0qitLBkB7aUZyoCRKDUK2xHQD3nKUECU7nGR+/jg3IrnoOUqO02pQKiCBCBUk+wFQGnlGdyI0iJ2mpWyrwdASJQ6gq2ISArTwm1YKjhezEVN09FgNp9z53taU7UNvNSxqRAqQ/YhUB02M5qmc1znrnqL0EiEs0FEj03jAApUMPQUcJMCCjKk+8wkuQdRtFoIKmKk8GR53xOlNHqPPVY6xEgArUe00DnKIrypDnRQHdDxxpPBOoY1P4vKDbn6fKwPQvSpET93w0dbSERqKNw+7cwRXlCkmoY40NzZcguQbB7IlH/dkPHW0YE6jjk/ivQA8ozGXQiUf91Q1daRATqCuz+KTRKnqwWSIznmSmOp0B/DzNGO5b80xPdaQkRqDu4+6JUTp4RCYmuSgpDKi0U+z7M2jD97m9RZHtfdEgXGkEE6gLofigyrjylmlzh5gR/TsN5P3RIl9pABOoS8F4u9hdvjZgs5UEetsdPe8t4hJHg/CnXm5Solzuki3UnAnURfC8WrZ7zjNZf7DG69vpJpES92CFdrjMRqMsG8FLxXHlGQtE5T4EWgxKPPTYhhLkSDdGcqJe6pOt1JQJ13QTeqEBs2C6hRu/hb556n++dJxL1RqcUoJZEoAIYQfQq+F15qo9Tbj8yJByK0Oq86P1ShPoRgYpgBYHrEFWerJbvMPKUkjRwTHJC+0iJCtwrxakaEag4thCuJorylFfbg3mFIxFM/zP5iQbT+hpaTQSqAaQgvpIw5xkDwMjJ7ZnO0eSZip8fjydKw/kgfgHa2kwEqg2nQL2VoDz94qWkWNBYe4hEA/UFaG8sEah2rALxpqw8Q+1O8pY5CCUv03jvnpRoILq/7kYSgeqGzL8JbnhrxOQQJ0/uqkRXKgIMNCdK/SIBASJQ6hAyArFhu4Qa+egNZYZSietJ94oep+E8fTMJqwIER8ARIOWpswOQEtUJmH9fJwXqX9tqalmK8lQd/haNJM8jykMVYT5+OFygnwOkRDX1MH+/RATqb/tmbZ2sPJmyYBRgIIw2nZSoUeR8k44I1Dem1NcQ0YbtLW3FONxWgubWEjS3laItkoeSggOx//S1zsG3eQAS2vbpIOBiFUUEKpY9HKmN28qzsaUSW+sHYVv9IGytH4ztBwagpa0oa9tLCuplMi0v3I+eVSvRp3opelWtcAQvDYWEIxLtWNKAk+9eIQL1nUmzN8gt5Vl/uDP2NpyJr3aPwuLtPS1BvSCvCb07rECfDkvQt3oJOpdtsiRfQ5mQEjUEm9cTEYF63YI66s/J8+t1oVomtcfzlBeHJDAwVWB51b3J5wcOd8Hq3SejJG8SBlb3RbfyPOw+1IZ7Z9cjot7hqaMN2V7lCnVo109wfK/XUV60t33xy772RRfXEvAiJWqRLb2SDRGoVyxlsp5ODtv3HOqFWWt/gv5VJ+KU/sUpNX/7q0P4ZONhky3KnDzE2jCkaxjj+ryGTqWbbSsnQ8ZEok4j7mJ5RKAugu9U0SnKU3UQh5WR5eubuuKT9edi5U6+kYnhqC4FOP+Y8pRmtkQk/L9P63GgOWI7BP07foHje/0bvTosd25jKl+dpzlR220rQgFEoCJYwcY6pChPY8E04jVMk/5gSwfM3vADfLF1ckpLfjq6Av075Kf8fdnOZjyz5KCNLU/Mumv5epw68DH0rFwZDQKlXDbg0Z4/kahj1nWvICJQ97C3vWRFeUb3tlupNaPBQJpaK/D5xilYtPUMtEYK0rana1kerh1fmcBZyov/XHAAa/e12o6DUgBjEYzv8xLG930ZDFz92hzUhLHw11OkFE/UMQs7XxARqPOYO1JiTHnaFBhk7d5ReGPF9Tndj3hjvz+0FGN7prop7W2MLii12j+ST8Ccuz99Z9i9KCvcb78taDhvP8YulkAE6iL4dhWdXnlaN2Zdv/dYvLbsF2iTUofm6dpUVshwU00VivJSu9vMdY34cG2TXVDI+fapykevyjx0LAmhrDCE8kKGquJWHNt9HqpLtmHhzrewv2lbex1sGNOTErXVvm5mTgTqJvo2lJ2sPJPpILlIvc/X7x2JV3WQp1LeCX2K8K1BpWlb/ODcA9hcb81QnpP1kdUF6FOVh96V+ehdlZ3k+dxo76rlWLb7PWxtSHXM14tPRnxJidrQ293PkgjUfRtYVgNZeUpSLRiryRD9I1NUEE1/31g3Aq8suUWz8lQ3jIvP6yZUolNJXkp76w9H5KF8U6t+59CCEEP/6nwM7Mj/K5B9TfVeFUV7MKjzbGysX4BVez6BJE+NJkRVseYeLCwxmhPVax+R3ycCFdk6OuqmKE9JNedp1YlDjIWwcd9ReGXpzRkXi7RUtW+HfEwbXZH21ZW7W/DkogYt2aAwj+HobgUY2a0QAzqmX7zSlJHqpariHRjYeR62NazAkl3vy0+swk8pRs6PgRaW9BpH4PeJQAU2jtaqRZWnElVJtdquxKHLtNqs8XmPsstwzyenYXtDSGuVMr7HHetPO7Ik7fN3Vjdi1ob086G8qgOqCzCqe6HsX8pJ1OqrY+kW9O+4EBvqFuLLPbPicftM4pdmtZ+UqNXGcyk/63uhSw0JarFq5WmHYupaNhGRlpvx7JLDWLyj2RKYf3pcOfpXp1eOD807gI118fnQ7hV5mNC7CIM6FqCyyDyB52pAl7L1cqCSVXs/xYa6BbLzV4KCtOpeApFoLmN44DkRqAeMlKmKsTnP2Lnt1lJop5I+qMi/C3xPO1eGXCFacVUUhXDd+EqU5Kd2v7rDEdw/ux6NrRIm9i3GGQPTq1Ur6pEuDz4P27lsCbpXzsPy3TNRf3inVZSZblIgLLVh+p+/t/Q9u9pD+dqLABGovfjalnvisL29mEx+4ckSKvm9NM+LQmUY3PHX2Fp3nPx0zd4WPLJQ2xyllkYP7lSAi45N3ebJ03IFWlrA0LlU/4JQtrL3N0XAfU/3HOL/RrDzYBsamiU0tkbQ2CLhUEtcb54y4DGM6vlOdP+BAfwS9i1kT09KVEuHEfQdIlBBDZOtWjf8e8RklpdmztPCnTXHdD0f2+rOQ6Td15Mrs//9yFrH828PLkFN79RgI1aYhCvYr/a04MvdLdh6oE0mSz0XD0hy0ehfoLpki/07lvjqPClRPeYR5l0iUGFMoa0iaZWntqSa3+pbNRKhyC/BY3iqr7s/rQNXcVZdeSHg52Mr0a3MGqW5raFNJsxVe1pkFcs9kcxcPSpX4ccj7zCThZ60pET1oCXIu0SgghhCSzWiylOqBVCjdlNUhGemw9/0PA8hHyO73omN+0elVOmpxQ1YsatFS1U1vzPyiEKcM7xM8/vJL+5rbMPszYexaEcLDhy2jtyVciYNfBjHdP9AHspbgW8699K4fUiJGu4ILiUkAnUJeL3FJg7b9abW93553msoyksdWn+26TDeWHVIX2YZ3uYdb2I/7tJUjBBnJh1XRJLA/UbnbG7G6r0tCdOUOrLR9GpR/kFcMvpGlBbWaXrfgpdIiVoAolNZ6Ou5TtWKyklAQCbPEN9hFFWeyYrSyvsl205Ft7KbMKxzqpsRj9/5x1l1pgmrvDCEc0eUylsu9Vx8x9K8rYcxd0sz+P87dQ3pEsa3htwbU6BW4p3Onozvnac5UafMa6ocIlBT8Nmf2EnlyVvz+Px7cHTXgTh9QHr3oWQ/Tb0IcH/Oc0aUorRAv08nn9d8dGEDmttMTm7qrTSAs4/+X/TusMxASsNJiEQNQ+dcQiJQ57DWXRInT3DlGfPz1J2FrgRb64fg+cW/lZ3WLx6V3sXo041NeOsrY/6g43oV4btDStPGBtVaUR50hLtTHTawb15rGeneO6JiNX4y8jYzWehOy/jqfIT8RHUD52ACIlAHwdZTlKI8JUmqYV+fBJe8+KD4GcqHmln0/O0vr8HKXSegOJ/h9pM7pK3uvqYI7vlU/3zgN/oVZ1S1enDh72470Ip/LmiQne2dvC4efSOqS7bKQ3k78FcvUqn8SIlEnTSyzrKIQHUC5sTrTitP3qZDLVV4eM6DiEhRl6Kfja1Az4r0oeAemFuPLfVxv8q+HaJzmRv2p1+ht8Pfk/t1Pjz/QILzu922Gd3zDUzs/6TdxaTkT0rUccg1F0gEqhkqZ16MK0/UZHKbsePvszf+AOEN58QaeXK/YkzOMA/apSwfo3sWoW9VHgpDiSqwOcKwYX8bXlp+EL//eB9+MKwUo3ukRqPPhiZfYf9wbSPOO7oM1WnC3ylp+RHJfE5WvYPITiuVFNRj2tirkBdqsyXaXTa7gu+dp+G8neY1lDcRqCHY7EmUVnnaECA93aFqTy38P+w62DfWML6N8oYJlQkNndivBMO75CNf4/oPH2F/ubsVM9dqmzPl85rcTWrBtmjQEh4c+dJRFTgiS4xPTqIPz29AgwMnfPI6fWfonzCo8+dxXByyT3uBYUQY7Z235/MzlCsRqCHYrE8UdVVCrQSpxvbDzpK2fLZGCvHX8BOQkpZ3eMAPfihcdUkI3xlSig5FxrrLoRbgxWUHwQOFZLrW72/F80sPprgnFeUzXHJsedbI8nx/OydRJ1yb+lcvxJThf7TpYOhMwQzif2cgJWr912c8R2NfhPHyKGUaBBKUp/WHZ+bk4011I/Di0ttTasZdmaaOLMd3hpQgTeAkXbbknkevr2rEpv2pR3d8tqkJb65qzOhfyqPOTx1ZljV4MifPx75owI4GfXvedTVCdsGV8NOxV6G8YF9OXC0MTZB8qCopUb2Gs+l9IlCbgNWabVx58qOH+eXsmJCXN2fTWfh0w49TqlzTpxhvnNcN+UnznFrblvweJ9GnFx9EXft+et7S11Yewtwth3NmyeMnnzOiDCO6FmZ8t6VNwrNLDuLLPdZuN00u8IR+z2Fsr1fb/+y8vThzkxLN2WUceYEI1BGY0xciK0+W6Ofpxuf42vKbsW5fNGyd+lpzfW90KbW2i/DhPD8PvjUSJTu+YKT14jU5K8eiFMfv/TWN+Gi9fSd99u2wGD8YfqdLP3dR4StfDKREtXYem96z9uuwqZJ+zDamPCWpJsmxMBq1Iu5oaPv932Y/hua2xJ1HM77XBT8eYU8w4yU7W3HO8zuw5YCx4TafWuB+pdmuRdub8dKKg2jLsuNzQMd8+WgQfi49jweq9WRQfp78tLFXRPfUKg66DtoroX+Akyg527vFEUSgLiCvVp5uKE610fc2dsfjC/6SgsLeW/oin9njqN4SATr9YaMp5LMdk6xkvKGuFU8takhwc+JTAN8fWiJHuj+6WyGUo5X2NUb32b+zukl2weIBl7NdV427DMX5DS5MuKgUqPIzS0rUVF8yk5gI1Ax6BtKmKE87js/V4Si6fMdEvPvVzxJa8r+TOuK6cem3chpoctok93x2AL/9zz5T2Q3rUiCHwst2wByfb330iwbUN0VwxZgKXHJcOQZUZz8r/j/rmuQ996+uzBx56kcjfoveHZZbc9yxDntldEAlJWqqLxlNTARqFDkD6RTlKTm0t11LFeds5g705ya8uvjnvdCvSqOzp5ZC0ryzZn8Eox7YbDB1PFmn0hCmHlOOLlmCMvPwd1VFoYz7+9NVggcu+d1HdXhu6cG0dTy5/+MY1eMt0/W3MgO+sASJ/EStxDRXXkSguRCy6HnUVQm14HOesUuZ61T+4Pz97E0/xGcbz05opZ3Dd6WglghDpz9ssARdrkD5jic+JE93je5eiJo++nZD8XzW7G3Frz7Yh3fTHKY3ottMnD5wRvsg2j37pTm0iUjUkl6lLRMiUG04mXorq/JMngRNLsnm559tOAefb/5hrFR+YuaWm3qZaq/WxJ3/uBHNxtaR0hbBjz/+5qAS5KkCNHctC8nznR2KjSnqV1YcwkWv7E4pr1v5Gvxk5K2pXmcO2y9lEja6tEUkqrUTmnyPCNQkgLmSJyrP3DtNkj2m7b7n/p9zNk+JNePY7kX4+JJuuZplyfNx/9iOFTutOWteqVCvynxcMLIMFYVRwqzpXYTRPTL7juZqCF/Fv+DlXbKjv/qqLNqFy8Zc49qOpNz9gpMorc7nsq/Z50SgZhHMkj6mPCXFSd7GwgxmPWvD+Zi/5Xux1KO6F+Ejhwh0wj+2Y5nFBMobwvfQX3BMOfp1yMfZw0vl7ahmrr/NOYBbPkhc8Kos3olLj+MEKu7F+Oo8zYnaaiAiUJvgjZJndG+7eLozrl8+WjcVC7Z+J4YCH+puvNGZIXzX/9uMJu6EadM1bXQ57jmjo+ncP97QhO88vTMhn6riHbh09LUJx7+LaGfQcN60/bNlQARqA7xeUJ5Ks/+77mJ8se2bCSjsu6Uv8mzyAVUKapUYOt5lzSJSJhOO6VGImRcfYdrC2w60Ycj9/Hz4+MUJ9JLjrjWdtxMZkBK1D2UiUIuxTVSePJI8jxivKD7x7meuuQSLtp+RgMKyq3uhd6WxRRetcK6vi+CYv5l3Y8pW3qjuhfjoEvMEyoNHD/trIoF2KNmGS467QXj7Kv2PlKjWnqnvPSJQfXhlfZuTZ0SSahkTd84zuQGzN/0IszclujH9cXInXDXG+FntWiC9f04Dbvtgr5ZXDb8zpHMBPvvpEcgPmevm3I3p7H/tSqhHdck2XDTqesN1cyMhKVHrUTfXs6yvj2dzjCnPBD9P8Zuzeu9YvLHyppSK7rulT2ybo9Wt4IGWO95lbiun1jq9f2E38MPszFx3zaoD/099dSzZggtH3WgmW1fSEolaCzsRqAV4elF5Ks2ua+qGRxfcl4LC4z/ogrOG2hNM5IXljbjs1URFZ4EZ0mbBo+pPPyX9AXlayuQR7y98eTc+2ZgYcs+rBMrbTCSqxfLa3iEC1YZTxre8qjzVDXrg89RoTPz5hht7o7rY2i6yp1FC/z9vMom69uR9qvLx6JROOL6nMRXKD6676d19mHRkMT7deBhN7SeB8mOOf3y0s8cca2917jeJRHNjpOUNa78OLSX66B218swcEyT9scPx991//q+lv8O2A4NTLMOHvu9M7WbZUJ57LJ32xA4s2Jo7gLKV3eT8Y8pw56RqdCzRtzA2a0MT7vjPfvBITZcdV4GDzRHsPBR1u6ooXAiwXyPy9Ulv6Y6VFsm+merHF5YiETb9/rOWvmcl3kHKiwjUoLW95KqUq4kz1/4Ui7efnva12yZ2wP+cUGmaRPmOnn8tO4j/+7RO3mPu9HX56Ar88oRKdMtyQJ26TnzIzuc9OYleMqocAztGj25Wrr4dvsCB5n/jyz2fON0US8uTJIRDjAKQGAWVCNQAcjHlCdS4cISR5UftLNlxOjiJJl/8LKLbv1GFDkV5mDLM+H7y/U0RvP1VI3YfikCChHdXN8nE5PTFA45wNcoDMme6eF1fXnFIPnqEHzWSKe7osC7/RWnBAYQ3PY/6wzuFd6jP1k9JiRrviUSgOrHzk/JUmr69YSCeWxw9okJ9De9agPOOjsYF5SHh+PnuE3oVIk+jWxA/toMHKZ67JfXYDi0R43WaRtPrJfkM3x1Sion9iuTzlQZ3KkBbRMIX25vl45T5USAz10XJ/ZhuhTh3RKo7V4i1YVT3aCi7/254FE2tDZrKFvklJiH89VwEHZms00hEoDoAu+aVEZNDIeUMIz9oT2XzYUheia8/3DUBjR8eVYrjuicuvhxsiWBszyL5fPhOpXkpPpacjPY0RrBiVwvmbm1GkRLyPQ3O/AiNJxY14GCzPZHvdZg27av8d2JMjyKcNqAYZQXx+dPywj0Y3DksE+d/1z8SjX/kaQ0aqz/NiersNESgGgG74ZURkyMhqZapgyEnh+9MzstDz3lIu882nRNrAa/6rROrUKoiDnXz9jW24Z5wPbqX56FfdZ7MH+v2t8lHYVw6Kvs57up8nDqOWKOZ075WnM/kYf/YnoUIMQYeyq5X5XJsPrACS3d8kDlrD9lfaYQEmhPV01eIQDWglV55qrpc/JxEV44lTnNKjqpV2k5dOthcjX/Mf7BdTQHc/YcfgZHp+mBtI/jRF+kuLee4q9PxoT5ftPnv+ibwo4lFvXhU+xP7FuHcEUvQpWw7Fm1/F9savoxhFq23NrzjbRTyfVKiGjshEWgOoBTyTFCeWegpOTub4yGni6ebUAU95b+64has33+snP7U/sWYdGTmxZY/flIHrh4zXXzkfsHIcnmOUevF83tndSP4/Gjy1bsqHzee0AHHHVGIyqIQ+FTC0p0t+Pucenyx3Tm3qLxQC64Zdw0GdRqK9fsXormtKeHn08v2V9edlKi2XksEmgUnmTz5ue18b7vLh785Uf7qvePx5qro9kQ+DB+Q5LqjQLVhfytmzD+Qs4fxOcTvDS3F8T30ObFvqm/FaysOYVtDm0yWb089Akd3zXwQ3Nr9EUx9eReWOECkI7p+gEkDHhbnMDl7+yUp0Ry9nAg0A0DqYbtvlghyLHVIUh4env93NLVW4jff6JAxCAc/rZK7+Gi9tBxBnC4vFmK4YnQFCkK5h/USGH49cz/un524Z11rHbW+N/XYG9GpZIs/loy0LX0RiWbpHESgacAJmvKMxtuT5E3Sszddhs1138TPxlam7TZtkiSfVtmsc65yaOcC/HhEGQqyrMqrC+xcmodzjy77+hy+3OSpTnfJq3vkc93tuHpWLsePjvqNjJMTIwKByiESzdChiECTgAmi8lQUdnlhNc499hH8z5v5OLlv+mE3P4LjmSXGCKpTSQhnjyhD78rs57Jzk0w9tgId9I38ZUs2tAA97rYn0tO3B/8ZAzvN9o/TkjYFqrQ3HIqw6X+mbZ8JjEEEqoIjpjyhHD3sQT+UFPNmU3Dx9pUVVuO6k55E1/L+mPlVHWZvSE+STy1ukH08jV5cvE3oVYTJA0vAV+vTXcO7FeHUfsYPgvvr3IO49f09RquYNl11STOmjpz69SktajyD0z+ioLBwRKK98+oOQgTajkZMefID4IIy6dnezrKialx3IifPfjIazc3NeG7RfmyuS9yzzofvv/1vHbjbkdmLq9EfDi9D36pUNfqjEeXoXma8a25rkDDkPmsjPt05uSvG93kT/156j4/85vVJ0PbvgkhU1fmN91KzX5BA6ePKk0eS99MOo9y/BBVFHXHNiU/EyJObpbW1FfsOtuDR+fsTyHLd/lb8Q8Pqu1bT8tod270QkweUyKvtynX5mAoUmzhIMyIxdLDwvKUelflYddMglBWGMHP1o/j3sv9niHl8xLxEou2dNfAEmkieSZ++z0doFcWdcP2JT6NTWeopnFyFztt8CP9deygGysx1jfhwrfVBQPjCEp9zPalvsbzyzxewzB5qd8aTO7DrYAQ8IDIPEGLm+vCn/XDqgPie+FnrnsFLi38f58NMmfu7/xCJJm2hMNPHPJmWkydjfHumFI+qFF2MjutQn96XF3XCDSc9k5Y8uTEjkQhaWlrw5ML92NnQJtv3HwsOYN0++0LR8Z0+Zw4qwYPf7Yx8k6eC3v953E+VTznsaIhuM911qA2HWiT5v4bmCJpaJBxsv+eOCNUlIVQVh1BdHP33+8Mq8LOaznLMT/UVJdE744vxyo54n/aX2LgsoX00JxpYBZpVeXry50B7pSuKOuH6k9IrT3UunEB3NbTg6S/qcLg1gukWzX/mqum6G3qjU4nxrtkaYXhwbn2uYnI+Ly8M4eKxnVFZnN5r4LMNL+L5L36TMx+fvxBoJWq8l3q4V8SVJ2pixw7Lv6yqY4d9el9Z1BXXnfRERuWpNivHhg/lt9a34O5Ze/Hg3Ny7j6zoFv86txvOHA5r9xcAACAASURBVGDAh6m98I31El5bYT7E3LeHVWJkz2g4v0zXZ+tfxPOLatuVqP/7T7rvBYyFpYCuzgeOQIOsPKuKOXk+hY6lPTTzXFtbm7yotGhHC054aKMlK/C5Ch/UqQDzr+ie67WMz9/86jDW7k3dT68nw14dCnDhmC6aknAl+q8vpsvBogN8BVKJBopAZeWJtlqA1QSto1cVd8P1E/WRp4IRH8rn5eXhleUNOOeZTbDAiykn/K+ed4QhX9Cdh4Dnl5hTysUFIVxZ0zVjKL90lZ+94SU8u/COnO2y8oXOZX2w+6A9mwYM1VNWom3T7z9rZWDOWAoMgSrKU5KkGnlBoH1WPDok4UMvZYde9N7O57845QXwofQrS/+ABZvftr38jmU9cc0Jj6JjaU9D34WCEU/82Pz9uOTFLYby0Zto2dW90btSexetOwz88Lkd6FIWQteyPPk/tXuUlvJ5tP2fn9gNfP5T7zV30+t4av6vbO8/xQVluGrCw+jXcSTeXzUDb664z9H+m/X7AAI1nNfeO/X2JoHejypPHkle2WHkXuX4Tp/bTnsjVgGuWrh6sevqVNoL1018Enz4btV176d7cP0b263KLms+4ct7YkSX3E6hG+sjOOaBzYgkeSwV5jGZSEsLGArygMIQ/7f9//MY1JuhelcV4C/f64kqE06o8za9gSfn32wbNkX5pbiq5mH07xgNO7jn0Gb89r0zbCvPWMYs/LUMCcRpn74n0LjyRI06BkRcYaaPDWHX8x6VQ/DLU+KEyefN+PxZeP2LCbEjrCi/uqwHrj/pKUvJU/mgXl1+ABe/sAV1TVEXJzuv6yZU4epxlehWmtpd9zUBj3/RgDtm7jVVhUGdC/Hplf3RpSz3Pv1cBS3Y8jaemnczIohkjDlixL7FBaX4ec0j6FM9IlaFuqadqH331JRyjORv5ffB44kGYWHJ1wQq4pxnzypOoC+nfIPPfVELvqJr1cUXivicJ5/7tOvaVNciz4nO3thoVxEJ+fJhNT8Q7oiKfOw5FMH7aw5i2wHzBN6/uhCfXtUf3SvMk6dS4cXbPsCjc26Qz4234uLK8+oTHk0gT54vJ9A73jnFiiJsyIMrUX/PifqWQBVXJUh82B7dEsLkUBDxrZpu3PeoGpyWQHnv5T6F4fUvxA4pM1q/TmW9cd1Jj9tKnuqv7fb3d+J3M3fZ8AHan+XRRxTj9Yv6oG8H7ZHztdZq8bYPVSRqvP8V5Zfh6hMSladShyiBnipM/079vuDr4bwvCTRhzlOwI2d68iH8qakKVPkgXlx0J/gul9ils/58zvOGk58Bd5Z38vpk/SGc/cxGbLdAETpRb65i/3BmN1w4qoM8dWLXtWz7R/jH59cgIrUrZZ32LMorxdUnpirPRAJVKVCd+TtzhJN/50Rt7Dp2dcns+cbJEzUibkWODuGzLxq9uPj3mLX2mVhQqEwtTm4f39N+w8SnHSdPXj9+xO8fZl6FpxedgtV7x7ljfI2l/nJiZ9wxqYscHMSJa9n2j/HPOdeiLZK4DTZX/yzOL8XPMyjPVAWa2pJc+Tv83JdK1FcEGpvzlOJ+nqL9IPeoGoKbsyjQBCW69hnNAoGv7l878XHXyPO+jy/ClrqVcn33NfbCvG1TsGrPCYhIuVfQnSAxXsaEPq146txhOLKj8VijRuv65c4wHvrsKrRGWjWd4SrPeWZRngkE+nZcgYrW3xPqw/1EfTYn6hsCjSlPPucpj8lijp7RZXZB7ntWDs46hFd/oK8tvQczv3o0Z/27VvTH9ROfBA+K7PTFled9sy7GlroV0blbxaEWEg42d8SCbd/F0l2T0NJW7HTV5PIK8xoxuNOn4IfBda/YhCvGP4AhXd3ZR/Hlzs8w47OfoVXiAakz98+igsxznskgqudAk/EX8p6vzvvIxckXBKpWnkL/AgPQqkCVD+XVpffgP5xE26/k9nUp748bTnaPPO/9+CJsrVuZsX68vi1tpVi04wws330W6pqcIdKuZWtk0hzS6RMUhOIH4IVC+bhywoOukehXu+fi759OQ2skutU02Z6F+aW4RoPy9KQCVdrrIyXqeQJNUZ72HvNq+jAxPQpU+UjeXvkA3lnxtxSH1SMqB+Hakx51V3nuX6H5kLXRvadgUNfb8OHqg/hwzUGENxzSfThdNhnL1SYnzGO6vYdOJRsy1isvr8BVJbqak2j4SrREDif0Jz3KM2UOVPB+n+qo6g8l6mkC5eSJSFstWHTOM3lSXMR7vQpU+VD4UJ4P6ZVwFd0rB8o7jEoL0p+eaed4mQ/bFeWZ7YSgZPzH9vk+Lhj9+1jVGlsi4Kv3H6w+iA9WN2DBVn3BmvmOodE9i9GxZBkOHX4R/aoWIU+lNrPZP89lJbpu7xf42yeXobkt2mY+56lHeaoJ9Pb2OVAR+3vW/sGVaGvb9PvP9u7eec8SaILyjH2SqrnOhKM5lBfcf96jchBunvSKIX7jCzVr9sxDz6qhuPrER1BaWGUoHzOJDrcelOc8N+9fnuUnKxnnaInHJxFounpsqW+RAzjn2uHUtTwfR3WNhrx7Y/m9eP/LGar6pC8/3ZEaV0x4AEcdMdEMJIbTrtkzHw+Fr8Th1kP47vAbcdrgy3TnVde4o90PVC0htLc/Oong4vfBvK1EPUmgMnm2K089CkiEX+juVYPxq1ONEejaPQuxatdsnDzgApQUVOj+2MwmUMhzk0ye+hV/sgI1Wx8lPSfQ976cYXgEclXNQxjW7USrqqMrn437lmL5jlmYeOR5hn4QOYHeLjvS67eHCN+DPAcssbAU8aYS9RyBJirPTIpS3L/35DuRNLgx6foKHXhZXm3/WLXabuDwPS0K1EhTcivQ7P0hL1QArkTdWp030mYljbwK/3Z0J5KnD63zqBL1FIFe88LQyQixeDxPUX5Ck0dAWe75TqSbJ2XeiWTmY7IrbVNLdM5zS/3K9CM+je0f2zdxDtSq+r6xLKpADUtQAHxO9IqaBzHUJRcno1hwAr39rXY/UA9+D4kxqKUwIpKn5kQ9Q6DXvDBiMgtJtRKTYjuMxNWZmfWA0UUkox+Y2XRR5XkRNtetjPGTUdydGsIbrV9+KB/TJniLRKMK9BSv68+4Oxcfzoe8EwrPEwR67QsjaqRQ270AG2OWENxOz7dyekWBHmqpx/0fXyLvMLLikgl0THwV3oo8eR4xBWpBhl5TogkK1IL2i5EFm8cibdfdd/bKsBj1yVwL4Ql02rzRBUUbGvkKwcVydCI5gryi8Lx336NysCcIlJPnvR9fiG11X1mGt/0K1Jr+kJ/nHSWaqECtab8Q35eExw73LZk2Y8x8vm1L2Et4Ar32haO+L4XwqrAI6qyYFxSoTJ4fTcW2+tU6W5f9dS8oUKUFXlGi/lSgUSuwCKbcd/by1yzthBZnJj6BvnzUg5KEKy1ut2vZiU6gdpEnB9xLBMrr6wUS9TWBMvz9vh8sv8q1j1VDwcIT6DUvDlsJxoZoaIsnXhGZQO0kTy8SqEKiPx1/H4YfcbKQ/cvPBAqJfXn/j5YNFRL49kqJT6AvDT8ESCUig6inbqISqN3k6VUC5fUOsTxcPuF+IUnU1wQK1nj/D5eV6vm+nH5XeAK9+sVhhxhYiewmLEdLS3MMsXxUhzee80WkX51mbCeSXZ3jUHM9/vLRVGw/sNpWfMdxP1CbVuHfXTnD1v7BWB6m1YhHojKBvtnuxuSD7yPh+4bUeP+PVhCBmvnwaQhvBr3caZ1QnkotvDYHmoyeiErU1wqUhvC5P+Bcb1z94lEPMuDKzBvVlMO6Mm1kE+s5d6T/1Wli7ESKKs8LsL1+TRZHbOvws12Bpt3QaF39+XBNNCWaoEAdaH/qd2gtvur8Afz9rz+iRaRcHJn1eYobk+gRk3PUT97KKQCBxpRn3eroL49y2YivIwrUxvrLEElAKCTOnGiKAnWg/U71F3JjMkWd0cSyI/36xhkSpIs9HSyhXePxYCJuz4EqynNb/RpHg1CM7TsFU22YA32d74Vf+ZCjwTRCLIRpNX91fWGJE+iv3+R74T0eTCSp/hLwWEs/cqS3gEIBeSsni27l9Ho34eHsbnF5Eemvsy7Dlztnm97brnfPuTtDeHt/dm+b/Aa6VfS3pJ8byWQ/jwf61qn+ok/Gt3Ky6+47eylt5TTSKdKlkSMxMVYrATX2fhL2UrTbCrS5tRE3vcZDCtjbznT5+0mBKu2bcvT/YNLgS6zq5rrz4QR6+1s+CGfX3h8lSOGQ5J2ITMK7Mal7FI/IBNYmh7Nz/vO3hrZ7CDCE//unV2LZ9lmkQE3+jFQWdcKvTn/FlaOkle/CXwqUhSF5K7CypwiUd5qfvTB0MmOslklciXrv4gR6y+nubu2fu/F1PDHnZsfB4/FApx5/l+Xlvr70L3hvJT/Sw7mrorgTrj/5SXSt6OdcoWlKkhWoPAfq7UsCwiF4R3kqaHuOQHnF48N5VpNyLqzgq5B8Ff5Xp7vvxjRnw2t4at5tsuO8U6uqMoHatojUTqAO2J+T542nPIPOZb1cZ626xp34tRJQmdfGgfZb3V8Yk8Lw0LBdbXRPEmhMiYLVMnlOVP17IPYpSfIc6Oli7ESSSXTurZBiYcHtDWkuz4Eeb3080LgCtbf+/JemorhjO3n2dp08eQVkAn3zG+11sb/9po4kSHNkAJ/zlCBNf8CjJ3N6lkAVJRrhw3molKjgk6OiKFDl609RojbiN7afjQp0hepID73uARrfF0l5KvaLKVAb7WbXZLmXlaenh/Dqn355ThT8nCR44qgPvhPpFkEUqJpEn5x7qzz+s/M75G5Mds2BynvhTS4KZUtfXtwJN8nDdjGUZwKBvvkNW+1mE66eVp6+IdCYEpWH8yzNwlLypFDyyMvZ5zwakwhzoMkoRIfzt6mG88ob1uETXUSyYwjPHekzLSKZr39FcWdh5jyT7RYdwmdbRDLf/sRJcvPfj9eH7b6YA002Y0yJ8tX59okJ+ZdTJami0ZzaN6wo+1Ycfi6iAk1QonNuhcSi88hW4zeOD+FtWoV/d4USjcla+5YXdcJNp4qnPNUK9DY+B8rXAgXo3zm/L8AXytNXClRpDF+dj2RUokLM+UNUBZowJ5pWiZrHzx0FarzeIs556legxttvdUo/KU9fEihv1M+eGzqZ5bFaCOon2rODeHOgyR/K53w4z5Vo4qHdpr8neQ50rD1+oFyBWnlx8hRZeSYo0DeUVXgrEbA4L+Yv5elbApVJtH1hic+JxgO0KoGY3f036kgvhhtTtk+Ek+jTc29DRIqAMeW0R3P/jutnlxvTvXh3xUOW1bOyhM95Pi3cglE6eylzoKL1c3V94FPyVKa5LP6pESM7UZWoFxSoYkGrlagXFKhXlKeHFGhYYt7188zFZp72A83VuPjCEl+djytPZVe7oqycvPeKAk0kUb46H1eiRvFySoEarZ+XlGcigUbD2bnRn+WdbO0OZMnl+1l5+noIryZWWYmGon6i8t9d3urGz0S69Qx398Ln+uFJfv70vNvx2bqXon82gZ8jCtRE/S6vuQ8je56mFx5X3+d74X/9hsqNyUT7zdpXnZ7vbUdEmv7Aj1e+5ypANhfuawWqYCcrUYmTaFSJxi/nt76VFJTj7imf22xWa7P/ZO2/8Nz836gCFqt/f7XjOY5v5Rxrhx/oXxBdRDJnz2tPfhSDu46zFjybc1u183Pc95ESTs9c+83iF0vP5zzb/E+evp4DTe63ihKVJNRwfzlFScmxNBy+H9V7Mk4eeL7Nn5Y12fNFpBcW/g7b69bI34cZvGQ/ULtW4ZdHt3KaqV/vjkfh28OvQVG+0AdBxgzbcHiv/MOxef8KV/tzwvcTEOUZmCF8+uG8okQz/WInb15LVlz0PDFgsjZ8nFOgZB8j9skc8VabfcGd5AMwbFdzSiCG8MkkCj4nKqifqDW6UcxcuAK90AYF+u8lyhBezHYHolY8JF0Evp/zTLZl4AiUA8CH85xE5VB42qfwLJsiihlBkCkrp+pj2xBeIdCA4Wlyyte6/sznPAOmPAM5hCcl6q4WIgXqLv62lC5J/OC3wCnPwBNoghJVDecF8QKJ9XU/1cd2BWrOy0rG3E94296eACtPItB2BOThPBB1cVLCD8lhbVThiOjeEjzG9bdxDrR9FT62DE/2i4fTsqX/Blt5EoGqxjOxOVEJ8mmfyWuOdB9FwOwU43ib3JiURSSz9aP0Gr2kWTCc5LVMeQRyESkdMFElqtqxFGOMLAFpEwJmpsmVnicEYJXnQMdZH41JJlCuQJMvwj8xAK4l+JDyVMNIBJqsRDmJMm8emazlF9PNd2gRyU30LSiblGfa32gLkPVPFsqcqCSfscTkmJj0rzU4jO83xTYF+s7yh8hONvZXgJRnOpYjBZoGlbTDef/8RrjWEseH8K611HcFh8GPHvZ5YBAjViMCzYAaKVHrlTcpUGuUvMMjojALsJ9nLlIlAs2CECnRXN1H33NSoPrwEuBtUp45jEAEmgMgTqIS9xNVTvskP6c4Yjr9frgf6EXj/mA5L/x78V/A50BN+1npbI/PywszFtwdRlo7KRGoBqTUzva0UyXxlHA9eDihQPXUh5ue3k9rT1KeGniBv0IEqhEoWYlKfMeS2sWJJItG12sZZX6kx0XjbfADVRSozyWhQxKblKdGTiAC1QEUf1VWopxEGT/tMxqImf7VjsN4vpXTJkf6d5bNIHuY74+kPHVyAilQnYClV6I6Mwno63wIf9F4G+dAA4qrRc0m5WkASCJQA6DFSTQ5sr06ErqScfzUwsSI38F77twQXt2tCf/0kebV/Q9EngZ4gIbwBkFThvPynKiyOp/Mh3QfRUC1SuOIAqVVIX2rfCDyNEEDtIhkBrxEJUqMmcKYSQwaJVC7FpGUYCLEoDoYNMwY7TAywwE0hDeDHl9YemroZCkPtfJpnyrBlWngGOS/80Uku+ZA317G98InHqVG95nxACPlafLTl5MTgVqAYoISzXSubvJyffK5ygF4Pq6/jW5My7gjfZZzjQOAr/b2E3la8NkTgVoFojwnSko0pwIkBeq+QuZHDzN+euYFK9+zsv8HNS9SoBZaPq0SJUfRmDJ0VIES7mkcdBFmbUSeFn7yNIS3Ekye17Snhk7OC6GWxxNNXoUO+r1dCvQ1vhOJD+GTVv3pPsELIhwi5Wn1504EajmiynA+FN32GeRFo+RFHLsIlAcToUWk9N6e7f2Phu12fOi0iGQTqmolqo7iFPBl4fFH2rMKLyvQpapoTAHHOWEyGghHIpg+g+Y8bfnYaQ7UFlijmcoLSwlKVAmoqywmBOt+vI2r8FEFGiw8c7eXFoxs/LxpFd5ucJU50RAnUa5EA37JQ/gJ1u+Ff22Rag404BjHms9IeTrRFUiBOoAyV6KRdiUa29oYwMlRGsI74+nPGMJtNGx34MsmR3pHQCYlGoWZFKgD3U1COAKa83QAaRrCOwWyUk5MiQZ0OE8Eam+PI+VpL77pcqchvMOYcz/RELifqFTDGIOkcvj2+/2EI6fYNgf69tK/w+/4ZWsfI+Xp8JccLY4I1AXYFRIFC9bC0unDLsUPRv3CcsQ//uo5PDt3uuX5eiZDWjByzVREoC5Br1aiMRdoJRiG8rsm+zOqVptceD6w83EIhfKjqx8myq8oqsZ3R16DIyoHWI54S1sT3lj8N6zbu1iFV7s80IlfW1sL1uxaGJcXOtPH7WWsfL3pmSSFI2Dk52l5r9KWIRGoNpxseUt0JXrHt19H96qBtrRd5EzX7l6Iu987T+QqKgRPTvIuW4kI1GUDpFWiOeMa2b/VprSwAn86e47L6LhX/JVPD1UkpJD/MpDydK93xEsmAhXACjElmrx3Xglvmcl90Obnpw6dinNG3yoAQs5W4enP78Cs1S/Ew2u6hH8svGlq+eSq5GyXyFgaEagghhBViU4aeiHOHn2LICjZX41n50zHR18954zHu4GRBilP+/uAnhKIQPWgZfO7cRKNrs4rA3WlWLfug0Kiz875LT766tmYld3CO4u9SXna/A3qzZ4IVC9iNr/PSfRr59BaxuOJqobocrEu3k8aehHOHuNfJRpVns/Ki+Cxj8JFvJPtLQHhrx1dabXd5u9Pb/ZEoHoRc+D9ZCXqQJGaivCrEk1WnprAcPAlxkPS0fZMBxHXXhQRqHasHH0zqkR5UGZJqNM+zxg+DWeNutFRLOws7Jk50/HxqmdFjvFCytPODmAybyJQkwDamVxWohJqJb5jKTl6k1JwpqhONj4/c8TlmHKs90lUVp6rnk0fyt1G/BL2/2WxHylPO78ua/ImArUGR9tymfbY0MnIk+TjQWwrxEDGZ3pcif5r3l34cOXjBlruWBJSno5BbbwgIlDj2DmWUhnOywtLMSnqvkQ6c/jlmOLB4fwLMnk+0Q6gCxI+hwRlYOEIo5B0jn1gJgoiAjUBnpNJSYlagzYpT2twpFyiCBCBeqgnJCrRaMUlSPJZQMl6NH5v//NvDp/mCSXKlecHK59I0n/246PVPlFXJVKeHvokiUC9ZCxe15gSFSwo83eOuRrfHXm1sHDKynOF4HOeETZ9xsUr3xMWRKpYCgKkQD3YKeLDeVYT9fxWBRdx8f6sUTeBz4uKdsWH7YpnvBh4xXdGsDDaQOQpWsfRUB8iUA0gifiKqEqU+4ieOWKaMJCR8hTGFL6sCBGoh82aVomqjgiJhxNSKS8Hnp91nBhKNEaesbBGzuKgAX9Snh7+/mgRyePGi82JhqRaCRBqx5LbSvTlhX/Cu0tnCL3DiNGcp+e/QFKgnjdh+8JSSDxne7dI9JWFf8I7S2eIbNkwiDxFto/muhGBaoZK7Bfl4TxXohJqRBqxOk2iLy/4E95dNiO2tubAjIWGkXr0qCbZLkCYlKfY35Ke2hGB6kFL8HcVEo1v+xQjoqVTJJqqPMVof7zbsDAitNou+Gekq3pEoLrgEv9lTqISH87H/ESVrYqZ6u7M83OOvwWnDbvINgC58kw/bHemfZkb1l4+I+Vpm/FdzJgI1EXw7SpaIVG+d16kIey5x9+CSTaQKFeeby+ZoW8orTql2YEpD5rztKuzu5wvEajLBrCr+FQlaldJ+vK1Wom+vuiv4P8JfIWZRDuMBLaPqaoRgZqCT+zEMSUqoSZtzCGbT/XMdKqkVUqUD9n50D3jIc8utS9WHwZSnmJ/IqZrRwRqGkKxM5j22MDJEsuTI9urtg7GT510aeunWSWqkKdIW1kT8QUpT7E/DUtqRwRqCYxiZyIrUSaen6hREo2Rp6iw04KRqJaxvF5EoJZDKmaGMRKVpBrFITE69s20mqKcq2zv83PG3ILTjtK+Ov/Okhngu4ziW4zsrZ9ufLifJ815ivkR2FArIlAbQBU1S1GV6PnjanHykJ/khE145UnkmdOGfnuBCNRvFs3RnksfGzg5j+XVShI/7ZO1B2RWBJ179+eN/w2+kYVEuZvSKwv+JEx9o4tycbzAWLhNYtMfoXiegfqiiEADZe5oYxOUKGcC5XJ5487549MrUXnYvuBP8dMzBamvavmfhu0B/I54k4lAA2p4tRJVmElRVG7enze+NkGJfrD8cTw/9y7Za0CE+vEjVBLwYQhHSHkG9CsiAg2s4ROUqGDHg/xk3O04Zej5eHfpP/HS/LvFtRFfbacFI3Ht40DNSIE6ALLIRXAlGpLa/UQzeqTH3UZFDrCZ2aPejvrzo4dpzlPkvu1E3YhAnUBZ8DLiLk4ZdizZwT+xgXB8atMz/M1AC0aC92mnqkcE6hTSgpeToEQFr6u71SPl6S7+YpVOBCqWPVytjaxEJakWjJRohtgBpDxd7aHiFU4EKp5NXK3Rpf8cODkUUvbOu1oV0QoPRyKR6Y9ctprObRfNMi7WhwjURfBFLfrSx4ZODnElCtSo9kx6edbS7CwuLRiJ2lldrhcRqMsGELV4RYlK4DuW4ldyfHe/3wMg5SlqJxWgXkSgAhhB1CpkV6JKrdPOFqah3OT3PJE+HImw6Y9ctpKG7aJ2UpfrRQTqsgFELz6qREPyaZ8xP8v2SisBk2NtSNoK6uXnjCtPieY8Re+fbtePCNRtC3ig/Ev/OXRyKHbufCbF6au/hyORNlow8kDfdLuKRKBuW8Aj5ctKlEdxkiPb+/ci5elf29rRMiJQO1D1aZ4JSlSk4z6tO1aTlKdP+65dzSICtQtZn+YbVaKhWkl2cfLPJQFh0JynfwzqUEuIQB0C2k/FKMN5flCdQOFEk9e4NN8zsHBEojlPP/VRp9pCBOoU0j4rJ6ZE1avz6mggSnsF93Ii5emzjulwc4hAHQbcT8XJc6Is4tnhPClPP/VGd9pCBOoO7r4plStRsFAtaw/K7JWdSRKjOU/fdEIXG0IE6iL4fik6YWHJA+6gjNGcp1/6ntvtIAJ12wI+KV9RopAg750XmEfDAO0w8km3c70ZRKCum8A/FYgN57mLk4AMSsrTP31NlJYQgYpiCZ/UQyZRhGq5i5N8WIficK8wqmv3IOXpkz4mUjOIQEWyhk/qopAoQzyyfbJXk5P3PCQdDdt90rkEawYRqGAG8Ut1YkpUkmpg3VbLuKLVupWUyNMvXUrIdhCBCmkWf1QqnRJ1cmoUYGGAdhj5ozeJ2QoiUDHt4ptaJShRzZsrleYnBRjVk55x8qTVdt90JEEbQgQqqGH8VK34wpJjq/NEnn7qQAK3hQhUYOP4qWrplagNHqN8hxEpTz91HaHbQgQqtHn8Vbk4idoUCo/I018dxgOtIQL1gJH8VMVLHxo4WQpF/UStXZxnYRaiOU8/9RUvtIUI1AtW8lkdZSUaCdWCqc+dz9TI5PAkye9JAC0Y+ayHeKc5RKDesZWvapqgRDPtnVc2MmV9TsrTVx3DY40hAvWYwfxU3UQlaqBlNOdpADRKYiUCRKBWokl56UZArUT1JWZhFolMf+SK1e/pS0dvEwLWIUAEah2W1Om9ZwAAAnVJREFUlJNBBDiJIi90JySMkSCBgSHrv4zNQ1vkNiJPg4BTMssQIAK1DErKyAwCl8wYUMNCocslCRdny4cxPCZFIg8/Om1N2Ex5lJYQsAIBIlArUKQ8LEFg2kOjC1pCDd9iiJwpgZ0CSH14FDzG2EZA+o+E0DsFkfK3Zlwxv8WSAikTQsAkAkSgJgGk5IQAIRBcBIhAg2t7ajkhQAiYRIAI1CSAlJwQIASCiwARaHBtTy0nBAgBkwgQgZoEkJITAoRAcBEgAg2u7anlhAAhYBIBIlCTAFJyQoAQCC4CRKDBtT21nBAgBEwiQARqEkBKTggQAsFFgAg0uLanlhMChIBJBIhATQJIyQkBQiC4CBCBBtf21HJCgBAwiQARqEkAKTkhQAgEFwEi0ODanlpOCBACJhEgAjUJICUnBAiB4CJABBpc21PLCQFCwCQCRKAmAaTkhAAhEFwEiECDa3tqOSFACJhEgAjUJICUnBAgBIKLABFocG1PLScECAGTCBCBmgSQkhMChEBwESACDa7tqeWEACFgEgEiUJMAUnJCgBAILgJEoMG1PbWcECAETCJABGoSQEpOCBACwUWACDS4tqeWEwKEgEkEiEBNAkjJCQFCILgIEIEG1/bUckKAEDCJABGoSQApOSFACAQXASLQ4NqeWk4IEAImESACNQkgJScECIHgIkAEGlzbU8sJAULAJAJEoCYBpOSEACEQXASIQINre2o5IUAImESACNQkgJScECAEgosAEWhwbU8tJwQIAZMIEIGaBJCSEwKEQHARIAINru2p5YQAIWASASJQkwBSckKAEAguAkSgwbU9tZwQIARMIvD/AVDkvnv22WOGAAAAAElFTkSuQmCC"/>
          <p:cNvSpPr>
            <a:spLocks noChangeAspect="1" noChangeArrowheads="1"/>
          </p:cNvSpPr>
          <p:nvPr/>
        </p:nvSpPr>
        <p:spPr bwMode="auto">
          <a:xfrm>
            <a:off x="155575" y="-381000"/>
            <a:ext cx="80010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2" name="Rectangle 5"/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4" name="Rectangle 6"/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7977212" y="1757385"/>
            <a:ext cx="377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Não vigência de Negociação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272277" y="1401087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Subproduto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28254" y="1348002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Massa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230717" y="845763"/>
            <a:ext cx="208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70C0"/>
                </a:solidFill>
              </a:rPr>
              <a:t>Antecipação do 13º 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327605" y="1374559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Agencia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695597" y="1374021"/>
            <a:ext cx="1143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Conta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7980498" y="1367747"/>
            <a:ext cx="1836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Observação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668" y="2916430"/>
            <a:ext cx="7049796" cy="3434403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28254" y="1788575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702563660-63</a:t>
            </a:r>
            <a:endParaRPr lang="pt-BR" dirty="0" smtClean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356705" y="1764304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0002</a:t>
            </a:r>
            <a:endParaRPr lang="pt-BR" b="1" dirty="0" smtClean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734861" y="1788575"/>
            <a:ext cx="118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133254-6</a:t>
            </a:r>
            <a:endParaRPr lang="pt-BR" b="1" dirty="0" smtClean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529325" y="1776811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7141</a:t>
            </a:r>
            <a:endParaRPr lang="pt-BR" b="1" dirty="0" smtClean="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28254" y="2140028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825806568-80</a:t>
            </a:r>
            <a:endParaRPr lang="pt-BR" dirty="0" smtClean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356705" y="2115757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0002</a:t>
            </a:r>
            <a:endParaRPr lang="pt-BR" b="1" dirty="0" smtClean="0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734861" y="2140028"/>
            <a:ext cx="118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128112-7</a:t>
            </a:r>
            <a:endParaRPr lang="pt-BR" b="1" dirty="0" smtClean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529325" y="2128264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7138</a:t>
            </a:r>
            <a:endParaRPr lang="pt-BR" b="1" dirty="0" smtClean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28254" y="2498143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530661161-31</a:t>
            </a:r>
            <a:endParaRPr lang="pt-BR" b="1" dirty="0" smtClean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356705" y="2473872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0002</a:t>
            </a:r>
            <a:endParaRPr lang="pt-BR" b="1" dirty="0" smtClean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734861" y="2498143"/>
            <a:ext cx="118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133244-9</a:t>
            </a:r>
            <a:endParaRPr lang="pt-BR" b="1" dirty="0" smtClean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529325" y="2486379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7138</a:t>
            </a:r>
            <a:endParaRPr lang="pt-BR" b="1" dirty="0" smtClean="0"/>
          </a:p>
        </p:txBody>
      </p:sp>
    </p:spTree>
    <p:extLst>
      <p:ext uri="{BB962C8B-B14F-4D97-AF65-F5344CB8AC3E}">
        <p14:creationId xmlns:p14="http://schemas.microsoft.com/office/powerpoint/2010/main" val="374307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833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67382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228036" y="196341"/>
            <a:ext cx="6374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Bradesco – Terminal Financeiro</a:t>
            </a:r>
            <a:endParaRPr lang="pt-BR" sz="2600" b="1" dirty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Arquitetura 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pic>
        <p:nvPicPr>
          <p:cNvPr id="149" name="Imagem 148">
            <a:extLst>
              <a:ext uri="{FF2B5EF4-FFF2-40B4-BE49-F238E27FC236}">
                <a16:creationId xmlns:a16="http://schemas.microsoft.com/office/drawing/2014/main" id="{C69F268A-EA4B-2CA2-B7E0-A91BCF0C276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8238615" y="6790566"/>
            <a:ext cx="405487" cy="19713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C2CD672-5CA7-8C30-F410-B15144C4B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2066" y="302678"/>
            <a:ext cx="762000" cy="571500"/>
          </a:xfrm>
          <a:prstGeom prst="rect">
            <a:avLst/>
          </a:prstGeom>
        </p:spPr>
      </p:pic>
      <p:sp>
        <p:nvSpPr>
          <p:cNvPr id="49" name="AutoShape 6" descr="data:image/png;base64,iVBORw0KGgoAAAANSUhEUgAAAVAAAAFQCAYAAADp6CbZAAAAAXNSR0IArs4c6QAAAhJ0RVh0bXhmaWxlACUzQ214R3JhcGhNb2RlbCUzRSUzQ3Jvb3QlM0UlM0NteENlbGwlMjBpZCUzRCUyMjAlMjIlMkYlM0UlM0NteENlbGwlMjBpZCUzRCUyMjElMjIlMjBwYXJlbnQlM0QlMjIwJTIyJTJGJTNFJTNDbXhDZWxsJTIwaWQlM0QlMjIyJTIyJTIwdmFsdWUlM0QlMjIlMjIlMjBzdHlsZSUzRCUyMmltYWdlJTNCYXNwZWN0JTNEZml4ZWQlM0JodG1sJTNEMSUzQnBvaW50cyUzRCU1QiU1RCUzQmFsaWduJTNEY2VudGVyJTNCZm9udFNpemUlM0QxMiUzQmltYWdlJTNEaW1nJTJGbGliJTJGYXp1cmUyJTJGbmV0d29ya2luZyUyRkFwcGxpY2F0aW9uX0dhdGV3YXlzLnN2ZyUzQiUyMiUyMHZlcnRleCUzRCUyMjElMjIlMjBwYXJlbnQlM0QlMjIxJTIyJTNFJTNDbXhHZW9tZXRyeSUyMHglM0QlMjIyNjAlMjIlMjB5JTNEJTIyMjkwJTIyJTIwd2lkdGglM0QlMjI2NCUyMiUyMGhlaWdodCUzRCUyMjY0JTIyJTIwYXMlM0QlMjJnZW9tZXRyeSUyMiUyRiUzRSUzQyUyRm14Q2VsbCUzRSUzQyUyRnJvb3QlM0UlM0MlMkZteEdyYXBoTW9kZWwlM0XLSnf0AAAgAElEQVR4Xu19B5wV1dn+c+72zlKlg3RBEUHKqhhF0XRMoiYq1oia2P0So0Y35Isx+fSfRE00YmKvscfeSBS9IlU6Ir132GVhly13/p65O/fO7dPnzMw7v58/nJ057XnPPPc557znPQx0EQKEACFACBhCgBlKRYkIAUKAECAEQARKn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QBgEps0bXVC5r/lbDNKZADuFAb0lgPfRjYD0HwnsnfrqwrdmjJnfIkylqSKBRoAINNDmF6fxN787oiaSxy6HhIvVnVJClEFj/zI8FmLSw3+ctDQsTu2pJkFFgAg0qJYXqN2/eG/EZDDcCbAxKqpMps7YPQObJ0nSbXdPXvqeQM2gqgQQASLQABpdpCZz8mQhVitJqFErTaWOKQq0nUbBEJYi0nQiUZGsGby6EIEGz+bCtJiTpwTUMsZqIPHZTgY9/zKwsAQiUWEMGsCKEIEG0OgiNFmtPJX6KApUzz0kEImKYNCA1oEINKCGd7PZMeUJVqNlzjNpGSllblQCCzNSom6aNLBlE4EG1vTuNFxWnmC1EovPeepRnHxONN37jJSoOwYNeKlEoAHvAE42P648UZO8SGTFvQSEGUALS04aNeBlEYEGvAM41fyY8kScPO0oO0qitLBkB7aUZyoCRKDUK2xHQD3nKUECU7nGR+/jg3IrnoOUqO02pQKiCBCBUk+wFQGnlGdyI0iJ2mpWyrwdASJQ6gq2ISArTwm1YKjhezEVN09FgNp9z53taU7UNvNSxqRAqQ/YhUB02M5qmc1znrnqL0EiEs0FEj03jAApUMPQUcJMCCjKk+8wkuQdRtFoIKmKk8GR53xOlNHqPPVY6xEgArUe00DnKIrypDnRQHdDxxpPBOoY1P4vKDbn6fKwPQvSpET93w0dbSERqKNw+7cwRXlCkmoY40NzZcguQbB7IlH/dkPHW0YE6jjk/ivQA8ozGXQiUf91Q1daRATqCuz+KTRKnqwWSIznmSmOp0B/DzNGO5b80xPdaQkRqDu4+6JUTp4RCYmuSgpDKi0U+z7M2jD97m9RZHtfdEgXGkEE6gLofigyrjylmlzh5gR/TsN5P3RIl9pABOoS8F4u9hdvjZgs5UEetsdPe8t4hJHg/CnXm5Solzuki3UnAnURfC8WrZ7zjNZf7DG69vpJpES92CFdrjMRqMsG8FLxXHlGQtE5T4EWgxKPPTYhhLkSDdGcqJe6pOt1JQJ13QTeqEBs2C6hRu/hb556n++dJxL1RqcUoJZEoAIYQfQq+F15qo9Tbj8yJByK0Oq86P1ShPoRgYpgBYHrEFWerJbvMPKUkjRwTHJC+0iJCtwrxakaEag4thCuJorylFfbg3mFIxFM/zP5iQbT+hpaTQSqAaQgvpIw5xkDwMjJ7ZnO0eSZip8fjydKw/kgfgHa2kwEqg2nQL2VoDz94qWkWNBYe4hEA/UFaG8sEah2rALxpqw8Q+1O8pY5CCUv03jvnpRoILq/7kYSgeqGzL8JbnhrxOQQJ0/uqkRXKgIMNCdK/SIBASJQ6hAyArFhu4Qa+egNZYZSietJ94oep+E8fTMJqwIER8ARIOWpswOQEtUJmH9fJwXqX9tqalmK8lQd/haNJM8jykMVYT5+OFygnwOkRDX1MH+/RATqb/tmbZ2sPJmyYBRgIIw2nZSoUeR8k44I1Dem1NcQ0YbtLW3FONxWgubWEjS3laItkoeSggOx//S1zsG3eQAS2vbpIOBiFUUEKpY9HKmN28qzsaUSW+sHYVv9IGytH4ztBwagpa0oa9tLCuplMi0v3I+eVSvRp3opelWtcAQvDYWEIxLtWNKAk+9eIQL1nUmzN8gt5Vl/uDP2NpyJr3aPwuLtPS1BvSCvCb07rECfDkvQt3oJOpdtsiRfQ5mQEjUEm9cTEYF63YI66s/J8+t1oVomtcfzlBeHJDAwVWB51b3J5wcOd8Hq3SejJG8SBlb3RbfyPOw+1IZ7Z9cjot7hqaMN2V7lCnVo109wfK/XUV60t33xy772RRfXEvAiJWqRLb2SDRGoVyxlsp5ODtv3HOqFWWt/gv5VJ+KU/sUpNX/7q0P4ZONhky3KnDzE2jCkaxjj+ryGTqWbbSsnQ8ZEok4j7mJ5RKAugu9U0SnKU3UQh5WR5eubuuKT9edi5U6+kYnhqC4FOP+Y8pRmtkQk/L9P63GgOWI7BP07foHje/0bvTosd25jKl+dpzlR220rQgFEoCJYwcY6pChPY8E04jVMk/5gSwfM3vADfLF1ckpLfjq6Av075Kf8fdnOZjyz5KCNLU/Mumv5epw68DH0rFwZDQKlXDbg0Z4/kahj1nWvICJQ97C3vWRFeUb3tlupNaPBQJpaK/D5xilYtPUMtEYK0rana1kerh1fmcBZyov/XHAAa/e12o6DUgBjEYzv8xLG930ZDFz92hzUhLHw11OkFE/UMQs7XxARqPOYO1JiTHnaFBhk7d5ReGPF9Tndj3hjvz+0FGN7prop7W2MLii12j+ST8Ccuz99Z9i9KCvcb78taDhvP8YulkAE6iL4dhWdXnlaN2Zdv/dYvLbsF2iTUofm6dpUVshwU00VivJSu9vMdY34cG2TXVDI+fapykevyjx0LAmhrDCE8kKGquJWHNt9HqpLtmHhzrewv2lbex1sGNOTErXVvm5mTgTqJvo2lJ2sPJPpILlIvc/X7x2JV3WQp1LeCX2K8K1BpWlb/ODcA9hcb81QnpP1kdUF6FOVh96V+ehdlZ3k+dxo76rlWLb7PWxtSHXM14tPRnxJidrQ293PkgjUfRtYVgNZeUpSLRiryRD9I1NUEE1/31g3Aq8suUWz8lQ3jIvP6yZUolNJXkp76w9H5KF8U6t+59CCEEP/6nwM7Mj/K5B9TfVeFUV7MKjzbGysX4BVez6BJE+NJkRVseYeLCwxmhPVax+R3ycCFdk6OuqmKE9JNedp1YlDjIWwcd9ReGXpzRkXi7RUtW+HfEwbXZH21ZW7W/DkogYt2aAwj+HobgUY2a0QAzqmX7zSlJHqpariHRjYeR62NazAkl3vy0+swk8pRs6PgRaW9BpH4PeJQAU2jtaqRZWnElVJtdquxKHLtNqs8XmPsstwzyenYXtDSGuVMr7HHetPO7Ik7fN3Vjdi1ob086G8qgOqCzCqe6HsX8pJ1OqrY+kW9O+4EBvqFuLLPbPicftM4pdmtZ+UqNXGcyk/63uhSw0JarFq5WmHYupaNhGRlpvx7JLDWLyj2RKYf3pcOfpXp1eOD807gI118fnQ7hV5mNC7CIM6FqCyyDyB52pAl7L1cqCSVXs/xYa6BbLzV4KCtOpeApFoLmN44DkRqAeMlKmKsTnP2Lnt1lJop5I+qMi/C3xPO1eGXCFacVUUhXDd+EqU5Kd2v7rDEdw/ux6NrRIm9i3GGQPTq1Ur6pEuDz4P27lsCbpXzsPy3TNRf3inVZSZblIgLLVh+p+/t/Q9u9pD+dqLABGovfjalnvisL29mEx+4ckSKvm9NM+LQmUY3PHX2Fp3nPx0zd4WPLJQ2xyllkYP7lSAi45N3ebJ03IFWlrA0LlU/4JQtrL3N0XAfU/3HOL/RrDzYBsamiU0tkbQ2CLhUEtcb54y4DGM6vlOdP+BAfwS9i1kT09KVEuHEfQdIlBBDZOtWjf8e8RklpdmztPCnTXHdD0f2+rOQ6Td15Mrs//9yFrH828PLkFN79RgI1aYhCvYr/a04MvdLdh6oE0mSz0XD0hy0ehfoLpki/07lvjqPClRPeYR5l0iUGFMoa0iaZWntqSa3+pbNRKhyC/BY3iqr7s/rQNXcVZdeSHg52Mr0a3MGqW5raFNJsxVe1pkFcs9kcxcPSpX4ccj7zCThZ60pET1oCXIu0SgghhCSzWiylOqBVCjdlNUhGemw9/0PA8hHyO73omN+0elVOmpxQ1YsatFS1U1vzPyiEKcM7xM8/vJL+5rbMPszYexaEcLDhy2jtyVciYNfBjHdP9AHspbgW8699K4fUiJGu4ILiUkAnUJeL3FJg7b9abW93553msoyksdWn+26TDeWHVIX2YZ3uYdb2I/7tJUjBBnJh1XRJLA/UbnbG7G6r0tCdOUOrLR9GpR/kFcMvpGlBbWaXrfgpdIiVoAolNZ6Ou5TtWKyklAQCbPEN9hFFWeyYrSyvsl205Ft7KbMKxzqpsRj9/5x1l1pgmrvDCEc0eUylsu9Vx8x9K8rYcxd0sz+P87dQ3pEsa3htwbU6BW4p3Onozvnac5UafMa6ocIlBT8Nmf2EnlyVvz+Px7cHTXgTh9QHr3oWQ/Tb0IcH/Oc0aUorRAv08nn9d8dGEDmttMTm7qrTSAs4/+X/TusMxASsNJiEQNQ+dcQiJQ57DWXRInT3DlGfPz1J2FrgRb64fg+cW/lZ3WLx6V3sXo041NeOsrY/6g43oV4btDStPGBtVaUR50hLtTHTawb15rGeneO6JiNX4y8jYzWehOy/jqfIT8RHUD52ACIlAHwdZTlKI8JUmqYV+fBJe8+KD4GcqHmln0/O0vr8HKXSegOJ/h9pM7pK3uvqYI7vlU/3zgN/oVZ1S1enDh72470Ip/LmiQne2dvC4efSOqS7bKQ3k78FcvUqn8SIlEnTSyzrKIQHUC5sTrTitP3qZDLVV4eM6DiEhRl6Kfja1Az4r0oeAemFuPLfVxv8q+HaJzmRv2p1+ht8Pfk/t1Pjz/QILzu922Gd3zDUzs/6TdxaTkT0rUccg1F0gEqhkqZ16MK0/UZHKbsePvszf+AOEN58QaeXK/YkzOMA/apSwfo3sWoW9VHgpDiSqwOcKwYX8bXlp+EL//eB9+MKwUo3ukRqPPhiZfYf9wbSPOO7oM1WnC3ylp+RHJfE5WvYPITiuVFNRj2tirkBdqsyXaXTa7gu+dp+G8neY1lDcRqCHY7EmUVnnaECA93aFqTy38P+w62DfWML6N8oYJlQkNndivBMO75CNf4/oPH2F/ubsVM9dqmzPl85rcTWrBtmjQEh4c+dJRFTgiS4xPTqIPz29AgwMnfPI6fWfonzCo8+dxXByyT3uBYUQY7Z235/MzlCsRqCHYrE8UdVVCrQSpxvbDzpK2fLZGCvHX8BOQkpZ3eMAPfihcdUkI3xlSig5FxrrLoRbgxWUHwQOFZLrW72/F80sPprgnFeUzXHJsedbI8nx/OydRJ1yb+lcvxJThf7TpYOhMwQzif2cgJWr912c8R2NfhPHyKGUaBBKUp/WHZ+bk4011I/Di0ttTasZdmaaOLMd3hpQgTeAkXbbknkevr2rEpv2pR3d8tqkJb65qzOhfyqPOTx1ZljV4MifPx75owI4GfXvedTVCdsGV8NOxV6G8YF9OXC0MTZB8qCopUb2Gs+l9IlCbgNWabVx58qOH+eXsmJCXN2fTWfh0w49TqlzTpxhvnNcN+UnznFrblvweJ9GnFx9EXft+et7S11Yewtwth3NmyeMnnzOiDCO6FmZ8t6VNwrNLDuLLPdZuN00u8IR+z2Fsr1fb/+y8vThzkxLN2WUceYEI1BGY0xciK0+W6Ofpxuf42vKbsW5fNGyd+lpzfW90KbW2i/DhPD8PvjUSJTu+YKT14jU5K8eiFMfv/TWN+Gi9fSd99u2wGD8YfqdLP3dR4StfDKREtXYem96z9uuwqZJ+zDamPCWpJsmxMBq1Iu5oaPv932Y/hua2xJ1HM77XBT8eYU8w4yU7W3HO8zuw5YCx4TafWuB+pdmuRdub8dKKg2jLsuNzQMd8+WgQfi49jweq9WRQfp78tLFXRPfUKg66DtoroX+Akyg527vFEUSgLiCvVp5uKE610fc2dsfjC/6SgsLeW/oin9njqN4SATr9YaMp5LMdk6xkvKGuFU8takhwc+JTAN8fWiJHuj+6WyGUo5X2NUb32b+zukl2weIBl7NdV427DMX5DS5MuKgUqPIzS0rUVF8yk5gI1Ax6BtKmKE87js/V4Si6fMdEvPvVzxJa8r+TOuK6cem3chpoctok93x2AL/9zz5T2Q3rUiCHwst2wByfb330iwbUN0VwxZgKXHJcOQZUZz8r/j/rmuQ996+uzBx56kcjfoveHZZbc9yxDntldEAlJWqqLxlNTARqFDkD6RTlKTm0t11LFeds5g705ya8uvjnvdCvSqOzp5ZC0ryzZn8Eox7YbDB1PFmn0hCmHlOOLlmCMvPwd1VFoYz7+9NVggcu+d1HdXhu6cG0dTy5/+MY1eMt0/W3MgO+sASJ/EStxDRXXkSguRCy6HnUVQm14HOesUuZ61T+4Pz97E0/xGcbz05opZ3Dd6WglghDpz9ssARdrkD5jic+JE93je5eiJo++nZD8XzW7G3Frz7Yh3fTHKY3ottMnD5wRvsg2j37pTm0iUjUkl6lLRMiUG04mXorq/JMngRNLsnm559tOAefb/5hrFR+YuaWm3qZaq/WxJ3/uBHNxtaR0hbBjz/+5qAS5KkCNHctC8nznR2KjSnqV1YcwkWv7E4pr1v5Gvxk5K2pXmcO2y9lEja6tEUkqrUTmnyPCNQkgLmSJyrP3DtNkj2m7b7n/p9zNk+JNePY7kX4+JJuuZplyfNx/9iOFTutOWteqVCvynxcMLIMFYVRwqzpXYTRPTL7juZqCF/Fv+DlXbKjv/qqLNqFy8Zc49qOpNz9gpMorc7nsq/Z50SgZhHMkj6mPCXFSd7GwgxmPWvD+Zi/5Xux1KO6F+Ejhwh0wj+2Y5nFBMobwvfQX3BMOfp1yMfZw0vl7ahmrr/NOYBbPkhc8Kos3olLj+MEKu7F+Oo8zYnaaiAiUJvgjZJndG+7eLozrl8+WjcVC7Z+J4YCH+puvNGZIXzX/9uMJu6EadM1bXQ57jmjo+ncP97QhO88vTMhn6riHbh09LUJx7+LaGfQcN60/bNlQARqA7xeUJ5Ks/+77mJ8se2bCSjsu6Uv8mzyAVUKapUYOt5lzSJSJhOO6VGImRcfYdrC2w60Ycj9/Hz4+MUJ9JLjrjWdtxMZkBK1D2UiUIuxTVSePJI8jxivKD7x7meuuQSLtp+RgMKyq3uhd6WxRRetcK6vi+CYv5l3Y8pW3qjuhfjoEvMEyoNHD/trIoF2KNmGS467QXj7Kv2PlKjWnqnvPSJQfXhlfZuTZ0SSahkTd84zuQGzN/0IszclujH9cXInXDXG+FntWiC9f04Dbvtgr5ZXDb8zpHMBPvvpEcgPmevm3I3p7H/tSqhHdck2XDTqesN1cyMhKVHrUTfXs6yvj2dzjCnPBD9P8Zuzeu9YvLHyppSK7rulT2ybo9Wt4IGWO95lbiun1jq9f2E38MPszFx3zaoD/099dSzZggtH3WgmW1fSEolaCzsRqAV4elF5Ks2ua+qGRxfcl4LC4z/ogrOG2hNM5IXljbjs1URFZ4EZ0mbBo+pPPyX9AXlayuQR7y98eTc+2ZgYcs+rBMrbTCSqxfLa3iEC1YZTxre8qjzVDXrg89RoTPz5hht7o7rY2i6yp1FC/z9vMom69uR9qvLx6JROOL6nMRXKD6676d19mHRkMT7deBhN7SeB8mOOf3y0s8cca2917jeJRHNjpOUNa78OLSX66B218swcEyT9scPx991//q+lv8O2A4NTLMOHvu9M7WbZUJ57LJ32xA4s2Jo7gLKV3eT8Y8pw56RqdCzRtzA2a0MT7vjPfvBITZcdV4GDzRHsPBR1u6ooXAiwXyPy9Ulv6Y6VFsm+merHF5YiETb9/rOWvmcl3kHKiwjUoLW95KqUq4kz1/4Ui7efnva12yZ2wP+cUGmaRPmOnn8tO4j/+7RO3mPu9HX56Ar88oRKdMtyQJ26TnzIzuc9OYleMqocAztGj25Wrr4dvsCB5n/jyz2fON0US8uTJIRDjAKQGAWVCNQAcjHlCdS4cISR5UftLNlxOjiJJl/8LKLbv1GFDkV5mDLM+H7y/U0RvP1VI3YfikCChHdXN8nE5PTFA45wNcoDMme6eF1fXnFIPnqEHzWSKe7osC7/RWnBAYQ3PY/6wzuFd6jP1k9JiRrviUSgOrHzk/JUmr69YSCeWxw9okJ9De9agPOOjsYF5SHh+PnuE3oVIk+jWxA/toMHKZ67JfXYDi0R43WaRtPrJfkM3x1Sion9iuTzlQZ3KkBbRMIX25vl45T5USAz10XJ/ZhuhTh3RKo7V4i1YVT3aCi7/254FE2tDZrKFvklJiH89VwEHZms00hEoDoAu+aVEZNDIeUMIz9oT2XzYUheia8/3DUBjR8eVYrjuicuvhxsiWBszyL5fPhOpXkpPpacjPY0RrBiVwvmbm1GkRLyPQ3O/AiNJxY14GCzPZHvdZg27av8d2JMjyKcNqAYZQXx+dPywj0Y3DksE+d/1z8SjX/kaQ0aqz/NiersNESgGgG74ZURkyMhqZapgyEnh+9MzstDz3lIu882nRNrAa/6rROrUKoiDnXz9jW24Z5wPbqX56FfdZ7MH+v2t8lHYVw6Kvs57up8nDqOWKOZ075WnM/kYf/YnoUIMQYeyq5X5XJsPrACS3d8kDlrD9lfaYQEmhPV01eIQDWglV55qrpc/JxEV44lTnNKjqpV2k5dOthcjX/Mf7BdTQHc/YcfgZHp+mBtI/jRF+kuLee4q9PxoT5ftPnv+ibwo4lFvXhU+xP7FuHcEUvQpWw7Fm1/F9savoxhFq23NrzjbRTyfVKiGjshEWgOoBTyTFCeWegpOTub4yGni6ebUAU95b+64has33+snP7U/sWYdGTmxZY/flIHrh4zXXzkfsHIcnmOUevF83tndSP4/Gjy1bsqHzee0AHHHVGIyqIQ+FTC0p0t+Pucenyx3Tm3qLxQC64Zdw0GdRqK9fsXormtKeHn08v2V9edlKi2XksEmgUnmTz5ue18b7vLh785Uf7qvePx5qro9kQ+DB+Q5LqjQLVhfytmzD+Qs4fxOcTvDS3F8T30ObFvqm/FaysOYVtDm0yWb089Akd3zXwQ3Nr9EUx9eReWOECkI7p+gEkDHhbnMDl7+yUp0Ry9nAg0A0DqYbtvlghyLHVIUh4env93NLVW4jff6JAxCAc/rZK7+Gi9tBxBnC4vFmK4YnQFCkK5h/USGH49cz/un524Z11rHbW+N/XYG9GpZIs/loy0LX0RiWbpHESgacAJmvKMxtuT5E3Sszddhs1138TPxlam7TZtkiSfVtmsc65yaOcC/HhEGQqyrMqrC+xcmodzjy77+hy+3OSpTnfJq3vkc93tuHpWLsePjvqNjJMTIwKByiESzdChiECTgAmi8lQUdnlhNc499hH8z5v5OLlv+mE3P4LjmSXGCKpTSQhnjyhD78rs57Jzk0w9tgId9I38ZUs2tAA97rYn0tO3B/8ZAzvN9o/TkjYFqrQ3HIqw6X+mbZ8JjEEEqoIjpjyhHD3sQT+UFPNmU3Dx9pUVVuO6k55E1/L+mPlVHWZvSE+STy1ukH08jV5cvE3oVYTJA0vAV+vTXcO7FeHUfsYPgvvr3IO49f09RquYNl11STOmjpz69SktajyD0z+ioLBwRKK98+oOQgTajkZMefID4IIy6dnezrKialx3IifPfjIazc3NeG7RfmyuS9yzzofvv/1vHbjbkdmLq9EfDi9D36pUNfqjEeXoXma8a25rkDDkPmsjPt05uSvG93kT/156j4/85vVJ0PbvgkhU1fmN91KzX5BA6ePKk0eS99MOo9y/BBVFHXHNiU/EyJObpbW1FfsOtuDR+fsTyHLd/lb8Q8Pqu1bT8tod270QkweUyKvtynX5mAoUmzhIMyIxdLDwvKUelflYddMglBWGMHP1o/j3sv9niHl8xLxEou2dNfAEmkieSZ++z0doFcWdcP2JT6NTWeopnFyFztt8CP9deygGysx1jfhwrfVBQPjCEp9zPalvsbzyzxewzB5qd8aTO7DrYAQ8IDIPEGLm+vCn/XDqgPie+FnrnsFLi38f58NMmfu7/xCJJm2hMNPHPJmWkydjfHumFI+qFF2MjutQn96XF3XCDSc9k5Y8uTEjkQhaWlrw5ML92NnQJtv3HwsOYN0++0LR8Z0+Zw4qwYPf7Yx8k6eC3v953E+VTznsaIhuM911qA2HWiT5v4bmCJpaJBxsv+eOCNUlIVQVh1BdHP33+8Mq8LOaznLMT/UVJdE744vxyo54n/aX2LgsoX00JxpYBZpVeXry50B7pSuKOuH6k9IrT3UunEB3NbTg6S/qcLg1gukWzX/mqum6G3qjU4nxrtkaYXhwbn2uYnI+Ly8M4eKxnVFZnN5r4LMNL+L5L36TMx+fvxBoJWq8l3q4V8SVJ2pixw7Lv6yqY4d9el9Z1BXXnfRERuWpNivHhg/lt9a34O5Ze/Hg3Ny7j6zoFv86txvOHA5r9xcAACAASURBVGDAh6m98I31El5bYT7E3LeHVWJkz2g4v0zXZ+tfxPOLatuVqP/7T7rvBYyFpYCuzgeOQIOsPKuKOXk+hY6lPTTzXFtbm7yotGhHC054aKMlK/C5Ch/UqQDzr+ie67WMz9/86jDW7k3dT68nw14dCnDhmC6aknAl+q8vpsvBogN8BVKJBopAZeWJtlqA1QSto1cVd8P1E/WRp4IRH8rn5eXhleUNOOeZTbDAiykn/K+ed4QhX9Cdh4Dnl5hTysUFIVxZ0zVjKL90lZ+94SU8u/COnO2y8oXOZX2w+6A9mwYM1VNWom3T7z9rZWDOWAoMgSrKU5KkGnlBoH1WPDok4UMvZYde9N7O57845QXwofQrS/+ABZvftr38jmU9cc0Jj6JjaU9D34WCEU/82Pz9uOTFLYby0Zto2dW90btSexetOwz88Lkd6FIWQteyPPk/tXuUlvJ5tP2fn9gNfP5T7zV30+t4av6vbO8/xQVluGrCw+jXcSTeXzUDb664z9H+m/X7AAI1nNfeO/X2JoHejypPHkle2WHkXuX4Tp/bTnsjVgGuWrh6sevqVNoL1018Enz4btV176d7cP0b263KLms+4ct7YkSX3E6hG+sjOOaBzYgkeSwV5jGZSEsLGArygMIQ/7f9//MY1JuhelcV4C/f64kqE06o8za9gSfn32wbNkX5pbiq5mH07xgNO7jn0Gb89r0zbCvPWMYs/LUMCcRpn74n0LjyRI06BkRcYaaPDWHX8x6VQ/DLU+KEyefN+PxZeP2LCbEjrCi/uqwHrj/pKUvJU/mgXl1+ABe/sAV1TVEXJzuv6yZU4epxlehWmtpd9zUBj3/RgDtm7jVVhUGdC/Hplf3RpSz3Pv1cBS3Y8jaemnczIohkjDlixL7FBaX4ec0j6FM9IlaFuqadqH331JRyjORv5ffB44kGYWHJ1wQq4pxnzypOoC+nfIPPfVELvqJr1cUXivicJ5/7tOvaVNciz4nO3thoVxEJ+fJhNT8Q7oiKfOw5FMH7aw5i2wHzBN6/uhCfXtUf3SvMk6dS4cXbPsCjc26Qz4234uLK8+oTHk0gT54vJ9A73jnFiiJsyIMrUX/PifqWQBVXJUh82B7dEsLkUBDxrZpu3PeoGpyWQHnv5T6F4fUvxA4pM1q/TmW9cd1Jj9tKnuqv7fb3d+J3M3fZ8AHan+XRRxTj9Yv6oG8H7ZHztdZq8bYPVSRqvP8V5Zfh6hMSladShyiBnipM/079vuDr4bwvCTRhzlOwI2d68iH8qakKVPkgXlx0J/gul9ils/58zvOGk58Bd5Z38vpk/SGc/cxGbLdAETpRb65i/3BmN1w4qoM8dWLXtWz7R/jH59cgIrUrZZ32LMorxdUnpirPRAJVKVCd+TtzhJN/50Rt7Dp2dcns+cbJEzUibkWODuGzLxq9uPj3mLX2mVhQqEwtTm4f39N+w8SnHSdPXj9+xO8fZl6FpxedgtV7x7ljfI2l/nJiZ9wxqYscHMSJa9n2j/HPOdeiLZK4DTZX/yzOL8XPMyjPVAWa2pJc+Tv83JdK1FcEGpvzlOJ+nqL9IPeoGoKbsyjQBCW69hnNAoGv7l878XHXyPO+jy/ClrqVcn33NfbCvG1TsGrPCYhIuVfQnSAxXsaEPq146txhOLKj8VijRuv65c4wHvrsKrRGWjWd4SrPeWZRngkE+nZcgYrW3xPqw/1EfTYn6hsCjSlPPucpj8lijp7RZXZB7ntWDs46hFd/oK8tvQczv3o0Z/27VvTH9ROfBA+K7PTFled9sy7GlroV0blbxaEWEg42d8SCbd/F0l2T0NJW7HTV5PIK8xoxuNOn4IfBda/YhCvGP4AhXd3ZR/Hlzs8w47OfoVXiAakz98+igsxznskgqudAk/EX8p6vzvvIxckXBKpWnkL/AgPQqkCVD+XVpffgP5xE26/k9nUp748bTnaPPO/9+CJsrVuZsX68vi1tpVi04wws330W6pqcIdKuZWtk0hzS6RMUhOIH4IVC+bhywoOukehXu+fi759OQ2skutU02Z6F+aW4RoPy9KQCVdrrIyXqeQJNUZ72HvNq+jAxPQpU+UjeXvkA3lnxtxSH1SMqB+Hakx51V3nuX6H5kLXRvadgUNfb8OHqg/hwzUGENxzSfThdNhnL1SYnzGO6vYdOJRsy1isvr8BVJbqak2j4SrREDif0Jz3KM2UOVPB+n+qo6g8l6mkC5eSJSFstWHTOM3lSXMR7vQpU+VD4UJ4P6ZVwFd0rB8o7jEoL0p+eaed4mQ/bFeWZ7YSgZPzH9vk+Lhj9+1jVGlsi4Kv3H6w+iA9WN2DBVn3BmvmOodE9i9GxZBkOHX4R/aoWIU+lNrPZP89lJbpu7xf42yeXobkt2mY+56lHeaoJ9Pb2OVAR+3vW/sGVaGvb9PvP9u7eec8SaILyjH2SqrnOhKM5lBfcf96jchBunvSKIX7jCzVr9sxDz6qhuPrER1BaWGUoHzOJDrcelOc8N+9fnuUnKxnnaInHJxFounpsqW+RAzjn2uHUtTwfR3WNhrx7Y/m9eP/LGar6pC8/3ZEaV0x4AEcdMdEMJIbTrtkzHw+Fr8Th1kP47vAbcdrgy3TnVde4o90PVC0htLc/Oong4vfBvK1EPUmgMnm2K089CkiEX+juVYPxq1ONEejaPQuxatdsnDzgApQUVOj+2MwmUMhzk0ye+hV/sgI1Wx8lPSfQ976cYXgEclXNQxjW7USrqqMrn437lmL5jlmYeOR5hn4QOYHeLjvS67eHCN+DPAcssbAU8aYS9RyBJirPTIpS3L/35DuRNLgx6foKHXhZXm3/WLXabuDwPS0K1EhTcivQ7P0hL1QArkTdWp030mYljbwK/3Z0J5KnD63zqBL1FIFe88LQyQixeDxPUX5Ck0dAWe75TqSbJ2XeiWTmY7IrbVNLdM5zS/3K9CM+je0f2zdxDtSq+r6xLKpADUtQAHxO9IqaBzHUJRcno1hwAr39rXY/UA9+D4kxqKUwIpKn5kQ9Q6DXvDBiMgtJtRKTYjuMxNWZmfWA0UUkox+Y2XRR5XkRNtetjPGTUdydGsIbrV9+KB/TJniLRKMK9BSv68+4Oxcfzoe8EwrPEwR67QsjaqRQ270AG2OWENxOz7dyekWBHmqpx/0fXyLvMLLikgl0THwV3oo8eR4xBWpBhl5TogkK1IL2i5EFm8cibdfdd/bKsBj1yVwL4Ql02rzRBUUbGvkKwcVydCI5gryi8Lx336NysCcIlJPnvR9fiG11X1mGt/0K1Jr+kJ/nHSWaqECtab8Q35eExw73LZk2Y8x8vm1L2Et4Ar32haO+L4XwqrAI6qyYFxSoTJ4fTcW2+tU6W5f9dS8oUKUFXlGi/lSgUSuwCKbcd/by1yzthBZnJj6BvnzUg5KEKy1ut2vZiU6gdpEnB9xLBMrr6wUS9TWBMvz9vh8sv8q1j1VDwcIT6DUvDlsJxoZoaIsnXhGZQO0kTy8SqEKiPx1/H4YfcbKQ/cvPBAqJfXn/j5YNFRL49kqJT6AvDT8ESCUig6inbqISqN3k6VUC5fUOsTxcPuF+IUnU1wQK1nj/D5eV6vm+nH5XeAK9+sVhhxhYiewmLEdLS3MMsXxUhzee80WkX51mbCeSXZ3jUHM9/vLRVGw/sNpWfMdxP1CbVuHfXTnD1v7BWB6m1YhHojKBvtnuxuSD7yPh+4bUeP+PVhCBmvnwaQhvBr3caZ1QnkotvDYHmoyeiErU1wqUhvC5P+Bcb1z94lEPMuDKzBvVlMO6Mm1kE+s5d6T/1Wli7ESKKs8LsL1+TRZHbOvws12Bpt3QaF39+XBNNCWaoEAdaH/qd2gtvur8Afz9rz+iRaRcHJn1eYobk+gRk3PUT97KKQCBxpRn3eroL49y2YivIwrUxvrLEElAKCTOnGiKAnWg/U71F3JjMkWd0cSyI/36xhkSpIs9HSyhXePxYCJuz4EqynNb/RpHg1CM7TsFU22YA32d74Vf+ZCjwTRCLIRpNX91fWGJE+iv3+R74T0eTCSp/hLwWEs/cqS3gEIBeSsni27l9Ho34eHsbnF5Eemvsy7Dlztnm97brnfPuTtDeHt/dm+b/Aa6VfS3pJ8byWQ/jwf61qn+ok/Gt3Ky6+47eylt5TTSKdKlkSMxMVYrATX2fhL2UrTbCrS5tRE3vcZDCtjbznT5+0mBKu2bcvT/YNLgS6zq5rrz4QR6+1s+CGfX3h8lSOGQ5J2ITMK7Mal7FI/IBNYmh7Nz/vO3hrZ7CDCE//unV2LZ9lmkQE3+jFQWdcKvTn/FlaOkle/CXwqUhSF5K7CypwiUd5qfvTB0MmOslklciXrv4gR6y+nubu2fu/F1PDHnZsfB4/FApx5/l+Xlvr70L3hvJT/Sw7mrorgTrj/5SXSt6OdcoWlKkhWoPAfq7UsCwiF4R3kqaHuOQHnF48N5VpNyLqzgq5B8Ff5Xp7vvxjRnw2t4at5tsuO8U6uqMoHatojUTqAO2J+T542nPIPOZb1cZ626xp34tRJQmdfGgfZb3V8Yk8Lw0LBdbXRPEmhMiYLVMnlOVP17IPYpSfIc6Oli7ESSSXTurZBiYcHtDWkuz4Eeb3080LgCtbf+/JemorhjO3n2dp08eQVkAn3zG+11sb/9po4kSHNkAJ/zlCBNf8CjJ3N6lkAVJRrhw3molKjgk6OiKFDl609RojbiN7afjQp0hepID73uARrfF0l5KvaLKVAb7WbXZLmXlaenh/Dqn355ThT8nCR44qgPvhPpFkEUqJpEn5x7qzz+s/M75G5Mds2BynvhTS4KZUtfXtwJN8nDdjGUZwKBvvkNW+1mE66eVp6+IdCYEpWH8yzNwlLypFDyyMvZ5zwakwhzoMkoRIfzt6mG88ob1uETXUSyYwjPHekzLSKZr39FcWdh5jyT7RYdwmdbRDLf/sRJcvPfj9eH7b6YA002Y0yJ8tX59okJ+ZdTJami0ZzaN6wo+1Ycfi6iAk1QonNuhcSi88hW4zeOD+FtWoV/d4USjcla+5YXdcJNp4qnPNUK9DY+B8rXAgXo3zm/L8AXytNXClRpDF+dj2RUokLM+UNUBZowJ5pWiZrHzx0FarzeIs556legxttvdUo/KU9fEihv1M+eGzqZ5bFaCOon2rODeHOgyR/K53w4z5Vo4qHdpr8neQ50rD1+oFyBWnlx8hRZeSYo0DeUVXgrEbA4L+Yv5elbApVJtH1hic+JxgO0KoGY3f036kgvhhtTtk+Ek+jTc29DRIqAMeW0R3P/jutnlxvTvXh3xUOW1bOyhM95Pi3cglE6eylzoKL1c3V94FPyVKa5LP6pESM7UZWoFxSoYkGrlagXFKhXlKeHFGhYYt7188zFZp72A83VuPjCEl+djytPZVe7oqycvPeKAk0kUb46H1eiRvFySoEarZ+XlGcigUbD2bnRn+WdbO0OZMnl+1l5+noIryZWWYmGon6i8t9d3urGz0S69Qx398Ln+uFJfv70vNvx2bqXon82gZ8jCtRE/S6vuQ8je56mFx5X3+d74X/9hsqNyUT7zdpXnZ7vbUdEmv7Aj1e+5ypANhfuawWqYCcrUYmTaFSJxi/nt76VFJTj7imf22xWa7P/ZO2/8Nz836gCFqt/f7XjOY5v5Rxrhx/oXxBdRDJnz2tPfhSDu46zFjybc1u183Pc95ESTs9c+83iF0vP5zzb/E+evp4DTe63ihKVJNRwfzlFScmxNBy+H9V7Mk4eeL7Nn5Y12fNFpBcW/g7b69bI34cZvGQ/ULtW4ZdHt3KaqV/vjkfh28OvQVG+0AdBxgzbcHiv/MOxef8KV/tzwvcTEOUZmCF8+uG8okQz/WInb15LVlz0PDFgsjZ8nFOgZB8j9skc8VabfcGd5AMwbFdzSiCG8MkkCj4nKqifqDW6UcxcuAK90AYF+u8lyhBezHYHolY8JF0Evp/zTLZl4AiUA8CH85xE5VB42qfwLJsiihlBkCkrp+pj2xBeIdCA4Wlyyte6/sznPAOmPAM5hCcl6q4WIgXqLv62lC5J/OC3wCnPwBNoghJVDecF8QKJ9XU/1cd2BWrOy0rG3E94296eACtPItB2BOThPBB1cVLCD8lhbVThiOjeEjzG9bdxDrR9FT62DE/2i4fTsqX/Blt5EoGqxjOxOVEJ8mmfyWuOdB9FwOwU43ib3JiURSSz9aP0Gr2kWTCc5LVMeQRyESkdMFElqtqxFGOMLAFpEwJmpsmVnicEYJXnQMdZH41JJlCuQJMvwj8xAK4l+JDyVMNIBJqsRDmJMm8emazlF9PNd2gRyU30LSiblGfa32gLkPVPFsqcqCSfscTkmJj0rzU4jO83xTYF+s7yh8hONvZXgJRnOpYjBZoGlbTDef/8RrjWEseH8K611HcFh8GPHvZ5YBAjViMCzYAaKVHrlTcpUGuUvMMjojALsJ9nLlIlAs2CECnRXN1H33NSoPrwEuBtUp45jEAEmgMgTqIS9xNVTvskP6c4Yjr9frgf6EXj/mA5L/x78V/A50BN+1npbI/PywszFtwdRlo7KRGoBqTUzva0UyXxlHA9eDihQPXUh5ue3k9rT1KeGniBv0IEqhEoWYlKfMeS2sWJJItG12sZZX6kx0XjbfADVRSozyWhQxKblKdGTiAC1QEUf1VWopxEGT/tMxqImf7VjsN4vpXTJkf6d5bNIHuY74+kPHVyAilQnYClV6I6Mwno63wIf9F4G+dAA4qrRc0m5WkASCJQA6DFSTQ5sr06ErqScfzUwsSI38F77twQXt2tCf/0kebV/Q9EngZ4gIbwBkFThvPynKiyOp/Mh3QfRUC1SuOIAqVVIX2rfCDyNEEDtIhkBrxEJUqMmcKYSQwaJVC7FpGUYCLEoDoYNMwY7TAywwE0hDeDHl9YemroZCkPtfJpnyrBlWngGOS/80Uku+ZA317G98InHqVG95nxACPlafLTl5MTgVqAYoISzXSubvJyffK5ygF4Pq6/jW5My7gjfZZzjQOAr/b2E3la8NkTgVoFojwnSko0pwIkBeq+QuZHDzN+euYFK9+zsv8HNS9SoBZaPq0SJUfRmDJ0VIES7mkcdBFmbUSeFn7yNIS3Ekye17Snhk7OC6GWxxNNXoUO+r1dCvQ1vhOJD+GTVv3pPsELIhwi5Wn1504EajmiynA+FN32GeRFo+RFHLsIlAcToUWk9N6e7f2Phu12fOi0iGQTqmolqo7iFPBl4fFH2rMKLyvQpapoTAHHOWEyGghHIpg+g+Y8bfnYaQ7UFlijmcoLSwlKVAmoqywmBOt+vI2r8FEFGiw8c7eXFoxs/LxpFd5ucJU50RAnUa5EA37JQ/gJ1u+Ff22Rag404BjHms9IeTrRFUiBOoAyV6KRdiUa29oYwMlRGsI74+nPGMJtNGx34MsmR3pHQCYlGoWZFKgD3U1COAKa83QAaRrCOwWyUk5MiQZ0OE8Eam+PI+VpL77pcqchvMOYcz/RELifqFTDGIOkcvj2+/2EI6fYNgf69tK/w+/4ZWsfI+Xp8JccLY4I1AXYFRIFC9bC0unDLsUPRv3CcsQ//uo5PDt3uuX5eiZDWjByzVREoC5Br1aiMRdoJRiG8rsm+zOqVptceD6w83EIhfKjqx8myq8oqsZ3R16DIyoHWI54S1sT3lj8N6zbu1iFV7s80IlfW1sL1uxaGJcXOtPH7WWsfL3pmSSFI2Dk52l5r9KWIRGoNpxseUt0JXrHt19H96qBtrRd5EzX7l6Iu987T+QqKgRPTvIuW4kI1GUDpFWiOeMa2b/VprSwAn86e47L6LhX/JVPD1UkpJD/MpDydK93xEsmAhXACjElmrx3Xglvmcl90Obnpw6dinNG3yoAQs5W4enP78Cs1S/Ew2u6hH8svGlq+eSq5GyXyFgaEagghhBViU4aeiHOHn2LICjZX41n50zHR18954zHu4GRBilP+/uAnhKIQPWgZfO7cRKNrs4rA3WlWLfug0Kiz875LT766tmYld3CO4u9SXna/A3qzZ4IVC9iNr/PSfRr59BaxuOJqobocrEu3k8aehHOHuNfJRpVns/Ki+Cxj8JFvJPtLQHhrx1dabXd5u9Pb/ZEoHoRc+D9ZCXqQJGaivCrEk1WnprAcPAlxkPS0fZMBxHXXhQRqHasHH0zqkR5UGZJqNM+zxg+DWeNutFRLOws7Jk50/HxqmdFjvFCytPODmAybyJQkwDamVxWohJqJb5jKTl6k1JwpqhONj4/c8TlmHKs90lUVp6rnk0fyt1G/BL2/2WxHylPO78ua/ImArUGR9tymfbY0MnIk+TjQWwrxEDGZ3pcif5r3l34cOXjBlruWBJSno5BbbwgIlDj2DmWUhnOywtLMSnqvkQ6c/jlmOLB4fwLMnk+0Q6gCxI+hwRlYOEIo5B0jn1gJgoiAjUBnpNJSYlagzYpT2twpFyiCBCBeqgnJCrRaMUlSPJZQMl6NH5v//NvDp/mCSXKlecHK59I0n/246PVPlFXJVKeHvokiUC9ZCxe15gSFSwo83eOuRrfHXm1sHDKynOF4HOeETZ9xsUr3xMWRKpYCgKkQD3YKeLDeVYT9fxWBRdx8f6sUTeBz4uKdsWH7YpnvBh4xXdGsDDaQOQpWsfRUB8iUA0gifiKqEqU+4ieOWKaMJCR8hTGFL6sCBGoh82aVomqjgiJhxNSKS8Hnp91nBhKNEaesbBGzuKgAX9Snh7+/mgRyePGi82JhqRaCRBqx5LbSvTlhX/Cu0tnCL3DiNGcp+e/QFKgnjdh+8JSSDxne7dI9JWFf8I7S2eIbNkwiDxFto/muhGBaoZK7Bfl4TxXohJqRBqxOk2iLy/4E95dNiO2tubAjIWGkXr0qCbZLkCYlKfY35Ke2hGB6kFL8HcVEo1v+xQjoqVTJJqqPMVof7zbsDAitNou+Gekq3pEoLrgEv9lTqISH87H/ESVrYqZ6u7M83OOvwWnDbvINgC58kw/bHemfZkb1l4+I+Vpm/FdzJgI1EXw7SpaIVG+d16kIey5x9+CSTaQKFeeby+ZoW8orTql2YEpD5rztKuzu5wvEajLBrCr+FQlaldJ+vK1Wom+vuiv4P8JfIWZRDuMBLaPqaoRgZqCT+zEMSUqoSZtzCGbT/XMdKqkVUqUD9n50D3jIc8utS9WHwZSnmJ/IqZrRwRqGkKxM5j22MDJEsuTI9urtg7GT510aeunWSWqkKdIW1kT8QUpT7E/DUtqRwRqCYxiZyIrUSaen6hREo2Rp6iw04KRqJaxvF5EoJZDKmaGMRKVpBrFITE69s20mqKcq2zv83PG3ILTjtK+Ov/Okhngu4ziW4zsrZ9ufLifJ815ivkR2FArIlAbQBU1S1GV6PnjanHykJ/khE145UnkmdOGfnuBCNRvFs3RnksfGzg5j+XVShI/7ZO1B2RWBJ179+eN/w2+kYVEuZvSKwv+JEx9o4tycbzAWLhNYtMfoXiegfqiiEADZe5oYxOUKGcC5XJ5487549MrUXnYvuBP8dMzBamvavmfhu0B/I54k4lAA2p4tRJVmElRVG7enze+NkGJfrD8cTw/9y7Za0CE+vEjVBLwYQhHSHkG9CsiAg2s4ROUqGDHg/xk3O04Zej5eHfpP/HS/LvFtRFfbacFI3Ht40DNSIE6ALLIRXAlGpLa/UQzeqTH3UZFDrCZ2aPejvrzo4dpzlPkvu1E3YhAnUBZ8DLiLk4ZdizZwT+xgXB8atMz/M1AC0aC92mnqkcE6hTSgpeToEQFr6u71SPl6S7+YpVOBCqWPVytjaxEJakWjJRohtgBpDxd7aHiFU4EKp5NXK3Rpf8cODkUUvbOu1oV0QoPRyKR6Y9ctprObRfNMi7WhwjURfBFLfrSx4ZODnElCtSo9kx6edbS7CwuLRiJ2lldrhcRqMsGELV4RYlK4DuW4ldyfHe/3wMg5SlqJxWgXkSgAhhB1CpkV6JKrdPOFqah3OT3PJE+HImw6Y9ctpKG7aJ2UpfrRQTqsgFELz6qREPyaZ8xP8v2SisBk2NtSNoK6uXnjCtPieY8Re+fbtePCNRtC3ig/Ev/OXRyKHbufCbF6au/hyORNlow8kDfdLuKRKBuW8Aj5ctKlEdxkiPb+/ci5elf29rRMiJQO1D1aZ4JSlSk4z6tO1aTlKdP+65dzSICtQtZn+YbVaKhWkl2cfLPJQFh0JynfwzqUEuIQB0C2k/FKMN5flCdQOFEk9e4NN8zsHBEojlPP/VRp9pCBOoU0j4rJ6ZE1avz6mggSnsF93Ii5emzjulwc4hAHQbcT8XJc6Is4tnhPClPP/VGd9pCBOoO7r4plStRsFAtaw/K7JWdSRKjOU/fdEIXG0IE6iL4fik6YWHJA+6gjNGcp1/6ntvtIAJ12wI+KV9RopAg750XmEfDAO0w8km3c70ZRKCum8A/FYgN57mLk4AMSsrTP31NlJYQgYpiCZ/UQyZRhGq5i5N8WIficK8wqmv3IOXpkz4mUjOIQEWyhk/qopAoQzyyfbJXk5P3PCQdDdt90rkEawYRqGAG8Ut1YkpUkmpg3VbLuKLVupWUyNMvXUrIdhCBCmkWf1QqnRJ1cmoUYGGAdhj5ozeJ2QoiUDHt4ptaJShRzZsrleYnBRjVk55x8qTVdt90JEEbQgQqqGH8VK34wpJjq/NEnn7qQAK3hQhUYOP4qWrplagNHqN8hxEpTz91HaHbQgQqtHn8Vbk4idoUCo/I018dxgOtIQL1gJH8VMVLHxo4WQpF/UStXZxnYRaiOU8/9RUvtIUI1AtW8lkdZSUaCdWCqc+dz9TI5PAkye9JAC0Y+ayHeKc5RKDesZWvapqgRDPtnVc2MmV9TsrTVx3DY40hAvWYwfxU3UQlaqBlNOdpADRKYiUCRKBWokl56UZArUT1JWZhFolMf+SK1e/pS0dvEwLWIUAEah2W1Om9ZwAAAnVJREFUlJNBBDiJIi90JySMkSCBgSHrv4zNQ1vkNiJPg4BTMssQIAK1DErKyAwCl8wYUMNCocslCRdny4cxPCZFIg8/Om1N2Ex5lJYQsAIBIlArUKQ8LEFg2kOjC1pCDd9iiJwpgZ0CSH14FDzG2EZA+o+E0DsFkfK3Zlwxv8WSAikTQsAkAkSgJgGk5IQAIRBcBIhAg2t7ajkhQAiYRIAI1CSAlJwQIASCiwARaHBtTy0nBAgBkwgQgZoEkJITAoRAcBEgAg2u7anlhAAhYBIBIlCTAFJyQoAQCC4CRKDBtT21nBAgBEwiQARqEkBKTggQAsFFgAg0uLanlhMChIBJBIhATQJIyQkBQiC4CBCBBtf21HJCgBAwiQARqEkAKTkhQAgEFwEi0ODanlpOCBACJhEgAjUJICUnBAiB4CJABBpc21PLCQFCwCQCRKAmAaTkhAAhEFwEiECDa3tqOSFACJhEgAjUJICUnBAgBIKLABFocG1PLScECAGTCBCBmgSQkhMChEBwESACDa7tqeWEACFgEgEiUJMAUnJCgBAILgJEoMG1PbWcECAETCJABGoSQEpOCBACwUWACDS4tqeWEwKEgEkEiEBNAkjJCQFCILgIEIEG1/bUckKAEDCJABGoSQApOSFACAQXASLQ4NqeWk4IEAImESACNQkgJScECIHgIkAEGlzbU8sJAULAJAJEoCYBpOSEACEQXASIQINre2o5IUAImESACNQkgJScECAEgosAEWhwbU8tJwQIAZMIEIGaBJCSEwKEQHARIAINru2p5YQAIWASASJQkwBSckKAEAguAkSgwbU9tZwQIARMIvD/AVDkvnv22WOGAAAAAElFTkSuQmCC"/>
          <p:cNvSpPr>
            <a:spLocks noChangeAspect="1" noChangeArrowheads="1"/>
          </p:cNvSpPr>
          <p:nvPr/>
        </p:nvSpPr>
        <p:spPr bwMode="auto">
          <a:xfrm>
            <a:off x="155575" y="-381000"/>
            <a:ext cx="80010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2" name="Rectangle 5"/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4" name="Rectangle 6"/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7977212" y="1757385"/>
            <a:ext cx="377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Não vigência de Negociação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272277" y="1401087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Subproduto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28254" y="1348002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Massa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230717" y="845763"/>
            <a:ext cx="208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70C0"/>
                </a:solidFill>
              </a:rPr>
              <a:t>Antecipação do 13º 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327605" y="1374559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Agencia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695597" y="1374021"/>
            <a:ext cx="1143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Conta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7980498" y="1367747"/>
            <a:ext cx="1836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Observação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668" y="2916430"/>
            <a:ext cx="7049796" cy="3434403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28254" y="1788575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702563660-63</a:t>
            </a:r>
            <a:endParaRPr lang="pt-BR" dirty="0" smtClean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356705" y="1764304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0002</a:t>
            </a:r>
            <a:endParaRPr lang="pt-BR" b="1" dirty="0" smtClean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734861" y="1788575"/>
            <a:ext cx="118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133254-6</a:t>
            </a:r>
            <a:endParaRPr lang="pt-BR" b="1" dirty="0" smtClean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529325" y="1776811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7141</a:t>
            </a:r>
            <a:endParaRPr lang="pt-BR" b="1" dirty="0" smtClean="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28254" y="2140028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825806568-80</a:t>
            </a:r>
            <a:endParaRPr lang="pt-BR" dirty="0" smtClean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356705" y="2115757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0002</a:t>
            </a:r>
            <a:endParaRPr lang="pt-BR" b="1" dirty="0" smtClean="0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734861" y="2140028"/>
            <a:ext cx="118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128112-7</a:t>
            </a:r>
            <a:endParaRPr lang="pt-BR" b="1" dirty="0" smtClean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529325" y="2128264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7138</a:t>
            </a:r>
            <a:endParaRPr lang="pt-BR" b="1" dirty="0" smtClean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628254" y="2498143"/>
            <a:ext cx="169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530661161-31</a:t>
            </a:r>
            <a:endParaRPr lang="pt-BR" b="1" dirty="0" smtClean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356705" y="2473872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0002</a:t>
            </a:r>
            <a:endParaRPr lang="pt-BR" b="1" dirty="0" smtClean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734861" y="2498143"/>
            <a:ext cx="118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133244-9</a:t>
            </a:r>
            <a:endParaRPr lang="pt-BR" b="1" dirty="0" smtClean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5529325" y="2486379"/>
            <a:ext cx="93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7138</a:t>
            </a:r>
            <a:endParaRPr lang="pt-BR" b="1" dirty="0" smtClean="0"/>
          </a:p>
        </p:txBody>
      </p:sp>
    </p:spTree>
    <p:extLst>
      <p:ext uri="{BB962C8B-B14F-4D97-AF65-F5344CB8AC3E}">
        <p14:creationId xmlns:p14="http://schemas.microsoft.com/office/powerpoint/2010/main" val="296729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201911" y="318774"/>
            <a:ext cx="6374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Bradesco – Terminal Financeiro</a:t>
            </a:r>
            <a:endParaRPr lang="pt-BR" sz="2600" b="1" dirty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Arquitetura 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36737" y="1496714"/>
            <a:ext cx="208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70C0"/>
                </a:solidFill>
              </a:rPr>
              <a:t>Antecipação do 13º 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36739" y="1894273"/>
            <a:ext cx="227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 smtClean="0"/>
              <a:t>Dev</a:t>
            </a:r>
            <a:r>
              <a:rPr lang="pt-BR" b="1" dirty="0"/>
              <a:t> </a:t>
            </a:r>
            <a:r>
              <a:rPr lang="pt-BR" b="1" dirty="0" smtClean="0"/>
              <a:t>. Daniel Lincoln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36738" y="2207150"/>
            <a:ext cx="227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 smtClean="0"/>
              <a:t>Dev</a:t>
            </a:r>
            <a:r>
              <a:rPr lang="pt-BR" b="1" dirty="0"/>
              <a:t> </a:t>
            </a:r>
            <a:r>
              <a:rPr lang="pt-BR" b="1" dirty="0" smtClean="0"/>
              <a:t>. Wendell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840453" y="1473209"/>
            <a:ext cx="227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0070C0"/>
                </a:solidFill>
              </a:rPr>
              <a:t>Atividades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840453" y="1894273"/>
            <a:ext cx="3394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Métodos/ </a:t>
            </a:r>
            <a:r>
              <a:rPr lang="pt-BR" b="1" dirty="0" err="1" smtClean="0"/>
              <a:t>End</a:t>
            </a:r>
            <a:r>
              <a:rPr lang="pt-BR" b="1" dirty="0" smtClean="0"/>
              <a:t> point / </a:t>
            </a:r>
            <a:r>
              <a:rPr lang="pt-BR" b="1" dirty="0" err="1" smtClean="0"/>
              <a:t>Deploy</a:t>
            </a:r>
            <a:r>
              <a:rPr lang="pt-BR" b="1" dirty="0" smtClean="0"/>
              <a:t> 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840453" y="2263605"/>
            <a:ext cx="3394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Esteiras / Controle Bach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36738" y="2576482"/>
            <a:ext cx="227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 smtClean="0"/>
              <a:t>Dev</a:t>
            </a:r>
            <a:r>
              <a:rPr lang="pt-BR" b="1" dirty="0"/>
              <a:t> </a:t>
            </a:r>
            <a:r>
              <a:rPr lang="pt-BR" b="1" dirty="0" smtClean="0"/>
              <a:t>. Bruno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815699" y="2622648"/>
            <a:ext cx="3394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 TF / FEMP / </a:t>
            </a:r>
            <a:r>
              <a:rPr lang="pt-BR" b="1" dirty="0"/>
              <a:t>13º / IR</a:t>
            </a:r>
          </a:p>
          <a:p>
            <a:endParaRPr lang="pt-BR" b="1" dirty="0" smtClean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336737" y="3202217"/>
            <a:ext cx="227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QA . Barbara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2815699" y="3131218"/>
            <a:ext cx="3394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Massas / 13º / IR</a:t>
            </a:r>
          </a:p>
        </p:txBody>
      </p:sp>
    </p:spTree>
    <p:extLst>
      <p:ext uri="{BB962C8B-B14F-4D97-AF65-F5344CB8AC3E}">
        <p14:creationId xmlns:p14="http://schemas.microsoft.com/office/powerpoint/2010/main" val="43369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377125-3CDB-45A2-8B9E-266D3CE468AF}"/>
              </a:ext>
            </a:extLst>
          </p:cNvPr>
          <p:cNvSpPr/>
          <p:nvPr/>
        </p:nvSpPr>
        <p:spPr>
          <a:xfrm>
            <a:off x="0" y="0"/>
            <a:ext cx="4165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e4pContent1">
            <a:extLst>
              <a:ext uri="{FF2B5EF4-FFF2-40B4-BE49-F238E27FC236}">
                <a16:creationId xmlns:a16="http://schemas.microsoft.com/office/drawing/2014/main" id="{42DE98C3-BC61-4597-83B6-575C3D8E47C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18888" y="2505672"/>
            <a:ext cx="6744462" cy="1846659"/>
          </a:xfrm>
          <a:prstGeom prst="rect">
            <a:avLst/>
          </a:prstGeom>
          <a:ln cap="rnd"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  <a:lvl2pPr marL="324000" lvl="1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2pPr>
            <a:lvl3pPr marL="648000" lvl="2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–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3pPr>
            <a:lvl4pPr marL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Trebuchet MS" panose="020B0603020202020204" pitchFamily="34" charset="0"/>
              <a:buChar char="​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Trebuchet MS" panose="020B0603020202020204" pitchFamily="34" charset="0"/>
              <a:buChar char="​"/>
              <a:defRPr sz="2400" b="1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5pPr>
            <a:lvl6pPr marL="324000" lvl="5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5400" baseline="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7pPr>
            <a:lvl8pPr marL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66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4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Objetivo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Exposição dos Cenários de Arquitetura</a:t>
            </a:r>
          </a:p>
          <a:p>
            <a:pPr>
              <a:buNone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 </a:t>
            </a:r>
            <a:r>
              <a:rPr lang="pt-BR" sz="2400" b="1" dirty="0">
                <a:solidFill>
                  <a:prstClr val="white"/>
                </a:solidFill>
                <a:latin typeface="Bradesco Sans"/>
              </a:rPr>
              <a:t>Conclusão</a:t>
            </a:r>
          </a:p>
        </p:txBody>
      </p:sp>
      <p:cxnSp>
        <p:nvCxnSpPr>
          <p:cNvPr id="31" name="Straight Connector 10">
            <a:extLst>
              <a:ext uri="{FF2B5EF4-FFF2-40B4-BE49-F238E27FC236}">
                <a16:creationId xmlns:a16="http://schemas.microsoft.com/office/drawing/2014/main" id="{BC948E63-9079-45D7-AA47-85D7F9EAE21C}"/>
              </a:ext>
            </a:extLst>
          </p:cNvPr>
          <p:cNvCxnSpPr/>
          <p:nvPr/>
        </p:nvCxnSpPr>
        <p:spPr>
          <a:xfrm>
            <a:off x="4818888" y="3068561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10">
            <a:extLst>
              <a:ext uri="{FF2B5EF4-FFF2-40B4-BE49-F238E27FC236}">
                <a16:creationId xmlns:a16="http://schemas.microsoft.com/office/drawing/2014/main" id="{C71711CF-7635-4C41-B8D7-76BA55613317}"/>
              </a:ext>
            </a:extLst>
          </p:cNvPr>
          <p:cNvCxnSpPr/>
          <p:nvPr/>
        </p:nvCxnSpPr>
        <p:spPr>
          <a:xfrm>
            <a:off x="4764643" y="3862952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itle 3">
            <a:extLst>
              <a:ext uri="{FF2B5EF4-FFF2-40B4-BE49-F238E27FC236}">
                <a16:creationId xmlns:a16="http://schemas.microsoft.com/office/drawing/2014/main" id="{95B9E1DE-191E-47C6-BE9E-3B349D7C095A}"/>
              </a:ext>
            </a:extLst>
          </p:cNvPr>
          <p:cNvSpPr txBox="1">
            <a:spLocks/>
          </p:cNvSpPr>
          <p:nvPr/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gradFill>
                  <a:gsLst>
                    <a:gs pos="0">
                      <a:schemeClr val="accent6"/>
                    </a:gs>
                    <a:gs pos="100000">
                      <a:schemeClr val="tx2"/>
                    </a:gs>
                  </a:gsLst>
                  <a:lin ang="8100000" scaled="1"/>
                </a:gra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D1193A"/>
                </a:solidFill>
                <a:effectLst/>
                <a:uLnTx/>
                <a:uFillTx/>
                <a:latin typeface="Bradesco Sans"/>
                <a:ea typeface="+mj-ea"/>
                <a:cs typeface="+mj-cs"/>
                <a:sym typeface="Trebuchet MS" panose="020B0603020202020204" pitchFamily="34" charset="0"/>
              </a:rPr>
              <a:t>Agenda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D1193A"/>
              </a:solidFill>
              <a:effectLst/>
              <a:uLnTx/>
              <a:uFillTx/>
              <a:latin typeface="Bradesco Sans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36" name="Picture 15">
            <a:extLst>
              <a:ext uri="{FF2B5EF4-FFF2-40B4-BE49-F238E27FC236}">
                <a16:creationId xmlns:a16="http://schemas.microsoft.com/office/drawing/2014/main" id="{D05FAC72-765C-4332-A886-74E5824D63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V="1">
            <a:off x="4179405" y="0"/>
            <a:ext cx="416951" cy="6858000"/>
          </a:xfrm>
          <a:prstGeom prst="rect">
            <a:avLst/>
          </a:prstGeom>
        </p:spPr>
      </p:pic>
      <p:cxnSp>
        <p:nvCxnSpPr>
          <p:cNvPr id="37" name="Straight Connector 10">
            <a:extLst>
              <a:ext uri="{FF2B5EF4-FFF2-40B4-BE49-F238E27FC236}">
                <a16:creationId xmlns:a16="http://schemas.microsoft.com/office/drawing/2014/main" id="{002ED6CD-1EF8-47EA-980E-39E2028B4F3E}"/>
              </a:ext>
            </a:extLst>
          </p:cNvPr>
          <p:cNvCxnSpPr/>
          <p:nvPr/>
        </p:nvCxnSpPr>
        <p:spPr>
          <a:xfrm>
            <a:off x="4764643" y="4573934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185797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412537" y="193287"/>
            <a:ext cx="8845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>
                <a:solidFill>
                  <a:srgbClr val="C00000"/>
                </a:solidFill>
                <a:latin typeface="Bradesco Sans" pitchFamily="2" charset="77"/>
              </a:rPr>
              <a:t>Conclusão</a:t>
            </a: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Recomendação de Arquitetura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E5FE809-8160-D8B7-7F75-118674FBB024}"/>
              </a:ext>
            </a:extLst>
          </p:cNvPr>
          <p:cNvSpPr txBox="1"/>
          <p:nvPr/>
        </p:nvSpPr>
        <p:spPr>
          <a:xfrm>
            <a:off x="262074" y="1086723"/>
            <a:ext cx="106161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 </a:t>
            </a:r>
            <a:r>
              <a:rPr lang="pt-BR" dirty="0"/>
              <a:t>Será necessário </a:t>
            </a:r>
            <a:r>
              <a:rPr lang="pt-BR" dirty="0" smtClean="0"/>
              <a:t>o provisionamento dos serviços </a:t>
            </a:r>
            <a:r>
              <a:rPr lang="pt-BR" dirty="0"/>
              <a:t>e </a:t>
            </a:r>
            <a:r>
              <a:rPr lang="pt-BR" dirty="0" smtClean="0"/>
              <a:t>recursos</a:t>
            </a:r>
            <a:r>
              <a:rPr lang="pt-BR" dirty="0" smtClean="0"/>
              <a:t>:</a:t>
            </a:r>
          </a:p>
          <a:p>
            <a:pPr algn="just"/>
            <a:endParaRPr lang="pt-BR" dirty="0"/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Engenharia Reversa.</a:t>
            </a:r>
            <a:endParaRPr lang="pt-BR" dirty="0" smtClean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8356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067917c-5cbc-4020-9aca-481eecb008a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674911336ADB4786CFAEEDDC432B13" ma:contentTypeVersion="14" ma:contentTypeDescription="Crie um novo documento." ma:contentTypeScope="" ma:versionID="6f89d01018517e1b4a20966707db1033">
  <xsd:schema xmlns:xsd="http://www.w3.org/2001/XMLSchema" xmlns:xs="http://www.w3.org/2001/XMLSchema" xmlns:p="http://schemas.microsoft.com/office/2006/metadata/properties" xmlns:ns3="b067917c-5cbc-4020-9aca-481eecb008a7" xmlns:ns4="0ba53bdc-13c0-4d4d-b7f8-3295b790f778" targetNamespace="http://schemas.microsoft.com/office/2006/metadata/properties" ma:root="true" ma:fieldsID="48a29cde2d42204c1a7941f368a37dfa" ns3:_="" ns4:_="">
    <xsd:import namespace="b067917c-5cbc-4020-9aca-481eecb008a7"/>
    <xsd:import namespace="0ba53bdc-13c0-4d4d-b7f8-3295b790f77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LengthInSeconds" minOccurs="0"/>
                <xsd:element ref="ns3:_activity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67917c-5cbc-4020-9aca-481eecb008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a53bdc-13c0-4d4d-b7f8-3295b790f778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810A743-6126-4D69-B9AE-69CF6C644D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E48233-76AC-4860-B1CB-514D0F1F2853}">
  <ds:schemaRefs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b067917c-5cbc-4020-9aca-481eecb008a7"/>
    <ds:schemaRef ds:uri="0ba53bdc-13c0-4d4d-b7f8-3295b790f778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7CEE22E-B571-41B0-B7E6-792A36B229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67917c-5cbc-4020-9aca-481eecb008a7"/>
    <ds:schemaRef ds:uri="0ba53bdc-13c0-4d4d-b7f8-3295b790f7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41587</TotalTime>
  <Words>4934</Words>
  <Application>Microsoft Office PowerPoint</Application>
  <PresentationFormat>Widescreen</PresentationFormat>
  <Paragraphs>509</Paragraphs>
  <Slides>19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8" baseType="lpstr">
      <vt:lpstr>Arial</vt:lpstr>
      <vt:lpstr>Bradesco Sans</vt:lpstr>
      <vt:lpstr>Bradesco Sans Bold</vt:lpstr>
      <vt:lpstr>Calibri</vt:lpstr>
      <vt:lpstr>Calibri Light</vt:lpstr>
      <vt:lpstr>Times New Roman</vt:lpstr>
      <vt:lpstr>Trebuchet MS</vt:lpstr>
      <vt:lpstr>Wingdings</vt:lpstr>
      <vt:lpstr>Tema do Office</vt:lpstr>
      <vt:lpstr>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Banco Bradesco S.A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CARLOS ATILA FREITAS DA COSTA</dc:creator>
  <cp:lastModifiedBy>Alessandro Lisboa de lyra</cp:lastModifiedBy>
  <cp:revision>143</cp:revision>
  <dcterms:created xsi:type="dcterms:W3CDTF">2024-01-05T14:31:21Z</dcterms:created>
  <dcterms:modified xsi:type="dcterms:W3CDTF">2025-10-28T15:20:43Z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fed9c9-9e02-402c-91c6-79672c367b2e_Enabled">
    <vt:lpwstr>true</vt:lpwstr>
  </property>
  <property fmtid="{D5CDD505-2E9C-101B-9397-08002B2CF9AE}" pid="3" name="MSIP_Label_d3fed9c9-9e02-402c-91c6-79672c367b2e_SetDate">
    <vt:lpwstr>2024-01-05T14:31:34Z</vt:lpwstr>
  </property>
  <property fmtid="{D5CDD505-2E9C-101B-9397-08002B2CF9AE}" pid="4" name="MSIP_Label_d3fed9c9-9e02-402c-91c6-79672c367b2e_Method">
    <vt:lpwstr>Standard</vt:lpwstr>
  </property>
  <property fmtid="{D5CDD505-2E9C-101B-9397-08002B2CF9AE}" pid="5" name="MSIP_Label_d3fed9c9-9e02-402c-91c6-79672c367b2e_Name">
    <vt:lpwstr>d3fed9c9-9e02-402c-91c6-79672c367b2e</vt:lpwstr>
  </property>
  <property fmtid="{D5CDD505-2E9C-101B-9397-08002B2CF9AE}" pid="6" name="MSIP_Label_d3fed9c9-9e02-402c-91c6-79672c367b2e_SiteId">
    <vt:lpwstr>ccd25372-eb59-436a-ad74-78a49d784cf3</vt:lpwstr>
  </property>
  <property fmtid="{D5CDD505-2E9C-101B-9397-08002B2CF9AE}" pid="7" name="MSIP_Label_d3fed9c9-9e02-402c-91c6-79672c367b2e_ActionId">
    <vt:lpwstr>6e9c734b-8fe9-45ba-9465-048664292ed0</vt:lpwstr>
  </property>
  <property fmtid="{D5CDD505-2E9C-101B-9397-08002B2CF9AE}" pid="8" name="MSIP_Label_d3fed9c9-9e02-402c-91c6-79672c367b2e_ContentBits">
    <vt:lpwstr>0</vt:lpwstr>
  </property>
  <property fmtid="{D5CDD505-2E9C-101B-9397-08002B2CF9AE}" pid="9" name="ContentTypeId">
    <vt:lpwstr>0x010100B0674911336ADB4786CFAEEDDC432B13</vt:lpwstr>
  </property>
</Properties>
</file>