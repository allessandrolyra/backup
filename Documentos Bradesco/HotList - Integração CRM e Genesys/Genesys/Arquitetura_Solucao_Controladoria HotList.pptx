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940" r:id="rId6"/>
    <p:sldId id="317" r:id="rId7"/>
    <p:sldId id="2147378772" r:id="rId8"/>
    <p:sldId id="308" r:id="rId9"/>
    <p:sldId id="2147378773" r:id="rId10"/>
    <p:sldId id="31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EBF0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12" d="100"/>
          <a:sy n="112" d="100"/>
        </p:scale>
        <p:origin x="62" y="-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CA0E9-6345-4181-8512-96EA8BA6E7C0}" type="datetimeFigureOut">
              <a:rPr lang="pt-BR" smtClean="0"/>
              <a:t>16/07/2024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7A346E-BE7A-4F7F-AFFA-6A8064F1DA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322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044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9564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9641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3EEEDC-5168-10B8-3B2D-C9EED8AF9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AB4B1B-9775-927F-0FAD-860945E7E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4B9571-6982-8077-6BBD-E0D45D73A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16/07/2024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32FAD3-A2B7-6550-6368-CDC210F31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D07689-1267-C333-AAA8-337C3BE87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2551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2C73F7-1938-011A-7B1A-03AA2071E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0FDC57-438D-4315-D973-299E9A94B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4303E1-2A22-3ACB-2078-CDF728F44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16/07/2024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0AA680-49C5-890D-A6E2-70B0B94D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9B4364-5027-9C01-A7B5-39F571E96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7820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33425-E5C6-46AA-186F-75D756272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DDE991-F26D-DE0F-5C83-BF2F11273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546360-AED4-4920-205A-A2AC7D208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16/07/2024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DE4B75-94D5-2C01-2418-A6A96991A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11CD59-36AF-3587-835B-369670F0F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0074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7E1706-5928-BE7C-CF9C-26170488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A5F8F1-B004-893F-BE5F-15FB3DD7E0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8470590-C25A-6D2C-C24E-1286425507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784E8A5-BE8C-E563-162C-30F6E0057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16/07/2024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BC5C26-454F-F687-D822-C5739B552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3AC67F-4647-8E68-DE53-E4BB704C4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915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775FB1-E390-B3C7-4E0D-45EE91A45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078757B-85B3-3622-2056-6FAEB8B6E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D4C1640-9F8A-B57C-F069-3CF876E1D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D8B69E8-68B7-86E3-1638-E6ED38DE9E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E8BADFF-36CF-C13A-5990-59558D886F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4C68C6E-B3E4-54D1-C07E-0481CE1F9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16/07/2024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7B22C2-F28C-832A-E72B-5027B8FD1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0185BCF-2AE4-9902-AC85-31354AF82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8116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13BEE0-B737-1803-77AB-668D05871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9D216B0-CFDD-7C74-FF2D-531EA8DED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16/07/2024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DB634B9-E2E2-4301-2422-655CBCBF6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AE85889-3BBC-4C46-8C40-63E7AE949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7197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3BB5FE1-D334-56BD-5D66-BBB61ED1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16/07/2024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E9390C0-2D97-0062-F765-6EC444042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6BFF8BD-5D71-280D-82BE-5E6E5901B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7936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F662AA-390F-0D75-EF83-E026C310B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5EE8B-E5E4-3AC6-20D9-2CBA96AEA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1E7B1AB-3955-C944-2E07-9317E27DE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732B566-90F0-0A77-A82F-9835A3ED3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16/07/2024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EF552C1-3732-F1E0-DE24-BDCC411B9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9DDEB9-48B3-BEF2-4FC7-2E1BABE27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2081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789F5C-EA1E-6FAE-E7ED-CE3153535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B3FBF0C-25BE-594A-6198-910A6F90FC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4B1DBB2-D8D3-4B57-7F6E-55BB035F1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A8573A-5348-2923-6B2D-11928E54E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16/07/2024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E052B79-406B-6FE4-E09C-6A3B34584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BF7DE8-1A8B-5EE1-EC8D-4E29B90A9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6020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5A674-EB06-D82D-FEC6-F7DC91540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6C2B2EA-7B60-02B8-A4DF-D27E09D4E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263C92-ECBA-F940-DEC4-E01298382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16/07/2024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EBA225-325F-1CC2-35DA-392438A4B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A3773D-5D99-A0B6-8156-0D9F3FD6A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929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EB49AC-4E53-D82D-CCC9-EE0F121396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673513B-071B-0D39-20D6-F142D78C3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F10F04-A7B8-0ECD-D2DA-0DD21C6F0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16/07/2024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E8ABFD-CB18-AD1E-DA06-637712CC1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B4D5F0-2606-C5DE-0F20-98E1D6E51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758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C54A2A45-887C-4E78-8896-C6B1A7DF6AB0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BR"/>
              <a:t>  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78205C95-291A-416B-B821-79365581047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 lang="en-BR"/>
          </a:p>
        </p:txBody>
      </p:sp>
      <p:sp>
        <p:nvSpPr>
          <p:cNvPr id="19" name="Rectangle 2" descr="Retângulo 2">
            <a:extLst>
              <a:ext uri="{FF2B5EF4-FFF2-40B4-BE49-F238E27FC236}">
                <a16:creationId xmlns:a16="http://schemas.microsoft.com/office/drawing/2014/main" id="{1887CD05-083B-4C05-9DD5-877C08F85EA2}"/>
              </a:ext>
            </a:extLst>
          </p:cNvPr>
          <p:cNvSpPr>
            <a:spLocks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F36279">
                  <a:lumMod val="100000"/>
                </a:srgbClr>
              </a:gs>
              <a:gs pos="12598">
                <a:srgbClr val="E03654"/>
              </a:gs>
              <a:gs pos="51000">
                <a:srgbClr val="CC092F"/>
              </a:gs>
              <a:gs pos="8900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20" name="Picture 8">
            <a:extLst>
              <a:ext uri="{FF2B5EF4-FFF2-40B4-BE49-F238E27FC236}">
                <a16:creationId xmlns:a16="http://schemas.microsoft.com/office/drawing/2014/main" id="{F3A5F342-F49E-4190-89F2-551AEE8072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2467" r="48106"/>
          <a:stretch/>
        </p:blipFill>
        <p:spPr>
          <a:xfrm>
            <a:off x="7726712" y="-1"/>
            <a:ext cx="4465288" cy="4009153"/>
          </a:xfrm>
          <a:prstGeom prst="rect">
            <a:avLst/>
          </a:prstGeom>
        </p:spPr>
      </p:pic>
      <p:sp>
        <p:nvSpPr>
          <p:cNvPr id="21" name="TextBox 9">
            <a:extLst>
              <a:ext uri="{FF2B5EF4-FFF2-40B4-BE49-F238E27FC236}">
                <a16:creationId xmlns:a16="http://schemas.microsoft.com/office/drawing/2014/main" id="{55F9FD83-A3F7-4F83-B069-BD90BC994B42}"/>
              </a:ext>
            </a:extLst>
          </p:cNvPr>
          <p:cNvSpPr txBox="1"/>
          <p:nvPr userDrawn="1"/>
        </p:nvSpPr>
        <p:spPr>
          <a:xfrm>
            <a:off x="7591032" y="-61773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/>
              <a:t> </a:t>
            </a:r>
          </a:p>
        </p:txBody>
      </p:sp>
      <p:pic>
        <p:nvPicPr>
          <p:cNvPr id="22" name="Picture 10">
            <a:extLst>
              <a:ext uri="{FF2B5EF4-FFF2-40B4-BE49-F238E27FC236}">
                <a16:creationId xmlns:a16="http://schemas.microsoft.com/office/drawing/2014/main" id="{6D9E1175-C925-4BAE-B56C-995AD1BB85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</a:blip>
          <a:stretch>
            <a:fillRect/>
          </a:stretch>
        </p:blipFill>
        <p:spPr>
          <a:xfrm rot="18735649">
            <a:off x="-2403482" y="2926348"/>
            <a:ext cx="8604708" cy="843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231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3179354-8D5E-DBC4-B6EC-45999138C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0698E42-C5C1-D9D4-97AF-1A23DDB00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DF1661-6EF9-2749-19F3-6A07D8016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6D23C-12C4-44CD-8D6C-0E7CB70CE343}" type="datetimeFigureOut">
              <a:rPr lang="pt-BR" smtClean="0"/>
              <a:t>16/07/2024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0D96BE-1C7C-E11E-903A-FED6DB4D4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224AAE-AD2C-C86C-7E30-64825DF159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4272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emf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emf"/><Relationship Id="rId11" Type="http://schemas.openxmlformats.org/officeDocument/2006/relationships/image" Target="../media/image14.jp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emf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61106-A27A-74B8-869B-750355A663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x-none" dirty="0"/>
              <a:t>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53F9CA-4212-6DB8-8622-7B86C03B57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Rectangle 2" descr="Retângulo 2">
            <a:extLst>
              <a:ext uri="{FF2B5EF4-FFF2-40B4-BE49-F238E27FC236}">
                <a16:creationId xmlns:a16="http://schemas.microsoft.com/office/drawing/2014/main" id="{7AFFA7D4-4CB0-CBA3-FC1F-F1C9DE029F66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F36279">
                  <a:lumMod val="100000"/>
                </a:srgbClr>
              </a:gs>
              <a:gs pos="12598">
                <a:srgbClr val="E03654"/>
              </a:gs>
              <a:gs pos="51000">
                <a:srgbClr val="CC092F"/>
              </a:gs>
              <a:gs pos="8900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8D9DD8-EDCD-D73A-3AB6-B847C60B2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9976" y="6284231"/>
            <a:ext cx="1438656" cy="3206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884990-3DF9-F0D1-CB63-C496F2AE2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15420" y="3204499"/>
            <a:ext cx="3315767" cy="25268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F479BE-E417-1C02-4A02-64E380FF839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7726712" y="-4465680"/>
            <a:ext cx="8604708" cy="84345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E19FE2-CE1D-9EC3-394E-0CA18B87AFC3}"/>
              </a:ext>
            </a:extLst>
          </p:cNvPr>
          <p:cNvSpPr txBox="1"/>
          <p:nvPr/>
        </p:nvSpPr>
        <p:spPr>
          <a:xfrm>
            <a:off x="7591032" y="-61773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4B1222-640E-C8B4-C5D8-BE38A9AF563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 rot="18735649">
            <a:off x="-2427241" y="4574446"/>
            <a:ext cx="8604708" cy="84345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FCB8489-2CA7-1A7E-055A-7C36689B55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65" y="567987"/>
            <a:ext cx="2520910" cy="24994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501923" y="3968878"/>
            <a:ext cx="824686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>
                <a:solidFill>
                  <a:schemeClr val="bg1"/>
                </a:solidFill>
                <a:latin typeface="Bradesco Sans" pitchFamily="2" charset="77"/>
              </a:rPr>
              <a:t>Arquitetura </a:t>
            </a:r>
            <a:r>
              <a:rPr lang="pt-BR" sz="2600" b="1" dirty="0" smtClean="0">
                <a:solidFill>
                  <a:schemeClr val="bg1"/>
                </a:solidFill>
                <a:latin typeface="Bradesco Sans" pitchFamily="2" charset="77"/>
              </a:rPr>
              <a:t>Bradesco Express </a:t>
            </a:r>
            <a:r>
              <a:rPr lang="pt-BR" sz="2600" b="1" dirty="0">
                <a:solidFill>
                  <a:schemeClr val="bg1"/>
                </a:solidFill>
                <a:latin typeface="Bradesco Sans" pitchFamily="2" charset="77"/>
              </a:rPr>
              <a:t>– </a:t>
            </a:r>
            <a:r>
              <a:rPr lang="pt-BR" sz="2600" b="1" dirty="0" err="1" smtClean="0">
                <a:solidFill>
                  <a:schemeClr val="bg1"/>
                </a:solidFill>
                <a:latin typeface="Bradesco Sans" pitchFamily="2" charset="77"/>
              </a:rPr>
              <a:t>HotList</a:t>
            </a:r>
            <a:endParaRPr lang="pt-BR" sz="2600" b="1" dirty="0">
              <a:solidFill>
                <a:schemeClr val="bg1"/>
              </a:solidFill>
              <a:latin typeface="Bradesco Sans" pitchFamily="2" charset="77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37E9CA8-D47A-2760-C42D-0BEF8AE5CD0C}"/>
              </a:ext>
            </a:extLst>
          </p:cNvPr>
          <p:cNvSpPr txBox="1"/>
          <p:nvPr/>
        </p:nvSpPr>
        <p:spPr>
          <a:xfrm>
            <a:off x="478674" y="4370716"/>
            <a:ext cx="3491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>
                <a:solidFill>
                  <a:schemeClr val="bg1"/>
                </a:solidFill>
              </a:rPr>
              <a:t>Darlan (DATI</a:t>
            </a:r>
            <a:r>
              <a:rPr lang="pt-BR" sz="1400" b="1" dirty="0">
                <a:solidFill>
                  <a:schemeClr val="bg1"/>
                </a:solidFill>
              </a:rPr>
              <a:t>), </a:t>
            </a:r>
            <a:r>
              <a:rPr lang="pt-BR" sz="1400" b="1" dirty="0" smtClean="0">
                <a:solidFill>
                  <a:schemeClr val="bg1"/>
                </a:solidFill>
              </a:rPr>
              <a:t>Alessandro (DATI</a:t>
            </a:r>
            <a:r>
              <a:rPr lang="pt-BR" sz="1400" b="1" dirty="0">
                <a:solidFill>
                  <a:schemeClr val="bg1"/>
                </a:solidFill>
              </a:rPr>
              <a:t>)</a:t>
            </a:r>
          </a:p>
          <a:p>
            <a:r>
              <a:rPr lang="pt-BR" sz="1400" b="1" dirty="0" smtClean="0">
                <a:solidFill>
                  <a:schemeClr val="bg1"/>
                </a:solidFill>
              </a:rPr>
              <a:t>02/07/2024</a:t>
            </a:r>
            <a:endParaRPr lang="pt-BR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877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1E19FE2-CE1D-9EC3-394E-0CA18B87AFC3}"/>
              </a:ext>
            </a:extLst>
          </p:cNvPr>
          <p:cNvSpPr txBox="1"/>
          <p:nvPr/>
        </p:nvSpPr>
        <p:spPr>
          <a:xfrm>
            <a:off x="7591032" y="-61773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/>
              <a:t> 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9377125-3CDB-45A2-8B9E-266D3CE468AF}"/>
              </a:ext>
            </a:extLst>
          </p:cNvPr>
          <p:cNvSpPr/>
          <p:nvPr/>
        </p:nvSpPr>
        <p:spPr>
          <a:xfrm>
            <a:off x="0" y="0"/>
            <a:ext cx="41656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e4pContent1">
            <a:extLst>
              <a:ext uri="{FF2B5EF4-FFF2-40B4-BE49-F238E27FC236}">
                <a16:creationId xmlns:a16="http://schemas.microsoft.com/office/drawing/2014/main" id="{42DE98C3-BC61-4597-83B6-575C3D8E47C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818888" y="2505672"/>
            <a:ext cx="6744462" cy="1846659"/>
          </a:xfrm>
          <a:prstGeom prst="rect">
            <a:avLst/>
          </a:prstGeom>
          <a:ln cap="rnd"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1pPr>
            <a:lvl2pPr marL="324000" lvl="1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•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2pPr>
            <a:lvl3pPr marL="648000" lvl="2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–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3pPr>
            <a:lvl4pPr marL="0" lvl="3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Trebuchet MS" panose="020B0603020202020204" pitchFamily="34" charset="0"/>
              <a:buChar char="​"/>
              <a:defRPr sz="2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Trebuchet MS" panose="020B0603020202020204" pitchFamily="34" charset="0"/>
              <a:buChar char="​"/>
              <a:defRPr sz="2400" b="1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5pPr>
            <a:lvl6pPr marL="324000" lvl="5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•"/>
              <a:defRPr sz="2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6pPr>
            <a:lvl7pPr marL="0" lvl="6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5400" baseline="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7pPr>
            <a:lvl8pPr marL="0" lvl="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66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4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b="1" dirty="0">
                <a:solidFill>
                  <a:prstClr val="white"/>
                </a:solidFill>
                <a:latin typeface="Bradesco Sans"/>
              </a:rPr>
              <a:t>Objetivo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pt-BR" sz="2400" dirty="0">
              <a:solidFill>
                <a:prstClr val="white"/>
              </a:solidFill>
              <a:latin typeface="Bradesco Sans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Exposição dos Cenários de Arquitetura</a:t>
            </a:r>
          </a:p>
          <a:p>
            <a:pPr>
              <a:buNone/>
            </a:pPr>
            <a:endParaRPr lang="pt-BR" sz="2400" dirty="0">
              <a:solidFill>
                <a:prstClr val="white"/>
              </a:solidFill>
              <a:latin typeface="Bradesco Sans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 Conclusão</a:t>
            </a:r>
          </a:p>
        </p:txBody>
      </p:sp>
      <p:cxnSp>
        <p:nvCxnSpPr>
          <p:cNvPr id="31" name="Straight Connector 10">
            <a:extLst>
              <a:ext uri="{FF2B5EF4-FFF2-40B4-BE49-F238E27FC236}">
                <a16:creationId xmlns:a16="http://schemas.microsoft.com/office/drawing/2014/main" id="{BC948E63-9079-45D7-AA47-85D7F9EAE21C}"/>
              </a:ext>
            </a:extLst>
          </p:cNvPr>
          <p:cNvCxnSpPr/>
          <p:nvPr/>
        </p:nvCxnSpPr>
        <p:spPr>
          <a:xfrm>
            <a:off x="4818888" y="3022066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10">
            <a:extLst>
              <a:ext uri="{FF2B5EF4-FFF2-40B4-BE49-F238E27FC236}">
                <a16:creationId xmlns:a16="http://schemas.microsoft.com/office/drawing/2014/main" id="{C71711CF-7635-4C41-B8D7-76BA55613317}"/>
              </a:ext>
            </a:extLst>
          </p:cNvPr>
          <p:cNvCxnSpPr/>
          <p:nvPr/>
        </p:nvCxnSpPr>
        <p:spPr>
          <a:xfrm>
            <a:off x="4818888" y="3808708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Title 3">
            <a:extLst>
              <a:ext uri="{FF2B5EF4-FFF2-40B4-BE49-F238E27FC236}">
                <a16:creationId xmlns:a16="http://schemas.microsoft.com/office/drawing/2014/main" id="{95B9E1DE-191E-47C6-BE9E-3B349D7C095A}"/>
              </a:ext>
            </a:extLst>
          </p:cNvPr>
          <p:cNvSpPr txBox="1">
            <a:spLocks/>
          </p:cNvSpPr>
          <p:nvPr/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gradFill>
                  <a:gsLst>
                    <a:gs pos="0">
                      <a:schemeClr val="accent6"/>
                    </a:gs>
                    <a:gs pos="100000">
                      <a:schemeClr val="tx2"/>
                    </a:gs>
                  </a:gsLst>
                  <a:lin ang="8100000" scaled="1"/>
                </a:gra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>
                <a:ln>
                  <a:noFill/>
                </a:ln>
                <a:solidFill>
                  <a:srgbClr val="D1193A"/>
                </a:solidFill>
                <a:effectLst/>
                <a:uLnTx/>
                <a:uFillTx/>
                <a:latin typeface="Bradesco Sans"/>
                <a:ea typeface="+mj-ea"/>
                <a:cs typeface="+mj-cs"/>
                <a:sym typeface="Trebuchet MS" panose="020B0603020202020204" pitchFamily="34" charset="0"/>
              </a:rPr>
              <a:t>Agenda</a:t>
            </a:r>
            <a:endParaRPr kumimoji="0" lang="en-US" sz="3600" b="1" i="0" u="none" strike="noStrike" kern="1200" cap="none" spc="0" normalizeH="0" baseline="0" noProof="0">
              <a:ln>
                <a:noFill/>
              </a:ln>
              <a:solidFill>
                <a:srgbClr val="D1193A"/>
              </a:solidFill>
              <a:effectLst/>
              <a:uLnTx/>
              <a:uFillTx/>
              <a:latin typeface="Bradesco Sans"/>
              <a:ea typeface="+mj-ea"/>
              <a:cs typeface="+mj-cs"/>
              <a:sym typeface="Trebuchet MS" panose="020B0603020202020204" pitchFamily="34" charset="0"/>
            </a:endParaRPr>
          </a:p>
        </p:txBody>
      </p:sp>
      <p:pic>
        <p:nvPicPr>
          <p:cNvPr id="36" name="Picture 15">
            <a:extLst>
              <a:ext uri="{FF2B5EF4-FFF2-40B4-BE49-F238E27FC236}">
                <a16:creationId xmlns:a16="http://schemas.microsoft.com/office/drawing/2014/main" id="{D05FAC72-765C-4332-A886-74E5824D634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V="1">
            <a:off x="4179405" y="0"/>
            <a:ext cx="416951" cy="6858000"/>
          </a:xfrm>
          <a:prstGeom prst="rect">
            <a:avLst/>
          </a:prstGeom>
        </p:spPr>
      </p:pic>
      <p:cxnSp>
        <p:nvCxnSpPr>
          <p:cNvPr id="37" name="Straight Connector 10">
            <a:extLst>
              <a:ext uri="{FF2B5EF4-FFF2-40B4-BE49-F238E27FC236}">
                <a16:creationId xmlns:a16="http://schemas.microsoft.com/office/drawing/2014/main" id="{002ED6CD-1EF8-47EA-980E-39E2028B4F3E}"/>
              </a:ext>
            </a:extLst>
          </p:cNvPr>
          <p:cNvCxnSpPr/>
          <p:nvPr/>
        </p:nvCxnSpPr>
        <p:spPr>
          <a:xfrm>
            <a:off x="4818888" y="4535188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874976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996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412537" y="193287"/>
            <a:ext cx="88457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>
                <a:solidFill>
                  <a:srgbClr val="C00000"/>
                </a:solidFill>
                <a:latin typeface="Bradesco Sans" pitchFamily="2" charset="77"/>
              </a:rPr>
              <a:t>Objetivo</a:t>
            </a:r>
          </a:p>
          <a:p>
            <a:r>
              <a:rPr lang="pt-BR" sz="1400" dirty="0">
                <a:solidFill>
                  <a:srgbClr val="C00000"/>
                </a:solidFill>
                <a:latin typeface="Bradesco Sans" pitchFamily="2" charset="77"/>
              </a:rPr>
              <a:t>DATI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412537" y="1448767"/>
            <a:ext cx="107305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Criar na Plataforma do Expresso, uma lista de leads quentes, atrelados a um ou mais produtos. Para que o </a:t>
            </a:r>
            <a:r>
              <a:rPr lang="pt-BR" dirty="0" smtClean="0">
                <a:solidFill>
                  <a:prstClr val="black"/>
                </a:solidFill>
                <a:latin typeface="Bradesco Sans" panose="00000500000000000000" pitchFamily="2" charset="0"/>
              </a:rPr>
              <a:t>correspondente bancário </a:t>
            </a: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possa realizar contato de forma ativa via </a:t>
            </a:r>
            <a:r>
              <a:rPr lang="pt-BR" dirty="0" smtClean="0">
                <a:solidFill>
                  <a:prstClr val="black"/>
                </a:solidFill>
                <a:latin typeface="Bradesco Sans" panose="00000500000000000000" pitchFamily="2" charset="0"/>
              </a:rPr>
              <a:t>plataforma</a:t>
            </a: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. </a:t>
            </a:r>
          </a:p>
          <a:p>
            <a:pPr lvl="0" algn="just">
              <a:defRPr/>
            </a:pPr>
            <a:endParaRPr lang="pt-BR" dirty="0">
              <a:solidFill>
                <a:prstClr val="black"/>
              </a:solidFill>
              <a:latin typeface="Bradesco Sans" panose="00000500000000000000" pitchFamily="2" charset="0"/>
            </a:endParaRPr>
          </a:p>
          <a:p>
            <a:pPr lvl="0" algn="just">
              <a:defRPr/>
            </a:pP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Disponibilizar ao correspondente bancário lista com:</a:t>
            </a:r>
          </a:p>
          <a:p>
            <a:pPr lvl="0" algn="just">
              <a:defRPr/>
            </a:pPr>
            <a:endParaRPr lang="pt-BR" dirty="0">
              <a:solidFill>
                <a:prstClr val="black"/>
              </a:solidFill>
              <a:latin typeface="Bradesco Sans" panose="00000500000000000000" pitchFamily="2" charset="0"/>
            </a:endParaRPr>
          </a:p>
          <a:p>
            <a:pPr lvl="0" algn="just">
              <a:defRPr/>
            </a:pP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Nome do cliente;</a:t>
            </a:r>
          </a:p>
          <a:p>
            <a:pPr lvl="0" algn="just">
              <a:defRPr/>
            </a:pP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produtos em que o cliente esteja elegível;</a:t>
            </a:r>
          </a:p>
          <a:p>
            <a:pPr lvl="0" algn="just">
              <a:defRPr/>
            </a:pP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limite para contratação; ( caso exista e forma de contato)</a:t>
            </a:r>
            <a:endParaRPr kumimoji="0" lang="pt-BR" sz="1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7052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1E19FE2-CE1D-9EC3-394E-0CA18B87AFC3}"/>
              </a:ext>
            </a:extLst>
          </p:cNvPr>
          <p:cNvSpPr txBox="1"/>
          <p:nvPr/>
        </p:nvSpPr>
        <p:spPr>
          <a:xfrm>
            <a:off x="7591032" y="-61773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/>
              <a:t> 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9377125-3CDB-45A2-8B9E-266D3CE468AF}"/>
              </a:ext>
            </a:extLst>
          </p:cNvPr>
          <p:cNvSpPr/>
          <p:nvPr/>
        </p:nvSpPr>
        <p:spPr>
          <a:xfrm>
            <a:off x="0" y="0"/>
            <a:ext cx="41656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e4pContent1">
            <a:extLst>
              <a:ext uri="{FF2B5EF4-FFF2-40B4-BE49-F238E27FC236}">
                <a16:creationId xmlns:a16="http://schemas.microsoft.com/office/drawing/2014/main" id="{42DE98C3-BC61-4597-83B6-575C3D8E47C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818888" y="2505672"/>
            <a:ext cx="6744462" cy="1846659"/>
          </a:xfrm>
          <a:prstGeom prst="rect">
            <a:avLst/>
          </a:prstGeom>
          <a:ln cap="rnd"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1pPr>
            <a:lvl2pPr marL="324000" lvl="1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•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2pPr>
            <a:lvl3pPr marL="648000" lvl="2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–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3pPr>
            <a:lvl4pPr marL="0" lvl="3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Trebuchet MS" panose="020B0603020202020204" pitchFamily="34" charset="0"/>
              <a:buChar char="​"/>
              <a:defRPr sz="2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Trebuchet MS" panose="020B0603020202020204" pitchFamily="34" charset="0"/>
              <a:buChar char="​"/>
              <a:defRPr sz="2400" b="1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5pPr>
            <a:lvl6pPr marL="324000" lvl="5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•"/>
              <a:defRPr sz="2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6pPr>
            <a:lvl7pPr marL="0" lvl="6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5400" baseline="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7pPr>
            <a:lvl8pPr marL="0" lvl="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66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4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Objetivo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pt-BR" sz="2400" dirty="0">
              <a:solidFill>
                <a:prstClr val="white"/>
              </a:solidFill>
              <a:latin typeface="Bradesco Sans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b="1" dirty="0">
                <a:solidFill>
                  <a:prstClr val="white"/>
                </a:solidFill>
                <a:latin typeface="Bradesco Sans"/>
              </a:rPr>
              <a:t>Exposição dos Cenários de Arquitetura</a:t>
            </a:r>
          </a:p>
          <a:p>
            <a:pPr>
              <a:buNone/>
            </a:pPr>
            <a:endParaRPr lang="pt-BR" sz="2400" dirty="0">
              <a:solidFill>
                <a:prstClr val="white"/>
              </a:solidFill>
              <a:latin typeface="Bradesco Sans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 Conclusão</a:t>
            </a:r>
          </a:p>
        </p:txBody>
      </p:sp>
      <p:cxnSp>
        <p:nvCxnSpPr>
          <p:cNvPr id="31" name="Straight Connector 10">
            <a:extLst>
              <a:ext uri="{FF2B5EF4-FFF2-40B4-BE49-F238E27FC236}">
                <a16:creationId xmlns:a16="http://schemas.microsoft.com/office/drawing/2014/main" id="{BC948E63-9079-45D7-AA47-85D7F9EAE21C}"/>
              </a:ext>
            </a:extLst>
          </p:cNvPr>
          <p:cNvCxnSpPr/>
          <p:nvPr/>
        </p:nvCxnSpPr>
        <p:spPr>
          <a:xfrm>
            <a:off x="4818888" y="3045314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10">
            <a:extLst>
              <a:ext uri="{FF2B5EF4-FFF2-40B4-BE49-F238E27FC236}">
                <a16:creationId xmlns:a16="http://schemas.microsoft.com/office/drawing/2014/main" id="{C71711CF-7635-4C41-B8D7-76BA55613317}"/>
              </a:ext>
            </a:extLst>
          </p:cNvPr>
          <p:cNvCxnSpPr/>
          <p:nvPr/>
        </p:nvCxnSpPr>
        <p:spPr>
          <a:xfrm>
            <a:off x="4818888" y="3839705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Title 3">
            <a:extLst>
              <a:ext uri="{FF2B5EF4-FFF2-40B4-BE49-F238E27FC236}">
                <a16:creationId xmlns:a16="http://schemas.microsoft.com/office/drawing/2014/main" id="{95B9E1DE-191E-47C6-BE9E-3B349D7C095A}"/>
              </a:ext>
            </a:extLst>
          </p:cNvPr>
          <p:cNvSpPr txBox="1">
            <a:spLocks/>
          </p:cNvSpPr>
          <p:nvPr/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gradFill>
                  <a:gsLst>
                    <a:gs pos="0">
                      <a:schemeClr val="accent6"/>
                    </a:gs>
                    <a:gs pos="100000">
                      <a:schemeClr val="tx2"/>
                    </a:gs>
                  </a:gsLst>
                  <a:lin ang="8100000" scaled="1"/>
                </a:gra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>
                <a:ln>
                  <a:noFill/>
                </a:ln>
                <a:solidFill>
                  <a:srgbClr val="D1193A"/>
                </a:solidFill>
                <a:effectLst/>
                <a:uLnTx/>
                <a:uFillTx/>
                <a:latin typeface="Bradesco Sans"/>
                <a:ea typeface="+mj-ea"/>
                <a:cs typeface="+mj-cs"/>
                <a:sym typeface="Trebuchet MS" panose="020B0603020202020204" pitchFamily="34" charset="0"/>
              </a:rPr>
              <a:t>Agenda</a:t>
            </a:r>
            <a:endParaRPr kumimoji="0" lang="en-US" sz="3600" b="1" i="0" u="none" strike="noStrike" kern="1200" cap="none" spc="0" normalizeH="0" baseline="0" noProof="0">
              <a:ln>
                <a:noFill/>
              </a:ln>
              <a:solidFill>
                <a:srgbClr val="D1193A"/>
              </a:solidFill>
              <a:effectLst/>
              <a:uLnTx/>
              <a:uFillTx/>
              <a:latin typeface="Bradesco Sans"/>
              <a:ea typeface="+mj-ea"/>
              <a:cs typeface="+mj-cs"/>
              <a:sym typeface="Trebuchet MS" panose="020B0603020202020204" pitchFamily="34" charset="0"/>
            </a:endParaRPr>
          </a:p>
        </p:txBody>
      </p:sp>
      <p:pic>
        <p:nvPicPr>
          <p:cNvPr id="36" name="Picture 15">
            <a:extLst>
              <a:ext uri="{FF2B5EF4-FFF2-40B4-BE49-F238E27FC236}">
                <a16:creationId xmlns:a16="http://schemas.microsoft.com/office/drawing/2014/main" id="{D05FAC72-765C-4332-A886-74E5824D634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V="1">
            <a:off x="4179405" y="0"/>
            <a:ext cx="416951" cy="6858000"/>
          </a:xfrm>
          <a:prstGeom prst="rect">
            <a:avLst/>
          </a:prstGeom>
        </p:spPr>
      </p:pic>
      <p:cxnSp>
        <p:nvCxnSpPr>
          <p:cNvPr id="37" name="Straight Connector 10">
            <a:extLst>
              <a:ext uri="{FF2B5EF4-FFF2-40B4-BE49-F238E27FC236}">
                <a16:creationId xmlns:a16="http://schemas.microsoft.com/office/drawing/2014/main" id="{002ED6CD-1EF8-47EA-980E-39E2028B4F3E}"/>
              </a:ext>
            </a:extLst>
          </p:cNvPr>
          <p:cNvCxnSpPr/>
          <p:nvPr/>
        </p:nvCxnSpPr>
        <p:spPr>
          <a:xfrm>
            <a:off x="4818888" y="4527439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720642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tângulo 128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1984976" y="2577716"/>
            <a:ext cx="739845" cy="7707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996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264982" y="236763"/>
            <a:ext cx="63741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 smtClean="0">
                <a:solidFill>
                  <a:srgbClr val="C00000"/>
                </a:solidFill>
                <a:latin typeface="Bradesco Sans" pitchFamily="2" charset="77"/>
              </a:rPr>
              <a:t>Bradesco Expresso- </a:t>
            </a:r>
            <a:r>
              <a:rPr lang="pt-BR" sz="2600" b="1" dirty="0">
                <a:solidFill>
                  <a:srgbClr val="C00000"/>
                </a:solidFill>
                <a:latin typeface="Bradesco Sans" pitchFamily="2" charset="77"/>
              </a:rPr>
              <a:t>Cenário </a:t>
            </a:r>
            <a:r>
              <a:rPr lang="pt-BR" sz="2600" b="1" dirty="0" smtClean="0">
                <a:solidFill>
                  <a:srgbClr val="C00000"/>
                </a:solidFill>
                <a:latin typeface="Bradesco Sans" pitchFamily="2" charset="77"/>
              </a:rPr>
              <a:t>sugerido</a:t>
            </a:r>
            <a:endParaRPr lang="pt-BR" sz="2600" b="1" dirty="0">
              <a:solidFill>
                <a:srgbClr val="C00000"/>
              </a:solidFill>
              <a:latin typeface="Bradesco Sans" pitchFamily="2" charset="77"/>
            </a:endParaRPr>
          </a:p>
          <a:p>
            <a:r>
              <a:rPr lang="pt-BR" sz="1400" dirty="0">
                <a:solidFill>
                  <a:srgbClr val="C00000"/>
                </a:solidFill>
                <a:latin typeface="Bradesco Sans" pitchFamily="2" charset="77"/>
              </a:rPr>
              <a:t>Arquitetura 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sp>
        <p:nvSpPr>
          <p:cNvPr id="195" name="CaixaDeTexto 194">
            <a:extLst>
              <a:ext uri="{FF2B5EF4-FFF2-40B4-BE49-F238E27FC236}">
                <a16:creationId xmlns:a16="http://schemas.microsoft.com/office/drawing/2014/main" id="{E7E42D4A-E2B1-BFB4-52FB-278639D0E0D8}"/>
              </a:ext>
            </a:extLst>
          </p:cNvPr>
          <p:cNvSpPr txBox="1"/>
          <p:nvPr/>
        </p:nvSpPr>
        <p:spPr>
          <a:xfrm>
            <a:off x="97982" y="5918178"/>
            <a:ext cx="7656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 dirty="0"/>
              <a:t>Legenda:</a:t>
            </a:r>
            <a:endParaRPr lang="pt-BR" b="1" dirty="0"/>
          </a:p>
        </p:txBody>
      </p:sp>
      <p:sp>
        <p:nvSpPr>
          <p:cNvPr id="92" name="Retângulo Arredondado 19">
            <a:extLst>
              <a:ext uri="{FF2B5EF4-FFF2-40B4-BE49-F238E27FC236}">
                <a16:creationId xmlns:a16="http://schemas.microsoft.com/office/drawing/2014/main" id="{9B53C4CA-39F3-87F2-BA7D-17C737994A65}"/>
              </a:ext>
            </a:extLst>
          </p:cNvPr>
          <p:cNvSpPr/>
          <p:nvPr/>
        </p:nvSpPr>
        <p:spPr>
          <a:xfrm>
            <a:off x="4857383" y="1172816"/>
            <a:ext cx="7212697" cy="5121222"/>
          </a:xfrm>
          <a:prstGeom prst="roundRect">
            <a:avLst>
              <a:gd name="adj" fmla="val 2516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07D10F9-5393-9D00-2917-62A62523E286}"/>
              </a:ext>
            </a:extLst>
          </p:cNvPr>
          <p:cNvSpPr txBox="1"/>
          <p:nvPr/>
        </p:nvSpPr>
        <p:spPr>
          <a:xfrm>
            <a:off x="5055210" y="1000366"/>
            <a:ext cx="136357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sz="1200" b="1" dirty="0">
                <a:solidFill>
                  <a:schemeClr val="accent1">
                    <a:lumMod val="75000"/>
                  </a:schemeClr>
                </a:solidFill>
                <a:latin typeface="Bradesco Sans" panose="00000500000000000000" pitchFamily="2" charset="0"/>
              </a:rPr>
              <a:t>Bradesco </a:t>
            </a:r>
            <a:r>
              <a:rPr lang="pt-BR" sz="1200" b="1" dirty="0" err="1" smtClean="0">
                <a:solidFill>
                  <a:schemeClr val="accent1">
                    <a:lumMod val="75000"/>
                  </a:schemeClr>
                </a:solidFill>
                <a:latin typeface="Bradesco Sans" panose="00000500000000000000" pitchFamily="2" charset="0"/>
              </a:rPr>
              <a:t>Azure</a:t>
            </a:r>
            <a:r>
              <a:rPr lang="pt-BR" sz="1200" b="1" dirty="0" smtClean="0">
                <a:solidFill>
                  <a:schemeClr val="accent1">
                    <a:lumMod val="75000"/>
                  </a:schemeClr>
                </a:solidFill>
                <a:latin typeface="Bradesco Sans" panose="00000500000000000000" pitchFamily="2" charset="0"/>
              </a:rPr>
              <a:t> </a:t>
            </a:r>
            <a:endParaRPr lang="pt-BR" sz="1200" b="1" dirty="0">
              <a:solidFill>
                <a:schemeClr val="accent1">
                  <a:lumMod val="75000"/>
                </a:schemeClr>
              </a:solidFill>
              <a:latin typeface="Bradesco Sans" panose="00000500000000000000" pitchFamily="2" charset="0"/>
            </a:endParaRPr>
          </a:p>
        </p:txBody>
      </p:sp>
      <p:sp>
        <p:nvSpPr>
          <p:cNvPr id="7" name="Retângulo Arredondado 19">
            <a:extLst>
              <a:ext uri="{FF2B5EF4-FFF2-40B4-BE49-F238E27FC236}">
                <a16:creationId xmlns:a16="http://schemas.microsoft.com/office/drawing/2014/main" id="{BBEF1911-8800-B86E-492E-E3DB4837D80B}"/>
              </a:ext>
            </a:extLst>
          </p:cNvPr>
          <p:cNvSpPr/>
          <p:nvPr/>
        </p:nvSpPr>
        <p:spPr>
          <a:xfrm>
            <a:off x="113396" y="2408958"/>
            <a:ext cx="1362403" cy="1147843"/>
          </a:xfrm>
          <a:prstGeom prst="roundRect">
            <a:avLst>
              <a:gd name="adj" fmla="val 2516"/>
            </a:avLst>
          </a:prstGeom>
          <a:noFill/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190985" y="2788229"/>
            <a:ext cx="1213934" cy="41258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adesco Sans"/>
                <a:ea typeface="+mn-ea"/>
                <a:cs typeface="+mn-cs"/>
              </a:rPr>
              <a:t>Aplicações</a:t>
            </a:r>
            <a:r>
              <a:rPr kumimoji="0" lang="pt-BR" sz="8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adesco Sans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adesco Sans"/>
                <a:ea typeface="+mn-ea"/>
                <a:cs typeface="+mn-cs"/>
              </a:rPr>
              <a:t>Micro – Front </a:t>
            </a:r>
            <a:r>
              <a:rPr lang="pt-BR" sz="800" dirty="0" err="1">
                <a:solidFill>
                  <a:prstClr val="black"/>
                </a:solidFill>
                <a:latin typeface="Bradesco Sans"/>
              </a:rPr>
              <a:t>E</a:t>
            </a:r>
            <a:r>
              <a:rPr kumimoji="0" lang="pt-BR" sz="800" b="0" i="0" u="none" strike="noStrike" kern="1200" cap="none" spc="0" normalizeH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adesco Sans"/>
                <a:ea typeface="+mn-ea"/>
                <a:cs typeface="+mn-cs"/>
              </a:rPr>
              <a:t>nd</a:t>
            </a: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A7F9046-3086-A93B-F2DF-A2D8756E100A}"/>
              </a:ext>
            </a:extLst>
          </p:cNvPr>
          <p:cNvSpPr txBox="1"/>
          <p:nvPr/>
        </p:nvSpPr>
        <p:spPr>
          <a:xfrm>
            <a:off x="221148" y="2241403"/>
            <a:ext cx="736840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b="1" dirty="0" err="1" smtClean="0">
                <a:solidFill>
                  <a:schemeClr val="accent1">
                    <a:lumMod val="75000"/>
                  </a:schemeClr>
                </a:solidFill>
                <a:latin typeface="Bradesco Sans" panose="00000500000000000000" pitchFamily="2" charset="0"/>
              </a:rPr>
              <a:t>Corban</a:t>
            </a:r>
            <a:endParaRPr lang="pt-BR" sz="900" b="1" dirty="0">
              <a:solidFill>
                <a:schemeClr val="accent1">
                  <a:lumMod val="75000"/>
                </a:schemeClr>
              </a:solidFill>
              <a:latin typeface="Bradesco Sans" panose="00000500000000000000" pitchFamily="2" charset="0"/>
            </a:endParaRPr>
          </a:p>
        </p:txBody>
      </p:sp>
      <p:cxnSp>
        <p:nvCxnSpPr>
          <p:cNvPr id="136" name="Conector de Seta Reta 135">
            <a:extLst>
              <a:ext uri="{FF2B5EF4-FFF2-40B4-BE49-F238E27FC236}">
                <a16:creationId xmlns:a16="http://schemas.microsoft.com/office/drawing/2014/main" id="{CFCD5C23-BD51-5631-01C8-EEE4F75E759F}"/>
              </a:ext>
            </a:extLst>
          </p:cNvPr>
          <p:cNvCxnSpPr>
            <a:cxnSpLocks/>
          </p:cNvCxnSpPr>
          <p:nvPr/>
        </p:nvCxnSpPr>
        <p:spPr>
          <a:xfrm>
            <a:off x="224460" y="6217020"/>
            <a:ext cx="5395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8" name="CaixaDeTexto 137">
            <a:extLst>
              <a:ext uri="{FF2B5EF4-FFF2-40B4-BE49-F238E27FC236}">
                <a16:creationId xmlns:a16="http://schemas.microsoft.com/office/drawing/2014/main" id="{95212412-0FBA-CDFA-CF6C-5765E3BFE6D9}"/>
              </a:ext>
            </a:extLst>
          </p:cNvPr>
          <p:cNvSpPr txBox="1"/>
          <p:nvPr/>
        </p:nvSpPr>
        <p:spPr>
          <a:xfrm>
            <a:off x="822354" y="6079179"/>
            <a:ext cx="2505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 smtClean="0"/>
              <a:t>Contexto de Solução</a:t>
            </a:r>
            <a:endParaRPr lang="pt-BR" sz="1400" dirty="0"/>
          </a:p>
        </p:txBody>
      </p:sp>
      <p:pic>
        <p:nvPicPr>
          <p:cNvPr id="144" name="Imagem 143">
            <a:extLst>
              <a:ext uri="{FF2B5EF4-FFF2-40B4-BE49-F238E27FC236}">
                <a16:creationId xmlns:a16="http://schemas.microsoft.com/office/drawing/2014/main" id="{87C0651F-8C49-C096-82B8-979E69A3426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9315258">
            <a:off x="975629" y="2623555"/>
            <a:ext cx="405487" cy="197137"/>
          </a:xfrm>
          <a:prstGeom prst="rect">
            <a:avLst/>
          </a:prstGeom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438F664B-BF08-2E58-529A-FC303519831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9315258">
            <a:off x="498691" y="5370805"/>
            <a:ext cx="405487" cy="197137"/>
          </a:xfrm>
          <a:prstGeom prst="rect">
            <a:avLst/>
          </a:prstGeom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7199419D-DF90-5A49-4FC9-7041528AE78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9315258">
            <a:off x="7571904" y="5790628"/>
            <a:ext cx="405487" cy="197137"/>
          </a:xfrm>
          <a:prstGeom prst="rect">
            <a:avLst/>
          </a:prstGeom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B508FB70-CE11-1610-BA01-C81AC06D9D6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9315258">
            <a:off x="6216045" y="5806984"/>
            <a:ext cx="405487" cy="197137"/>
          </a:xfrm>
          <a:prstGeom prst="rect">
            <a:avLst/>
          </a:prstGeom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9AA840A4-A15A-DB6F-49AB-CFCA714261C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9315258">
            <a:off x="8707379" y="5977872"/>
            <a:ext cx="405487" cy="197137"/>
          </a:xfrm>
          <a:prstGeom prst="rect">
            <a:avLst/>
          </a:prstGeom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C69F268A-EA4B-2CA2-B7E0-A91BCF0C276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9315258">
            <a:off x="8238615" y="6790566"/>
            <a:ext cx="405487" cy="197137"/>
          </a:xfrm>
          <a:prstGeom prst="rect">
            <a:avLst/>
          </a:prstGeom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6A18984-0A02-EDC5-2085-D9563265C7F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9315258">
            <a:off x="5032387" y="5638441"/>
            <a:ext cx="405487" cy="197137"/>
          </a:xfrm>
          <a:prstGeom prst="rect">
            <a:avLst/>
          </a:prstGeom>
        </p:spPr>
      </p:pic>
      <p:pic>
        <p:nvPicPr>
          <p:cNvPr id="1043" name="Imagem 1042">
            <a:extLst>
              <a:ext uri="{FF2B5EF4-FFF2-40B4-BE49-F238E27FC236}">
                <a16:creationId xmlns:a16="http://schemas.microsoft.com/office/drawing/2014/main" id="{49B3DC93-2987-6376-E424-4B0C6365C90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9315258">
            <a:off x="4289498" y="5920594"/>
            <a:ext cx="405487" cy="19713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EC2CD672-5CA7-8C30-F410-B15144C4B8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2066" y="302678"/>
            <a:ext cx="762000" cy="571500"/>
          </a:xfrm>
          <a:prstGeom prst="rect">
            <a:avLst/>
          </a:prstGeom>
        </p:spPr>
      </p:pic>
      <p:sp>
        <p:nvSpPr>
          <p:cNvPr id="121" name="Retângulo Arredondado 19">
            <a:extLst>
              <a:ext uri="{FF2B5EF4-FFF2-40B4-BE49-F238E27FC236}">
                <a16:creationId xmlns:a16="http://schemas.microsoft.com/office/drawing/2014/main" id="{BBEF1911-8800-B86E-492E-E3DB4837D80B}"/>
              </a:ext>
            </a:extLst>
          </p:cNvPr>
          <p:cNvSpPr/>
          <p:nvPr/>
        </p:nvSpPr>
        <p:spPr>
          <a:xfrm>
            <a:off x="1842301" y="1942854"/>
            <a:ext cx="2108149" cy="1963801"/>
          </a:xfrm>
          <a:prstGeom prst="roundRect">
            <a:avLst>
              <a:gd name="adj" fmla="val 2516"/>
            </a:avLst>
          </a:prstGeom>
          <a:noFill/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pic>
        <p:nvPicPr>
          <p:cNvPr id="122" name="Imagem 121" descr="Ícone&#10;&#10;Descrição gerada automaticamente">
            <a:extLst>
              <a:ext uri="{FF2B5EF4-FFF2-40B4-BE49-F238E27FC236}">
                <a16:creationId xmlns:a16="http://schemas.microsoft.com/office/drawing/2014/main" id="{7D31EC55-F70A-3E22-2A0C-8A4A4331EAA9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83" b="10558"/>
          <a:stretch/>
        </p:blipFill>
        <p:spPr>
          <a:xfrm>
            <a:off x="935919" y="2554956"/>
            <a:ext cx="385601" cy="304078"/>
          </a:xfrm>
          <a:prstGeom prst="rect">
            <a:avLst/>
          </a:prstGeom>
        </p:spPr>
      </p:pic>
      <p:sp>
        <p:nvSpPr>
          <p:cNvPr id="123" name="CaixaDeTexto 122">
            <a:extLst>
              <a:ext uri="{FF2B5EF4-FFF2-40B4-BE49-F238E27FC236}">
                <a16:creationId xmlns:a16="http://schemas.microsoft.com/office/drawing/2014/main" id="{EA7F9046-3086-A93B-F2DF-A2D8756E100A}"/>
              </a:ext>
            </a:extLst>
          </p:cNvPr>
          <p:cNvSpPr txBox="1"/>
          <p:nvPr/>
        </p:nvSpPr>
        <p:spPr>
          <a:xfrm>
            <a:off x="2064876" y="1834518"/>
            <a:ext cx="580043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chemeClr val="accent1">
                    <a:lumMod val="75000"/>
                  </a:schemeClr>
                </a:solidFill>
                <a:latin typeface="Bradesco Sans" panose="00000500000000000000" pitchFamily="2" charset="0"/>
              </a:rPr>
              <a:t>PDTEC</a:t>
            </a:r>
            <a:endParaRPr lang="pt-BR" sz="900" b="1" dirty="0">
              <a:solidFill>
                <a:schemeClr val="accent1">
                  <a:lumMod val="75000"/>
                </a:schemeClr>
              </a:solidFill>
              <a:latin typeface="Bradesco Sans" panose="00000500000000000000" pitchFamily="2" charset="0"/>
            </a:endParaRPr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2372" y="2773144"/>
            <a:ext cx="280572" cy="293932"/>
          </a:xfrm>
          <a:prstGeom prst="rect">
            <a:avLst/>
          </a:prstGeom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87C0651F-8C49-C096-82B8-979E69A3426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9315258">
            <a:off x="1128029" y="2775955"/>
            <a:ext cx="405487" cy="197137"/>
          </a:xfrm>
          <a:prstGeom prst="rect">
            <a:avLst/>
          </a:prstGeom>
        </p:spPr>
      </p:pic>
      <p:sp>
        <p:nvSpPr>
          <p:cNvPr id="132" name="CaixaDeTexto 131">
            <a:extLst>
              <a:ext uri="{FF2B5EF4-FFF2-40B4-BE49-F238E27FC236}">
                <a16:creationId xmlns:a16="http://schemas.microsoft.com/office/drawing/2014/main" id="{EA7F9046-3086-A93B-F2DF-A2D8756E100A}"/>
              </a:ext>
            </a:extLst>
          </p:cNvPr>
          <p:cNvSpPr txBox="1"/>
          <p:nvPr/>
        </p:nvSpPr>
        <p:spPr>
          <a:xfrm>
            <a:off x="2056088" y="2376262"/>
            <a:ext cx="411358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800" dirty="0" smtClean="0">
                <a:latin typeface="Bradesco Sans" panose="00000500000000000000" pitchFamily="2" charset="0"/>
              </a:rPr>
              <a:t>SaaS</a:t>
            </a:r>
            <a:endParaRPr lang="pt-BR" sz="800" dirty="0">
              <a:latin typeface="Bradesco Sans" panose="00000500000000000000" pitchFamily="2" charset="0"/>
            </a:endParaRPr>
          </a:p>
        </p:txBody>
      </p:sp>
      <p:sp>
        <p:nvSpPr>
          <p:cNvPr id="133" name="Retângulo 132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2927887" y="2577716"/>
            <a:ext cx="940260" cy="7707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134" name="Retângulo 133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2980502" y="3028606"/>
            <a:ext cx="816765" cy="25807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 err="1" smtClean="0">
                <a:solidFill>
                  <a:prstClr val="black"/>
                </a:solidFill>
                <a:latin typeface="Bradesco Sans"/>
              </a:rPr>
              <a:t>Microservices</a:t>
            </a: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pic>
        <p:nvPicPr>
          <p:cNvPr id="21" name="Imagem 20"/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450" y="2671892"/>
            <a:ext cx="440868" cy="440868"/>
          </a:xfrm>
          <a:prstGeom prst="rect">
            <a:avLst/>
          </a:prstGeom>
        </p:spPr>
      </p:pic>
      <p:sp>
        <p:nvSpPr>
          <p:cNvPr id="135" name="CaixaDeTexto 134">
            <a:extLst>
              <a:ext uri="{FF2B5EF4-FFF2-40B4-BE49-F238E27FC236}">
                <a16:creationId xmlns:a16="http://schemas.microsoft.com/office/drawing/2014/main" id="{EA7F9046-3086-A93B-F2DF-A2D8756E100A}"/>
              </a:ext>
            </a:extLst>
          </p:cNvPr>
          <p:cNvSpPr txBox="1"/>
          <p:nvPr/>
        </p:nvSpPr>
        <p:spPr>
          <a:xfrm>
            <a:off x="2976592" y="2373017"/>
            <a:ext cx="474792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800" dirty="0" smtClean="0">
                <a:latin typeface="Bradesco Sans" panose="00000500000000000000" pitchFamily="2" charset="0"/>
              </a:rPr>
              <a:t>AWS</a:t>
            </a:r>
            <a:endParaRPr lang="pt-BR" sz="800" dirty="0">
              <a:latin typeface="Bradesco Sans" panose="00000500000000000000" pitchFamily="2" charset="0"/>
            </a:endParaRPr>
          </a:p>
        </p:txBody>
      </p:sp>
      <p:sp>
        <p:nvSpPr>
          <p:cNvPr id="137" name="Retângulo 136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5052584" y="1317283"/>
            <a:ext cx="6942196" cy="47437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139" name="Retângulo 138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5135114" y="3162087"/>
            <a:ext cx="848792" cy="6977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140" name="CaixaDeTexto 139">
            <a:extLst>
              <a:ext uri="{FF2B5EF4-FFF2-40B4-BE49-F238E27FC236}">
                <a16:creationId xmlns:a16="http://schemas.microsoft.com/office/drawing/2014/main" id="{EA7F9046-3086-A93B-F2DF-A2D8756E100A}"/>
              </a:ext>
            </a:extLst>
          </p:cNvPr>
          <p:cNvSpPr txBox="1"/>
          <p:nvPr/>
        </p:nvSpPr>
        <p:spPr>
          <a:xfrm>
            <a:off x="5192735" y="2967870"/>
            <a:ext cx="731549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800" dirty="0" smtClean="0">
                <a:latin typeface="Bradesco Sans" panose="00000500000000000000" pitchFamily="2" charset="0"/>
              </a:rPr>
              <a:t>Hub interno</a:t>
            </a:r>
            <a:endParaRPr lang="pt-BR" sz="800" dirty="0">
              <a:latin typeface="Bradesco Sans" panose="00000500000000000000" pitchFamily="2" charset="0"/>
            </a:endParaRPr>
          </a:p>
        </p:txBody>
      </p:sp>
      <p:sp>
        <p:nvSpPr>
          <p:cNvPr id="126" name="Retângulo 125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2075248" y="3057129"/>
            <a:ext cx="534286" cy="18016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adesco Sans"/>
                <a:ea typeface="+mn-ea"/>
                <a:cs typeface="+mn-cs"/>
              </a:rPr>
              <a:t>CDN</a:t>
            </a: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141" name="Retângulo 140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5321278" y="3565094"/>
            <a:ext cx="457189" cy="18708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 smtClean="0">
                <a:solidFill>
                  <a:prstClr val="black"/>
                </a:solidFill>
                <a:latin typeface="Bradesco Sans"/>
              </a:rPr>
              <a:t>WAF</a:t>
            </a: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pic>
        <p:nvPicPr>
          <p:cNvPr id="22" name="Imagem 21"/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162" y="3283058"/>
            <a:ext cx="537783" cy="282036"/>
          </a:xfrm>
          <a:prstGeom prst="rect">
            <a:avLst/>
          </a:prstGeom>
        </p:spPr>
      </p:pic>
      <p:sp>
        <p:nvSpPr>
          <p:cNvPr id="142" name="Retângulo 141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6256925" y="3538218"/>
            <a:ext cx="5042383" cy="24429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49" name="AutoShape 6" descr="data:image/png;base64,iVBORw0KGgoAAAANSUhEUgAAAVAAAAFQCAYAAADp6CbZAAAAAXNSR0IArs4c6QAAAhJ0RVh0bXhmaWxlACUzQ214R3JhcGhNb2RlbCUzRSUzQ3Jvb3QlM0UlM0NteENlbGwlMjBpZCUzRCUyMjAlMjIlMkYlM0UlM0NteENlbGwlMjBpZCUzRCUyMjElMjIlMjBwYXJlbnQlM0QlMjIwJTIyJTJGJTNFJTNDbXhDZWxsJTIwaWQlM0QlMjIyJTIyJTIwdmFsdWUlM0QlMjIlMjIlMjBzdHlsZSUzRCUyMmltYWdlJTNCYXNwZWN0JTNEZml4ZWQlM0JodG1sJTNEMSUzQnBvaW50cyUzRCU1QiU1RCUzQmFsaWduJTNEY2VudGVyJTNCZm9udFNpemUlM0QxMiUzQmltYWdlJTNEaW1nJTJGbGliJTJGYXp1cmUyJTJGbmV0d29ya2luZyUyRkFwcGxpY2F0aW9uX0dhdGV3YXlzLnN2ZyUzQiUyMiUyMHZlcnRleCUzRCUyMjElMjIlMjBwYXJlbnQlM0QlMjIxJTIyJTNFJTNDbXhHZW9tZXRyeSUyMHglM0QlMjIyNjAlMjIlMjB5JTNEJTIyMjkwJTIyJTIwd2lkdGglM0QlMjI2NCUyMiUyMGhlaWdodCUzRCUyMjY0JTIyJTIwYXMlM0QlMjJnZW9tZXRyeSUyMiUyRiUzRSUzQyUyRm14Q2VsbCUzRSUzQyUyRnJvb3QlM0UlM0MlMkZteEdyYXBoTW9kZWwlM0XLSnf0AAAgAElEQVR4Xu19B5wV1dn+c+72zlKlg3RBEUHKqhhF0XRMoiYq1oia2P0So0Y35Isx+fSfRE00YmKvscfeSBS9IlU6Ir132GVhly13/p65O/fO7dPnzMw7v58/nJ057XnPPPc557znPQx0EQKEACFACBhCgBlKRYkIAUKAECAEQARKn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QBgEps0bXVC5r/lbDNKZADuFAb0lgPfRjYD0HwnsnfrqwrdmjJnfIkylqSKBRoAINNDmF6fxN787oiaSxy6HhIvVnVJClEFj/zI8FmLSw3+ctDQsTu2pJkFFgAg0qJYXqN2/eG/EZDDcCbAxKqpMps7YPQObJ0nSbXdPXvqeQM2gqgQQASLQABpdpCZz8mQhVitJqFErTaWOKQq0nUbBEJYi0nQiUZGsGby6EIEGz+bCtJiTpwTUMsZqIPHZTgY9/zKwsAQiUWEMGsCKEIEG0OgiNFmtPJX6KApUzz0kEImKYNCA1oEINKCGd7PZMeUJVqNlzjNpGSllblQCCzNSom6aNLBlE4EG1vTuNFxWnmC1EovPeepRnHxONN37jJSoOwYNeKlEoAHvAE42P648UZO8SGTFvQSEGUALS04aNeBlEYEGvAM41fyY8kScPO0oO0qitLBkB7aUZyoCRKDUK2xHQD3nKUECU7nGR+/jg3IrnoOUqO02pQKiCBCBUk+wFQGnlGdyI0iJ2mpWyrwdASJQ6gq2ISArTwm1YKjhezEVN09FgNp9z53taU7UNvNSxqRAqQ/YhUB02M5qmc1znrnqL0EiEs0FEj03jAApUMPQUcJMCCjKk+8wkuQdRtFoIKmKk8GR53xOlNHqPPVY6xEgArUe00DnKIrypDnRQHdDxxpPBOoY1P4vKDbn6fKwPQvSpET93w0dbSERqKNw+7cwRXlCkmoY40NzZcguQbB7IlH/dkPHW0YE6jjk/ivQA8ozGXQiUf91Q1daRATqCuz+KTRKnqwWSIznmSmOp0B/DzNGO5b80xPdaQkRqDu4+6JUTp4RCYmuSgpDKi0U+z7M2jD97m9RZHtfdEgXGkEE6gLofigyrjylmlzh5gR/TsN5P3RIl9pABOoS8F4u9hdvjZgs5UEetsdPe8t4hJHg/CnXm5Solzuki3UnAnURfC8WrZ7zjNZf7DG69vpJpES92CFdrjMRqMsG8FLxXHlGQtE5T4EWgxKPPTYhhLkSDdGcqJe6pOt1JQJ13QTeqEBs2C6hRu/hb556n++dJxL1RqcUoJZEoAIYQfQq+F15qo9Tbj8yJByK0Oq86P1ShPoRgYpgBYHrEFWerJbvMPKUkjRwTHJC+0iJCtwrxakaEag4thCuJorylFfbg3mFIxFM/zP5iQbT+hpaTQSqAaQgvpIw5xkDwMjJ7ZnO0eSZip8fjydKw/kgfgHa2kwEqg2nQL2VoDz94qWkWNBYe4hEA/UFaG8sEah2rALxpqw8Q+1O8pY5CCUv03jvnpRoILq/7kYSgeqGzL8JbnhrxOQQJ0/uqkRXKgIMNCdK/SIBASJQ6hAyArFhu4Qa+egNZYZSietJ94oep+E8fTMJqwIER8ARIOWpswOQEtUJmH9fJwXqX9tqalmK8lQd/haNJM8jykMVYT5+OFygnwOkRDX1MH+/RATqb/tmbZ2sPJmyYBRgIIw2nZSoUeR8k44I1Dem1NcQ0YbtLW3FONxWgubWEjS3laItkoeSggOx//S1zsG3eQAS2vbpIOBiFUUEKpY9HKmN28qzsaUSW+sHYVv9IGytH4ztBwagpa0oa9tLCuplMi0v3I+eVSvRp3opelWtcAQvDYWEIxLtWNKAk+9eIQL1nUmzN8gt5Vl/uDP2NpyJr3aPwuLtPS1BvSCvCb07rECfDkvQt3oJOpdtsiRfQ5mQEjUEm9cTEYF63YI66s/J8+t1oVomtcfzlBeHJDAwVWB51b3J5wcOd8Hq3SejJG8SBlb3RbfyPOw+1IZ7Z9cjot7hqaMN2V7lCnVo109wfK/XUV60t33xy772RRfXEvAiJWqRLb2SDRGoVyxlsp5ODtv3HOqFWWt/gv5VJ+KU/sUpNX/7q0P4ZONhky3KnDzE2jCkaxjj+ryGTqWbbSsnQ8ZEok4j7mJ5RKAugu9U0SnKU3UQh5WR5eubuuKT9edi5U6+kYnhqC4FOP+Y8pRmtkQk/L9P63GgOWI7BP07foHje/0bvTosd25jKl+dpzlR220rQgFEoCJYwcY6pChPY8E04jVMk/5gSwfM3vADfLF1ckpLfjq6Av075Kf8fdnOZjyz5KCNLU/Mumv5epw68DH0rFwZDQKlXDbg0Z4/kahj1nWvICJQ97C3vWRFeUb3tlupNaPBQJpaK/D5xilYtPUMtEYK0rana1kerh1fmcBZyov/XHAAa/e12o6DUgBjEYzv8xLG930ZDFz92hzUhLHw11OkFE/UMQs7XxARqPOYO1JiTHnaFBhk7d5ReGPF9Tndj3hjvz+0FGN7prop7W2MLii12j+ST8Ccuz99Z9i9KCvcb78taDhvP8YulkAE6iL4dhWdXnlaN2Zdv/dYvLbsF2iTUofm6dpUVshwU00VivJSu9vMdY34cG2TXVDI+fapykevyjx0LAmhrDCE8kKGquJWHNt9HqpLtmHhzrewv2lbex1sGNOTErXVvm5mTgTqJvo2lJ2sPJPpILlIvc/X7x2JV3WQp1LeCX2K8K1BpWlb/ODcA9hcb81QnpP1kdUF6FOVh96V+ehdlZ3k+dxo76rlWLb7PWxtSHXM14tPRnxJidrQ293PkgjUfRtYVgNZeUpSLRiryRD9I1NUEE1/31g3Aq8suUWz8lQ3jIvP6yZUolNJXkp76w9H5KF8U6t+59CCEEP/6nwM7Mj/K5B9TfVeFUV7MKjzbGysX4BVez6BJE+NJkRVseYeLCwxmhPVax+R3ycCFdk6OuqmKE9JNedp1YlDjIWwcd9ReGXpzRkXi7RUtW+HfEwbXZH21ZW7W/DkogYt2aAwj+HobgUY2a0QAzqmX7zSlJHqpariHRjYeR62NazAkl3vy0+swk8pRs6PgRaW9BpH4PeJQAU2jtaqRZWnElVJtdquxKHLtNqs8XmPsstwzyenYXtDSGuVMr7HHetPO7Ik7fN3Vjdi1ob086G8qgOqCzCqe6HsX8pJ1OqrY+kW9O+4EBvqFuLLPbPicftM4pdmtZ+UqNXGcyk/63uhSw0JarFq5WmHYupaNhGRlpvx7JLDWLyj2RKYf3pcOfpXp1eOD807gI118fnQ7hV5mNC7CIM6FqCyyDyB52pAl7L1cqCSVXs/xYa6BbLzV4KCtOpeApFoLmN44DkRqAeMlKmKsTnP2Lnt1lJop5I+qMi/C3xPO1eGXCFacVUUhXDd+EqU5Kd2v7rDEdw/ux6NrRIm9i3GGQPTq1Ur6pEuDz4P27lsCbpXzsPy3TNRf3inVZSZblIgLLVh+p+/t/Q9u9pD+dqLABGovfjalnvisL29mEx+4ckSKvm9NM+LQmUY3PHX2Fp3nPx0zd4WPLJQ2xyllkYP7lSAi45N3ebJ03IFWlrA0LlU/4JQtrL3N0XAfU/3HOL/RrDzYBsamiU0tkbQ2CLhUEtcb54y4DGM6vlOdP+BAfwS9i1kT09KVEuHEfQdIlBBDZOtWjf8e8RklpdmztPCnTXHdD0f2+rOQ6Td15Mrs//9yFrH828PLkFN79RgI1aYhCvYr/a04MvdLdh6oE0mSz0XD0hy0ehfoLpki/07lvjqPClRPeYR5l0iUGFMoa0iaZWntqSa3+pbNRKhyC/BY3iqr7s/rQNXcVZdeSHg52Mr0a3MGqW5raFNJsxVe1pkFcs9kcxcPSpX4ccj7zCThZ60pET1oCXIu0SgghhCSzWiylOqBVCjdlNUhGemw9/0PA8hHyO73omN+0elVOmpxQ1YsatFS1U1vzPyiEKcM7xM8/vJL+5rbMPszYexaEcLDhy2jtyVciYNfBjHdP9AHspbgW8699K4fUiJGu4ILiUkAnUJeL3FJg7b9abW93553msoyksdWn+26TDeWHVIX2YZ3uYdb2I/7tJUjBBnJh1XRJLA/UbnbG7G6r0tCdOUOrLR9GpR/kFcMvpGlBbWaXrfgpdIiVoAolNZ6Ou5TtWKyklAQCbPEN9hFFWeyYrSyvsl205Ft7KbMKxzqpsRj9/5x1l1pgmrvDCEc0eUylsu9Vx8x9K8rYcxd0sz+P87dQ3pEsa3htwbU6BW4p3Onozvnac5UafMa6ocIlBT8Nmf2EnlyVvz+Px7cHTXgTh9QHr3oWQ/Tb0IcH/Oc0aUorRAv08nn9d8dGEDmttMTm7qrTSAs4/+X/TusMxASsNJiEQNQ+dcQiJQ57DWXRInT3DlGfPz1J2FrgRb64fg+cW/lZ3WLx6V3sXo041NeOsrY/6g43oV4btDStPGBtVaUR50hLtTHTawb15rGeneO6JiNX4y8jYzWehOy/jqfIT8RHUD52ACIlAHwdZTlKI8JUmqYV+fBJe8+KD4GcqHmln0/O0vr8HKXSegOJ/h9pM7pK3uvqYI7vlU/3zgN/oVZ1S1enDh72470Ip/LmiQne2dvC4efSOqS7bKQ3k78FcvUqn8SIlEnTSyzrKIQHUC5sTrTitP3qZDLVV4eM6DiEhRl6Kfja1Az4r0oeAemFuPLfVxv8q+HaJzmRv2p1+ht8Pfk/t1Pjz/QILzu922Gd3zDUzs/6TdxaTkT0rUccg1F0gEqhkqZ16MK0/UZHKbsePvszf+AOEN58QaeXK/YkzOMA/apSwfo3sWoW9VHgpDiSqwOcKwYX8bXlp+EL//eB9+MKwUo3ukRqPPhiZfYf9wbSPOO7oM1WnC3ylp+RHJfE5WvYPITiuVFNRj2tirkBdqsyXaXTa7gu+dp+G8neY1lDcRqCHY7EmUVnnaECA93aFqTy38P+w62DfWML6N8oYJlQkNndivBMO75CNf4/oPH2F/ubsVM9dqmzPl85rcTWrBtmjQEh4c+dJRFTgiS4xPTqIPz29AgwMnfPI6fWfonzCo8+dxXByyT3uBYUQY7Z235/MzlCsRqCHYrE8UdVVCrQSpxvbDzpK2fLZGCvHX8BOQkpZ3eMAPfihcdUkI3xlSig5FxrrLoRbgxWUHwQOFZLrW72/F80sPprgnFeUzXHJsedbI8nx/OydRJ1yb+lcvxJThf7TpYOhMwQzif2cgJWr912c8R2NfhPHyKGUaBBKUp/WHZ+bk4011I/Di0ttTasZdmaaOLMd3hpQgTeAkXbbknkevr2rEpv2pR3d8tqkJb65qzOhfyqPOTx1ZljV4MifPx75owI4GfXvedTVCdsGV8NOxV6G8YF9OXC0MTZB8qCopUb2Gs+l9IlCbgNWabVx58qOH+eXsmJCXN2fTWfh0w49TqlzTpxhvnNcN+UnznFrblvweJ9GnFx9EXft+et7S11Yewtwth3NmyeMnnzOiDCO6FmZ8t6VNwrNLDuLLPdZuN00u8IR+z2Fsr1fb/+y8vThzkxLN2WUceYEI1BGY0xciK0+W6Ofpxuf42vKbsW5fNGyd+lpzfW90KbW2i/DhPD8PvjUSJTu+YKT14jU5K8eiFMfv/TWN+Gi9fSd99u2wGD8YfqdLP3dR4StfDKREtXYem96z9uuwqZJ+zDamPCWpJsmxMBq1Iu5oaPv932Y/hua2xJ1HM77XBT8eYU8w4yU7W3HO8zuw5YCx4TafWuB+pdmuRdub8dKKg2jLsuNzQMd8+WgQfi49jweq9WRQfp78tLFXRPfUKg66DtoroX+Akyg527vFEUSgLiCvVp5uKE610fc2dsfjC/6SgsLeW/oin9njqN4SATr9YaMp5LMdk6xkvKGuFU8takhwc+JTAN8fWiJHuj+6WyGUo5X2NUb32b+zukl2weIBl7NdV427DMX5DS5MuKgUqPIzS0rUVF8yk5gI1Ax6BtKmKE87js/V4Si6fMdEvPvVzxJa8r+TOuK6cem3chpoctok93x2AL/9zz5T2Q3rUiCHwst2wByfb330iwbUN0VwxZgKXHJcOQZUZz8r/j/rmuQ996+uzBx56kcjfoveHZZbc9yxDntldEAlJWqqLxlNTARqFDkD6RTlKTm0t11LFeds5g705ya8uvjnvdCvSqOzp5ZC0ryzZn8Eox7YbDB1PFmn0hCmHlOOLlmCMvPwd1VFoYz7+9NVggcu+d1HdXhu6cG0dTy5/+MY1eMt0/W3MgO+sASJ/EStxDRXXkSguRCy6HnUVQm14HOesUuZ61T+4Pz97E0/xGcbz05opZ3Dd6WglghDpz9ssARdrkD5jic+JE93je5eiJo++nZD8XzW7G3Frz7Yh3fTHKY3ottMnD5wRvsg2j37pTm0iUjUkl6lLRMiUG04mXorq/JMngRNLsnm559tOAefb/5hrFR+YuaWm3qZaq/WxJ3/uBHNxtaR0hbBjz/+5qAS5KkCNHctC8nznR2KjSnqV1YcwkWv7E4pr1v5Gvxk5K2pXmcO2y9lEja6tEUkqrUTmnyPCNQkgLmSJyrP3DtNkj2m7b7n/p9zNk+JNePY7kX4+JJuuZplyfNx/9iOFTutOWteqVCvynxcMLIMFYVRwqzpXYTRPTL7juZqCF/Fv+DlXbKjv/qqLNqFy8Zc49qOpNz9gpMorc7nsq/Z50SgZhHMkj6mPCXFSd7GwgxmPWvD+Zi/5Xux1KO6F+Ejhwh0wj+2Y5nFBMobwvfQX3BMOfp1yMfZw0vl7ahmrr/NOYBbPkhc8Kos3olLj+MEKu7F+Oo8zYnaaiAiUJvgjZJndG+7eLozrl8+WjcVC7Z+J4YCH+puvNGZIXzX/9uMJu6EadM1bXQ57jmjo+ncP97QhO88vTMhn6riHbh09LUJx7+LaGfQcN60/bNlQARqA7xeUJ5Ks/+77mJ8se2bCSjsu6Uv8mzyAVUKapUYOt5lzSJSJhOO6VGImRcfYdrC2w60Ycj9/Hz4+MUJ9JLjrjWdtxMZkBK1D2UiUIuxTVSePJI8jxivKD7x7meuuQSLtp+RgMKyq3uhd6WxRRetcK6vi+CYv5l3Y8pW3qjuhfjoEvMEyoNHD/trIoF2KNmGS467QXj7Kv2PlKjWnqnvPSJQfXhlfZuTZ0SSahkTd84zuQGzN/0IszclujH9cXInXDXG+FntWiC9f04Dbvtgr5ZXDb8zpHMBPvvpEcgPmevm3I3p7H/tSqhHdck2XDTqesN1cyMhKVHrUTfXs6yvj2dzjCnPBD9P8Zuzeu9YvLHyppSK7rulT2ybo9Wt4IGWO95lbiun1jq9f2E38MPszFx3zaoD/099dSzZggtH3WgmW1fSEolaCzsRqAV4elF5Ks2ua+qGRxfcl4LC4z/ogrOG2hNM5IXljbjs1URFZ4EZ0mbBo+pPPyX9AXlayuQR7y98eTc+2ZgYcs+rBMrbTCSqxfLa3iEC1YZTxre8qjzVDXrg89RoTPz5hht7o7rY2i6yp1FC/z9vMom69uR9qvLx6JROOL6nMRXKD6676d19mHRkMT7deBhN7SeB8mOOf3y0s8cca2917jeJRHNjpOUNa78OLSX66B218swcEyT9scPx991//q+lv8O2A4NTLMOHvu9M7WbZUJ57LJ32xA4s2Jo7gLKV3eT8Y8pw56RqdCzRtzA2a0MT7vjPfvBITZcdV4GDzRHsPBR1u6ooXAiwXyPy9Ulv6Y6VFsm+merHF5YiETb9/rOWvmcl3kHKiwjUoLW95KqUq4kz1/4Ui7efnva12yZ2wP+cUGmaRPmOnn8tO4j/+7RO3mPu9HX56Ar88oRKdMtyQJ26TnzIzuc9OYleMqocAztGj25Wrr4dvsCB5n/jyz2fON0US8uTJIRDjAKQGAWVCNQAcjHlCdS4cISR5UftLNlxOjiJJl/8LKLbv1GFDkV5mDLM+H7y/U0RvP1VI3YfikCChHdXN8nE5PTFA45wNcoDMme6eF1fXnFIPnqEHzWSKe7osC7/RWnBAYQ3PY/6wzuFd6jP1k9JiRrviUSgOrHzk/JUmr69YSCeWxw9okJ9De9agPOOjsYF5SHh+PnuE3oVIk+jWxA/toMHKZ67JfXYDi0R43WaRtPrJfkM3x1Sion9iuTzlQZ3KkBbRMIX25vl45T5USAz10XJ/ZhuhTh3RKo7V4i1YVT3aCi7/254FE2tDZrKFvklJiH89VwEHZms00hEoDoAu+aVEZNDIeUMIz9oT2XzYUheia8/3DUBjR8eVYrjuicuvhxsiWBszyL5fPhOpXkpPpacjPY0RrBiVwvmbm1GkRLyPQ3O/AiNJxY14GCzPZHvdZg27av8d2JMjyKcNqAYZQXx+dPywj0Y3DksE+d/1z8SjX/kaQ0aqz/NiersNESgGgG74ZURkyMhqZapgyEnh+9MzstDz3lIu882nRNrAa/6rROrUKoiDnXz9jW24Z5wPbqX56FfdZ7MH+v2t8lHYVw6Kvs57up8nDqOWKOZ075WnM/kYf/YnoUIMQYeyq5X5XJsPrACS3d8kDlrD9lfaYQEmhPV01eIQDWglV55qrpc/JxEV44lTnNKjqpV2k5dOthcjX/Mf7BdTQHc/YcfgZHp+mBtI/jRF+kuLee4q9PxoT5ftPnv+ibwo4lFvXhU+xP7FuHcEUvQpWw7Fm1/F9savoxhFq23NrzjbRTyfVKiGjshEWgOoBTyTFCeWegpOTub4yGni6ebUAU95b+64has33+snP7U/sWYdGTmxZY/flIHrh4zXXzkfsHIcnmOUevF83tndSP4/Gjy1bsqHzee0AHHHVGIyqIQ+FTC0p0t+Pucenyx3Tm3qLxQC64Zdw0GdRqK9fsXormtKeHn08v2V9edlKi2XksEmgUnmTz5ue18b7vLh785Uf7qvePx5qro9kQ+DB+Q5LqjQLVhfytmzD+Qs4fxOcTvDS3F8T30ObFvqm/FaysOYVtDm0yWb089Akd3zXwQ3Nr9EUx9eReWOECkI7p+gEkDHhbnMDl7+yUp0Ry9nAg0A0DqYbtvlghyLHVIUh4env93NLVW4jff6JAxCAc/rZK7+Gi9tBxBnC4vFmK4YnQFCkK5h/USGH49cz/un524Z11rHbW+N/XYG9GpZIs/loy0LX0RiWbpHESgacAJmvKMxtuT5E3Sszddhs1138TPxlam7TZtkiSfVtmsc65yaOcC/HhEGQqyrMqrC+xcmodzjy77+hy+3OSpTnfJq3vkc93tuHpWLsePjvqNjJMTIwKByiESzdChiECTgAmi8lQUdnlhNc499hH8z5v5OLlv+mE3P4LjmSXGCKpTSQhnjyhD78rs57Jzk0w9tgId9I38ZUs2tAA97rYn0tO3B/8ZAzvN9o/TkjYFqrQ3HIqw6X+mbZ8JjEEEqoIjpjyhHD3sQT+UFPNmU3Dx9pUVVuO6k55E1/L+mPlVHWZvSE+STy1ukH08jV5cvE3oVYTJA0vAV+vTXcO7FeHUfsYPgvvr3IO49f09RquYNl11STOmjpz69SktajyD0z+ioLBwRKK98+oOQgTajkZMefID4IIy6dnezrKialx3IifPfjIazc3NeG7RfmyuS9yzzofvv/1vHbjbkdmLq9EfDi9D36pUNfqjEeXoXma8a25rkDDkPmsjPt05uSvG93kT/156j4/85vVJ0PbvgkhU1fmN91KzX5BA6ePKk0eS99MOo9y/BBVFHXHNiU/EyJObpbW1FfsOtuDR+fsTyHLd/lb8Q8Pqu1bT8tod270QkweUyKvtynX5mAoUmzhIMyIxdLDwvKUelflYddMglBWGMHP1o/j3sv9niHl8xLxEou2dNfAEmkieSZ++z0doFcWdcP2JT6NTWeopnFyFztt8CP9deygGysx1jfhwrfVBQPjCEp9zPalvsbzyzxewzB5qd8aTO7DrYAQ8IDIPEGLm+vCn/XDqgPie+FnrnsFLi38f58NMmfu7/xCJJm2hMNPHPJmWkydjfHumFI+qFF2MjutQn96XF3XCDSc9k5Y8uTEjkQhaWlrw5ML92NnQJtv3HwsOYN0++0LR8Z0+Zw4qwYPf7Yx8k6eC3v953E+VTznsaIhuM911qA2HWiT5v4bmCJpaJBxsv+eOCNUlIVQVh1BdHP33+8Mq8LOaznLMT/UVJdE744vxyo54n/aX2LgsoX00JxpYBZpVeXry50B7pSuKOuH6k9IrT3UunEB3NbTg6S/qcLg1gukWzX/mqum6G3qjU4nxrtkaYXhwbn2uYnI+Ly8M4eKxnVFZnN5r4LMNL+L5L36TMx+fvxBoJWq8l3q4V8SVJ2pixw7Lv6yqY4d9el9Z1BXXnfRERuWpNivHhg/lt9a34O5Ze/Hg3Ny7j6zoFv86txvOHA5r9xcAACAASURBVGDAh6m98I31El5bYT7E3LeHVWJkz2g4v0zXZ+tfxPOLatuVqP/7T7rvBYyFpYCuzgeOQIOsPKuKOXk+hY6lPTTzXFtbm7yotGhHC054aKMlK/C5Ch/UqQDzr+ie67WMz9/86jDW7k3dT68nw14dCnDhmC6aknAl+q8vpsvBogN8BVKJBopAZeWJtlqA1QSto1cVd8P1E/WRp4IRH8rn5eXhleUNOOeZTbDAiykn/K+ed4QhX9Cdh4Dnl5hTysUFIVxZ0zVjKL90lZ+94SU8u/COnO2y8oXOZX2w+6A9mwYM1VNWom3T7z9rZWDOWAoMgSrKU5KkGnlBoH1WPDok4UMvZYde9N7O57845QXwofQrS/+ABZvftr38jmU9cc0Jj6JjaU9D34WCEU/82Pz9uOTFLYby0Zto2dW90btSexetOwz88Lkd6FIWQteyPPk/tXuUlvJ5tP2fn9gNfP5T7zV30+t4av6vbO8/xQVluGrCw+jXcSTeXzUDb664z9H+m/X7AAI1nNfeO/X2JoHejypPHkle2WHkXuX4Tp/bTnsjVgGuWrh6sevqVNoL1018Enz4btV176d7cP0b263KLms+4ct7YkSX3E6hG+sjOOaBzYgkeSwV5jGZSEsLGArygMIQ/7f9//MY1JuhelcV4C/f64kqE06o8za9gSfn32wbNkX5pbiq5mH07xgNO7jn0Gb89r0zbCvPWMYs/LUMCcRpn74n0LjyRI06BkRcYaaPDWHX8x6VQ/DLU+KEyefN+PxZeP2LCbEjrCi/uqwHrj/pKUvJU/mgXl1+ABe/sAV1TVEXJzuv6yZU4epxlehWmtpd9zUBj3/RgDtm7jVVhUGdC/Hplf3RpSz3Pv1cBS3Y8jaemnczIohkjDlixL7FBaX4ec0j6FM9IlaFuqadqH331JRyjORv5ffB44kGYWHJ1wQq4pxnzypOoC+nfIPPfVELvqJr1cUXivicJ5/7tOvaVNciz4nO3thoVxEJ+fJhNT8Q7oiKfOw5FMH7aw5i2wHzBN6/uhCfXtUf3SvMk6dS4cXbPsCjc26Qz4234uLK8+oTHk0gT54vJ9A73jnFiiJsyIMrUX/PifqWQBVXJUh82B7dEsLkUBDxrZpu3PeoGpyWQHnv5T6F4fUvxA4pM1q/TmW9cd1Jj9tKnuqv7fb3d+J3M3fZ8AHan+XRRxTj9Yv6oG8H7ZHztdZq8bYPVSRqvP8V5Zfh6hMSladShyiBnipM/079vuDr4bwvCTRhzlOwI2d68iH8qakKVPkgXlx0J/gul9ils/58zvOGk58Bd5Z38vpk/SGc/cxGbLdAETpRb65i/3BmN1w4qoM8dWLXtWz7R/jH59cgIrUrZZ32LMorxdUnpirPRAJVKVCd+TtzhJN/50Rt7Dp2dcns+cbJEzUibkWODuGzLxq9uPj3mLX2mVhQqEwtTm4f39N+w8SnHSdPXj9+xO8fZl6FpxedgtV7x7ljfI2l/nJiZ9wxqYscHMSJa9n2j/HPOdeiLZK4DTZX/yzOL8XPMyjPVAWa2pJc+Tv83JdK1FcEGpvzlOJ+nqL9IPeoGoKbsyjQBCW69hnNAoGv7l878XHXyPO+jy/ClrqVcn33NfbCvG1TsGrPCYhIuVfQnSAxXsaEPq146txhOLKj8VijRuv65c4wHvrsKrRGWjWd4SrPeWZRngkE+nZcgYrW3xPqw/1EfTYn6hsCjSlPPucpj8lijp7RZXZB7ntWDs46hFd/oK8tvQczv3o0Z/27VvTH9ROfBA+K7PTFled9sy7GlroV0blbxaEWEg42d8SCbd/F0l2T0NJW7HTV5PIK8xoxuNOn4IfBda/YhCvGP4AhXd3ZR/Hlzs8w47OfoVXiAakz98+igsxznskgqudAk/EX8p6vzvvIxckXBKpWnkL/AgPQqkCVD+XVpffgP5xE26/k9nUp748bTnaPPO/9+CJsrVuZsX68vi1tpVi04wws330W6pqcIdKuZWtk0hzS6RMUhOIH4IVC+bhywoOukehXu+fi759OQ2skutU02Z6F+aW4RoPy9KQCVdrrIyXqeQJNUZ72HvNq+jAxPQpU+UjeXvkA3lnxtxSH1SMqB+Hakx51V3nuX6H5kLXRvadgUNfb8OHqg/hwzUGENxzSfThdNhnL1SYnzGO6vYdOJRsy1isvr8BVJbqak2j4SrREDif0Jz3KM2UOVPB+n+qo6g8l6mkC5eSJSFstWHTOM3lSXMR7vQpU+VD4UJ4P6ZVwFd0rB8o7jEoL0p+eaed4mQ/bFeWZ7YSgZPzH9vk+Lhj9+1jVGlsi4Kv3H6w+iA9WN2DBVn3BmvmOodE9i9GxZBkOHX4R/aoWIU+lNrPZP89lJbpu7xf42yeXobkt2mY+56lHeaoJ9Pb2OVAR+3vW/sGVaGvb9PvP9u7eec8SaILyjH2SqrnOhKM5lBfcf96jchBunvSKIX7jCzVr9sxDz6qhuPrER1BaWGUoHzOJDrcelOc8N+9fnuUnKxnnaInHJxFounpsqW+RAzjn2uHUtTwfR3WNhrx7Y/m9eP/LGar6pC8/3ZEaV0x4AEcdMdEMJIbTrtkzHw+Fr8Th1kP47vAbcdrgy3TnVde4o90PVC0htLc/Oong4vfBvK1EPUmgMnm2K089CkiEX+juVYPxq1ONEejaPQuxatdsnDzgApQUVOj+2MwmUMhzk0ye+hV/sgI1Wx8lPSfQ976cYXgEclXNQxjW7USrqqMrn437lmL5jlmYeOR5hn4QOYHeLjvS67eHCN+DPAcssbAU8aYS9RyBJirPTIpS3L/35DuRNLgx6foKHXhZXm3/WLXabuDwPS0K1EhTcivQ7P0hL1QArkTdWp030mYljbwK/3Z0J5KnD63zqBL1FIFe88LQyQixeDxPUX5Ck0dAWe75TqSbJ2XeiWTmY7IrbVNLdM5zS/3K9CM+je0f2zdxDtSq+r6xLKpADUtQAHxO9IqaBzHUJRcno1hwAr39rXY/UA9+D4kxqKUwIpKn5kQ9Q6DXvDBiMgtJtRKTYjuMxNWZmfWA0UUkox+Y2XRR5XkRNtetjPGTUdydGsIbrV9+KB/TJniLRKMK9BSv68+4Oxcfzoe8EwrPEwR67QsjaqRQ270AG2OWENxOz7dyekWBHmqpx/0fXyLvMLLikgl0THwV3oo8eR4xBWpBhl5TogkK1IL2i5EFm8cibdfdd/bKsBj1yVwL4Ql02rzRBUUbGvkKwcVydCI5gryi8Lx336NysCcIlJPnvR9fiG11X1mGt/0K1Jr+kJ/nHSWaqECtab8Q35eExw73LZk2Y8x8vm1L2Et4Ar32haO+L4XwqrAI6qyYFxSoTJ4fTcW2+tU6W5f9dS8oUKUFXlGi/lSgUSuwCKbcd/by1yzthBZnJj6BvnzUg5KEKy1ut2vZiU6gdpEnB9xLBMrr6wUS9TWBMvz9vh8sv8q1j1VDwcIT6DUvDlsJxoZoaIsnXhGZQO0kTy8SqEKiPx1/H4YfcbKQ/cvPBAqJfXn/j5YNFRL49kqJT6AvDT8ESCUig6inbqISqN3k6VUC5fUOsTxcPuF+IUnU1wQK1nj/D5eV6vm+nH5XeAK9+sVhhxhYiewmLEdLS3MMsXxUhzee80WkX51mbCeSXZ3jUHM9/vLRVGw/sNpWfMdxP1CbVuHfXTnD1v7BWB6m1YhHojKBvtnuxuSD7yPh+4bUeP+PVhCBmvnwaQhvBr3caZ1QnkotvDYHmoyeiErU1wqUhvC5P+Bcb1z94lEPMuDKzBvVlMO6Mm1kE+s5d6T/1Wli7ESKKs8LsL1+TRZHbOvws12Bpt3QaF39+XBNNCWaoEAdaH/qd2gtvur8Afz9rz+iRaRcHJn1eYobk+gRk3PUT97KKQCBxpRn3eroL49y2YivIwrUxvrLEElAKCTOnGiKAnWg/U71F3JjMkWd0cSyI/36xhkSpIs9HSyhXePxYCJuz4EqynNb/RpHg1CM7TsFU22YA32d74Vf+ZCjwTRCLIRpNX91fWGJE+iv3+R74T0eTCSp/hLwWEs/cqS3gEIBeSsni27l9Ho34eHsbnF5Eemvsy7Dlztnm97brnfPuTtDeHt/dm+b/Aa6VfS3pJ8byWQ/jwf61qn+ok/Gt3Ky6+47eylt5TTSKdKlkSMxMVYrATX2fhL2UrTbCrS5tRE3vcZDCtjbznT5+0mBKu2bcvT/YNLgS6zq5rrz4QR6+1s+CGfX3h8lSOGQ5J2ITMK7Mal7FI/IBNYmh7Nz/vO3hrZ7CDCE//unV2LZ9lmkQE3+jFQWdcKvTn/FlaOkle/CXwqUhSF5K7CypwiUd5qfvTB0MmOslklciXrv4gR6y+nubu2fu/F1PDHnZsfB4/FApx5/l+Xlvr70L3hvJT/Sw7mrorgTrj/5SXSt6OdcoWlKkhWoPAfq7UsCwiF4R3kqaHuOQHnF48N5VpNyLqzgq5B8Ff5Xp7vvxjRnw2t4at5tsuO8U6uqMoHatojUTqAO2J+T542nPIPOZb1cZ626xp34tRJQmdfGgfZb3V8Yk8Lw0LBdbXRPEmhMiYLVMnlOVP17IPYpSfIc6Oli7ESSSXTurZBiYcHtDWkuz4Eeb3080LgCtbf+/JemorhjO3n2dp08eQVkAn3zG+11sb/9po4kSHNkAJ/zlCBNf8CjJ3N6lkAVJRrhw3molKjgk6OiKFDl609RojbiN7afjQp0hepID73uARrfF0l5KvaLKVAb7WbXZLmXlaenh/Dqn355ThT8nCR44qgPvhPpFkEUqJpEn5x7qzz+s/M75G5Mds2BynvhTS4KZUtfXtwJN8nDdjGUZwKBvvkNW+1mE66eVp6+IdCYEpWH8yzNwlLypFDyyMvZ5zwakwhzoMkoRIfzt6mG88ob1uETXUSyYwjPHekzLSKZr39FcWdh5jyT7RYdwmdbRDLf/sRJcvPfj9eH7b6YA002Y0yJ8tX59okJ+ZdTJami0ZzaN6wo+1Ycfi6iAk1QonNuhcSi88hW4zeOD+FtWoV/d4USjcla+5YXdcJNp4qnPNUK9DY+B8rXAgXo3zm/L8AXytNXClRpDF+dj2RUokLM+UNUBZowJ5pWiZrHzx0FarzeIs556legxttvdUo/KU9fEihv1M+eGzqZ5bFaCOon2rODeHOgyR/K53w4z5Vo4qHdpr8neQ50rD1+oFyBWnlx8hRZeSYo0DeUVXgrEbA4L+Yv5elbApVJtH1hic+JxgO0KoGY3f036kgvhhtTtk+Ek+jTc29DRIqAMeW0R3P/jutnlxvTvXh3xUOW1bOyhM95Pi3cglE6eylzoKL1c3V94FPyVKa5LP6pESM7UZWoFxSoYkGrlagXFKhXlKeHFGhYYt7188zFZp72A83VuPjCEl+djytPZVe7oqycvPeKAk0kUb46H1eiRvFySoEarZ+XlGcigUbD2bnRn+WdbO0OZMnl+1l5+noIryZWWYmGon6i8t9d3urGz0S69Qx398Ln+uFJfv70vNvx2bqXon82gZ8jCtRE/S6vuQ8je56mFx5X3+d74X/9hsqNyUT7zdpXnZ7vbUdEmv7Aj1e+5ypANhfuawWqYCcrUYmTaFSJxi/nt76VFJTj7imf22xWa7P/ZO2/8Nz836gCFqt/f7XjOY5v5Rxrhx/oXxBdRDJnz2tPfhSDu46zFjybc1u183Pc95ESTs9c+83iF0vP5zzb/E+evp4DTe63ihKVJNRwfzlFScmxNBy+H9V7Mk4eeL7Nn5Y12fNFpBcW/g7b69bI34cZvGQ/ULtW4ZdHt3KaqV/vjkfh28OvQVG+0AdBxgzbcHiv/MOxef8KV/tzwvcTEOUZmCF8+uG8okQz/WInb15LVlz0PDFgsjZ8nFOgZB8j9skc8VabfcGd5AMwbFdzSiCG8MkkCj4nKqifqDW6UcxcuAK90AYF+u8lyhBezHYHolY8JF0Evp/zTLZl4AiUA8CH85xE5VB42qfwLJsiihlBkCkrp+pj2xBeIdCA4Wlyyte6/sznPAOmPAM5hCcl6q4WIgXqLv62lC5J/OC3wCnPwBNoghJVDecF8QKJ9XU/1cd2BWrOy0rG3E94296eACtPItB2BOThPBB1cVLCD8lhbVThiOjeEjzG9bdxDrR9FT62DE/2i4fTsqX/Blt5EoGqxjOxOVEJ8mmfyWuOdB9FwOwU43ib3JiURSSz9aP0Gr2kWTCc5LVMeQRyESkdMFElqtqxFGOMLAFpEwJmpsmVnicEYJXnQMdZH41JJlCuQJMvwj8xAK4l+JDyVMNIBJqsRDmJMm8emazlF9PNd2gRyU30LSiblGfa32gLkPVPFsqcqCSfscTkmJj0rzU4jO83xTYF+s7yh8hONvZXgJRnOpYjBZoGlbTDef/8RrjWEseH8K611HcFh8GPHvZ5YBAjViMCzYAaKVHrlTcpUGuUvMMjojALsJ9nLlIlAs2CECnRXN1H33NSoPrwEuBtUp45jEAEmgMgTqIS9xNVTvskP6c4Yjr9frgf6EXj/mA5L/x78V/A50BN+1npbI/PywszFtwdRlo7KRGoBqTUzva0UyXxlHA9eDihQPXUh5ue3k9rT1KeGniBv0IEqhEoWYlKfMeS2sWJJItG12sZZX6kx0XjbfADVRSozyWhQxKblKdGTiAC1QEUf1VWopxEGT/tMxqImf7VjsN4vpXTJkf6d5bNIHuY74+kPHVyAilQnYClV6I6Mwno63wIf9F4G+dAA4qrRc0m5WkASCJQA6DFSTQ5sr06ErqScfzUwsSI38F77twQXt2tCf/0kebV/Q9EngZ4gIbwBkFThvPynKiyOp/Mh3QfRUC1SuOIAqVVIX2rfCDyNEEDtIhkBrxEJUqMmcKYSQwaJVC7FpGUYCLEoDoYNMwY7TAywwE0hDeDHl9YemroZCkPtfJpnyrBlWngGOS/80Uku+ZA317G98InHqVG95nxACPlafLTl5MTgVqAYoISzXSubvJyffK5ygF4Pq6/jW5My7gjfZZzjQOAr/b2E3la8NkTgVoFojwnSko0pwIkBeq+QuZHDzN+euYFK9+zsv8HNS9SoBZaPq0SJUfRmDJ0VIES7mkcdBFmbUSeFn7yNIS3Ekye17Snhk7OC6GWxxNNXoUO+r1dCvQ1vhOJD+GTVv3pPsELIhwi5Wn1504EajmiynA+FN32GeRFo+RFHLsIlAcToUWk9N6e7f2Phu12fOi0iGQTqmolqo7iFPBl4fFH2rMKLyvQpapoTAHHOWEyGghHIpg+g+Y8bfnYaQ7UFlijmcoLSwlKVAmoqywmBOt+vI2r8FEFGiw8c7eXFoxs/LxpFd5ucJU50RAnUa5EA37JQ/gJ1u+Ff22Rag404BjHms9IeTrRFUiBOoAyV6KRdiUa29oYwMlRGsI74+nPGMJtNGx34MsmR3pHQCYlGoWZFKgD3U1COAKa83QAaRrCOwWyUk5MiQZ0OE8Eam+PI+VpL77pcqchvMOYcz/RELifqFTDGIOkcvj2+/2EI6fYNgf69tK/w+/4ZWsfI+Xp8JccLY4I1AXYFRIFC9bC0unDLsUPRv3CcsQ//uo5PDt3uuX5eiZDWjByzVREoC5Br1aiMRdoJRiG8rsm+zOqVptceD6w83EIhfKjqx8myq8oqsZ3R16DIyoHWI54S1sT3lj8N6zbu1iFV7s80IlfW1sL1uxaGJcXOtPH7WWsfL3pmSSFI2Dk52l5r9KWIRGoNpxseUt0JXrHt19H96qBtrRd5EzX7l6Iu987T+QqKgRPTvIuW4kI1GUDpFWiOeMa2b/VprSwAn86e47L6LhX/JVPD1UkpJD/MpDydK93xEsmAhXACjElmrx3Xglvmcl90Obnpw6dinNG3yoAQs5W4enP78Cs1S/Ew2u6hH8svGlq+eSq5GyXyFgaEagghhBViU4aeiHOHn2LICjZX41n50zHR18954zHu4GRBilP+/uAnhKIQPWgZfO7cRKNrs4rA3WlWLfug0Kiz875LT766tmYld3CO4u9SXna/A3qzZ4IVC9iNr/PSfRr59BaxuOJqobocrEu3k8aehHOHuNfJRpVns/Ki+Cxj8JFvJPtLQHhrx1dabXd5u9Pb/ZEoHoRc+D9ZCXqQJGaivCrEk1WnprAcPAlxkPS0fZMBxHXXhQRqHasHH0zqkR5UGZJqNM+zxg+DWeNutFRLOws7Jk50/HxqmdFjvFCytPODmAybyJQkwDamVxWohJqJb5jKTl6k1JwpqhONj4/c8TlmHKs90lUVp6rnk0fyt1G/BL2/2WxHylPO78ua/ImArUGR9tymfbY0MnIk+TjQWwrxEDGZ3pcif5r3l34cOXjBlruWBJSno5BbbwgIlDj2DmWUhnOywtLMSnqvkQ6c/jlmOLB4fwLMnk+0Q6gCxI+hwRlYOEIo5B0jn1gJgoiAjUBnpNJSYlagzYpT2twpFyiCBCBeqgnJCrRaMUlSPJZQMl6NH5v//NvDp/mCSXKlecHK59I0n/246PVPlFXJVKeHvokiUC9ZCxe15gSFSwo83eOuRrfHXm1sHDKynOF4HOeETZ9xsUr3xMWRKpYCgKkQD3YKeLDeVYT9fxWBRdx8f6sUTeBz4uKdsWH7YpnvBh4xXdGsDDaQOQpWsfRUB8iUA0gifiKqEqU+4ieOWKaMJCR8hTGFL6sCBGoh82aVomqjgiJhxNSKS8Hnp91nBhKNEaesbBGzuKgAX9Snh7+/mgRyePGi82JhqRaCRBqx5LbSvTlhX/Cu0tnCL3DiNGcp+e/QFKgnjdh+8JSSDxne7dI9JWFf8I7S2eIbNkwiDxFto/muhGBaoZK7Bfl4TxXohJqRBqxOk2iLy/4E95dNiO2tubAjIWGkXr0qCbZLkCYlKfY35Ke2hGB6kFL8HcVEo1v+xQjoqVTJJqqPMVof7zbsDAitNou+Gekq3pEoLrgEv9lTqISH87H/ESVrYqZ6u7M83OOvwWnDbvINgC58kw/bHemfZkb1l4+I+Vpm/FdzJgI1EXw7SpaIVG+d16kIey5x9+CSTaQKFeeby+ZoW8orTql2YEpD5rztKuzu5wvEajLBrCr+FQlaldJ+vK1Wom+vuiv4P8JfIWZRDuMBLaPqaoRgZqCT+zEMSUqoSZtzCGbT/XMdKqkVUqUD9n50D3jIc8utS9WHwZSnmJ/IqZrRwRqGkKxM5j22MDJEsuTI9urtg7GT510aeunWSWqkKdIW1kT8QUpT7E/DUtqRwRqCYxiZyIrUSaen6hREo2Rp6iw04KRqJaxvF5EoJZDKmaGMRKVpBrFITE69s20mqKcq2zv83PG3ILTjtK+Ov/Okhngu4ziW4zsrZ9ufLifJ815ivkR2FArIlAbQBU1S1GV6PnjanHykJ/khE145UnkmdOGfnuBCNRvFs3RnksfGzg5j+XVShI/7ZO1B2RWBJ179+eN/w2+kYVEuZvSKwv+JEx9o4tycbzAWLhNYtMfoXiegfqiiEADZe5oYxOUKGcC5XJ5487549MrUXnYvuBP8dMzBamvavmfhu0B/I54k4lAA2p4tRJVmElRVG7enze+NkGJfrD8cTw/9y7Za0CE+vEjVBLwYQhHSHkG9CsiAg2s4ROUqGDHg/xk3O04Zej5eHfpP/HS/LvFtRFfbacFI3Ht40DNSIE6ALLIRXAlGpLa/UQzeqTH3UZFDrCZ2aPejvrzo4dpzlPkvu1E3YhAnUBZ8DLiLk4ZdizZwT+xgXB8atMz/M1AC0aC92mnqkcE6hTSgpeToEQFr6u71SPl6S7+YpVOBCqWPVytjaxEJakWjJRohtgBpDxd7aHiFU4EKp5NXK3Rpf8cODkUUvbOu1oV0QoPRyKR6Y9ctprObRfNMi7WhwjURfBFLfrSx4ZODnElCtSo9kx6edbS7CwuLRiJ2lldrhcRqMsGELV4RYlK4DuW4ldyfHe/3wMg5SlqJxWgXkSgAhhB1CpkV6JKrdPOFqah3OT3PJE+HImw6Y9ctpKG7aJ2UpfrRQTqsgFELz6qREPyaZ8xP8v2SisBk2NtSNoK6uXnjCtPieY8Re+fbtePCNRtC3ig/Ev/OXRyKHbufCbF6au/hyORNlow8kDfdLuKRKBuW8Aj5ctKlEdxkiPb+/ci5elf29rRMiJQO1D1aZ4JSlSk4z6tO1aTlKdP+65dzSICtQtZn+YbVaKhWkl2cfLPJQFh0JynfwzqUEuIQB0C2k/FKMN5flCdQOFEk9e4NN8zsHBEojlPP/VRp9pCBOoU0j4rJ6ZE1avz6mggSnsF93Ii5emzjulwc4hAHQbcT8XJc6Is4tnhPClPP/VGd9pCBOoO7r4plStRsFAtaw/K7JWdSRKjOU/fdEIXG0IE6iL4fik6YWHJA+6gjNGcp1/6ntvtIAJ12wI+KV9RopAg750XmEfDAO0w8km3c70ZRKCum8A/FYgN57mLk4AMSsrTP31NlJYQgYpiCZ/UQyZRhGq5i5N8WIficK8wqmv3IOXpkz4mUjOIQEWyhk/qopAoQzyyfbJXk5P3PCQdDdt90rkEawYRqGAG8Ut1YkpUkmpg3VbLuKLVupWUyNMvXUrIdhCBCmkWf1QqnRJ1cmoUYGGAdhj5ozeJ2QoiUDHt4ptaJShRzZsrleYnBRjVk55x8qTVdt90JEEbQgQqqGH8VK34wpJjq/NEnn7qQAK3hQhUYOP4qWrplagNHqN8hxEpTz91HaHbQgQqtHn8Vbk4idoUCo/I018dxgOtIQL1gJH8VMVLHxo4WQpF/UStXZxnYRaiOU8/9RUvtIUI1AtW8lkdZSUaCdWCqc+dz9TI5PAkye9JAC0Y+ayHeKc5RKDesZWvapqgRDPtnVc2MmV9TsrTVx3DY40hAvWYwfxU3UQlaqBlNOdpADRKYiUCRKBWokl56UZArUT1JWZhFolMf+SK1e/pS0dvEwLWIUAEah2W1Om9ZwAAAnVJREFUlJNBBDiJIi90JySMkSCBgSHrv4zNQ1vkNiJPg4BTMssQIAK1DErKyAwCl8wYUMNCocslCRdny4cxPCZFIg8/Om1N2Ex5lJYQsAIBIlArUKQ8LEFg2kOjC1pCDd9iiJwpgZ0CSH14FDzG2EZA+o+E0DsFkfK3Zlwxv8WSAikTQsAkAkSgJgGk5IQAIRBcBIhAg2t7ajkhQAiYRIAI1CSAlJwQIASCiwARaHBtTy0nBAgBkwgQgZoEkJITAoRAcBEgAg2u7anlhAAhYBIBIlCTAFJyQoAQCC4CRKDBtT21nBAgBEwiQARqEkBKTggQAsFFgAg0uLanlhMChIBJBIhATQJIyQkBQiC4CBCBBtf21HJCgBAwiQARqEkAKTkhQAgEFwEi0ODanlpOCBACJhEgAjUJICUnBAiB4CJABBpc21PLCQFCwCQCRKAmAaTkhAAhEFwEiECDa3tqOSFACJhEgAjUJICUnBAgBIKLABFocG1PLScECAGTCBCBmgSQkhMChEBwESACDa7tqeWEACFgEgEiUJMAUnJCgBAILgJEoMG1PbWcECAETCJABGoSQEpOCBACwUWACDS4tqeWEwKEgEkEiEBNAkjJCQFCILgIEIEG1/bUckKAEDCJABGoSQApOSFACAQXASLQ4NqeWk4IEAImESACNQkgJScECIHgIkAEGlzbU8sJAULAJAJEoCYBpOSEACEQXASIQINre2o5IUAImESACNQkgJScECAEgosAEWhwbU8tJwQIAZMIEIGaBJCSEwKEQHARIAINru2p5YQAIWASASJQkwBSckKAEAguAkSgwbU9tZwQIARMIvD/AVDkvnv22WOGAAAAAElFTkSuQmCC"/>
          <p:cNvSpPr>
            <a:spLocks noChangeAspect="1" noChangeArrowheads="1"/>
          </p:cNvSpPr>
          <p:nvPr/>
        </p:nvSpPr>
        <p:spPr bwMode="auto">
          <a:xfrm>
            <a:off x="155575" y="-381000"/>
            <a:ext cx="800100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5" name="CaixaDeTexto 154">
            <a:extLst>
              <a:ext uri="{FF2B5EF4-FFF2-40B4-BE49-F238E27FC236}">
                <a16:creationId xmlns:a16="http://schemas.microsoft.com/office/drawing/2014/main" id="{EA7F9046-3086-A93B-F2DF-A2D8756E100A}"/>
              </a:ext>
            </a:extLst>
          </p:cNvPr>
          <p:cNvSpPr txBox="1"/>
          <p:nvPr/>
        </p:nvSpPr>
        <p:spPr>
          <a:xfrm>
            <a:off x="6314699" y="5771490"/>
            <a:ext cx="1239564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800" dirty="0" smtClean="0">
                <a:latin typeface="Bradesco Sans" panose="00000500000000000000" pitchFamily="2" charset="0"/>
              </a:rPr>
              <a:t>Plataforma de Canais</a:t>
            </a:r>
            <a:endParaRPr lang="pt-BR" sz="800" dirty="0">
              <a:latin typeface="Bradesco Sans" panose="00000500000000000000" pitchFamily="2" charset="0"/>
            </a:endParaRPr>
          </a:p>
        </p:txBody>
      </p:sp>
      <p:sp>
        <p:nvSpPr>
          <p:cNvPr id="156" name="Retângulo 155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6391183" y="4669512"/>
            <a:ext cx="816765" cy="25807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 smtClean="0">
                <a:solidFill>
                  <a:prstClr val="black"/>
                </a:solidFill>
                <a:latin typeface="Bradesco Sans"/>
              </a:rPr>
              <a:t>API Gateway</a:t>
            </a: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pic>
        <p:nvPicPr>
          <p:cNvPr id="62" name="Imagem 6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186" y="4282729"/>
            <a:ext cx="387506" cy="401858"/>
          </a:xfrm>
          <a:prstGeom prst="rect">
            <a:avLst/>
          </a:prstGeom>
        </p:spPr>
      </p:pic>
      <p:sp>
        <p:nvSpPr>
          <p:cNvPr id="158" name="Retângulo 157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7721483" y="3800072"/>
            <a:ext cx="940260" cy="765526"/>
          </a:xfrm>
          <a:prstGeom prst="rect">
            <a:avLst/>
          </a:prstGeom>
          <a:solidFill>
            <a:schemeClr val="bg1"/>
          </a:solidFill>
          <a:ln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pic>
        <p:nvPicPr>
          <p:cNvPr id="69" name="Imagem 68"/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7155" y="4052201"/>
            <a:ext cx="261267" cy="261267"/>
          </a:xfrm>
          <a:prstGeom prst="rect">
            <a:avLst/>
          </a:prstGeom>
        </p:spPr>
      </p:pic>
      <p:sp>
        <p:nvSpPr>
          <p:cNvPr id="159" name="Retângulo 158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7794083" y="3639814"/>
            <a:ext cx="814787" cy="25807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 err="1" smtClean="0">
                <a:solidFill>
                  <a:prstClr val="black"/>
                </a:solidFill>
                <a:latin typeface="Bradesco Sans"/>
              </a:rPr>
              <a:t>Authorization</a:t>
            </a:r>
            <a:r>
              <a:rPr lang="pt-BR" sz="800" dirty="0" smtClean="0">
                <a:solidFill>
                  <a:prstClr val="black"/>
                </a:solidFill>
                <a:latin typeface="Bradesco Sans"/>
              </a:rPr>
              <a:t> </a:t>
            </a:r>
            <a:r>
              <a:rPr lang="pt-BR" sz="800" dirty="0" smtClean="0">
                <a:solidFill>
                  <a:prstClr val="black"/>
                </a:solidFill>
                <a:latin typeface="Bradesco Sans"/>
              </a:rPr>
              <a:t>Service </a:t>
            </a: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pic>
        <p:nvPicPr>
          <p:cNvPr id="71" name="Imagem 70"/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477" y="4052201"/>
            <a:ext cx="432026" cy="287494"/>
          </a:xfrm>
          <a:prstGeom prst="rect">
            <a:avLst/>
          </a:prstGeom>
        </p:spPr>
      </p:pic>
      <p:sp>
        <p:nvSpPr>
          <p:cNvPr id="169" name="Retângulo 168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6256924" y="1449815"/>
            <a:ext cx="5042383" cy="18332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171" name="CaixaDeTexto 170">
            <a:extLst>
              <a:ext uri="{FF2B5EF4-FFF2-40B4-BE49-F238E27FC236}">
                <a16:creationId xmlns:a16="http://schemas.microsoft.com/office/drawing/2014/main" id="{EA7F9046-3086-A93B-F2DF-A2D8756E100A}"/>
              </a:ext>
            </a:extLst>
          </p:cNvPr>
          <p:cNvSpPr txBox="1"/>
          <p:nvPr/>
        </p:nvSpPr>
        <p:spPr>
          <a:xfrm>
            <a:off x="6350318" y="3103454"/>
            <a:ext cx="1239564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800" dirty="0" smtClean="0">
                <a:latin typeface="Bradesco Sans" panose="00000500000000000000" pitchFamily="2" charset="0"/>
              </a:rPr>
              <a:t>Plataforma Funcionais</a:t>
            </a:r>
            <a:endParaRPr lang="pt-BR" sz="800" dirty="0">
              <a:latin typeface="Bradesco Sans" panose="00000500000000000000" pitchFamily="2" charset="0"/>
            </a:endParaRPr>
          </a:p>
        </p:txBody>
      </p:sp>
      <p:sp>
        <p:nvSpPr>
          <p:cNvPr id="172" name="Retângulo 171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6660385" y="1562801"/>
            <a:ext cx="4312108" cy="1532311"/>
          </a:xfrm>
          <a:prstGeom prst="rect">
            <a:avLst/>
          </a:prstGeom>
          <a:solidFill>
            <a:srgbClr val="EBF0F9">
              <a:alpha val="59000"/>
            </a:srgbClr>
          </a:solidFill>
          <a:ln>
            <a:solidFill>
              <a:schemeClr val="tx1">
                <a:alpha val="26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174" name="Retângulo 173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6673781" y="2915133"/>
            <a:ext cx="715644" cy="149572"/>
          </a:xfrm>
          <a:prstGeom prst="rect">
            <a:avLst/>
          </a:prstGeom>
          <a:solidFill>
            <a:srgbClr val="EBF0F9">
              <a:alpha val="61000"/>
            </a:srgb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 smtClean="0">
                <a:solidFill>
                  <a:prstClr val="black"/>
                </a:solidFill>
                <a:latin typeface="Bradesco Sans"/>
              </a:rPr>
              <a:t>Aro Interno</a:t>
            </a: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165" name="Retângulo 164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7811411" y="1719928"/>
            <a:ext cx="940260" cy="765526"/>
          </a:xfrm>
          <a:prstGeom prst="rect">
            <a:avLst/>
          </a:prstGeom>
          <a:solidFill>
            <a:schemeClr val="bg1"/>
          </a:solidFill>
          <a:ln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167" name="Retângulo 166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7884223" y="1641510"/>
            <a:ext cx="802618" cy="15633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noProof="0" dirty="0" err="1" smtClean="0">
                <a:solidFill>
                  <a:prstClr val="black"/>
                </a:solidFill>
                <a:latin typeface="Bradesco Sans"/>
              </a:rPr>
              <a:t>Microservice</a:t>
            </a: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pic>
        <p:nvPicPr>
          <p:cNvPr id="78" name="Imagem 77"/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2075" y="1925501"/>
            <a:ext cx="326857" cy="326857"/>
          </a:xfrm>
          <a:prstGeom prst="rect">
            <a:avLst/>
          </a:prstGeom>
        </p:spPr>
      </p:pic>
      <p:sp>
        <p:nvSpPr>
          <p:cNvPr id="168" name="Retângulo 167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7904325" y="2252358"/>
            <a:ext cx="782516" cy="1444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700" noProof="0" dirty="0" smtClean="0">
                <a:solidFill>
                  <a:prstClr val="black"/>
                </a:solidFill>
                <a:latin typeface="Bradesco Sans"/>
              </a:rPr>
              <a:t>Consulta Lead</a:t>
            </a:r>
            <a:endParaRPr kumimoji="0" lang="pt-BR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</a:endParaRPr>
          </a:p>
        </p:txBody>
      </p:sp>
      <p:sp>
        <p:nvSpPr>
          <p:cNvPr id="187" name="Retângulo 186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7721483" y="4870858"/>
            <a:ext cx="940260" cy="765526"/>
          </a:xfrm>
          <a:prstGeom prst="rect">
            <a:avLst/>
          </a:prstGeom>
          <a:solidFill>
            <a:schemeClr val="bg1"/>
          </a:solidFill>
          <a:ln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188" name="Retângulo 187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7794295" y="4792440"/>
            <a:ext cx="802618" cy="15633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noProof="0" dirty="0" err="1" smtClean="0">
                <a:solidFill>
                  <a:prstClr val="black"/>
                </a:solidFill>
                <a:latin typeface="Bradesco Sans"/>
              </a:rPr>
              <a:t>Microservice</a:t>
            </a: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pic>
        <p:nvPicPr>
          <p:cNvPr id="189" name="Imagem 188"/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2147" y="5076431"/>
            <a:ext cx="326857" cy="326857"/>
          </a:xfrm>
          <a:prstGeom prst="rect">
            <a:avLst/>
          </a:prstGeom>
        </p:spPr>
      </p:pic>
      <p:sp>
        <p:nvSpPr>
          <p:cNvPr id="190" name="Retângulo 189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7780148" y="5395250"/>
            <a:ext cx="816765" cy="16734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 smtClean="0">
                <a:solidFill>
                  <a:prstClr val="black"/>
                </a:solidFill>
                <a:latin typeface="Bradesco Sans"/>
              </a:rPr>
              <a:t>ORQ </a:t>
            </a:r>
            <a:r>
              <a:rPr lang="pt-BR" sz="800" dirty="0" err="1" smtClean="0">
                <a:solidFill>
                  <a:prstClr val="black"/>
                </a:solidFill>
                <a:latin typeface="Bradesco Sans"/>
              </a:rPr>
              <a:t>Hotlist</a:t>
            </a: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191" name="Retângulo 190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9451699" y="1666280"/>
            <a:ext cx="940260" cy="765526"/>
          </a:xfrm>
          <a:prstGeom prst="rect">
            <a:avLst/>
          </a:prstGeom>
          <a:solidFill>
            <a:schemeClr val="bg1"/>
          </a:solidFill>
          <a:ln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192" name="Retângulo 191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9493863" y="1601624"/>
            <a:ext cx="802618" cy="15633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noProof="0" dirty="0" err="1" smtClean="0">
                <a:solidFill>
                  <a:prstClr val="black"/>
                </a:solidFill>
                <a:latin typeface="Bradesco Sans"/>
              </a:rPr>
              <a:t>Microservice</a:t>
            </a: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pic>
        <p:nvPicPr>
          <p:cNvPr id="193" name="Imagem 192"/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0907" y="1877273"/>
            <a:ext cx="326857" cy="326857"/>
          </a:xfrm>
          <a:prstGeom prst="rect">
            <a:avLst/>
          </a:prstGeom>
        </p:spPr>
      </p:pic>
      <p:sp>
        <p:nvSpPr>
          <p:cNvPr id="194" name="Retângulo 193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9513965" y="2212472"/>
            <a:ext cx="782516" cy="1444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700" dirty="0" smtClean="0">
                <a:solidFill>
                  <a:prstClr val="black"/>
                </a:solidFill>
                <a:latin typeface="Bradesco Sans"/>
              </a:rPr>
              <a:t>Retorno Oferta</a:t>
            </a:r>
            <a:endParaRPr kumimoji="0" lang="pt-BR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</a:endParaRPr>
          </a:p>
        </p:txBody>
      </p:sp>
      <p:sp>
        <p:nvSpPr>
          <p:cNvPr id="80" name="Cilindro 79"/>
          <p:cNvSpPr/>
          <p:nvPr/>
        </p:nvSpPr>
        <p:spPr>
          <a:xfrm rot="5400000">
            <a:off x="9756028" y="2362025"/>
            <a:ext cx="331603" cy="100155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00" dirty="0"/>
          </a:p>
        </p:txBody>
      </p:sp>
      <p:sp>
        <p:nvSpPr>
          <p:cNvPr id="196" name="Retângulo Arredondado 19">
            <a:extLst>
              <a:ext uri="{FF2B5EF4-FFF2-40B4-BE49-F238E27FC236}">
                <a16:creationId xmlns:a16="http://schemas.microsoft.com/office/drawing/2014/main" id="{BBEF1911-8800-B86E-492E-E3DB4837D80B}"/>
              </a:ext>
            </a:extLst>
          </p:cNvPr>
          <p:cNvSpPr/>
          <p:nvPr/>
        </p:nvSpPr>
        <p:spPr>
          <a:xfrm>
            <a:off x="1269721" y="4496967"/>
            <a:ext cx="2904536" cy="1571601"/>
          </a:xfrm>
          <a:prstGeom prst="roundRect">
            <a:avLst>
              <a:gd name="adj" fmla="val 2516"/>
            </a:avLst>
          </a:prstGeom>
          <a:noFill/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197" name="CaixaDeTexto 196">
            <a:extLst>
              <a:ext uri="{FF2B5EF4-FFF2-40B4-BE49-F238E27FC236}">
                <a16:creationId xmlns:a16="http://schemas.microsoft.com/office/drawing/2014/main" id="{EA7F9046-3086-A93B-F2DF-A2D8756E100A}"/>
              </a:ext>
            </a:extLst>
          </p:cNvPr>
          <p:cNvSpPr txBox="1"/>
          <p:nvPr/>
        </p:nvSpPr>
        <p:spPr>
          <a:xfrm>
            <a:off x="3263833" y="4365195"/>
            <a:ext cx="831814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b="1" dirty="0" err="1" smtClean="0">
                <a:solidFill>
                  <a:schemeClr val="accent1">
                    <a:lumMod val="75000"/>
                  </a:schemeClr>
                </a:solidFill>
                <a:latin typeface="Bradesco Sans" panose="00000500000000000000" pitchFamily="2" charset="0"/>
              </a:rPr>
              <a:t>Genesys</a:t>
            </a:r>
            <a:endParaRPr lang="pt-BR" sz="900" b="1" dirty="0">
              <a:solidFill>
                <a:schemeClr val="accent1">
                  <a:lumMod val="75000"/>
                </a:schemeClr>
              </a:solidFill>
              <a:latin typeface="Bradesco Sans" panose="00000500000000000000" pitchFamily="2" charset="0"/>
            </a:endParaRPr>
          </a:p>
        </p:txBody>
      </p:sp>
      <p:pic>
        <p:nvPicPr>
          <p:cNvPr id="82" name="Imagem 81"/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52" y="3144537"/>
            <a:ext cx="271369" cy="325643"/>
          </a:xfrm>
          <a:prstGeom prst="rect">
            <a:avLst/>
          </a:prstGeom>
        </p:spPr>
      </p:pic>
      <p:sp>
        <p:nvSpPr>
          <p:cNvPr id="199" name="Retângulo 198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1355137" y="4968540"/>
            <a:ext cx="894305" cy="666154"/>
          </a:xfrm>
          <a:prstGeom prst="rect">
            <a:avLst/>
          </a:prstGeom>
          <a:solidFill>
            <a:schemeClr val="bg1"/>
          </a:solidFill>
          <a:ln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pic>
        <p:nvPicPr>
          <p:cNvPr id="200" name="Imagem 199"/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809" y="5181000"/>
            <a:ext cx="261267" cy="261267"/>
          </a:xfrm>
          <a:prstGeom prst="rect">
            <a:avLst/>
          </a:prstGeom>
        </p:spPr>
      </p:pic>
      <p:pic>
        <p:nvPicPr>
          <p:cNvPr id="202" name="Imagem 201"/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597" y="5158824"/>
            <a:ext cx="432026" cy="287494"/>
          </a:xfrm>
          <a:prstGeom prst="rect">
            <a:avLst/>
          </a:prstGeom>
        </p:spPr>
      </p:pic>
      <p:sp>
        <p:nvSpPr>
          <p:cNvPr id="208" name="Retângulo 207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1440636" y="4890823"/>
            <a:ext cx="846643" cy="13705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700" dirty="0" err="1" smtClean="0">
                <a:solidFill>
                  <a:prstClr val="black"/>
                </a:solidFill>
                <a:latin typeface="Bradesco Sans"/>
              </a:rPr>
              <a:t>Authentication</a:t>
            </a:r>
            <a:r>
              <a:rPr lang="pt-BR" sz="800" dirty="0" smtClean="0">
                <a:solidFill>
                  <a:prstClr val="black"/>
                </a:solidFill>
                <a:latin typeface="Bradesco Sans"/>
              </a:rPr>
              <a:t> </a:t>
            </a: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211" name="Retângulo 210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2774132" y="4925919"/>
            <a:ext cx="1056087" cy="765526"/>
          </a:xfrm>
          <a:prstGeom prst="rect">
            <a:avLst/>
          </a:prstGeom>
          <a:solidFill>
            <a:schemeClr val="bg1"/>
          </a:solidFill>
          <a:ln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sp>
        <p:nvSpPr>
          <p:cNvPr id="217" name="Retângulo 216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9473885" y="2755614"/>
            <a:ext cx="782516" cy="2348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700" dirty="0" smtClean="0">
                <a:solidFill>
                  <a:prstClr val="black"/>
                </a:solidFill>
                <a:latin typeface="Bradesco Sans"/>
              </a:rPr>
              <a:t>Retorno Oferta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700" dirty="0" smtClean="0">
                <a:solidFill>
                  <a:prstClr val="black"/>
                </a:solidFill>
                <a:latin typeface="Bradesco Sans"/>
              </a:rPr>
              <a:t>Kafka</a:t>
            </a:r>
            <a:endParaRPr kumimoji="0" lang="pt-BR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</a:endParaRPr>
          </a:p>
        </p:txBody>
      </p:sp>
      <p:sp>
        <p:nvSpPr>
          <p:cNvPr id="218" name="Retângulo 217">
            <a:extLst>
              <a:ext uri="{FF2B5EF4-FFF2-40B4-BE49-F238E27FC236}">
                <a16:creationId xmlns:a16="http://schemas.microsoft.com/office/drawing/2014/main" id="{5CAD2CC6-A38E-F5F8-705A-A80823D40A0A}"/>
              </a:ext>
            </a:extLst>
          </p:cNvPr>
          <p:cNvSpPr/>
          <p:nvPr/>
        </p:nvSpPr>
        <p:spPr>
          <a:xfrm>
            <a:off x="2796315" y="5572410"/>
            <a:ext cx="982369" cy="19908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700" dirty="0" smtClean="0">
                <a:solidFill>
                  <a:prstClr val="black"/>
                </a:solidFill>
                <a:latin typeface="Bradesco Sans"/>
              </a:rPr>
              <a:t>Plataforma </a:t>
            </a:r>
            <a:r>
              <a:rPr lang="pt-BR" sz="700" dirty="0" err="1" smtClean="0">
                <a:solidFill>
                  <a:prstClr val="black"/>
                </a:solidFill>
                <a:latin typeface="Bradesco Sans"/>
              </a:rPr>
              <a:t>Genesys</a:t>
            </a:r>
            <a:r>
              <a:rPr lang="pt-BR" sz="800" dirty="0" smtClean="0">
                <a:solidFill>
                  <a:prstClr val="black"/>
                </a:solidFill>
                <a:latin typeface="Bradesco Sans"/>
              </a:rPr>
              <a:t> </a:t>
            </a: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pic>
        <p:nvPicPr>
          <p:cNvPr id="83" name="Imagem 82"/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014" y="5046930"/>
            <a:ext cx="567074" cy="422208"/>
          </a:xfrm>
          <a:prstGeom prst="rect">
            <a:avLst/>
          </a:prstGeom>
        </p:spPr>
      </p:pic>
      <p:cxnSp>
        <p:nvCxnSpPr>
          <p:cNvPr id="220" name="Conector de Seta Reta 219">
            <a:extLst>
              <a:ext uri="{FF2B5EF4-FFF2-40B4-BE49-F238E27FC236}">
                <a16:creationId xmlns:a16="http://schemas.microsoft.com/office/drawing/2014/main" id="{CFCD5C23-BD51-5631-01C8-EEE4F75E759F}"/>
              </a:ext>
            </a:extLst>
          </p:cNvPr>
          <p:cNvCxnSpPr>
            <a:cxnSpLocks/>
          </p:cNvCxnSpPr>
          <p:nvPr/>
        </p:nvCxnSpPr>
        <p:spPr>
          <a:xfrm>
            <a:off x="1445428" y="2990427"/>
            <a:ext cx="5395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1" name="Conector de Seta Reta 220">
            <a:extLst>
              <a:ext uri="{FF2B5EF4-FFF2-40B4-BE49-F238E27FC236}">
                <a16:creationId xmlns:a16="http://schemas.microsoft.com/office/drawing/2014/main" id="{CFCD5C23-BD51-5631-01C8-EEE4F75E759F}"/>
              </a:ext>
            </a:extLst>
          </p:cNvPr>
          <p:cNvCxnSpPr>
            <a:cxnSpLocks/>
          </p:cNvCxnSpPr>
          <p:nvPr/>
        </p:nvCxnSpPr>
        <p:spPr>
          <a:xfrm flipV="1">
            <a:off x="2737147" y="2984422"/>
            <a:ext cx="235237" cy="5497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Conector Angulado 89"/>
          <p:cNvCxnSpPr>
            <a:stCxn id="133" idx="3"/>
            <a:endCxn id="139" idx="1"/>
          </p:cNvCxnSpPr>
          <p:nvPr/>
        </p:nvCxnSpPr>
        <p:spPr>
          <a:xfrm>
            <a:off x="3868147" y="2963074"/>
            <a:ext cx="1266967" cy="5478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Conector Angulado 98"/>
          <p:cNvCxnSpPr>
            <a:stCxn id="139" idx="2"/>
            <a:endCxn id="62" idx="1"/>
          </p:cNvCxnSpPr>
          <p:nvPr/>
        </p:nvCxnSpPr>
        <p:spPr>
          <a:xfrm rot="16200000" flipH="1">
            <a:off x="5755446" y="3663918"/>
            <a:ext cx="623804" cy="101567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3" name="Conector Angulado 222"/>
          <p:cNvCxnSpPr>
            <a:stCxn id="62" idx="3"/>
            <a:endCxn id="158" idx="1"/>
          </p:cNvCxnSpPr>
          <p:nvPr/>
        </p:nvCxnSpPr>
        <p:spPr>
          <a:xfrm flipV="1">
            <a:off x="6962692" y="4182835"/>
            <a:ext cx="758791" cy="3008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7" name="Conector Angulado 226"/>
          <p:cNvCxnSpPr>
            <a:stCxn id="62" idx="3"/>
            <a:endCxn id="187" idx="1"/>
          </p:cNvCxnSpPr>
          <p:nvPr/>
        </p:nvCxnSpPr>
        <p:spPr>
          <a:xfrm>
            <a:off x="6962692" y="4483658"/>
            <a:ext cx="758791" cy="76996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2" name="Conector Angulado 231"/>
          <p:cNvCxnSpPr>
            <a:stCxn id="96" idx="3"/>
            <a:endCxn id="165" idx="2"/>
          </p:cNvCxnSpPr>
          <p:nvPr/>
        </p:nvCxnSpPr>
        <p:spPr>
          <a:xfrm flipV="1">
            <a:off x="7120027" y="2485454"/>
            <a:ext cx="1161514" cy="9967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3" name="Conector Angulado 242"/>
          <p:cNvCxnSpPr>
            <a:stCxn id="96" idx="3"/>
          </p:cNvCxnSpPr>
          <p:nvPr/>
        </p:nvCxnSpPr>
        <p:spPr>
          <a:xfrm>
            <a:off x="7120027" y="2585126"/>
            <a:ext cx="2278558" cy="284561"/>
          </a:xfrm>
          <a:prstGeom prst="bentConnector3">
            <a:avLst>
              <a:gd name="adj1" fmla="val 131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6" name="Conector de Seta Reta 245">
            <a:extLst>
              <a:ext uri="{FF2B5EF4-FFF2-40B4-BE49-F238E27FC236}">
                <a16:creationId xmlns:a16="http://schemas.microsoft.com/office/drawing/2014/main" id="{CFCD5C23-BD51-5631-01C8-EEE4F75E759F}"/>
              </a:ext>
            </a:extLst>
          </p:cNvPr>
          <p:cNvCxnSpPr>
            <a:cxnSpLocks/>
            <a:stCxn id="80" idx="2"/>
            <a:endCxn id="191" idx="2"/>
          </p:cNvCxnSpPr>
          <p:nvPr/>
        </p:nvCxnSpPr>
        <p:spPr>
          <a:xfrm flipV="1">
            <a:off x="9921829" y="2431806"/>
            <a:ext cx="0" cy="265197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0" name="Conector Angulado 1049"/>
          <p:cNvCxnSpPr>
            <a:stCxn id="82" idx="1"/>
            <a:endCxn id="199" idx="1"/>
          </p:cNvCxnSpPr>
          <p:nvPr/>
        </p:nvCxnSpPr>
        <p:spPr>
          <a:xfrm rot="10800000" flipH="1" flipV="1">
            <a:off x="1108951" y="3307359"/>
            <a:ext cx="246185" cy="1994258"/>
          </a:xfrm>
          <a:prstGeom prst="bentConnector3">
            <a:avLst>
              <a:gd name="adj1" fmla="val -92857"/>
            </a:avLst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58" name="Conector de Seta Reta 1057"/>
          <p:cNvCxnSpPr>
            <a:stCxn id="199" idx="3"/>
            <a:endCxn id="211" idx="1"/>
          </p:cNvCxnSpPr>
          <p:nvPr/>
        </p:nvCxnSpPr>
        <p:spPr>
          <a:xfrm>
            <a:off x="2249442" y="5301617"/>
            <a:ext cx="524690" cy="70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0" name="Conector de Seta Reta 279">
            <a:extLst>
              <a:ext uri="{FF2B5EF4-FFF2-40B4-BE49-F238E27FC236}">
                <a16:creationId xmlns:a16="http://schemas.microsoft.com/office/drawing/2014/main" id="{CFCD5C23-BD51-5631-01C8-EEE4F75E759F}"/>
              </a:ext>
            </a:extLst>
          </p:cNvPr>
          <p:cNvCxnSpPr>
            <a:cxnSpLocks/>
          </p:cNvCxnSpPr>
          <p:nvPr/>
        </p:nvCxnSpPr>
        <p:spPr>
          <a:xfrm>
            <a:off x="224460" y="6340131"/>
            <a:ext cx="539548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1" name="CaixaDeTexto 280">
            <a:extLst>
              <a:ext uri="{FF2B5EF4-FFF2-40B4-BE49-F238E27FC236}">
                <a16:creationId xmlns:a16="http://schemas.microsoft.com/office/drawing/2014/main" id="{95212412-0FBA-CDFA-CF6C-5765E3BFE6D9}"/>
              </a:ext>
            </a:extLst>
          </p:cNvPr>
          <p:cNvSpPr txBox="1"/>
          <p:nvPr/>
        </p:nvSpPr>
        <p:spPr>
          <a:xfrm>
            <a:off x="793764" y="6217020"/>
            <a:ext cx="18948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 smtClean="0"/>
              <a:t>Protótipo  </a:t>
            </a:r>
            <a:r>
              <a:rPr lang="pt-BR" sz="1000" dirty="0" err="1" smtClean="0"/>
              <a:t>Genesys</a:t>
            </a:r>
            <a:endParaRPr lang="pt-BR" sz="1400" dirty="0"/>
          </a:p>
        </p:txBody>
      </p:sp>
      <p:cxnSp>
        <p:nvCxnSpPr>
          <p:cNvPr id="1086" name="Conector Angulado 1085"/>
          <p:cNvCxnSpPr>
            <a:stCxn id="129" idx="2"/>
            <a:endCxn id="208" idx="0"/>
          </p:cNvCxnSpPr>
          <p:nvPr/>
        </p:nvCxnSpPr>
        <p:spPr>
          <a:xfrm rot="5400000">
            <a:off x="1338234" y="3874157"/>
            <a:ext cx="1542391" cy="490941"/>
          </a:xfrm>
          <a:prstGeom prst="bentConnector3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tângulo Arredondado 19">
            <a:extLst>
              <a:ext uri="{FF2B5EF4-FFF2-40B4-BE49-F238E27FC236}">
                <a16:creationId xmlns:a16="http://schemas.microsoft.com/office/drawing/2014/main" id="{BBEF1911-8800-B86E-492E-E3DB4837D80B}"/>
              </a:ext>
            </a:extLst>
          </p:cNvPr>
          <p:cNvSpPr/>
          <p:nvPr/>
        </p:nvSpPr>
        <p:spPr>
          <a:xfrm rot="19568873">
            <a:off x="872548" y="4479843"/>
            <a:ext cx="1374012" cy="171117"/>
          </a:xfrm>
          <a:prstGeom prst="roundRect">
            <a:avLst>
              <a:gd name="adj" fmla="val 2516"/>
            </a:avLst>
          </a:prstGeom>
          <a:solidFill>
            <a:srgbClr val="FF0000"/>
          </a:solidFill>
          <a:ln w="9525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radesco Sans"/>
                <a:ea typeface="+mn-ea"/>
                <a:cs typeface="+mn-cs"/>
              </a:rPr>
              <a:t>Não</a:t>
            </a:r>
            <a:r>
              <a:rPr kumimoji="0" lang="pt-BR" sz="1200" b="0" i="0" u="none" strike="noStrike" kern="1200" cap="none" spc="0" normalizeH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radesco Sans"/>
                <a:ea typeface="+mn-ea"/>
                <a:cs typeface="+mn-cs"/>
              </a:rPr>
              <a:t> </a:t>
            </a:r>
            <a:r>
              <a:rPr kumimoji="0" lang="pt-BR" sz="1200" b="1" i="0" u="none" strike="noStrike" kern="1200" cap="none" spc="0" normalizeH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radesco Sans"/>
                <a:ea typeface="+mn-ea"/>
                <a:cs typeface="+mn-cs"/>
              </a:rPr>
              <a:t>Exaustivo</a:t>
            </a:r>
            <a:endParaRPr kumimoji="0" lang="pt-BR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adesco Sans"/>
              <a:ea typeface="+mn-ea"/>
              <a:cs typeface="+mn-cs"/>
            </a:endParaRPr>
          </a:p>
        </p:txBody>
      </p:sp>
      <p:pic>
        <p:nvPicPr>
          <p:cNvPr id="96" name="Imagem 9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521" y="2384197"/>
            <a:ext cx="387506" cy="401858"/>
          </a:xfrm>
          <a:prstGeom prst="rect">
            <a:avLst/>
          </a:prstGeom>
        </p:spPr>
      </p:pic>
      <p:cxnSp>
        <p:nvCxnSpPr>
          <p:cNvPr id="28" name="Conector Angulado 27"/>
          <p:cNvCxnSpPr>
            <a:stCxn id="187" idx="3"/>
            <a:endCxn id="96" idx="1"/>
          </p:cNvCxnSpPr>
          <p:nvPr/>
        </p:nvCxnSpPr>
        <p:spPr>
          <a:xfrm flipH="1" flipV="1">
            <a:off x="6732521" y="2585126"/>
            <a:ext cx="1929222" cy="2668495"/>
          </a:xfrm>
          <a:prstGeom prst="bentConnector5">
            <a:avLst>
              <a:gd name="adj1" fmla="val -11849"/>
              <a:gd name="adj2" fmla="val 68574"/>
              <a:gd name="adj3" fmla="val 117677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6224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1E19FE2-CE1D-9EC3-394E-0CA18B87AFC3}"/>
              </a:ext>
            </a:extLst>
          </p:cNvPr>
          <p:cNvSpPr txBox="1"/>
          <p:nvPr/>
        </p:nvSpPr>
        <p:spPr>
          <a:xfrm>
            <a:off x="7591032" y="-61773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/>
              <a:t> 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9377125-3CDB-45A2-8B9E-266D3CE468AF}"/>
              </a:ext>
            </a:extLst>
          </p:cNvPr>
          <p:cNvSpPr/>
          <p:nvPr/>
        </p:nvSpPr>
        <p:spPr>
          <a:xfrm>
            <a:off x="0" y="0"/>
            <a:ext cx="41656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e4pContent1">
            <a:extLst>
              <a:ext uri="{FF2B5EF4-FFF2-40B4-BE49-F238E27FC236}">
                <a16:creationId xmlns:a16="http://schemas.microsoft.com/office/drawing/2014/main" id="{42DE98C3-BC61-4597-83B6-575C3D8E47C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818888" y="2505672"/>
            <a:ext cx="6744462" cy="1846659"/>
          </a:xfrm>
          <a:prstGeom prst="rect">
            <a:avLst/>
          </a:prstGeom>
          <a:ln cap="rnd"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1pPr>
            <a:lvl2pPr marL="324000" lvl="1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•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2pPr>
            <a:lvl3pPr marL="648000" lvl="2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–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3pPr>
            <a:lvl4pPr marL="0" lvl="3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Trebuchet MS" panose="020B0603020202020204" pitchFamily="34" charset="0"/>
              <a:buChar char="​"/>
              <a:defRPr sz="2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Trebuchet MS" panose="020B0603020202020204" pitchFamily="34" charset="0"/>
              <a:buChar char="​"/>
              <a:defRPr sz="2400" b="1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5pPr>
            <a:lvl6pPr marL="324000" lvl="5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•"/>
              <a:defRPr sz="2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6pPr>
            <a:lvl7pPr marL="0" lvl="6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5400" baseline="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7pPr>
            <a:lvl8pPr marL="0" lvl="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66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4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Objetivo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pt-BR" sz="2400" dirty="0">
              <a:solidFill>
                <a:prstClr val="white"/>
              </a:solidFill>
              <a:latin typeface="Bradesco Sans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Exposição dos Cenários de Arquitetura</a:t>
            </a:r>
          </a:p>
          <a:p>
            <a:pPr>
              <a:buNone/>
            </a:pPr>
            <a:endParaRPr lang="pt-BR" sz="2400" dirty="0">
              <a:solidFill>
                <a:prstClr val="white"/>
              </a:solidFill>
              <a:latin typeface="Bradesco Sans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 </a:t>
            </a:r>
            <a:r>
              <a:rPr lang="pt-BR" sz="2400" b="1" dirty="0">
                <a:solidFill>
                  <a:prstClr val="white"/>
                </a:solidFill>
                <a:latin typeface="Bradesco Sans"/>
              </a:rPr>
              <a:t>Conclusão</a:t>
            </a:r>
          </a:p>
        </p:txBody>
      </p:sp>
      <p:cxnSp>
        <p:nvCxnSpPr>
          <p:cNvPr id="31" name="Straight Connector 10">
            <a:extLst>
              <a:ext uri="{FF2B5EF4-FFF2-40B4-BE49-F238E27FC236}">
                <a16:creationId xmlns:a16="http://schemas.microsoft.com/office/drawing/2014/main" id="{BC948E63-9079-45D7-AA47-85D7F9EAE21C}"/>
              </a:ext>
            </a:extLst>
          </p:cNvPr>
          <p:cNvCxnSpPr/>
          <p:nvPr/>
        </p:nvCxnSpPr>
        <p:spPr>
          <a:xfrm>
            <a:off x="4818888" y="3068561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10">
            <a:extLst>
              <a:ext uri="{FF2B5EF4-FFF2-40B4-BE49-F238E27FC236}">
                <a16:creationId xmlns:a16="http://schemas.microsoft.com/office/drawing/2014/main" id="{C71711CF-7635-4C41-B8D7-76BA55613317}"/>
              </a:ext>
            </a:extLst>
          </p:cNvPr>
          <p:cNvCxnSpPr/>
          <p:nvPr/>
        </p:nvCxnSpPr>
        <p:spPr>
          <a:xfrm>
            <a:off x="4764643" y="3862952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Title 3">
            <a:extLst>
              <a:ext uri="{FF2B5EF4-FFF2-40B4-BE49-F238E27FC236}">
                <a16:creationId xmlns:a16="http://schemas.microsoft.com/office/drawing/2014/main" id="{95B9E1DE-191E-47C6-BE9E-3B349D7C095A}"/>
              </a:ext>
            </a:extLst>
          </p:cNvPr>
          <p:cNvSpPr txBox="1">
            <a:spLocks/>
          </p:cNvSpPr>
          <p:nvPr/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gradFill>
                  <a:gsLst>
                    <a:gs pos="0">
                      <a:schemeClr val="accent6"/>
                    </a:gs>
                    <a:gs pos="100000">
                      <a:schemeClr val="tx2"/>
                    </a:gs>
                  </a:gsLst>
                  <a:lin ang="8100000" scaled="1"/>
                </a:gra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D1193A"/>
                </a:solidFill>
                <a:effectLst/>
                <a:uLnTx/>
                <a:uFillTx/>
                <a:latin typeface="Bradesco Sans"/>
                <a:ea typeface="+mj-ea"/>
                <a:cs typeface="+mj-cs"/>
                <a:sym typeface="Trebuchet MS" panose="020B0603020202020204" pitchFamily="34" charset="0"/>
              </a:rPr>
              <a:t>Agenda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D1193A"/>
              </a:solidFill>
              <a:effectLst/>
              <a:uLnTx/>
              <a:uFillTx/>
              <a:latin typeface="Bradesco Sans"/>
              <a:ea typeface="+mj-ea"/>
              <a:cs typeface="+mj-cs"/>
              <a:sym typeface="Trebuchet MS" panose="020B0603020202020204" pitchFamily="34" charset="0"/>
            </a:endParaRPr>
          </a:p>
        </p:txBody>
      </p:sp>
      <p:pic>
        <p:nvPicPr>
          <p:cNvPr id="36" name="Picture 15">
            <a:extLst>
              <a:ext uri="{FF2B5EF4-FFF2-40B4-BE49-F238E27FC236}">
                <a16:creationId xmlns:a16="http://schemas.microsoft.com/office/drawing/2014/main" id="{D05FAC72-765C-4332-A886-74E5824D634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V="1">
            <a:off x="4179405" y="0"/>
            <a:ext cx="416951" cy="6858000"/>
          </a:xfrm>
          <a:prstGeom prst="rect">
            <a:avLst/>
          </a:prstGeom>
        </p:spPr>
      </p:pic>
      <p:cxnSp>
        <p:nvCxnSpPr>
          <p:cNvPr id="37" name="Straight Connector 10">
            <a:extLst>
              <a:ext uri="{FF2B5EF4-FFF2-40B4-BE49-F238E27FC236}">
                <a16:creationId xmlns:a16="http://schemas.microsoft.com/office/drawing/2014/main" id="{002ED6CD-1EF8-47EA-980E-39E2028B4F3E}"/>
              </a:ext>
            </a:extLst>
          </p:cNvPr>
          <p:cNvCxnSpPr/>
          <p:nvPr/>
        </p:nvCxnSpPr>
        <p:spPr>
          <a:xfrm>
            <a:off x="4764643" y="4573934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185797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996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412537" y="193287"/>
            <a:ext cx="88457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>
                <a:solidFill>
                  <a:srgbClr val="C00000"/>
                </a:solidFill>
                <a:latin typeface="Bradesco Sans" pitchFamily="2" charset="77"/>
              </a:rPr>
              <a:t>Conclusão</a:t>
            </a:r>
          </a:p>
          <a:p>
            <a:r>
              <a:rPr lang="pt-BR" sz="1400" dirty="0">
                <a:solidFill>
                  <a:srgbClr val="C00000"/>
                </a:solidFill>
                <a:latin typeface="Bradesco Sans" pitchFamily="2" charset="77"/>
              </a:rPr>
              <a:t>Recomendação de Arquitetura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E5FE809-8160-D8B7-7F75-118674FBB024}"/>
              </a:ext>
            </a:extLst>
          </p:cNvPr>
          <p:cNvSpPr txBox="1"/>
          <p:nvPr/>
        </p:nvSpPr>
        <p:spPr>
          <a:xfrm>
            <a:off x="542925" y="1093253"/>
            <a:ext cx="10616142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É</a:t>
            </a:r>
            <a:r>
              <a:rPr lang="pt-BR" dirty="0" smtClean="0"/>
              <a:t> </a:t>
            </a:r>
            <a:r>
              <a:rPr lang="pt-BR" dirty="0" smtClean="0"/>
              <a:t>recomenda </a:t>
            </a:r>
            <a:r>
              <a:rPr lang="pt-BR" dirty="0"/>
              <a:t>a criação e disponibilização do </a:t>
            </a:r>
            <a:r>
              <a:rPr lang="pt-BR" dirty="0" smtClean="0"/>
              <a:t>micro serviço </a:t>
            </a:r>
            <a:r>
              <a:rPr lang="pt-BR" b="1" dirty="0" err="1"/>
              <a:t>Orq</a:t>
            </a:r>
            <a:r>
              <a:rPr lang="pt-BR" b="1" dirty="0"/>
              <a:t> </a:t>
            </a:r>
            <a:r>
              <a:rPr lang="pt-BR" b="1" dirty="0" err="1"/>
              <a:t>Hotlist</a:t>
            </a:r>
            <a:r>
              <a:rPr lang="pt-BR" dirty="0"/>
              <a:t>. Este </a:t>
            </a:r>
            <a:r>
              <a:rPr lang="pt-BR" dirty="0" smtClean="0"/>
              <a:t>micro serviço </a:t>
            </a:r>
            <a:r>
              <a:rPr lang="pt-BR" dirty="0"/>
              <a:t>terá como principal função realizar consultas no </a:t>
            </a:r>
            <a:r>
              <a:rPr lang="pt-BR" b="1" dirty="0" smtClean="0"/>
              <a:t>CRM</a:t>
            </a:r>
            <a:r>
              <a:rPr lang="pt-BR" dirty="0" smtClean="0"/>
              <a:t>.  </a:t>
            </a:r>
          </a:p>
          <a:p>
            <a:pPr algn="just"/>
            <a:endParaRPr lang="pt-BR" sz="1000" dirty="0" smtClean="0"/>
          </a:p>
          <a:p>
            <a:pPr algn="just"/>
            <a:r>
              <a:rPr lang="pt-BR" dirty="0" smtClean="0"/>
              <a:t>Para </a:t>
            </a:r>
            <a:r>
              <a:rPr lang="pt-BR" dirty="0"/>
              <a:t>isso, será necessário chamar o </a:t>
            </a:r>
            <a:r>
              <a:rPr lang="pt-BR" dirty="0" smtClean="0"/>
              <a:t>micro serviço </a:t>
            </a:r>
            <a:r>
              <a:rPr lang="pt-BR" b="1" dirty="0"/>
              <a:t>Consulta Oferta </a:t>
            </a:r>
            <a:r>
              <a:rPr lang="pt-BR" dirty="0"/>
              <a:t>e aguardar o </a:t>
            </a:r>
            <a:r>
              <a:rPr lang="pt-BR" b="1" dirty="0"/>
              <a:t>Retorno da Oferta</a:t>
            </a:r>
            <a:r>
              <a:rPr lang="pt-BR" dirty="0"/>
              <a:t>. O </a:t>
            </a:r>
            <a:r>
              <a:rPr lang="pt-BR" b="1" dirty="0"/>
              <a:t>CRM</a:t>
            </a:r>
            <a:r>
              <a:rPr lang="pt-BR" dirty="0"/>
              <a:t>, por sua vez, será responsável por montar a lista de clientes. Esta lista será composta por todas as </a:t>
            </a:r>
            <a:r>
              <a:rPr lang="pt-BR" b="1" dirty="0"/>
              <a:t>peças </a:t>
            </a:r>
            <a:r>
              <a:rPr lang="pt-BR" dirty="0"/>
              <a:t>necessárias para a composição da oferta.</a:t>
            </a:r>
          </a:p>
          <a:p>
            <a:pPr algn="just"/>
            <a:endParaRPr lang="pt-BR" sz="1000" dirty="0"/>
          </a:p>
          <a:p>
            <a:pPr algn="just"/>
            <a:r>
              <a:rPr lang="pt-BR" dirty="0"/>
              <a:t>A oferta montada será então apresentada na tela do </a:t>
            </a:r>
            <a:r>
              <a:rPr lang="pt-BR" b="1" dirty="0"/>
              <a:t>CORBAN</a:t>
            </a:r>
            <a:r>
              <a:rPr lang="pt-BR" dirty="0"/>
              <a:t>. Desta forma, garantimos uma arquitetura robusta e eficiente, capaz de atender às necessidades do sistema e proporcionar uma experiência de usuário aprimorada.</a:t>
            </a:r>
          </a:p>
          <a:p>
            <a:pPr algn="just"/>
            <a:endParaRPr lang="pt-BR" dirty="0"/>
          </a:p>
          <a:p>
            <a:pPr algn="just"/>
            <a:r>
              <a:rPr lang="pt-BR" b="1" dirty="0"/>
              <a:t>Benefícios</a:t>
            </a:r>
            <a:r>
              <a:rPr lang="pt-BR" dirty="0"/>
              <a:t>:</a:t>
            </a:r>
          </a:p>
          <a:p>
            <a:pPr algn="just"/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Facilidade de </a:t>
            </a:r>
            <a:r>
              <a:rPr lang="pt-BR" dirty="0" smtClean="0"/>
              <a:t>integração com CRM para disponibilizar uma lista de clientes em potenciais para oferta de produtos.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8356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FORMATWIZARD_TAG" val="Whi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FORMATWIZARD_TAG" val="Whi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FORMATWIZARD_TAG" val="White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067917c-5cbc-4020-9aca-481eecb008a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674911336ADB4786CFAEEDDC432B13" ma:contentTypeVersion="14" ma:contentTypeDescription="Crie um novo documento." ma:contentTypeScope="" ma:versionID="6f89d01018517e1b4a20966707db1033">
  <xsd:schema xmlns:xsd="http://www.w3.org/2001/XMLSchema" xmlns:xs="http://www.w3.org/2001/XMLSchema" xmlns:p="http://schemas.microsoft.com/office/2006/metadata/properties" xmlns:ns3="b067917c-5cbc-4020-9aca-481eecb008a7" xmlns:ns4="0ba53bdc-13c0-4d4d-b7f8-3295b790f778" targetNamespace="http://schemas.microsoft.com/office/2006/metadata/properties" ma:root="true" ma:fieldsID="48a29cde2d42204c1a7941f368a37dfa" ns3:_="" ns4:_="">
    <xsd:import namespace="b067917c-5cbc-4020-9aca-481eecb008a7"/>
    <xsd:import namespace="0ba53bdc-13c0-4d4d-b7f8-3295b790f77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LengthInSeconds" minOccurs="0"/>
                <xsd:element ref="ns3:_activity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67917c-5cbc-4020-9aca-481eecb008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a53bdc-13c0-4d4d-b7f8-3295b790f778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E48233-76AC-4860-B1CB-514D0F1F2853}">
  <ds:schemaRefs>
    <ds:schemaRef ds:uri="http://schemas.microsoft.com/office/2006/documentManagement/types"/>
    <ds:schemaRef ds:uri="b067917c-5cbc-4020-9aca-481eecb008a7"/>
    <ds:schemaRef ds:uri="http://schemas.microsoft.com/office/2006/metadata/properties"/>
    <ds:schemaRef ds:uri="http://www.w3.org/XML/1998/namespace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0ba53bdc-13c0-4d4d-b7f8-3295b790f778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810A743-6126-4D69-B9AE-69CF6C644D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CEE22E-B571-41B0-B7E6-792A36B229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067917c-5cbc-4020-9aca-481eecb008a7"/>
    <ds:schemaRef ds:uri="0ba53bdc-13c0-4d4d-b7f8-3295b790f7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41006</TotalTime>
  <Words>305</Words>
  <Application>Microsoft Office PowerPoint</Application>
  <PresentationFormat>Widescreen</PresentationFormat>
  <Paragraphs>82</Paragraphs>
  <Slides>7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5" baseType="lpstr">
      <vt:lpstr>Arial</vt:lpstr>
      <vt:lpstr>Bradesco Sans</vt:lpstr>
      <vt:lpstr>Bradesco Sans Bold</vt:lpstr>
      <vt:lpstr>Calibri</vt:lpstr>
      <vt:lpstr>Calibri Light</vt:lpstr>
      <vt:lpstr>Trebuchet MS</vt:lpstr>
      <vt:lpstr>Wingdings</vt:lpstr>
      <vt:lpstr>Tema do Office</vt:lpstr>
      <vt:lpstr> 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Banco Bradesco S.A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CARLOS ATILA FREITAS DA COSTA</dc:creator>
  <cp:lastModifiedBy>Alessandro Lisboa de lyra</cp:lastModifiedBy>
  <cp:revision>100</cp:revision>
  <dcterms:created xsi:type="dcterms:W3CDTF">2024-01-05T14:31:21Z</dcterms:created>
  <dcterms:modified xsi:type="dcterms:W3CDTF">2024-07-17T20:38:08Z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3fed9c9-9e02-402c-91c6-79672c367b2e_Enabled">
    <vt:lpwstr>true</vt:lpwstr>
  </property>
  <property fmtid="{D5CDD505-2E9C-101B-9397-08002B2CF9AE}" pid="3" name="MSIP_Label_d3fed9c9-9e02-402c-91c6-79672c367b2e_SetDate">
    <vt:lpwstr>2024-01-05T14:31:34Z</vt:lpwstr>
  </property>
  <property fmtid="{D5CDD505-2E9C-101B-9397-08002B2CF9AE}" pid="4" name="MSIP_Label_d3fed9c9-9e02-402c-91c6-79672c367b2e_Method">
    <vt:lpwstr>Standard</vt:lpwstr>
  </property>
  <property fmtid="{D5CDD505-2E9C-101B-9397-08002B2CF9AE}" pid="5" name="MSIP_Label_d3fed9c9-9e02-402c-91c6-79672c367b2e_Name">
    <vt:lpwstr>d3fed9c9-9e02-402c-91c6-79672c367b2e</vt:lpwstr>
  </property>
  <property fmtid="{D5CDD505-2E9C-101B-9397-08002B2CF9AE}" pid="6" name="MSIP_Label_d3fed9c9-9e02-402c-91c6-79672c367b2e_SiteId">
    <vt:lpwstr>ccd25372-eb59-436a-ad74-78a49d784cf3</vt:lpwstr>
  </property>
  <property fmtid="{D5CDD505-2E9C-101B-9397-08002B2CF9AE}" pid="7" name="MSIP_Label_d3fed9c9-9e02-402c-91c6-79672c367b2e_ActionId">
    <vt:lpwstr>6e9c734b-8fe9-45ba-9465-048664292ed0</vt:lpwstr>
  </property>
  <property fmtid="{D5CDD505-2E9C-101B-9397-08002B2CF9AE}" pid="8" name="MSIP_Label_d3fed9c9-9e02-402c-91c6-79672c367b2e_ContentBits">
    <vt:lpwstr>0</vt:lpwstr>
  </property>
  <property fmtid="{D5CDD505-2E9C-101B-9397-08002B2CF9AE}" pid="9" name="ContentTypeId">
    <vt:lpwstr>0x010100B0674911336ADB4786CFAEEDDC432B13</vt:lpwstr>
  </property>
</Properties>
</file>