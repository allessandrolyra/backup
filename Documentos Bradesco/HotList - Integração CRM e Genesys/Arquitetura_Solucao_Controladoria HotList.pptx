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940" r:id="rId6"/>
    <p:sldId id="317" r:id="rId7"/>
    <p:sldId id="2147378772" r:id="rId8"/>
    <p:sldId id="308" r:id="rId9"/>
    <p:sldId id="2147378773" r:id="rId10"/>
    <p:sldId id="31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2" d="100"/>
          <a:sy n="102" d="100"/>
        </p:scale>
        <p:origin x="-163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A0E9-6345-4181-8512-96EA8BA6E7C0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A346E-BE7A-4F7F-AFFA-6A8064F1DA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2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64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64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EEDC-5168-10B8-3B2D-C9EED8AF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B4B1B-9775-927F-0FAD-860945E7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B9571-6982-8077-6BBD-E0D45D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2FAD3-A2B7-6550-6368-CDC210F3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07689-1267-C333-AAA8-337C3BE8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C73F7-1938-011A-7B1A-03AA207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FDC57-438D-4315-D973-299E9A94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303E1-2A22-3ACB-2078-CDF728F4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AA680-49C5-890D-A6E2-70B0B94D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B4364-5027-9C01-A7B5-39F571E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2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3425-E5C6-46AA-186F-75D7562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DE991-F26D-DE0F-5C83-BF2F1127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46360-AED4-4920-205A-A2AC7D2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E4B75-94D5-2C01-2418-A6A96991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1CD59-36AF-3587-835B-369670F0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7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1706-5928-BE7C-CF9C-2617048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5F8F1-B004-893F-BE5F-15FB3DD7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470590-C25A-6D2C-C24E-12864255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4E8A5-BE8C-E563-162C-30F6E005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BC5C26-454F-F687-D822-C5739B55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AC67F-4647-8E68-DE53-E4BB704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1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75FB1-E390-B3C7-4E0D-45EE91A4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8757B-85B3-3622-2056-6FAEB8B6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4C1640-9F8A-B57C-F069-3CF876E1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8B69E8-68B7-86E3-1638-E6ED38DE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8BADFF-36CF-C13A-5990-59558D88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C68C6E-B3E4-54D1-C07E-0481CE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B22C2-F28C-832A-E72B-5027B8FD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185BCF-2AE4-9902-AC85-31354AF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EE0-B737-1803-77AB-668D0587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D216B0-CFDD-7C74-FF2D-531EA8DE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B634B9-E2E2-4301-2422-655CBCB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85889-3BBC-4C46-8C40-63E7AE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BB5FE1-D334-56BD-5D66-BBB61ED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390C0-2D97-0062-F765-6EC44404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BFF8BD-5D71-280D-82BE-5E6E590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9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62AA-390F-0D75-EF83-E026C310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EE8B-E5E4-3AC6-20D9-2CBA96A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E7B1AB-3955-C944-2E07-9317E27D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2B566-90F0-0A77-A82F-9835A3E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F552C1-3732-F1E0-DE24-BDCC411B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DDEB9-48B3-BEF2-4FC7-2E1BABE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F5C-EA1E-6FAE-E7ED-CE315353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3FBF0C-25BE-594A-6198-910A6F90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1DBB2-D8D3-4B57-7F6E-55BB035F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A8573A-5348-2923-6B2D-11928E54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052B79-406B-6FE4-E09C-6A3B3458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F7DE8-1A8B-5EE1-EC8D-4E29B90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0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A674-EB06-D82D-FEC6-F7DC9154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C2B2EA-7B60-02B8-A4DF-D27E09D4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63C92-ECBA-F940-DEC4-E0129838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BA225-325F-1CC2-35DA-392438A4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3773D-5D99-A0B6-8156-0D9F3FD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2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EB49AC-4E53-D82D-CCC9-EE0F12139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73513B-071B-0D39-20D6-F142D78C3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10F04-A7B8-0ECD-D2DA-0DD21C6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8ABFD-CB18-AD1E-DA06-637712CC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4D5F0-2606-C5DE-0F20-98E1D6E5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5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54A2A45-887C-4E78-8896-C6B1A7DF6AB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205C95-291A-416B-B821-7936558104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BR"/>
          </a:p>
        </p:txBody>
      </p:sp>
      <p:sp>
        <p:nvSpPr>
          <p:cNvPr id="19" name="Rectangle 2" descr="Retângulo 2">
            <a:extLst>
              <a:ext uri="{FF2B5EF4-FFF2-40B4-BE49-F238E27FC236}">
                <a16:creationId xmlns:a16="http://schemas.microsoft.com/office/drawing/2014/main" id="{1887CD05-083B-4C05-9DD5-877C08F85EA2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A5F342-F49E-4190-89F2-551AEE807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467" r="48106"/>
          <a:stretch/>
        </p:blipFill>
        <p:spPr>
          <a:xfrm>
            <a:off x="7726712" y="-1"/>
            <a:ext cx="4465288" cy="4009153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5F9FD83-A3F7-4F83-B069-BD90BC994B42}"/>
              </a:ext>
            </a:extLst>
          </p:cNvPr>
          <p:cNvSpPr txBox="1"/>
          <p:nvPr userDrawn="1"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6D9E1175-C925-4BAE-B56C-995AD1BB8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 rot="18735649">
            <a:off x="-2403482" y="2926348"/>
            <a:ext cx="8604708" cy="84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179354-8D5E-DBC4-B6EC-4599913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98E42-C5C1-D9D4-97AF-1A23DDB0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F1661-6EF9-2749-19F3-6A07D8016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3C-12C4-44CD-8D6C-0E7CB70CE343}" type="datetimeFigureOut">
              <a:rPr lang="pt-BR" smtClean="0"/>
              <a:t>12/07/2024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D96BE-1C7C-E11E-903A-FED6DB4D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4AAE-AD2C-C86C-7E30-64825DF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emf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CB8489-2CA7-1A7E-055A-7C36689B5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65" y="567987"/>
            <a:ext cx="2520910" cy="2499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501923" y="3968878"/>
            <a:ext cx="82468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Arquitetura </a:t>
            </a:r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Bradesco Express </a:t>
            </a:r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– </a:t>
            </a:r>
            <a:r>
              <a:rPr lang="pt-BR" sz="2600" b="1" dirty="0" err="1" smtClean="0">
                <a:solidFill>
                  <a:schemeClr val="bg1"/>
                </a:solidFill>
                <a:latin typeface="Bradesco Sans" pitchFamily="2" charset="77"/>
              </a:rPr>
              <a:t>HotList</a:t>
            </a:r>
            <a:endParaRPr lang="pt-BR" sz="26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E9CA8-D47A-2760-C42D-0BEF8AE5CD0C}"/>
              </a:ext>
            </a:extLst>
          </p:cNvPr>
          <p:cNvSpPr txBox="1"/>
          <p:nvPr/>
        </p:nvSpPr>
        <p:spPr>
          <a:xfrm>
            <a:off x="478674" y="4370716"/>
            <a:ext cx="3491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Darlan (DATI</a:t>
            </a:r>
            <a:r>
              <a:rPr lang="pt-BR" sz="1400" b="1" dirty="0">
                <a:solidFill>
                  <a:schemeClr val="bg1"/>
                </a:solidFill>
              </a:rPr>
              <a:t>), </a:t>
            </a:r>
            <a:r>
              <a:rPr lang="pt-BR" sz="1400" b="1" dirty="0" smtClean="0">
                <a:solidFill>
                  <a:schemeClr val="bg1"/>
                </a:solidFill>
              </a:rPr>
              <a:t>Alessandro (DATI</a:t>
            </a:r>
            <a:r>
              <a:rPr lang="pt-BR" sz="1400" b="1" dirty="0">
                <a:solidFill>
                  <a:schemeClr val="bg1"/>
                </a:solidFill>
              </a:rPr>
              <a:t>)</a:t>
            </a:r>
          </a:p>
          <a:p>
            <a:r>
              <a:rPr lang="pt-BR" sz="1400" b="1" dirty="0" smtClean="0">
                <a:solidFill>
                  <a:schemeClr val="bg1"/>
                </a:solidFill>
              </a:rPr>
              <a:t>02/07/2024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22066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0870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3518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4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Objetivo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448767"/>
            <a:ext cx="107305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Criar na Plataforma do Expresso, uma lista de leads quentes, atrelados a um ou mais produtos. Para que o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correspondente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possa realizar contato de forma ativa via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plataforma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. 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Disponibilizar ao correspondente bancário lista com: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Nome do cliente;</a:t>
            </a: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produtos em que o cliente esteja elegível;</a:t>
            </a: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limite para contratação; ( caso exista e forma de contato)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0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4531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39705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27439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064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tângulo 12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984976" y="2577716"/>
            <a:ext cx="739845" cy="770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Expresso- </a:t>
            </a:r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Cenário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sugerido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E7E42D4A-E2B1-BFB4-52FB-278639D0E0D8}"/>
              </a:ext>
            </a:extLst>
          </p:cNvPr>
          <p:cNvSpPr txBox="1"/>
          <p:nvPr/>
        </p:nvSpPr>
        <p:spPr>
          <a:xfrm>
            <a:off x="97982" y="5918178"/>
            <a:ext cx="7656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Legenda:</a:t>
            </a:r>
            <a:endParaRPr lang="pt-BR" b="1" dirty="0"/>
          </a:p>
        </p:txBody>
      </p:sp>
      <p:sp>
        <p:nvSpPr>
          <p:cNvPr id="92" name="Retângulo Arredondado 19">
            <a:extLst>
              <a:ext uri="{FF2B5EF4-FFF2-40B4-BE49-F238E27FC236}">
                <a16:creationId xmlns:a16="http://schemas.microsoft.com/office/drawing/2014/main" id="{9B53C4CA-39F3-87F2-BA7D-17C737994A65}"/>
              </a:ext>
            </a:extLst>
          </p:cNvPr>
          <p:cNvSpPr/>
          <p:nvPr/>
        </p:nvSpPr>
        <p:spPr>
          <a:xfrm>
            <a:off x="4857383" y="1172816"/>
            <a:ext cx="7212697" cy="5121222"/>
          </a:xfrm>
          <a:prstGeom prst="roundRect">
            <a:avLst>
              <a:gd name="adj" fmla="val 2516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7D10F9-5393-9D00-2917-62A62523E286}"/>
              </a:ext>
            </a:extLst>
          </p:cNvPr>
          <p:cNvSpPr txBox="1"/>
          <p:nvPr/>
        </p:nvSpPr>
        <p:spPr>
          <a:xfrm>
            <a:off x="5055210" y="1000366"/>
            <a:ext cx="136357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Bradesco </a:t>
            </a:r>
            <a:r>
              <a:rPr lang="pt-BR" sz="12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Azure</a:t>
            </a:r>
            <a:r>
              <a:rPr lang="pt-BR" sz="1200" b="1" dirty="0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 </a:t>
            </a:r>
            <a:endParaRPr lang="pt-BR" sz="12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sp>
        <p:nvSpPr>
          <p:cNvPr id="7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13396" y="2408958"/>
            <a:ext cx="1362403" cy="1147843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90985" y="2788229"/>
            <a:ext cx="1213934" cy="412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Aplicações</a:t>
            </a:r>
            <a:r>
              <a:rPr kumimoji="0" lang="pt-BR" sz="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Micro – Front </a:t>
            </a:r>
            <a:r>
              <a:rPr lang="pt-BR" sz="800" dirty="0" err="1">
                <a:solidFill>
                  <a:prstClr val="black"/>
                </a:solidFill>
                <a:latin typeface="Bradesco Sans"/>
              </a:rPr>
              <a:t>E</a:t>
            </a:r>
            <a:r>
              <a:rPr kumimoji="0" lang="pt-BR" sz="8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nd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21148" y="2241403"/>
            <a:ext cx="73684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Corban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224460" y="6217020"/>
            <a:ext cx="5395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95212412-0FBA-CDFA-CF6C-5765E3BFE6D9}"/>
              </a:ext>
            </a:extLst>
          </p:cNvPr>
          <p:cNvSpPr txBox="1"/>
          <p:nvPr/>
        </p:nvSpPr>
        <p:spPr>
          <a:xfrm>
            <a:off x="822354" y="6079179"/>
            <a:ext cx="250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Contexto de Solução</a:t>
            </a:r>
            <a:endParaRPr lang="pt-BR" sz="1400" dirty="0"/>
          </a:p>
        </p:txBody>
      </p:sp>
      <p:pic>
        <p:nvPicPr>
          <p:cNvPr id="144" name="Imagem 143">
            <a:extLst>
              <a:ext uri="{FF2B5EF4-FFF2-40B4-BE49-F238E27FC236}">
                <a16:creationId xmlns:a16="http://schemas.microsoft.com/office/drawing/2014/main" id="{87C0651F-8C49-C096-82B8-979E69A342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975629" y="2623555"/>
            <a:ext cx="405487" cy="197137"/>
          </a:xfrm>
          <a:prstGeom prst="rect">
            <a:avLst/>
          </a:prstGeom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438F664B-BF08-2E58-529A-FC303519831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498691" y="5370805"/>
            <a:ext cx="405487" cy="197137"/>
          </a:xfrm>
          <a:prstGeom prst="rect">
            <a:avLst/>
          </a:prstGeom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7199419D-DF90-5A49-4FC9-7041528AE78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7571904" y="5790628"/>
            <a:ext cx="405487" cy="197137"/>
          </a:xfrm>
          <a:prstGeom prst="rect">
            <a:avLst/>
          </a:prstGeom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B508FB70-CE11-1610-BA01-C81AC06D9D6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6216045" y="5806984"/>
            <a:ext cx="405487" cy="197137"/>
          </a:xfrm>
          <a:prstGeom prst="rect">
            <a:avLst/>
          </a:prstGeom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9AA840A4-A15A-DB6F-49AB-CFCA714261C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707379" y="5977872"/>
            <a:ext cx="405487" cy="197137"/>
          </a:xfrm>
          <a:prstGeom prst="rect">
            <a:avLst/>
          </a:prstGeom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6A18984-0A02-EDC5-2085-D9563265C7F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5032387" y="5638441"/>
            <a:ext cx="405487" cy="197137"/>
          </a:xfrm>
          <a:prstGeom prst="rect">
            <a:avLst/>
          </a:prstGeom>
        </p:spPr>
      </p:pic>
      <p:pic>
        <p:nvPicPr>
          <p:cNvPr id="1043" name="Imagem 1042">
            <a:extLst>
              <a:ext uri="{FF2B5EF4-FFF2-40B4-BE49-F238E27FC236}">
                <a16:creationId xmlns:a16="http://schemas.microsoft.com/office/drawing/2014/main" id="{49B3DC93-2987-6376-E424-4B0C6365C9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4289498" y="5920594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121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842301" y="1942854"/>
            <a:ext cx="2108149" cy="1963801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22" name="Imagem 121" descr="Ícone&#10;&#10;Descrição gerada automaticamente">
            <a:extLst>
              <a:ext uri="{FF2B5EF4-FFF2-40B4-BE49-F238E27FC236}">
                <a16:creationId xmlns:a16="http://schemas.microsoft.com/office/drawing/2014/main" id="{7D31EC55-F70A-3E22-2A0C-8A4A4331EAA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3" b="10558"/>
          <a:stretch/>
        </p:blipFill>
        <p:spPr>
          <a:xfrm>
            <a:off x="935919" y="2554956"/>
            <a:ext cx="385601" cy="304078"/>
          </a:xfrm>
          <a:prstGeom prst="rect">
            <a:avLst/>
          </a:prstGeom>
        </p:spPr>
      </p:pic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064876" y="1834518"/>
            <a:ext cx="580043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PDTEC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372" y="2773144"/>
            <a:ext cx="280572" cy="293932"/>
          </a:xfrm>
          <a:prstGeom prst="rect">
            <a:avLst/>
          </a:prstGeom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87C0651F-8C49-C096-82B8-979E69A342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1128029" y="2775955"/>
            <a:ext cx="405487" cy="197137"/>
          </a:xfrm>
          <a:prstGeom prst="rect">
            <a:avLst/>
          </a:prstGeom>
        </p:spPr>
      </p:pic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056088" y="2376262"/>
            <a:ext cx="41135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SaaS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33" name="Retângulo 132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927887" y="2577716"/>
            <a:ext cx="940260" cy="770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34" name="Retângulo 13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980502" y="3028606"/>
            <a:ext cx="816765" cy="258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Microservices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450" y="2671892"/>
            <a:ext cx="440868" cy="440868"/>
          </a:xfrm>
          <a:prstGeom prst="rect">
            <a:avLst/>
          </a:prstGeom>
        </p:spPr>
      </p:pic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976592" y="2373017"/>
            <a:ext cx="47479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AWS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052584" y="1317283"/>
            <a:ext cx="6942196" cy="4743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135114" y="3162087"/>
            <a:ext cx="848792" cy="697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5192735" y="2967870"/>
            <a:ext cx="73154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>
                <a:latin typeface="Bradesco Sans" panose="00000500000000000000" pitchFamily="2" charset="0"/>
              </a:rPr>
              <a:t>Hub interno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075248" y="3057129"/>
            <a:ext cx="534286" cy="1801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CND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321278" y="3565094"/>
            <a:ext cx="457189" cy="1870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WAF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62" y="3283058"/>
            <a:ext cx="537783" cy="282036"/>
          </a:xfrm>
          <a:prstGeom prst="rect">
            <a:avLst/>
          </a:prstGeom>
        </p:spPr>
      </p:pic>
      <p:sp>
        <p:nvSpPr>
          <p:cNvPr id="142" name="Retângulo 14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256925" y="3538218"/>
            <a:ext cx="5042383" cy="2442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6314699" y="5771490"/>
            <a:ext cx="12395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Plataforma de Canais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56" name="Retângulo 155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391183" y="4669512"/>
            <a:ext cx="816765" cy="258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API Gateway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186" y="4282729"/>
            <a:ext cx="387506" cy="401858"/>
          </a:xfrm>
          <a:prstGeom prst="rect">
            <a:avLst/>
          </a:prstGeom>
        </p:spPr>
      </p:pic>
      <p:sp>
        <p:nvSpPr>
          <p:cNvPr id="158" name="Retângulo 15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21483" y="3800072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69" name="Imagem 68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155" y="4052201"/>
            <a:ext cx="261267" cy="261267"/>
          </a:xfrm>
          <a:prstGeom prst="rect">
            <a:avLst/>
          </a:prstGeom>
        </p:spPr>
      </p:pic>
      <p:sp>
        <p:nvSpPr>
          <p:cNvPr id="159" name="Retângulo 15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94083" y="3639814"/>
            <a:ext cx="814787" cy="2580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Autorization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Service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71" name="Imagem 70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477" y="4052201"/>
            <a:ext cx="432026" cy="287494"/>
          </a:xfrm>
          <a:prstGeom prst="rect">
            <a:avLst/>
          </a:prstGeom>
        </p:spPr>
      </p:pic>
      <p:sp>
        <p:nvSpPr>
          <p:cNvPr id="169" name="Retângulo 16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256924" y="1449815"/>
            <a:ext cx="5042383" cy="18332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6350318" y="3103454"/>
            <a:ext cx="12395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Plataforma Funcionais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72" name="Retângulo 17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660385" y="1562801"/>
            <a:ext cx="4312108" cy="1532311"/>
          </a:xfrm>
          <a:prstGeom prst="rect">
            <a:avLst/>
          </a:prstGeom>
          <a:solidFill>
            <a:srgbClr val="EBF0F9">
              <a:alpha val="59000"/>
            </a:srgbClr>
          </a:solidFill>
          <a:ln>
            <a:solidFill>
              <a:schemeClr val="tx1">
                <a:alpha val="26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74" name="Retângulo 17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673781" y="2915133"/>
            <a:ext cx="715644" cy="149572"/>
          </a:xfrm>
          <a:prstGeom prst="rect">
            <a:avLst/>
          </a:prstGeom>
          <a:solidFill>
            <a:srgbClr val="EBF0F9">
              <a:alpha val="61000"/>
            </a:srgb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Aro Interno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65" name="Retângulo 164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811411" y="1719928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884223" y="1641510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78" name="Imagem 77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075" y="1925501"/>
            <a:ext cx="326857" cy="326857"/>
          </a:xfrm>
          <a:prstGeom prst="rect">
            <a:avLst/>
          </a:prstGeom>
        </p:spPr>
      </p:pic>
      <p:sp>
        <p:nvSpPr>
          <p:cNvPr id="168" name="Retângulo 16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904325" y="2252358"/>
            <a:ext cx="782516" cy="1444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noProof="0" dirty="0" smtClean="0">
                <a:solidFill>
                  <a:prstClr val="black"/>
                </a:solidFill>
                <a:latin typeface="Bradesco Sans"/>
              </a:rPr>
              <a:t>Consulta Lead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187" name="Retângulo 18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21483" y="4870858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88" name="Retângulo 18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94295" y="4792440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89" name="Imagem 188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47" y="5076431"/>
            <a:ext cx="326857" cy="326857"/>
          </a:xfrm>
          <a:prstGeom prst="rect">
            <a:avLst/>
          </a:prstGeom>
        </p:spPr>
      </p:pic>
      <p:sp>
        <p:nvSpPr>
          <p:cNvPr id="190" name="Retângulo 189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80148" y="5395250"/>
            <a:ext cx="816765" cy="1673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ORQ </a:t>
            </a: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Hotlist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1" name="Retângulo 19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51699" y="1666280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93863" y="1601624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93" name="Imagem 192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07" y="1877273"/>
            <a:ext cx="326857" cy="326857"/>
          </a:xfrm>
          <a:prstGeom prst="rect">
            <a:avLst/>
          </a:prstGeom>
        </p:spPr>
      </p:pic>
      <p:sp>
        <p:nvSpPr>
          <p:cNvPr id="194" name="Retângulo 19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513965" y="2212472"/>
            <a:ext cx="782516" cy="1444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Retorno Oferta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80" name="Cilindro 79"/>
          <p:cNvSpPr/>
          <p:nvPr/>
        </p:nvSpPr>
        <p:spPr>
          <a:xfrm rot="5400000">
            <a:off x="9756028" y="2362025"/>
            <a:ext cx="331603" cy="100155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 dirty="0"/>
          </a:p>
        </p:txBody>
      </p:sp>
      <p:sp>
        <p:nvSpPr>
          <p:cNvPr id="196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269721" y="4496967"/>
            <a:ext cx="2904536" cy="1571601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3263833" y="4365195"/>
            <a:ext cx="8318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Genesys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pic>
        <p:nvPicPr>
          <p:cNvPr id="82" name="Imagem 81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2" y="3144537"/>
            <a:ext cx="271369" cy="325643"/>
          </a:xfrm>
          <a:prstGeom prst="rect">
            <a:avLst/>
          </a:prstGeom>
        </p:spPr>
      </p:pic>
      <p:sp>
        <p:nvSpPr>
          <p:cNvPr id="199" name="Retângulo 19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355137" y="4968540"/>
            <a:ext cx="894305" cy="66615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00" name="Imagem 199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09" y="5181000"/>
            <a:ext cx="261267" cy="261267"/>
          </a:xfrm>
          <a:prstGeom prst="rect">
            <a:avLst/>
          </a:prstGeom>
        </p:spPr>
      </p:pic>
      <p:pic>
        <p:nvPicPr>
          <p:cNvPr id="202" name="Imagem 201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597" y="5158824"/>
            <a:ext cx="432026" cy="287494"/>
          </a:xfrm>
          <a:prstGeom prst="rect">
            <a:avLst/>
          </a:prstGeom>
        </p:spPr>
      </p:pic>
      <p:sp>
        <p:nvSpPr>
          <p:cNvPr id="208" name="Retângulo 20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440637" y="4890823"/>
            <a:ext cx="723304" cy="13925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err="1" smtClean="0">
                <a:solidFill>
                  <a:prstClr val="black"/>
                </a:solidFill>
                <a:latin typeface="Bradesco Sans"/>
              </a:rPr>
              <a:t>Autentication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211" name="Retângulo 21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774132" y="4925919"/>
            <a:ext cx="1056087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217" name="Retângulo 21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73885" y="2755614"/>
            <a:ext cx="782516" cy="2348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Retorno Oferta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Kafka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218" name="Retângulo 21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796315" y="5572410"/>
            <a:ext cx="982369" cy="1990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Plataforma </a:t>
            </a:r>
            <a:r>
              <a:rPr lang="pt-BR" sz="700" dirty="0" err="1" smtClean="0">
                <a:solidFill>
                  <a:prstClr val="black"/>
                </a:solidFill>
                <a:latin typeface="Bradesco Sans"/>
              </a:rPr>
              <a:t>Genesys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83" name="Imagem 82"/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014" y="5046930"/>
            <a:ext cx="567074" cy="422208"/>
          </a:xfrm>
          <a:prstGeom prst="rect">
            <a:avLst/>
          </a:prstGeom>
        </p:spPr>
      </p:pic>
      <p:cxnSp>
        <p:nvCxnSpPr>
          <p:cNvPr id="220" name="Conector de Seta Reta 219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1445428" y="2990427"/>
            <a:ext cx="5395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1" name="Conector de Seta Reta 220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 flipV="1">
            <a:off x="2737147" y="2984422"/>
            <a:ext cx="235237" cy="549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ector Angulado 89"/>
          <p:cNvCxnSpPr>
            <a:stCxn id="133" idx="3"/>
            <a:endCxn id="139" idx="1"/>
          </p:cNvCxnSpPr>
          <p:nvPr/>
        </p:nvCxnSpPr>
        <p:spPr>
          <a:xfrm>
            <a:off x="3868147" y="2963074"/>
            <a:ext cx="1266967" cy="547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ector Angulado 98"/>
          <p:cNvCxnSpPr>
            <a:stCxn id="139" idx="2"/>
            <a:endCxn id="62" idx="1"/>
          </p:cNvCxnSpPr>
          <p:nvPr/>
        </p:nvCxnSpPr>
        <p:spPr>
          <a:xfrm rot="16200000" flipH="1">
            <a:off x="5755446" y="3663918"/>
            <a:ext cx="623804" cy="10156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Conector Angulado 222"/>
          <p:cNvCxnSpPr>
            <a:stCxn id="62" idx="3"/>
            <a:endCxn id="158" idx="1"/>
          </p:cNvCxnSpPr>
          <p:nvPr/>
        </p:nvCxnSpPr>
        <p:spPr>
          <a:xfrm flipV="1">
            <a:off x="6962692" y="4182835"/>
            <a:ext cx="758791" cy="3008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Conector Angulado 226"/>
          <p:cNvCxnSpPr>
            <a:stCxn id="62" idx="3"/>
            <a:endCxn id="187" idx="1"/>
          </p:cNvCxnSpPr>
          <p:nvPr/>
        </p:nvCxnSpPr>
        <p:spPr>
          <a:xfrm>
            <a:off x="6962692" y="4483658"/>
            <a:ext cx="758791" cy="7699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Conector Angulado 231"/>
          <p:cNvCxnSpPr>
            <a:stCxn id="96" idx="3"/>
            <a:endCxn id="165" idx="2"/>
          </p:cNvCxnSpPr>
          <p:nvPr/>
        </p:nvCxnSpPr>
        <p:spPr>
          <a:xfrm flipV="1">
            <a:off x="7120027" y="2485454"/>
            <a:ext cx="1161514" cy="996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Conector Angulado 242"/>
          <p:cNvCxnSpPr>
            <a:stCxn id="96" idx="3"/>
          </p:cNvCxnSpPr>
          <p:nvPr/>
        </p:nvCxnSpPr>
        <p:spPr>
          <a:xfrm>
            <a:off x="7120027" y="2585126"/>
            <a:ext cx="2278558" cy="284561"/>
          </a:xfrm>
          <a:prstGeom prst="bentConnector3">
            <a:avLst>
              <a:gd name="adj1" fmla="val 13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Conector de Seta Reta 245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  <a:stCxn id="80" idx="2"/>
            <a:endCxn id="191" idx="2"/>
          </p:cNvCxnSpPr>
          <p:nvPr/>
        </p:nvCxnSpPr>
        <p:spPr>
          <a:xfrm flipV="1">
            <a:off x="9921829" y="2431806"/>
            <a:ext cx="0" cy="26519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0" name="Conector Angulado 1049"/>
          <p:cNvCxnSpPr>
            <a:stCxn id="82" idx="1"/>
            <a:endCxn id="199" idx="1"/>
          </p:cNvCxnSpPr>
          <p:nvPr/>
        </p:nvCxnSpPr>
        <p:spPr>
          <a:xfrm rot="10800000" flipH="1" flipV="1">
            <a:off x="1108951" y="3307359"/>
            <a:ext cx="246185" cy="1994258"/>
          </a:xfrm>
          <a:prstGeom prst="bentConnector3">
            <a:avLst>
              <a:gd name="adj1" fmla="val -92857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8" name="Conector de Seta Reta 1057"/>
          <p:cNvCxnSpPr>
            <a:stCxn id="199" idx="3"/>
            <a:endCxn id="211" idx="1"/>
          </p:cNvCxnSpPr>
          <p:nvPr/>
        </p:nvCxnSpPr>
        <p:spPr>
          <a:xfrm>
            <a:off x="2249442" y="5301617"/>
            <a:ext cx="524690" cy="7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0" name="Conector de Seta Reta 279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224460" y="6340131"/>
            <a:ext cx="539548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95212412-0FBA-CDFA-CF6C-5765E3BFE6D9}"/>
              </a:ext>
            </a:extLst>
          </p:cNvPr>
          <p:cNvSpPr txBox="1"/>
          <p:nvPr/>
        </p:nvSpPr>
        <p:spPr>
          <a:xfrm>
            <a:off x="793764" y="6217020"/>
            <a:ext cx="1894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Protótipo  </a:t>
            </a:r>
            <a:r>
              <a:rPr lang="pt-BR" sz="1000" dirty="0" err="1" smtClean="0"/>
              <a:t>Genesys</a:t>
            </a:r>
            <a:endParaRPr lang="pt-BR" sz="1400" dirty="0"/>
          </a:p>
        </p:txBody>
      </p:sp>
      <p:cxnSp>
        <p:nvCxnSpPr>
          <p:cNvPr id="1086" name="Conector Angulado 1085"/>
          <p:cNvCxnSpPr>
            <a:stCxn id="129" idx="2"/>
            <a:endCxn id="208" idx="0"/>
          </p:cNvCxnSpPr>
          <p:nvPr/>
        </p:nvCxnSpPr>
        <p:spPr>
          <a:xfrm rot="5400000">
            <a:off x="1307399" y="3843322"/>
            <a:ext cx="1542391" cy="552610"/>
          </a:xfrm>
          <a:prstGeom prst="bentConnector3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 rot="19568873">
            <a:off x="872548" y="4479843"/>
            <a:ext cx="1374012" cy="171117"/>
          </a:xfrm>
          <a:prstGeom prst="roundRect">
            <a:avLst>
              <a:gd name="adj" fmla="val 2516"/>
            </a:avLst>
          </a:prstGeom>
          <a:solidFill>
            <a:srgbClr val="FF0000"/>
          </a:solidFill>
          <a:ln w="952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Não</a:t>
            </a:r>
            <a:r>
              <a:rPr kumimoji="0" lang="pt-BR" sz="12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 </a:t>
            </a:r>
            <a:r>
              <a:rPr kumimoji="0" lang="pt-BR" sz="1200" b="1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Exaustivo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96" name="Imagem 9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521" y="2384197"/>
            <a:ext cx="387506" cy="401858"/>
          </a:xfrm>
          <a:prstGeom prst="rect">
            <a:avLst/>
          </a:prstGeom>
        </p:spPr>
      </p:pic>
      <p:cxnSp>
        <p:nvCxnSpPr>
          <p:cNvPr id="28" name="Conector Angulado 27"/>
          <p:cNvCxnSpPr>
            <a:stCxn id="187" idx="3"/>
            <a:endCxn id="96" idx="1"/>
          </p:cNvCxnSpPr>
          <p:nvPr/>
        </p:nvCxnSpPr>
        <p:spPr>
          <a:xfrm flipH="1" flipV="1">
            <a:off x="6732521" y="2585126"/>
            <a:ext cx="1929222" cy="2668495"/>
          </a:xfrm>
          <a:prstGeom prst="bentConnector5">
            <a:avLst>
              <a:gd name="adj1" fmla="val -11849"/>
              <a:gd name="adj2" fmla="val 68574"/>
              <a:gd name="adj3" fmla="val 11767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2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68561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764643" y="3862952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764643" y="457393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8579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542925" y="1093253"/>
            <a:ext cx="1061614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</a:t>
            </a:r>
            <a:r>
              <a:rPr lang="pt-BR" dirty="0" smtClean="0"/>
              <a:t>recomenda </a:t>
            </a:r>
            <a:r>
              <a:rPr lang="pt-BR" dirty="0"/>
              <a:t>a criação e disponibilização do </a:t>
            </a:r>
            <a:r>
              <a:rPr lang="pt-BR" dirty="0" smtClean="0"/>
              <a:t>micro serviço </a:t>
            </a:r>
            <a:r>
              <a:rPr lang="pt-BR" b="1" dirty="0" err="1"/>
              <a:t>Orq</a:t>
            </a:r>
            <a:r>
              <a:rPr lang="pt-BR" b="1" dirty="0"/>
              <a:t> </a:t>
            </a:r>
            <a:r>
              <a:rPr lang="pt-BR" b="1" dirty="0" err="1"/>
              <a:t>Hotlist</a:t>
            </a:r>
            <a:r>
              <a:rPr lang="pt-BR" dirty="0"/>
              <a:t>. Este </a:t>
            </a:r>
            <a:r>
              <a:rPr lang="pt-BR" dirty="0" smtClean="0"/>
              <a:t>micro serviço </a:t>
            </a:r>
            <a:r>
              <a:rPr lang="pt-BR" dirty="0"/>
              <a:t>terá como principal função realizar consultas no </a:t>
            </a:r>
            <a:r>
              <a:rPr lang="pt-BR" b="1" dirty="0" smtClean="0"/>
              <a:t>CRM</a:t>
            </a:r>
            <a:r>
              <a:rPr lang="pt-BR" dirty="0" smtClean="0"/>
              <a:t>.  </a:t>
            </a:r>
          </a:p>
          <a:p>
            <a:pPr algn="just"/>
            <a:endParaRPr lang="pt-BR" sz="1000" dirty="0" smtClean="0"/>
          </a:p>
          <a:p>
            <a:pPr algn="just"/>
            <a:r>
              <a:rPr lang="pt-BR" dirty="0" smtClean="0"/>
              <a:t>Para </a:t>
            </a:r>
            <a:r>
              <a:rPr lang="pt-BR" dirty="0"/>
              <a:t>isso, será necessário chamar o </a:t>
            </a:r>
            <a:r>
              <a:rPr lang="pt-BR" dirty="0" smtClean="0"/>
              <a:t>micro serviço </a:t>
            </a:r>
            <a:r>
              <a:rPr lang="pt-BR" b="1" dirty="0"/>
              <a:t>Consulta Oferta </a:t>
            </a:r>
            <a:r>
              <a:rPr lang="pt-BR" dirty="0"/>
              <a:t>e aguardar o Retorno da Oferta. O </a:t>
            </a:r>
            <a:r>
              <a:rPr lang="pt-BR" b="1" dirty="0"/>
              <a:t>CRM</a:t>
            </a:r>
            <a:r>
              <a:rPr lang="pt-BR" dirty="0"/>
              <a:t>, por sua vez, será responsável por montar a lista de clientes. Esta lista será composta por todas as </a:t>
            </a:r>
            <a:r>
              <a:rPr lang="pt-BR" b="1" dirty="0"/>
              <a:t>peças </a:t>
            </a:r>
            <a:r>
              <a:rPr lang="pt-BR" dirty="0"/>
              <a:t>necessárias para a composição da oferta.</a:t>
            </a:r>
          </a:p>
          <a:p>
            <a:pPr algn="just"/>
            <a:endParaRPr lang="pt-BR" sz="1000" dirty="0"/>
          </a:p>
          <a:p>
            <a:pPr algn="just"/>
            <a:r>
              <a:rPr lang="pt-BR" dirty="0"/>
              <a:t>A oferta montada será então apresentada na tela do </a:t>
            </a:r>
            <a:r>
              <a:rPr lang="pt-BR" b="1" dirty="0"/>
              <a:t>CORBAN</a:t>
            </a:r>
            <a:r>
              <a:rPr lang="pt-BR" dirty="0"/>
              <a:t>. Desta forma, garantimos uma arquitetura robusta e eficiente, capaz de atender às necessidades do sistema e proporcionar uma experiência de usuário aprimorada.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Benefícios</a:t>
            </a:r>
            <a:r>
              <a:rPr lang="pt-BR" dirty="0"/>
              <a:t>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Facilidade de </a:t>
            </a:r>
            <a:r>
              <a:rPr lang="pt-BR" dirty="0" smtClean="0"/>
              <a:t>integração com CRM para disponibilizar uma lista de clientes em potenciais para oferta de produtos.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3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Props1.xml><?xml version="1.0" encoding="utf-8"?>
<ds:datastoreItem xmlns:ds="http://schemas.openxmlformats.org/officeDocument/2006/customXml" ds:itemID="{57CEE22E-B571-41B0-B7E6-792A36B22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10A743-6126-4D69-B9AE-69CF6C644D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E48233-76AC-4860-B1CB-514D0F1F2853}">
  <ds:schemaRefs>
    <ds:schemaRef ds:uri="http://schemas.microsoft.com/office/2006/documentManagement/types"/>
    <ds:schemaRef ds:uri="b067917c-5cbc-4020-9aca-481eecb008a7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ba53bdc-13c0-4d4d-b7f8-3295b790f778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39409</TotalTime>
  <Words>304</Words>
  <Application>Microsoft Office PowerPoint</Application>
  <PresentationFormat>Widescreen</PresentationFormat>
  <Paragraphs>82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Arial</vt:lpstr>
      <vt:lpstr>Bradesco Sans</vt:lpstr>
      <vt:lpstr>Bradesco Sans Bold</vt:lpstr>
      <vt:lpstr>Calibri</vt:lpstr>
      <vt:lpstr>Calibri Light</vt:lpstr>
      <vt:lpstr>Trebuchet MS</vt:lpstr>
      <vt:lpstr>Wingdings</vt:lpstr>
      <vt:lpstr>Tema do Office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ATILA FREITAS DA COSTA</dc:creator>
  <cp:lastModifiedBy>Alessandro Lisboa de lyra</cp:lastModifiedBy>
  <cp:revision>96</cp:revision>
  <dcterms:created xsi:type="dcterms:W3CDTF">2024-01-05T14:31:21Z</dcterms:created>
  <dcterms:modified xsi:type="dcterms:W3CDTF">2024-07-12T21:10:11Z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2024-01-05T14:31:34Z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6e9c734b-8fe9-45ba-9465-048664292ed0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0x010100B0674911336ADB4786CFAEEDDC432B13</vt:lpwstr>
  </property>
</Properties>
</file>