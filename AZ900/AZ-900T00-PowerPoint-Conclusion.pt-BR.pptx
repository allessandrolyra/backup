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229" r:id="rId1"/>
  </p:sldMasterIdLst>
  <p:notesMasterIdLst>
    <p:notesMasterId r:id="rId5"/>
  </p:notesMasterIdLst>
  <p:handoutMasterIdLst>
    <p:handoutMasterId r:id="rId6"/>
  </p:handoutMasterIdLst>
  <p:sldIdLst>
    <p:sldId id="2147479705" r:id="rId2"/>
    <p:sldId id="2147479654" r:id="rId3"/>
    <p:sldId id="2147479683" r:id="rId4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clusion section" id="{2C0AA42D-E78E-478E-ACFA-B03EAC236D8E}">
          <p14:sldIdLst>
            <p14:sldId id="2147479705"/>
            <p14:sldId id="2147479654"/>
            <p14:sldId id="2147479683"/>
          </p14:sldIdLst>
        </p14:section>
      </p14:sectionLst>
    </p:ex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563" autoAdjust="0"/>
    <p:restoredTop sz="97341" autoAdjust="0"/>
  </p:normalViewPr>
  <p:slideViewPr>
    <p:cSldViewPr snapToGrid="0" showGuides="1">
      <p:cViewPr varScale="1">
        <p:scale>
          <a:sx n="114" d="100"/>
          <a:sy n="114" d="100"/>
        </p:scale>
        <p:origin x="1541" y="86"/>
      </p:cViewPr>
      <p:guideLst>
        <p:guide pos="4200"/>
        <p:guide orient="horz" pos="2160"/>
        <p:guide pos="5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11/6/2025 3:09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11/6/2025 3:08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Learn-with Head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14D4A-3D84-63D4-621C-F0146E953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BD062-242B-7C76-C2DD-D8D8F7B4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596763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C218158-577B-6E13-36F7-D124388AA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7714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Path2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E894E4-791C-907F-1385-BF33ADCFF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910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7064">
          <p15:clr>
            <a:srgbClr val="FBAE40"/>
          </p15:clr>
        </p15:guide>
        <p15:guide id="41" orient="horz" pos="36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4" r:id="rId1"/>
    <p:sldLayoutId id="2147484918" r:id="rId2"/>
    <p:sldLayoutId id="2147484919" r:id="rId3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" y="2831306"/>
            <a:ext cx="5686955" cy="1828800"/>
          </a:xfrm>
        </p:spPr>
        <p:txBody>
          <a:bodyPr/>
          <a:lstStyle/>
          <a:p>
            <a:r>
              <a:rPr lang="pt-BR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Introdução à </a:t>
            </a:r>
            <a:br>
              <a:rPr sz="4000" dirty="0"/>
            </a:br>
            <a:r>
              <a:rPr lang="pt-BR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infraestrutura de nuvem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2400"/>
          </a:xfrm>
        </p:spPr>
        <p:txBody>
          <a:bodyPr/>
          <a:lstStyle/>
          <a:p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9718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6"/>
            <a:ext cx="10430257" cy="426720"/>
          </a:xfrm>
        </p:spPr>
        <p:txBody>
          <a:bodyPr/>
          <a:lstStyle/>
          <a:p>
            <a:r>
              <a:rPr lang="pt-BR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Obrigado por participar deste curso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9624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Aqui estão alguns lembretes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7" y="2641600"/>
            <a:ext cx="336985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14843" y="2090899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/>
          <p:nvPr/>
        </p:nvSpPr>
        <p:spPr bwMode="auto">
          <a:xfrm>
            <a:off x="592138" y="3527093"/>
            <a:ext cx="3350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Celebre suas </a:t>
            </a:r>
            <a:br>
              <a:rPr sz="2000"/>
            </a:br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novas habilidades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</a:extLst>
          </p:cNvPr>
          <p:cNvSpPr txBox="1"/>
          <p:nvPr/>
        </p:nvSpPr>
        <p:spPr>
          <a:xfrm>
            <a:off x="1083155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Resgate sua conquista</a:t>
            </a:r>
          </a:p>
          <a:p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Compartilhe conosco e sua rede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4692" y="2641600"/>
            <a:ext cx="334924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13" y="2090899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/>
          <p:nvPr/>
        </p:nvSpPr>
        <p:spPr bwMode="auto">
          <a:xfrm>
            <a:off x="4404664" y="3527093"/>
            <a:ext cx="3350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Conte-nos </a:t>
            </a:r>
            <a:br>
              <a:rPr sz="2000"/>
            </a:br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sua opinião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</a:extLst>
          </p:cNvPr>
          <p:cNvSpPr txBox="1"/>
          <p:nvPr/>
        </p:nvSpPr>
        <p:spPr>
          <a:xfrm>
            <a:off x="488805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Envie-nos seus comentários</a:t>
            </a:r>
          </a:p>
          <a:p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 pesquisa será enviada por email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8435" y="2641600"/>
            <a:ext cx="3331428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8849" y="2090899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/>
          <p:nvPr/>
        </p:nvSpPr>
        <p:spPr bwMode="auto">
          <a:xfrm>
            <a:off x="8289746" y="3527094"/>
            <a:ext cx="3310116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Obtenha uma </a:t>
            </a:r>
            <a:br>
              <a:rPr sz="2000"/>
            </a:br>
            <a:r>
              <a:rPr lang="pt-BR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Certificação Microsoft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</a:extLst>
          </p:cNvPr>
          <p:cNvSpPr txBox="1"/>
          <p:nvPr/>
        </p:nvSpPr>
        <p:spPr>
          <a:xfrm>
            <a:off x="875309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Explore recursos adicionais para ajudar na preparação</a:t>
            </a:r>
          </a:p>
          <a:p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Agende seu exame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7FC6E-23C6-9140-6152-48A2508BD218}"/>
              </a:ext>
            </a:extLst>
          </p:cNvPr>
          <p:cNvSpPr txBox="1"/>
          <p:nvPr/>
        </p:nvSpPr>
        <p:spPr>
          <a:xfrm>
            <a:off x="672653" y="6070090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lang="en-US" sz="1846">
                <a:solidFill>
                  <a:srgbClr val="2A446F"/>
                </a:solidFill>
                <a:latin typeface="Segoe UI Symbol"/>
                <a:ea typeface="Segoe UI Symbol"/>
                <a:sym typeface="Segoe UI Symbol"/>
              </a:rPr>
              <a:t>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</a:extLst>
          </p:cNvPr>
          <p:cNvSpPr txBox="1"/>
          <p:nvPr/>
        </p:nvSpPr>
        <p:spPr>
          <a:xfrm>
            <a:off x="1078164" y="5956661"/>
            <a:ext cx="5816349" cy="505968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pt-BR" sz="1400" b="0" i="0" strike="noStrike" cap="none" baseline="0">
                <a:solidFill>
                  <a:srgbClr val="1A1A1A"/>
                </a:solidFill>
                <a:effectLst/>
                <a:latin typeface="Segoe UI"/>
                <a:ea typeface="Segoe UI"/>
                <a:cs typeface="Segoe UI"/>
              </a:rPr>
              <a:t>Use a hashtag nas redes sociais: </a:t>
            </a:r>
            <a:r>
              <a:rPr lang="pt-BR" sz="1400" b="1" i="0" strike="noStrike" cap="none" baseline="0">
                <a:solidFill>
                  <a:srgbClr val="702573"/>
                </a:solidFill>
                <a:effectLst/>
                <a:latin typeface="Segoe UI Semibold"/>
                <a:ea typeface="Segoe UI Semibold"/>
                <a:cs typeface="Segoe UI Semibold"/>
              </a:rPr>
              <a:t>#AlwaysLearning</a:t>
            </a:r>
            <a:endParaRPr lang="en-US" sz="1400">
              <a:solidFill>
                <a:schemeClr val="accent1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DBAF6B-4023-F57C-248B-3E2DF1B74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</p:spPr>
        <p:txBody>
          <a:bodyPr/>
          <a:lstStyle/>
          <a:p>
            <a:pPr algn="r"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</p:spTree>
    <p:extLst>
      <p:ext uri="{BB962C8B-B14F-4D97-AF65-F5344CB8AC3E}">
        <p14:creationId xmlns:p14="http://schemas.microsoft.com/office/powerpoint/2010/main" val="19943207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58C755EC-AC0C-9301-7D91-2576B857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O que poderia ser o próximo em sua jornada de aprendizagem?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735637DD-8A7C-AC37-DEAF-CB6C4BEDB4C0}"/>
              </a:ext>
            </a:extLst>
          </p:cNvPr>
          <p:cNvSpPr/>
          <p:nvPr/>
        </p:nvSpPr>
        <p:spPr>
          <a:xfrm>
            <a:off x="588262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r>
              <a:rPr lang="pt-BR" sz="1400" b="1" i="0" strike="noStrike" cap="none" baseline="0" dirty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Roteiro de aprendizagem 1:</a:t>
            </a:r>
          </a:p>
          <a:p>
            <a:pPr defTabSz="932742">
              <a:buSzPct val="90000"/>
              <a:defRPr/>
            </a:pPr>
            <a:r>
              <a:rPr lang="pt-BR" sz="1200" b="0" i="0" strike="noStrike" cap="none" baseline="0" dirty="0">
                <a:solidFill>
                  <a:srgbClr val="0078D4"/>
                </a:solidFill>
                <a:effectLst/>
                <a:latin typeface="Segoe UI"/>
                <a:ea typeface="Segoe UI"/>
                <a:cs typeface="Segoe UI"/>
              </a:rPr>
              <a:t>Conceitos básicos da IA do Microsoft Azure</a:t>
            </a:r>
          </a:p>
          <a:p>
            <a:pPr defTabSz="932742">
              <a:buSzPct val="90000"/>
              <a:defRPr/>
            </a:pPr>
            <a:endParaRPr lang="en-US" sz="1200" dirty="0">
              <a:solidFill>
                <a:srgbClr val="0078D4"/>
              </a:solidFill>
              <a:latin typeface="Segoe UI" pitchFamily="34" charset="0"/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Considerações e cargas de trabalho de IA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Princípios fundamentais do aprendizado de máquina no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Recursos de cargas de trabalho de pesquisa visual computacional no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Recursos de cargas de trabalho de Processamento de Linguagem Natural no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aka.ms/AI900</a:t>
            </a:r>
          </a:p>
        </p:txBody>
      </p:sp>
      <p:sp>
        <p:nvSpPr>
          <p:cNvPr id="10" name="Rounded Rectangle 3_1">
            <a:extLst>
              <a:ext uri="{FF2B5EF4-FFF2-40B4-BE49-F238E27FC236}">
                <a16:creationId xmlns:a16="http://schemas.microsoft.com/office/drawing/2014/main" id="{3CCFC4F9-3974-499E-DD1E-4E6F5CC5729D}"/>
              </a:ext>
            </a:extLst>
          </p:cNvPr>
          <p:cNvSpPr/>
          <p:nvPr/>
        </p:nvSpPr>
        <p:spPr>
          <a:xfrm>
            <a:off x="3289111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r>
              <a:rPr lang="pt-BR" sz="1400" b="1" i="0" strike="noStrike" cap="none" baseline="0" dirty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Roteiro de aprendizagem 2:</a:t>
            </a:r>
          </a:p>
          <a:p>
            <a:pPr defTabSz="932742">
              <a:buSzPct val="90000"/>
              <a:defRPr/>
            </a:pPr>
            <a:r>
              <a:rPr lang="pt-BR" sz="1200" b="0" i="0" strike="noStrike" cap="none" baseline="0" dirty="0">
                <a:solidFill>
                  <a:srgbClr val="0078D4"/>
                </a:solidFill>
                <a:effectLst/>
                <a:latin typeface="Segoe UI"/>
                <a:ea typeface="Segoe UI"/>
                <a:cs typeface="Segoe UI"/>
              </a:rPr>
              <a:t>Conceitos básicos de segurança, conformidade </a:t>
            </a:r>
            <a:br>
              <a:rPr lang="pt-BR" sz="1200" b="0" i="0" strike="noStrike" cap="none" baseline="0" dirty="0">
                <a:solidFill>
                  <a:srgbClr val="0078D4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200" b="0" i="0" strike="noStrike" cap="none" baseline="0" dirty="0">
                <a:solidFill>
                  <a:srgbClr val="0078D4"/>
                </a:solidFill>
                <a:effectLst/>
                <a:latin typeface="Segoe UI"/>
                <a:ea typeface="Segoe UI"/>
                <a:cs typeface="Segoe UI"/>
              </a:rPr>
              <a:t>e identidade da Microsoft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Conceitos de segurança, conformidade e identidade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Funcionalidades do Microsoft Azure Active Directory, parte do Microsoft Entra</a:t>
            </a:r>
            <a:endParaRPr lang="en-US" sz="11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Funcionalidades de soluções de segurança da Microsoft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Recursos de soluções de conformidade da Microsoft</a:t>
            </a:r>
          </a:p>
          <a:p>
            <a:pPr lvl="0" defTabSz="932742">
              <a:spcBef>
                <a:spcPct val="20000"/>
              </a:spcBef>
              <a:buSzPct val="90000"/>
              <a:defRPr/>
            </a:pPr>
            <a:endParaRPr lang="en-US" sz="11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aka.ms/SC900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F94E33C7-6787-8FE3-4F27-65AE5BFE602D}"/>
              </a:ext>
            </a:extLst>
          </p:cNvPr>
          <p:cNvSpPr/>
          <p:nvPr/>
        </p:nvSpPr>
        <p:spPr>
          <a:xfrm>
            <a:off x="5992415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r>
              <a:rPr lang="pt-BR" sz="1400" b="1" i="0" strike="noStrike" cap="none" baseline="0" dirty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Roteiro de aprendizagem 3:</a:t>
            </a:r>
          </a:p>
          <a:p>
            <a:pPr defTabSz="932742">
              <a:buSzPct val="90000"/>
              <a:defRPr/>
            </a:pPr>
            <a:r>
              <a:rPr lang="pt-BR" sz="1200" b="0" i="0" strike="noStrike" cap="none" baseline="0" dirty="0">
                <a:solidFill>
                  <a:srgbClr val="0078D4"/>
                </a:solidFill>
                <a:effectLst/>
                <a:latin typeface="Segoe UI"/>
                <a:ea typeface="Segoe UI"/>
                <a:cs typeface="Segoe UI"/>
              </a:rPr>
              <a:t>Conceitos básicos do Microsoft Azure Data</a:t>
            </a:r>
          </a:p>
          <a:p>
            <a:pPr defTabSz="932742">
              <a:buSzPct val="90000"/>
              <a:defRPr/>
            </a:pPr>
            <a:endParaRPr lang="en-US" sz="1200" dirty="0">
              <a:solidFill>
                <a:srgbClr val="0078D4"/>
              </a:solidFill>
              <a:latin typeface="Segoe UI" pitchFamily="34" charset="0"/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Principais conceitos de dados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Considerações sobre dados relacionais no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Considerações para trabalhar com dados não relacionais no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Cargas de trabalho de análise no Azure</a:t>
            </a:r>
          </a:p>
          <a:p>
            <a:pPr lvl="0" defTabSz="932742">
              <a:spcBef>
                <a:spcPct val="20000"/>
              </a:spcBef>
              <a:buSzPct val="90000"/>
              <a:defRPr/>
            </a:pPr>
            <a:endParaRPr lang="en-US" sz="11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aka.ms/DP900</a:t>
            </a:r>
          </a:p>
        </p:txBody>
      </p:sp>
      <p:sp>
        <p:nvSpPr>
          <p:cNvPr id="14" name="Rounded Rectangle 3_1">
            <a:extLst>
              <a:ext uri="{FF2B5EF4-FFF2-40B4-BE49-F238E27FC236}">
                <a16:creationId xmlns:a16="http://schemas.microsoft.com/office/drawing/2014/main" id="{3D0B7BA4-2B2D-CA37-D5CF-51CA173EA9F9}"/>
              </a:ext>
            </a:extLst>
          </p:cNvPr>
          <p:cNvSpPr/>
          <p:nvPr/>
        </p:nvSpPr>
        <p:spPr>
          <a:xfrm>
            <a:off x="8695719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r>
              <a:rPr lang="pt-BR" sz="1400" b="1" i="0" strike="noStrike" cap="none" baseline="0" dirty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Roteiro de aprendizagem 4:</a:t>
            </a:r>
          </a:p>
          <a:p>
            <a:pPr defTabSz="932742">
              <a:buSzPct val="90000"/>
              <a:defRPr/>
            </a:pPr>
            <a:r>
              <a:rPr lang="pt-BR" sz="1200" b="0" i="0" strike="noStrike" cap="none" baseline="0" dirty="0">
                <a:solidFill>
                  <a:srgbClr val="0078D4"/>
                </a:solidFill>
                <a:effectLst/>
                <a:latin typeface="Segoe UI"/>
                <a:ea typeface="Segoe UI"/>
                <a:cs typeface="Segoe UI"/>
              </a:rPr>
              <a:t>Administradores do Microsoft Azure</a:t>
            </a:r>
          </a:p>
          <a:p>
            <a:pPr defTabSz="932742">
              <a:buSzPct val="90000"/>
              <a:defRPr/>
            </a:pPr>
            <a:endParaRPr lang="en-US" sz="1200" dirty="0">
              <a:solidFill>
                <a:srgbClr val="0078D4"/>
              </a:solidFill>
              <a:latin typeface="Segoe UI" pitchFamily="34" charset="0"/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Gerenciar identidades </a:t>
            </a:r>
            <a:b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 governança do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Implementar e gerenciar </a:t>
            </a:r>
            <a:b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o armazenamento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implantar e gerenciar os recursos de computação do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Implementar e gerenciar redes virtuais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Monitorar e manter recursos do Azure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chemeClr val="tx1"/>
              </a:solidFill>
              <a:cs typeface="Segoe UI" pitchFamily="34" charset="0"/>
            </a:endParaRP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aka.ms/AZ104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74CA2B6-9C2C-0D93-EFE1-E44A882F7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5148541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1160"/>
  <p:tag name="AS_RELEASE_DATE" val="2023.06.30"/>
  <p:tag name="AS_TITLE" val="Aspose.Slides for Java"/>
  <p:tag name="AS_VERSION" val="23.6.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Segoe UI</vt:lpstr>
      <vt:lpstr>Segoe UI Light</vt:lpstr>
      <vt:lpstr>Segoe UI Semibold</vt:lpstr>
      <vt:lpstr>Segoe UI Symbol</vt:lpstr>
      <vt:lpstr>Wingdings</vt:lpstr>
      <vt:lpstr>LIGHT MODE</vt:lpstr>
      <vt:lpstr>Introdução à  infraestrutura de nuvem</vt:lpstr>
      <vt:lpstr>Obrigado por participar deste curso</vt:lpstr>
      <vt:lpstr>O que poderia ser o próximo em sua jornada de aprendizagem?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2023-10-03T15:04:37Z</dcterms:created>
  <dcterms:modified xsi:type="dcterms:W3CDTF">2025-11-06T08:09:50Z</dcterms:modified>
</cp:coreProperties>
</file>