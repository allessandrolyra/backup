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4229" r:id="rId1"/>
  </p:sldMasterIdLst>
  <p:notesMasterIdLst>
    <p:notesMasterId r:id="rId14"/>
  </p:notesMasterIdLst>
  <p:handoutMasterIdLst>
    <p:handoutMasterId r:id="rId15"/>
  </p:handoutMasterIdLst>
  <p:sldIdLst>
    <p:sldId id="2147479558" r:id="rId2"/>
    <p:sldId id="2147479557" r:id="rId3"/>
    <p:sldId id="2147479569" r:id="rId4"/>
    <p:sldId id="2147479572" r:id="rId5"/>
    <p:sldId id="2147479600" r:id="rId6"/>
    <p:sldId id="2147479651" r:id="rId7"/>
    <p:sldId id="2147479655" r:id="rId8"/>
    <p:sldId id="2147479648" r:id="rId9"/>
    <p:sldId id="2147479649" r:id="rId10"/>
    <p:sldId id="2147479607" r:id="rId11"/>
    <p:sldId id="2147479594" r:id="rId12"/>
    <p:sldId id="2147479653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 section" id="{B2D85E4D-CCFE-4F31-9774-AE528B9A42DB}">
          <p14:sldIdLst>
            <p14:sldId id="2147479558"/>
            <p14:sldId id="2147479557"/>
            <p14:sldId id="2147479569"/>
            <p14:sldId id="2147479572"/>
            <p14:sldId id="2147479600"/>
            <p14:sldId id="2147479651"/>
            <p14:sldId id="2147479655"/>
            <p14:sldId id="2147479648"/>
            <p14:sldId id="2147479649"/>
            <p14:sldId id="2147479607"/>
            <p14:sldId id="2147479594"/>
            <p14:sldId id="2147479653"/>
          </p14:sldIdLst>
        </p14:section>
      </p14:sectionLst>
    </p:ex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229" autoAdjust="0"/>
    <p:restoredTop sz="94660"/>
  </p:normalViewPr>
  <p:slideViewPr>
    <p:cSldViewPr snapToGrid="0">
      <p:cViewPr>
        <p:scale>
          <a:sx n="100" d="100"/>
          <a:sy n="100" d="100"/>
        </p:scale>
        <p:origin x="2054" y="374"/>
      </p:cViewPr>
      <p:guideLst>
        <p:guide pos="4200"/>
        <p:guide orient="horz" pos="2160"/>
        <p:guide pos="5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66B00-6144-45ED-BFDB-3936850BDA03}" type="datetime8">
              <a:rPr lang="en-US" smtClean="0">
                <a:latin typeface="Segoe UI" pitchFamily="34" charset="0"/>
              </a:rPr>
              <a:t>11/6/2025 3:11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61486BA7-839C-4D2B-BD52-EF0BBA8433FD}" type="datetime8">
              <a:rPr lang="en-US" smtClean="0"/>
              <a:t>11/6/2025 3:10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pt-BR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os direitos reservados. A MICROSOFT NÃO FORNECE NENHUMA GARANTIA EXPRESSA, IMPLÍCITA OU ESTATUÁRIA, EM RELAÇÃO ÀS INFORMAÇÕES PRESENTES NESTA APRESENTAÇÃO.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8AFE116-C913-47B9-A2FE-E7F4B9E58C38}" type="datetime8">
              <a:rPr lang="en-US" smtClean="0"/>
              <a:t>11/6/2025 3:12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4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E11D7A2-B01C-A8A3-A191-67F185635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271FB7A-72FC-2B10-878C-854A9CF5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/>
              <a:t>© Copyright Microsoft Corporation. All rights reserved.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A97520-4F48-BFDD-4B12-C6B9171BBB07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223228" y="2573202"/>
            <a:ext cx="5344642" cy="168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41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  <p15:guide id="8" orient="horz" pos="162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83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96966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endee-Intro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Placeholder 8" descr="Remote attendees participating in a Microsoft Teams Room (MTR) meeting while people in the conference room are viewing attendees in Gallery View on the front of room monitors​. ">
            <a:extLst>
              <a:ext uri="{FF2B5EF4-FFF2-40B4-BE49-F238E27FC236}">
                <a16:creationId xmlns:a16="http://schemas.microsoft.com/office/drawing/2014/main" id="{52246ABC-CD2B-AD84-9C67-DFE64BEAE9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01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89885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220598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009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AC9CC-CBA7-2165-37C5-00D2CAABA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863338" cy="37151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94A1388-BD3C-450C-8D99-7C21AEFDA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472665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Learn-with Head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294CE2C-953A-10B8-F580-7F93E4F1234F}"/>
              </a:ext>
            </a:extLst>
          </p:cNvPr>
          <p:cNvGrpSpPr/>
          <p:nvPr userDrawn="1"/>
        </p:nvGrpSpPr>
        <p:grpSpPr>
          <a:xfrm>
            <a:off x="0" y="0"/>
            <a:ext cx="12192001" cy="1289051"/>
            <a:chOff x="0" y="0"/>
            <a:chExt cx="12192001" cy="12890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080A99-448F-6067-0FC9-8A3F1093BB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125" b="79253"/>
            <a:stretch>
              <a:fillRect/>
            </a:stretch>
          </p:blipFill>
          <p:spPr>
            <a:xfrm>
              <a:off x="0" y="1"/>
              <a:ext cx="12192001" cy="128905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129612-B6F9-E264-C307-D22FBB0EACA2}"/>
                </a:ext>
              </a:extLst>
            </p:cNvPr>
            <p:cNvSpPr/>
            <p:nvPr userDrawn="1"/>
          </p:nvSpPr>
          <p:spPr bwMode="auto">
            <a:xfrm>
              <a:off x="7315200" y="0"/>
              <a:ext cx="1454150" cy="82550"/>
            </a:xfrm>
            <a:prstGeom prst="rect">
              <a:avLst/>
            </a:prstGeom>
            <a:solidFill>
              <a:srgbClr val="E8E6D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605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B6A3D4E9-A69B-36D6-0102-4B231B875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23169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36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 flipH="1"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 flipH="1"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 flipH="1"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 flipH="1"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 flipH="1"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 flipH="1"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 flipH="1"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 flipH="1"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 flipH="1"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 flipH="1"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0" r:id="rId1"/>
    <p:sldLayoutId id="2147484884" r:id="rId2"/>
    <p:sldLayoutId id="2147484867" r:id="rId3"/>
    <p:sldLayoutId id="2147484908" r:id="rId4"/>
    <p:sldLayoutId id="2147484909" r:id="rId5"/>
    <p:sldLayoutId id="2147484907" r:id="rId6"/>
    <p:sldLayoutId id="2147484905" r:id="rId7"/>
    <p:sldLayoutId id="2147484918" r:id="rId8"/>
    <p:sldLayoutId id="2147484919" r:id="rId9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600" kern="1200" spc="0" baseline="0">
          <a:solidFill>
            <a:schemeClr val="tx1"/>
          </a:solidFill>
          <a:latin typeface="+mn-lt"/>
          <a:ea typeface="+mn-ea"/>
          <a:cs typeface="Segoe UI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5A5A5"/>
          </p15:clr>
        </p15:guide>
        <p15:guide id="2" pos="7680" userDrawn="1">
          <p15:clr>
            <a:srgbClr val="A5A5A5"/>
          </p15:clr>
        </p15:guide>
        <p15:guide id="3" pos="186" userDrawn="1">
          <p15:clr>
            <a:srgbClr val="A5A5A5"/>
          </p15:clr>
        </p15:guide>
        <p15:guide id="26" pos="7496" userDrawn="1">
          <p15:clr>
            <a:srgbClr val="A5A5A5"/>
          </p15:clr>
        </p15:guide>
        <p15:guide id="27" orient="horz" userDrawn="1">
          <p15:clr>
            <a:srgbClr val="A5A5A5"/>
          </p15:clr>
        </p15:guide>
        <p15:guide id="28" orient="horz" pos="4320" userDrawn="1">
          <p15:clr>
            <a:srgbClr val="A5A5A5"/>
          </p15:clr>
        </p15:guide>
        <p15:guide id="29" orient="horz" pos="184" userDrawn="1">
          <p15:clr>
            <a:srgbClr val="A5A5A5"/>
          </p15:clr>
        </p15:guide>
        <p15:guide id="40" orient="horz" pos="4134" userDrawn="1">
          <p15:clr>
            <a:srgbClr val="A5A5A5"/>
          </p15:clr>
        </p15:guide>
        <p15:guide id="42" pos="365" userDrawn="1">
          <p15:clr>
            <a:srgbClr val="C35EA4"/>
          </p15:clr>
        </p15:guide>
        <p15:guide id="43" orient="horz" pos="367" userDrawn="1">
          <p15:clr>
            <a:srgbClr val="C35EA4"/>
          </p15:clr>
        </p15:guide>
        <p15:guide id="44" orient="horz" pos="3953" userDrawn="1">
          <p15:clr>
            <a:srgbClr val="C35EA4"/>
          </p15:clr>
        </p15:guide>
        <p15:guide id="45" pos="7307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users/lannateh-3810/collections/20qsoqj444gwd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://www.aka.ms/MyMicrosoftLearnProfile" TargetMode="External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learn.microsoft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learn.microsoft.com/training/courses/browse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www.aka.ms/MyMicrosoftLearnProfile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earn.microsoft.com/certification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home.pearsonvue.com/voc/2023-report" TargetMode="External"/><Relationship Id="rId4" Type="http://schemas.openxmlformats.org/officeDocument/2006/relationships/hyperlink" Target="https://aka.ms/RenewYourCert-ptb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44E6-CCD1-1211-F0F8-955B753B6CB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550863"/>
            <a:ext cx="10429875" cy="304800"/>
          </a:xfrm>
        </p:spPr>
        <p:txBody>
          <a:bodyPr/>
          <a:lstStyle/>
          <a:p>
            <a:r>
              <a:rPr lang="pt-BR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Slide de entrada</a:t>
            </a:r>
          </a:p>
        </p:txBody>
      </p:sp>
    </p:spTree>
    <p:extLst>
      <p:ext uri="{BB962C8B-B14F-4D97-AF65-F5344CB8AC3E}">
        <p14:creationId xmlns:p14="http://schemas.microsoft.com/office/powerpoint/2010/main" val="297716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2" y="3440906"/>
            <a:ext cx="6098743" cy="1219200"/>
          </a:xfrm>
        </p:spPr>
        <p:txBody>
          <a:bodyPr/>
          <a:lstStyle/>
          <a:p>
            <a:r>
              <a:rPr lang="pt-BR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Introdução à</a:t>
            </a:r>
            <a:br>
              <a:rPr lang="en-US" sz="4000" dirty="0"/>
            </a:br>
            <a:r>
              <a:rPr lang="pt-BR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infraestrutura de nuvem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A2BF8BC-EDED-61C2-562F-15FB955AD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4740F1-B816-6BEC-8362-3B8D251DF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6150" y="6446520"/>
            <a:ext cx="1645920" cy="152400"/>
          </a:xfrm>
        </p:spPr>
        <p:txBody>
          <a:bodyPr/>
          <a:lstStyle/>
          <a:p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06060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5B55108-207A-D9FF-AF4B-A304A5DE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585788"/>
            <a:ext cx="5748337" cy="365760"/>
          </a:xfrm>
        </p:spPr>
        <p:txBody>
          <a:bodyPr/>
          <a:lstStyle/>
          <a:p>
            <a:r>
              <a:rPr lang="pt-BR" sz="24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Olá!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553B6DE-CBCC-D805-6A97-2E9248B43F2C}"/>
              </a:ext>
            </a:extLst>
          </p:cNvPr>
          <p:cNvSpPr txBox="1"/>
          <p:nvPr/>
        </p:nvSpPr>
        <p:spPr>
          <a:xfrm>
            <a:off x="588963" y="1085850"/>
            <a:ext cx="63023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/>
            </a:pPr>
            <a:r>
              <a:rPr lang="pt-BR" sz="2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Obrigado por sua presença hoje</a:t>
            </a: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02A69FC5-E869-7938-B593-C7A42F844DCF}"/>
              </a:ext>
            </a:extLst>
          </p:cNvPr>
          <p:cNvSpPr/>
          <p:nvPr/>
        </p:nvSpPr>
        <p:spPr>
          <a:xfrm>
            <a:off x="584200" y="1871133"/>
            <a:ext cx="5969000" cy="3032449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Instrutor: </a:t>
            </a:r>
            <a:r>
              <a:rPr lang="pt-BR" sz="2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&lt;Name&gt;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&lt;Título ou outras credenciais, ex.: Microsoft Certified Trainer&gt;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&lt;Afiliação/Empresa&gt;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&lt;Algumas palavras sobre a minha experiência técnica e profissional&gt;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2AB5424-9D84-FAB9-4FA9-A13D7E3A190C}"/>
              </a:ext>
            </a:extLst>
          </p:cNvPr>
          <p:cNvSpPr txBox="1"/>
          <p:nvPr/>
        </p:nvSpPr>
        <p:spPr>
          <a:xfrm>
            <a:off x="927100" y="5161773"/>
            <a:ext cx="5314950" cy="81117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twitter.com/[Nome]</a:t>
            </a:r>
          </a:p>
          <a:p>
            <a:pPr marL="0" indent="0">
              <a:buNone/>
            </a:pPr>
            <a:r>
              <a:rPr lang="pt-BR" sz="12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linkedin.com/[Nome]</a:t>
            </a:r>
          </a:p>
          <a:p>
            <a:pPr marL="0" indent="0">
              <a:buNone/>
            </a:pPr>
            <a:r>
              <a:rPr lang="pt-BR" sz="12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[nome.sobrenome]@[email.com]</a:t>
            </a:r>
          </a:p>
          <a:p>
            <a:pPr marL="0" indent="0">
              <a:buNone/>
            </a:pPr>
            <a:r>
              <a:rPr lang="pt-BR" sz="12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Blog </a:t>
            </a:r>
          </a:p>
          <a:p>
            <a:pPr marL="0" indent="0">
              <a:buNone/>
            </a:pPr>
            <a:endParaRPr lang="en-US" sz="1200"/>
          </a:p>
        </p:txBody>
      </p:sp>
      <p:sp>
        <p:nvSpPr>
          <p:cNvPr id="14" name="Picture Placeholder 13" descr="Instructor image">
            <a:extLst>
              <a:ext uri="{FF2B5EF4-FFF2-40B4-BE49-F238E27FC236}">
                <a16:creationId xmlns:a16="http://schemas.microsoft.com/office/drawing/2014/main" id="{51EC8343-A368-A017-1348-13DC442E08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32C35C5-B9CD-B676-7227-712C7E305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D2AF726-9685-6A2E-1457-0AD5F7CF8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753862B-FC4F-2412-F837-F9D1DF1A0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FE7F6BB-5DFF-B8FF-882B-C3E2A0792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5CABB87-DAAF-A526-A471-745B2114F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A04444-CE05-A52A-28B6-14B2DF4BF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2EB63-491C-85C2-F489-E7594D45B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  <p:sp>
        <p:nvSpPr>
          <p:cNvPr id="2" name="Flowchart: Off-page Connector 44">
            <a:extLst>
              <a:ext uri="{FF2B5EF4-FFF2-40B4-BE49-F238E27FC236}">
                <a16:creationId xmlns:a16="http://schemas.microsoft.com/office/drawing/2014/main" id="{1BAF25FE-7F5F-504D-B664-8B11FB8CE840}"/>
              </a:ext>
            </a:extLst>
          </p:cNvPr>
          <p:cNvSpPr/>
          <p:nvPr/>
        </p:nvSpPr>
        <p:spPr bwMode="auto">
          <a:xfrm rot="5400000">
            <a:off x="9473183" y="-558292"/>
            <a:ext cx="1865376" cy="3566160"/>
          </a:xfrm>
          <a:prstGeom prst="flowChartOffpageConnector">
            <a:avLst/>
          </a:prstGeom>
          <a:solidFill>
            <a:srgbClr val="091F2C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pt-BR" sz="15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Treinadores: </a:t>
            </a:r>
            <a:endParaRPr lang="en-US" sz="1100" b="1" dirty="0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pt-BR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Personalize este conteúdo com suas informações, imagem </a:t>
            </a:r>
            <a:br>
              <a:rPr lang="pt-BR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pt-BR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e plano de fundo. Exclua esta observação antes da publicação.</a:t>
            </a:r>
          </a:p>
        </p:txBody>
      </p:sp>
    </p:spTree>
    <p:extLst>
      <p:ext uri="{BB962C8B-B14F-4D97-AF65-F5344CB8AC3E}">
        <p14:creationId xmlns:p14="http://schemas.microsoft.com/office/powerpoint/2010/main" val="301540372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4226-15FB-8407-4AAF-26919D886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69332"/>
          </a:xfrm>
        </p:spPr>
        <p:txBody>
          <a:bodyPr/>
          <a:lstStyle/>
          <a:p>
            <a:r>
              <a:rPr lang="pt-BR" sz="24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Vamos nos conhecer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47394-57D0-11C7-6AE6-6A34F2358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E7DBE02-710B-EABC-6AFC-4BC12CF16267}"/>
              </a:ext>
            </a:extLst>
          </p:cNvPr>
          <p:cNvSpPr/>
          <p:nvPr/>
        </p:nvSpPr>
        <p:spPr>
          <a:xfrm>
            <a:off x="584200" y="2048933"/>
            <a:ext cx="4910667" cy="3888317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Seu nome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Afiliação da empresa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Cargo/função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Sua experiência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Suas expectativas sobre o curso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56536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58C755EC-AC0C-9301-7D91-2576B857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Vamos nos divertir juntos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BF5F6-29D0-B236-53FC-489F721E8B80}"/>
              </a:ext>
            </a:extLst>
          </p:cNvPr>
          <p:cNvSpPr txBox="1"/>
          <p:nvPr/>
        </p:nvSpPr>
        <p:spPr>
          <a:xfrm>
            <a:off x="817055" y="1556068"/>
            <a:ext cx="3676157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1600" b="1" i="0" strike="noStrike" cap="none" baseline="0" dirty="0">
                <a:solidFill>
                  <a:srgbClr val="0078D4"/>
                </a:solidFill>
                <a:effectLst/>
                <a:latin typeface="Segoe UI Semibold"/>
                <a:ea typeface="Segoe UI Semibold"/>
                <a:cs typeface="Segoe UI Semibold"/>
              </a:rPr>
              <a:t>Todos nós contribuímos para uma ótima aula</a:t>
            </a: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C6B9F38D-336E-8D63-061E-F4C05B7FD639}"/>
              </a:ext>
            </a:extLst>
          </p:cNvPr>
          <p:cNvSpPr/>
          <p:nvPr/>
        </p:nvSpPr>
        <p:spPr>
          <a:xfrm>
            <a:off x="585808" y="2148199"/>
            <a:ext cx="4942288" cy="3827151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Este espaço reservado foi projetado com texto com marcadores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É fácil remover ou adicionar marcadores 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Chegue no horário (horários de aula)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Esteja presente (evite emails, chamadas, reuniões secundárias)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34F1B33-E3A8-4CC1-310D-CD6A36507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81055" y="1601290"/>
            <a:ext cx="1110600" cy="1110600"/>
            <a:chOff x="9378893" y="2116300"/>
            <a:chExt cx="1110600" cy="11106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DC215CC-252B-AC70-BF00-8CB7AF83F42D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AC0EFFE-36D9-4A72-1918-09CCD4854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EAF08C-426A-06BB-D908-6B660126BC80}"/>
              </a:ext>
            </a:extLst>
          </p:cNvPr>
          <p:cNvSpPr txBox="1"/>
          <p:nvPr/>
        </p:nvSpPr>
        <p:spPr>
          <a:xfrm>
            <a:off x="6839610" y="1556068"/>
            <a:ext cx="2395830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1600" b="1" i="0" strike="noStrike" cap="none" baseline="0" dirty="0">
                <a:solidFill>
                  <a:srgbClr val="0078D4"/>
                </a:solidFill>
                <a:effectLst/>
                <a:latin typeface="Segoe UI Semibold"/>
                <a:ea typeface="Segoe UI Semibold"/>
                <a:cs typeface="Segoe UI Semibold"/>
              </a:rPr>
              <a:t>O que você deve saber sobre nossas instalações</a:t>
            </a:r>
          </a:p>
        </p:txBody>
      </p:sp>
      <p:sp>
        <p:nvSpPr>
          <p:cNvPr id="9" name="Rounded Rectangle 3_1">
            <a:extLst>
              <a:ext uri="{FF2B5EF4-FFF2-40B4-BE49-F238E27FC236}">
                <a16:creationId xmlns:a16="http://schemas.microsoft.com/office/drawing/2014/main" id="{6B943E88-6F61-C13A-1F54-27D8B885A30A}"/>
              </a:ext>
            </a:extLst>
          </p:cNvPr>
          <p:cNvSpPr/>
          <p:nvPr/>
        </p:nvSpPr>
        <p:spPr>
          <a:xfrm>
            <a:off x="6608363" y="2148199"/>
            <a:ext cx="4942288" cy="3827151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Este espaço reservado foi projetado com texto com marcadores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Esta seção pode ser removida se a aula for online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Adaptações 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Acesso à Internet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Estacionamento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Banheiros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Emergência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B0047E5-B518-C13B-8353-666E00610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03610" y="1601290"/>
            <a:ext cx="1110600" cy="1110600"/>
            <a:chOff x="10903610" y="1601290"/>
            <a:chExt cx="1110600" cy="11106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5B736C2-1C90-8A49-E734-868EE7F38A90}"/>
                </a:ext>
              </a:extLst>
            </p:cNvPr>
            <p:cNvSpPr/>
            <p:nvPr/>
          </p:nvSpPr>
          <p:spPr>
            <a:xfrm>
              <a:off x="10903610" y="160129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0F55B0A-C385-DFFB-4C51-DD4F3316F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12512" y="181019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87129-3E98-A309-ECAE-E0EF1D6CC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  <p:sp>
        <p:nvSpPr>
          <p:cNvPr id="11" name="Flowchart: Off-page Connector 44">
            <a:extLst>
              <a:ext uri="{FF2B5EF4-FFF2-40B4-BE49-F238E27FC236}">
                <a16:creationId xmlns:a16="http://schemas.microsoft.com/office/drawing/2014/main" id="{943C345B-D210-3CB5-16C1-AB12814BBEA2}"/>
              </a:ext>
            </a:extLst>
          </p:cNvPr>
          <p:cNvSpPr/>
          <p:nvPr/>
        </p:nvSpPr>
        <p:spPr bwMode="auto">
          <a:xfrm rot="5400000">
            <a:off x="9473183" y="-704596"/>
            <a:ext cx="1865376" cy="3566160"/>
          </a:xfrm>
          <a:prstGeom prst="flowChartOffpageConnector">
            <a:avLst/>
          </a:prstGeom>
          <a:solidFill>
            <a:srgbClr val="091F2C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pt-BR" sz="15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Treinadores: </a:t>
            </a:r>
            <a:endParaRPr lang="en-US" sz="1100" b="1" dirty="0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pt-BR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Personalize este slide para </a:t>
            </a:r>
            <a:br>
              <a:rPr lang="pt-BR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pt-BR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o curso. Exclua esta observação antes da publicação.</a:t>
            </a:r>
          </a:p>
        </p:txBody>
      </p:sp>
    </p:spTree>
    <p:extLst>
      <p:ext uri="{BB962C8B-B14F-4D97-AF65-F5344CB8AC3E}">
        <p14:creationId xmlns:p14="http://schemas.microsoft.com/office/powerpoint/2010/main" val="91256370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107B-9C8D-E0E4-10D6-02E35D83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Sobre o curso</a:t>
            </a:r>
          </a:p>
        </p:txBody>
      </p:sp>
      <p:sp>
        <p:nvSpPr>
          <p:cNvPr id="15" name="Rounded Rectangle 3_1">
            <a:extLst>
              <a:ext uri="{FF2B5EF4-FFF2-40B4-BE49-F238E27FC236}">
                <a16:creationId xmlns:a16="http://schemas.microsoft.com/office/drawing/2014/main" id="{C30E3F23-57C3-CEE2-DD2F-E66B72B8F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262" y="1168400"/>
            <a:ext cx="11011600" cy="2378955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 w="10795" cap="flat" cmpd="sng" algn="ctr">
            <a:noFill/>
            <a:prstDash val="solid"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069EA8-1883-9482-758E-F5D0C58727C0}"/>
              </a:ext>
            </a:extLst>
          </p:cNvPr>
          <p:cNvSpPr/>
          <p:nvPr/>
        </p:nvSpPr>
        <p:spPr bwMode="auto">
          <a:xfrm>
            <a:off x="736601" y="1334807"/>
            <a:ext cx="10739119" cy="415993"/>
          </a:xfrm>
          <a:prstGeom prst="roundRect">
            <a:avLst>
              <a:gd name="adj" fmla="val 15951"/>
            </a:avLst>
          </a:prstGeom>
          <a:solidFill>
            <a:srgbClr val="2A446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None/>
              <a:defRPr/>
            </a:pPr>
            <a:r>
              <a:rPr lang="pt-BR" sz="1600" b="0" i="0" strike="noStrike" cap="none" baseline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O que tem neste curso?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15275E9-F296-1E2D-E2D3-6BAE1C5EFAAF}"/>
              </a:ext>
            </a:extLst>
          </p:cNvPr>
          <p:cNvSpPr txBox="1"/>
          <p:nvPr/>
        </p:nvSpPr>
        <p:spPr>
          <a:xfrm>
            <a:off x="930275" y="2014126"/>
            <a:ext cx="5045047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Este curso abrange conhecimentos básicos sobre conceitos de nuvem, principais arquiteturas e serviços do Azure e gerenciamento e governança do Azure.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94094BB-953A-32D0-6B9C-224ED942F9DC}"/>
              </a:ext>
            </a:extLst>
          </p:cNvPr>
          <p:cNvSpPr txBox="1"/>
          <p:nvPr/>
        </p:nvSpPr>
        <p:spPr>
          <a:xfrm>
            <a:off x="6293374" y="2014126"/>
            <a:ext cx="5015648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Este curso está alinhado com o </a:t>
            </a:r>
            <a:r>
              <a:rPr lang="pt-BR" sz="1600" b="1" i="0" strike="noStrike" cap="none" baseline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Microsoft Certified: </a:t>
            </a:r>
            <a:r>
              <a:rPr lang="pt-BR" sz="1600" b="0" i="0" strike="noStrike" cap="none" baseline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Certificação </a:t>
            </a:r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Azure Fundamentals.</a:t>
            </a:r>
            <a:endParaRPr lang="en-US"/>
          </a:p>
        </p:txBody>
      </p:sp>
      <p:sp>
        <p:nvSpPr>
          <p:cNvPr id="20" name="Rounded Rectangle 3_1">
            <a:extLst>
              <a:ext uri="{FF2B5EF4-FFF2-40B4-BE49-F238E27FC236}">
                <a16:creationId xmlns:a16="http://schemas.microsoft.com/office/drawing/2014/main" id="{1D06749D-C277-67CB-CDE9-258A140C7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262" y="3715839"/>
            <a:ext cx="11011600" cy="2378955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 w="10795" cap="flat" cmpd="sng" algn="ctr">
            <a:noFill/>
            <a:prstDash val="solid"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825D71-3CBA-C279-EE28-D3A5995A57C0}"/>
              </a:ext>
            </a:extLst>
          </p:cNvPr>
          <p:cNvSpPr/>
          <p:nvPr/>
        </p:nvSpPr>
        <p:spPr bwMode="auto">
          <a:xfrm>
            <a:off x="736601" y="3882246"/>
            <a:ext cx="10739119" cy="415993"/>
          </a:xfrm>
          <a:prstGeom prst="roundRect">
            <a:avLst>
              <a:gd name="adj" fmla="val 15951"/>
            </a:avLst>
          </a:prstGeom>
          <a:solidFill>
            <a:srgbClr val="2A446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None/>
              <a:defRPr/>
            </a:pPr>
            <a:r>
              <a:rPr lang="pt-BR" sz="1600" b="0" i="0" strike="noStrike" cap="none" baseline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A quem se destina este curso?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44A9E3C-71E4-FC1C-7854-91A32D02A5CB}"/>
              </a:ext>
            </a:extLst>
          </p:cNvPr>
          <p:cNvSpPr txBox="1"/>
          <p:nvPr/>
        </p:nvSpPr>
        <p:spPr>
          <a:xfrm>
            <a:off x="930275" y="4561565"/>
            <a:ext cx="5045047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Este curso destina-se a alunos iniciantes em nuvem que desejam entender melhor a tecnologia de nuvem e o que o Microsoft Azure oferece.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77270AB8-BA03-6C64-95E0-060D8A538269}"/>
              </a:ext>
            </a:extLst>
          </p:cNvPr>
          <p:cNvSpPr txBox="1"/>
          <p:nvPr/>
        </p:nvSpPr>
        <p:spPr>
          <a:xfrm>
            <a:off x="6293374" y="4561565"/>
            <a:ext cx="5015648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Recomenda-se ter experiência em TI para aproveitar ao máximo este curso.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DB93D-1EC9-595D-92A7-994F4EA5A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</p:spTree>
    <p:extLst>
      <p:ext uri="{BB962C8B-B14F-4D97-AF65-F5344CB8AC3E}">
        <p14:creationId xmlns:p14="http://schemas.microsoft.com/office/powerpoint/2010/main" val="173645546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107B-9C8D-E0E4-10D6-02E35D83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Programação do curso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8BB8F-7CC0-EDB6-33FC-6C0DF6FAC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  <p:sp>
        <p:nvSpPr>
          <p:cNvPr id="4" name="Rounded Rectangle 3_1">
            <a:extLst>
              <a:ext uri="{FF2B5EF4-FFF2-40B4-BE49-F238E27FC236}">
                <a16:creationId xmlns:a16="http://schemas.microsoft.com/office/drawing/2014/main" id="{F9F46C76-F9B5-765C-6D1B-DC84C38C8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262" y="1071842"/>
            <a:ext cx="10638538" cy="4719358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07AD97-0229-E16C-8A52-E00FE0922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36602" y="1238249"/>
            <a:ext cx="10375898" cy="342901"/>
          </a:xfrm>
          <a:prstGeom prst="roundRect">
            <a:avLst>
              <a:gd name="adj" fmla="val 15951"/>
            </a:avLst>
          </a:prstGeom>
          <a:solidFill>
            <a:srgbClr val="2A446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7FA263BB-FFFE-F83A-4C20-23E03F817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118772"/>
              </p:ext>
            </p:extLst>
          </p:nvPr>
        </p:nvGraphicFramePr>
        <p:xfrm>
          <a:off x="736600" y="1238250"/>
          <a:ext cx="10375899" cy="4541191"/>
        </p:xfrm>
        <a:graphic>
          <a:graphicData uri="http://schemas.openxmlformats.org/drawingml/2006/table">
            <a:tbl>
              <a:tblPr firstRow="1" bandRow="1"/>
              <a:tblGrid>
                <a:gridCol w="1497695">
                  <a:extLst>
                    <a:ext uri="{9D8B030D-6E8A-4147-A177-3AD203B41FA5}">
                      <a16:colId xmlns:a16="http://schemas.microsoft.com/office/drawing/2014/main" val="4041653763"/>
                    </a:ext>
                  </a:extLst>
                </a:gridCol>
                <a:gridCol w="2219551">
                  <a:extLst>
                    <a:ext uri="{9D8B030D-6E8A-4147-A177-3AD203B41FA5}">
                      <a16:colId xmlns:a16="http://schemas.microsoft.com/office/drawing/2014/main" val="3053328036"/>
                    </a:ext>
                  </a:extLst>
                </a:gridCol>
                <a:gridCol w="2219551">
                  <a:extLst>
                    <a:ext uri="{9D8B030D-6E8A-4147-A177-3AD203B41FA5}">
                      <a16:colId xmlns:a16="http://schemas.microsoft.com/office/drawing/2014/main" val="2794884741"/>
                    </a:ext>
                  </a:extLst>
                </a:gridCol>
                <a:gridCol w="2219551">
                  <a:extLst>
                    <a:ext uri="{9D8B030D-6E8A-4147-A177-3AD203B41FA5}">
                      <a16:colId xmlns:a16="http://schemas.microsoft.com/office/drawing/2014/main" val="1216412027"/>
                    </a:ext>
                  </a:extLst>
                </a:gridCol>
                <a:gridCol w="2219551">
                  <a:extLst>
                    <a:ext uri="{9D8B030D-6E8A-4147-A177-3AD203B41FA5}">
                      <a16:colId xmlns:a16="http://schemas.microsoft.com/office/drawing/2014/main" val="3076119136"/>
                    </a:ext>
                  </a:extLst>
                </a:gridCol>
              </a:tblGrid>
              <a:tr h="293815">
                <a:tc>
                  <a:txBody>
                    <a:bodyPr/>
                    <a:lstStyle/>
                    <a:p>
                      <a:endParaRPr lang="en-US" sz="1200" b="1" kern="1200">
                        <a:solidFill>
                          <a:schemeClr val="bg1"/>
                        </a:solidFill>
                        <a:latin typeface="Segoe UI Semibold" panose="020B0502040204020203" pitchFamily="34" charset="0"/>
                        <a:ea typeface="+mn-ea"/>
                        <a:cs typeface="Segoe UI Semibold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i="0" strike="noStrike" cap="none" baseline="0">
                          <a:solidFill>
                            <a:srgbClr val="FFFFFF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Dia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i="0" strike="noStrike" cap="none" baseline="0">
                          <a:solidFill>
                            <a:srgbClr val="FFFFFF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Dia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i="0" strike="noStrike" cap="none" baseline="0">
                          <a:solidFill>
                            <a:srgbClr val="FFFFFF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Dia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i="0" strike="noStrike" cap="none" baseline="0">
                          <a:solidFill>
                            <a:srgbClr val="FFFFFF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Dia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888734"/>
                  </a:ext>
                </a:extLst>
              </a:tr>
              <a:tr h="813518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1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Início da manhã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0583" marR="4233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83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0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Descrição do tópico curta. Lorem ipsum dolor sit amet, consectetur adipiscing elit, sed do eiusmod tempor incididunt ut labore et dolore magna aliqua.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en-US" sz="1000" b="0" i="0" u="none" strike="noStrike">
                        <a:solidFill>
                          <a:srgbClr val="0078D4"/>
                        </a:solidFill>
                        <a:effectLst/>
                        <a:latin typeface="+mn-lt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en-US" sz="1000" b="0" i="0" u="none" strike="noStrike">
                        <a:solidFill>
                          <a:srgbClr val="0078D4"/>
                        </a:solidFill>
                        <a:effectLst/>
                        <a:latin typeface="+mn-lt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en-US" sz="1000" b="0" i="0" u="none" strike="noStrike">
                        <a:solidFill>
                          <a:srgbClr val="0078D4"/>
                        </a:solidFill>
                        <a:effectLst/>
                        <a:latin typeface="+mn-lt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015222"/>
                  </a:ext>
                </a:extLst>
              </a:tr>
              <a:tr h="277872"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i="0" strike="noStrike" cap="none" baseline="0">
                          <a:solidFill>
                            <a:srgbClr val="091F2E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Intervalo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02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613195"/>
                  </a:ext>
                </a:extLst>
              </a:tr>
              <a:tr h="813518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1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Final da manhã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0583" marR="4233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83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0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Descrição do tópico curta. Lorem ipsum dolor sit amet, consectetur adipiscing elit, sed do eiusmod tempor incididunt ut labore et dolore magna aliqua.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540036"/>
                  </a:ext>
                </a:extLst>
              </a:tr>
              <a:tr h="277872"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i="0" strike="noStrike" cap="none" baseline="0">
                          <a:solidFill>
                            <a:srgbClr val="091F2E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Almoço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02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926652"/>
                  </a:ext>
                </a:extLst>
              </a:tr>
              <a:tr h="813518"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1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Início da tarde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583" marR="4233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83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0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Descrição do tópico curta. Lorem ipsum dolor sit amet, consectetur adipiscing elit, sed do eiusmod tempor incididunt ut labore et dolore magna aliqua.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717511"/>
                  </a:ext>
                </a:extLst>
              </a:tr>
              <a:tr h="277872"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i="0" strike="noStrike" cap="none" baseline="0">
                          <a:solidFill>
                            <a:srgbClr val="091F2E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Intervalo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02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8825"/>
                  </a:ext>
                </a:extLst>
              </a:tr>
              <a:tr h="813518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1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Final da tarde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0583" marR="4233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83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0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Descrição do tópico curta. Lorem ipsum dolor sit amet, consectetur adipiscing elit, sed do eiusmod tempor incididunt ut labore et dolore magna.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en-US" sz="1000" b="0" u="none" strike="noStrike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2959"/>
                  </a:ext>
                </a:extLst>
              </a:tr>
            </a:tbl>
          </a:graphicData>
        </a:graphic>
      </p:graphicFrame>
      <p:sp>
        <p:nvSpPr>
          <p:cNvPr id="10" name="Flowchart: Off-page Connector 44">
            <a:extLst>
              <a:ext uri="{FF2B5EF4-FFF2-40B4-BE49-F238E27FC236}">
                <a16:creationId xmlns:a16="http://schemas.microsoft.com/office/drawing/2014/main" id="{53715EDD-8A32-2DC7-ABC2-FA52FB6836D2}"/>
              </a:ext>
            </a:extLst>
          </p:cNvPr>
          <p:cNvSpPr/>
          <p:nvPr/>
        </p:nvSpPr>
        <p:spPr bwMode="auto">
          <a:xfrm rot="5400000">
            <a:off x="9473183" y="-558292"/>
            <a:ext cx="1865376" cy="3566160"/>
          </a:xfrm>
          <a:prstGeom prst="flowChartOffpageConnector">
            <a:avLst/>
          </a:prstGeom>
          <a:solidFill>
            <a:srgbClr val="091F2C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pt-BR" sz="1500" b="1" i="0" strike="noStrike" cap="none" baseline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Treinadores: </a:t>
            </a:r>
            <a:endParaRPr lang="en-US" sz="1100" b="1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pt-BR" sz="1100" b="0" i="0" strike="noStrike" cap="none" baseline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Localize o agendamento proposto no Guia de Preparação do Treinador (PDF) e personalizado, se necessário. Exclua esta observação antes da publicação.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43996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EC5683A2-2179-3E79-6645-D011C29A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507738" cy="853440"/>
          </a:xfrm>
        </p:spPr>
        <p:txBody>
          <a:bodyPr/>
          <a:lstStyle/>
          <a:p>
            <a:pPr marL="0" marR="0" lvl="0" indent="0" fontAlgn="auto">
              <a:spcAft>
                <a:spcPct val="0"/>
              </a:spcAft>
              <a:defRPr/>
            </a:pPr>
            <a:r>
              <a:rPr lang="pt-BR" sz="28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Obtenha o máximo de seu perfil do Microsoft Learn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1561EF4-D3D7-16D6-06AC-E0E8E0EE810E}"/>
              </a:ext>
            </a:extLst>
          </p:cNvPr>
          <p:cNvSpPr txBox="1"/>
          <p:nvPr/>
        </p:nvSpPr>
        <p:spPr>
          <a:xfrm>
            <a:off x="582348" y="1759165"/>
            <a:ext cx="5280570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/>
            </a:pPr>
            <a:r>
              <a:rPr lang="pt-BR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Verifique, acompanhe e compartilhe seu progresso </a:t>
            </a:r>
            <a:br>
              <a:rPr lang="pt-BR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pt-BR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 realizações de treinamento e certificação – </a:t>
            </a:r>
            <a:r>
              <a:rPr lang="pt-BR" sz="1800" b="0" i="1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tudo em uma plataforma</a:t>
            </a:r>
          </a:p>
        </p:txBody>
      </p:sp>
      <p:sp>
        <p:nvSpPr>
          <p:cNvPr id="20" name="Text Placeholder 61">
            <a:extLst>
              <a:ext uri="{FF2B5EF4-FFF2-40B4-BE49-F238E27FC236}">
                <a16:creationId xmlns:a16="http://schemas.microsoft.com/office/drawing/2014/main" id="{D49F25EC-A170-C832-AE24-EB03D8AF0995}"/>
              </a:ext>
            </a:extLst>
          </p:cNvPr>
          <p:cNvSpPr txBox="1"/>
          <p:nvPr/>
        </p:nvSpPr>
        <p:spPr>
          <a:xfrm>
            <a:off x="586389" y="2809060"/>
            <a:ext cx="5373085" cy="241296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Reivindique seu código de conquista para este curso e compartilhe que você o concluiu.</a:t>
            </a:r>
          </a:p>
          <a:p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Acesse o material do curso e acompanhe o progresso em suas atividades de aprendizagem.</a:t>
            </a:r>
          </a:p>
          <a:p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Compartilhe e verifique suas Certificações da Microsoft por email, em plataformas de rede social e no currículo.</a:t>
            </a:r>
          </a:p>
          <a:p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Baixe e imprima transcrições e certificados.</a:t>
            </a:r>
          </a:p>
          <a:p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Gerencie suas atividades futuras e compromissos de exame de certificação.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70ABBD99-35D1-F53B-C2EF-D0E437DC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13" y="5435139"/>
            <a:ext cx="4464280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7" name="Text Placeholder 13">
            <a:extLst>
              <a:ext uri="{FF2B5EF4-FFF2-40B4-BE49-F238E27FC236}">
                <a16:creationId xmlns:a16="http://schemas.microsoft.com/office/drawing/2014/main" id="{1902BDB0-F449-F635-7020-1B2246BBEAEC}"/>
              </a:ext>
            </a:extLst>
          </p:cNvPr>
          <p:cNvSpPr txBox="1"/>
          <p:nvPr/>
        </p:nvSpPr>
        <p:spPr>
          <a:xfrm>
            <a:off x="584200" y="5591889"/>
            <a:ext cx="3930650" cy="246221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pt-BR" sz="1600" b="0" i="0" strike="noStrike" cap="none" baseline="0" dirty="0">
                <a:solidFill>
                  <a:schemeClr val="bg1"/>
                </a:solidFill>
                <a:effectLst/>
                <a:latin typeface="Segoe UI Semibold"/>
                <a:ea typeface="Segoe UI Semibold"/>
                <a:cs typeface="Segoe UI Semibold"/>
                <a:hlinkClick r:id="rId3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www.aka.ms/MyMicrosoftLearnProfile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CAD44BD2-B747-01D0-8FB4-522B662FE479}"/>
              </a:ext>
            </a:extLst>
          </p:cNvPr>
          <p:cNvSpPr txBox="1"/>
          <p:nvPr/>
        </p:nvSpPr>
        <p:spPr>
          <a:xfrm>
            <a:off x="7456697" y="808435"/>
            <a:ext cx="4337207" cy="448031"/>
          </a:xfrm>
          <a:prstGeom prst="rect">
            <a:avLst/>
          </a:prstGeom>
        </p:spPr>
        <p:txBody>
          <a:bodyPr anchor="ctr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Crie seu perfil do Microsoft Learn </a:t>
            </a:r>
            <a:br>
              <a:rPr sz="1600"/>
            </a:br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em </a:t>
            </a:r>
            <a:r>
              <a:rPr lang="pt-BR" sz="1600" b="0" i="0" strike="noStrike" cap="none" baseline="0">
                <a:solidFill>
                  <a:srgbClr val="2A446F"/>
                </a:solidFill>
                <a:effectLst/>
                <a:latin typeface="Segoe UI Semibold"/>
                <a:ea typeface="Segoe UI Semibold"/>
                <a:cs typeface="Segoe UI Semibold"/>
                <a:hlinkClick r:id="rId4" history="0"/>
              </a:rPr>
              <a:t>learn.microsoft.com</a:t>
            </a:r>
            <a:endParaRPr lang="en-US">
              <a:solidFill>
                <a:srgbClr val="2A446F"/>
              </a:solidFill>
              <a:latin typeface="+mj-lt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A6EE8B-E7DC-E3A5-0383-CA443F74FCEE}"/>
              </a:ext>
            </a:extLst>
          </p:cNvPr>
          <p:cNvSpPr txBox="1"/>
          <p:nvPr/>
        </p:nvSpPr>
        <p:spPr>
          <a:xfrm>
            <a:off x="7562323" y="1407733"/>
            <a:ext cx="3672695" cy="1034802"/>
          </a:xfrm>
          <a:prstGeom prst="rect">
            <a:avLst/>
          </a:prstGeom>
        </p:spPr>
        <p:txBody>
          <a:bodyPr l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Selecione </a:t>
            </a:r>
            <a:r>
              <a:rPr lang="pt-BR" sz="1100" b="0" i="1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Entrar </a:t>
            </a: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no</a:t>
            </a:r>
            <a:r>
              <a:rPr lang="pt-BR" sz="1100" b="0" i="1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canto superior direito de qualquer página do Microsoft Learn. </a:t>
            </a:r>
          </a:p>
          <a:p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Siga o processo de autenticação de conta da Microsoft. </a:t>
            </a:r>
          </a:p>
          <a:p>
            <a:r>
              <a:rPr lang="pt-BR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Se a conta com a qual você optou por entrar ainda não tiver um perfil do Microsoft Learn, você será orientado a criar um. 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F3914AB5-A7A1-B1CF-3AF3-81A8583CD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6200000" flipH="1">
            <a:off x="7958667" y="2334302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4B548A-EC78-506E-7F99-D22648A96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887" y="2745069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887BF4-33EA-A468-090A-94ACB3C77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1970573" y="2916615"/>
            <a:ext cx="114925" cy="17096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7426D-DC20-2106-1286-3E57DEC9D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024DB499-4361-4308-FC9B-E543A47F6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>
            <a:off x="10112442" y="1105420"/>
            <a:ext cx="1841380" cy="1989806"/>
          </a:xfrm>
          <a:prstGeom prst="bentArrow">
            <a:avLst>
              <a:gd name="adj1" fmla="val 25000"/>
              <a:gd name="adj2" fmla="val 0"/>
              <a:gd name="adj3" fmla="val 25000"/>
              <a:gd name="adj4" fmla="val 6314"/>
            </a:avLst>
          </a:prstGeom>
          <a:ln w="25400" cap="rnd">
            <a:solidFill>
              <a:schemeClr val="accent2"/>
            </a:solidFill>
            <a:round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D13710A-CDB7-C357-525C-0E4CE67E0D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0452" y="3030983"/>
            <a:ext cx="4471074" cy="3390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014364-4C45-247F-2589-840823DD320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091967" y="3232230"/>
            <a:ext cx="1939465" cy="1486251"/>
          </a:xfrm>
          <a:prstGeom prst="rect">
            <a:avLst/>
          </a:prstGeom>
          <a:ln w="34925">
            <a:noFill/>
          </a:ln>
          <a:effectLst>
            <a:outerShdw blurRad="314198" dist="111760" dir="8040000" algn="ctr" rotWithShape="0">
              <a:srgbClr val="000000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12922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67E9-DE24-BFC9-0344-C106894F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585788"/>
            <a:ext cx="5862637" cy="426720"/>
          </a:xfrm>
        </p:spPr>
        <p:txBody>
          <a:bodyPr/>
          <a:lstStyle/>
          <a:p>
            <a:r>
              <a:rPr lang="pt-BR" sz="28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Acessar o material do curso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44A96B-6E8F-0626-1F15-2DB8E0B8E052}"/>
              </a:ext>
            </a:extLst>
          </p:cNvPr>
          <p:cNvSpPr txBox="1"/>
          <p:nvPr/>
        </p:nvSpPr>
        <p:spPr>
          <a:xfrm>
            <a:off x="582348" y="1239164"/>
            <a:ext cx="5806188" cy="548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/>
            </a:pPr>
            <a:r>
              <a:rPr lang="pt-BR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Todo o conteúdo do curso está disponível no </a:t>
            </a:r>
            <a:br>
              <a:rPr lang="pt-BR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pt-BR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Microsoft Learn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27E476-C5F2-1EE3-D528-BABA8D3D8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13" y="2024221"/>
            <a:ext cx="5145015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81F08F0-69C3-503F-98FA-49046BF52668}"/>
              </a:ext>
            </a:extLst>
          </p:cNvPr>
          <p:cNvSpPr txBox="1"/>
          <p:nvPr/>
        </p:nvSpPr>
        <p:spPr>
          <a:xfrm>
            <a:off x="584199" y="2180971"/>
            <a:ext cx="4576233" cy="246221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pt-BR" sz="1600" b="0" i="0" strike="noStrike" cap="none" baseline="0" dirty="0">
                <a:solidFill>
                  <a:schemeClr val="bg1"/>
                </a:solidFill>
                <a:effectLst/>
                <a:latin typeface="Segoe UI Semibold"/>
                <a:ea typeface="Segoe UI Semibold"/>
                <a:cs typeface="Segoe UI Semibold"/>
                <a:hlinkClick r:id="rId2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learn.microsoft.com/training/courses/browse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 Placeholder 61">
            <a:extLst>
              <a:ext uri="{FF2B5EF4-FFF2-40B4-BE49-F238E27FC236}">
                <a16:creationId xmlns:a16="http://schemas.microsoft.com/office/drawing/2014/main" id="{872DF97A-AE97-BEEE-3029-CB3AEFF7028B}"/>
              </a:ext>
            </a:extLst>
          </p:cNvPr>
          <p:cNvSpPr txBox="1"/>
          <p:nvPr/>
        </p:nvSpPr>
        <p:spPr>
          <a:xfrm>
            <a:off x="579438" y="3006168"/>
            <a:ext cx="4281673" cy="103412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Examinaremos esse conteúdo juntos e, </a:t>
            </a:r>
            <a:b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à medida que o curso progride, aconselharei você sobre quais módulos examinar.</a:t>
            </a:r>
          </a:p>
          <a:p>
            <a:r>
              <a:rPr lang="pt-BR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Você pode fornecer comentários para módulos no Microsoft Learn. Descubra como fazer isso na parte inferior de cada página.</a:t>
            </a:r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B56AF5A9-049E-D4E1-241B-A0246FF8C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>
            <a:off x="4752416" y="4257116"/>
            <a:ext cx="926051" cy="1273436"/>
          </a:xfrm>
          <a:prstGeom prst="bentArrow">
            <a:avLst>
              <a:gd name="adj1" fmla="val 25000"/>
              <a:gd name="adj2" fmla="val 0"/>
              <a:gd name="adj3" fmla="val 25000"/>
              <a:gd name="adj4" fmla="val 10625"/>
            </a:avLst>
          </a:prstGeom>
          <a:ln w="25400" cap="rnd">
            <a:solidFill>
              <a:schemeClr val="accent2"/>
            </a:solidFill>
            <a:round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3B8A40-AC34-02A8-B4D3-A0BD25F10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94881" y="5274978"/>
            <a:ext cx="114925" cy="170961"/>
          </a:xfrm>
          <a:prstGeom prst="rect">
            <a:avLst/>
          </a:prstGeom>
        </p:spPr>
      </p:pic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1BC0955-5F04-8692-97FB-179B5EDB16EB}"/>
              </a:ext>
            </a:extLst>
          </p:cNvPr>
          <p:cNvSpPr txBox="1"/>
          <p:nvPr/>
        </p:nvSpPr>
        <p:spPr>
          <a:xfrm>
            <a:off x="7764307" y="2180971"/>
            <a:ext cx="440690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/>
            </a:pPr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Este curso inclui laboratórios:</a:t>
            </a:r>
          </a:p>
        </p:txBody>
      </p:sp>
      <p:sp>
        <p:nvSpPr>
          <p:cNvPr id="33" name="Text Placeholder 61">
            <a:extLst>
              <a:ext uri="{FF2B5EF4-FFF2-40B4-BE49-F238E27FC236}">
                <a16:creationId xmlns:a16="http://schemas.microsoft.com/office/drawing/2014/main" id="{6BA32D2F-A3BB-0F92-562E-47913E4D8086}"/>
              </a:ext>
            </a:extLst>
          </p:cNvPr>
          <p:cNvSpPr txBox="1"/>
          <p:nvPr/>
        </p:nvSpPr>
        <p:spPr>
          <a:xfrm>
            <a:off x="7764307" y="2614433"/>
            <a:ext cx="3593570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Instruções detalhadas do laboratório estão incluídas no ambiente do Microsoft Learn.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3E430-4D21-6070-565F-549992A36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F754EC-B535-26FF-E4BA-4EE41CEA5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5417921"/>
            <a:ext cx="6764867" cy="38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5757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67E9-DE24-BFC9-0344-C106894F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895088" cy="853440"/>
          </a:xfrm>
        </p:spPr>
        <p:txBody>
          <a:bodyPr/>
          <a:lstStyle/>
          <a:p>
            <a:r>
              <a:rPr lang="pt-BR" sz="28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Celebre suas realizações e sinta-se empoderado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44A96B-6E8F-0626-1F15-2DB8E0B8E052}"/>
              </a:ext>
            </a:extLst>
          </p:cNvPr>
          <p:cNvSpPr txBox="1"/>
          <p:nvPr/>
        </p:nvSpPr>
        <p:spPr>
          <a:xfrm>
            <a:off x="582348" y="1797430"/>
            <a:ext cx="4732602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/>
            </a:pPr>
            <a:r>
              <a:rPr lang="pt-B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Obtenha reconhecimento de sua conquista e ganhe seu selo por concluir este curso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FD8D32-1F5A-71CD-0EA0-111FE0F75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235949" y="1814294"/>
            <a:ext cx="3960174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7" name="Text Placeholder 13">
            <a:extLst>
              <a:ext uri="{FF2B5EF4-FFF2-40B4-BE49-F238E27FC236}">
                <a16:creationId xmlns:a16="http://schemas.microsoft.com/office/drawing/2014/main" id="{1902BDB0-F449-F635-7020-1B2246BBEAEC}"/>
              </a:ext>
            </a:extLst>
          </p:cNvPr>
          <p:cNvSpPr txBox="1"/>
          <p:nvPr/>
        </p:nvSpPr>
        <p:spPr>
          <a:xfrm>
            <a:off x="8564827" y="1971044"/>
            <a:ext cx="3044825" cy="246221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600"/>
              </a:spcBef>
              <a:buNone/>
            </a:pPr>
            <a:r>
              <a:rPr lang="pt-BR" sz="1600" b="0" i="0" strike="noStrike" cap="none" baseline="0" dirty="0">
                <a:solidFill>
                  <a:schemeClr val="bg1"/>
                </a:solidFill>
                <a:effectLst/>
                <a:latin typeface="Segoe UI Semibold"/>
                <a:ea typeface="Segoe UI Semibold"/>
                <a:cs typeface="Segoe UI Semibold"/>
                <a:hlinkClick r:id="rId2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aka.ms/MyMicrosoftLearnProfile 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B7363C-E11A-7773-FEC4-37C7BE727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flipV="1">
            <a:off x="-1" y="2820988"/>
            <a:ext cx="12192000" cy="4037012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1447741B-AB45-5A20-3A15-0160B652B2D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25506" y="3538665"/>
            <a:ext cx="4600575" cy="1834896"/>
          </a:xfrm>
        </p:spPr>
        <p:txBody>
          <a:bodyPr anchor="ctr"/>
          <a:lstStyle/>
          <a:p>
            <a:pPr marL="342900" indent="-342900">
              <a:buFont typeface="+mj-lt"/>
              <a:buAutoNum type="arabicPeriod"/>
            </a:pPr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Vá para </a:t>
            </a:r>
            <a:r>
              <a:rPr lang="pt-BR" sz="14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Conquistas</a:t>
            </a:r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em seu perfil do Microsoft Learn.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Resgate o código fornecido por seu instrutor.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Encontre seu novo selo </a:t>
            </a:r>
            <a:r>
              <a:rPr lang="pt-BR" sz="14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em Módulos, Cursos e Mais.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Compartilhe sua nova conquista com sua rede profissional. Você também pode baixar e imprimir seu certificado.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1AB3BFA-3E93-A6E5-8FE9-7E4B0A0B7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D0E01CB-7214-270E-82B5-83F637BDE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9438" y="3097628"/>
            <a:ext cx="5972801" cy="2901120"/>
            <a:chOff x="588263" y="2767793"/>
            <a:chExt cx="3336599" cy="3502380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B0E59A1-47BE-D11E-CD36-256354F44C2A}"/>
                </a:ext>
              </a:extLst>
            </p:cNvPr>
            <p:cNvSpPr/>
            <p:nvPr/>
          </p:nvSpPr>
          <p:spPr>
            <a:xfrm>
              <a:off x="588263" y="2767793"/>
              <a:ext cx="3336599" cy="3502380"/>
            </a:xfrm>
            <a:prstGeom prst="roundRect">
              <a:avLst>
                <a:gd name="adj" fmla="val 11300"/>
              </a:avLst>
            </a:prstGeom>
            <a:solidFill>
              <a:srgbClr val="E8E6DF"/>
            </a:solidFill>
            <a:ln>
              <a:noFill/>
            </a:ln>
            <a:effectLst>
              <a:outerShdw blurRad="190500" dist="38100" dir="18900000" sx="102000" sy="102000" algn="bl" rotWithShape="0">
                <a:schemeClr val="bg1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274320" bIns="9144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3" name="Rounded Rectangle 3_1">
              <a:extLst>
                <a:ext uri="{FF2B5EF4-FFF2-40B4-BE49-F238E27FC236}">
                  <a16:creationId xmlns:a16="http://schemas.microsoft.com/office/drawing/2014/main" id="{CB06FF31-979B-8CCF-2821-5EC1C355EA0B}"/>
                </a:ext>
              </a:extLst>
            </p:cNvPr>
            <p:cNvSpPr/>
            <p:nvPr/>
          </p:nvSpPr>
          <p:spPr>
            <a:xfrm>
              <a:off x="588263" y="2767793"/>
              <a:ext cx="3336599" cy="3502380"/>
            </a:xfrm>
            <a:prstGeom prst="roundRect">
              <a:avLst>
                <a:gd name="adj" fmla="val 1130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38100" dir="8100000" sx="101000" sy="101000" algn="tr" rotWithShape="0">
                <a:srgbClr val="CAC5B8">
                  <a:alpha val="6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274320" bIns="182880" rtlCol="0" anchor="t"/>
            <a:lstStyle/>
            <a:p>
              <a:pPr marL="137160" lvl="0" indent="-137160" defTabSz="932742" rtl="0">
                <a:spcBef>
                  <a:spcPct val="20000"/>
                </a:spcBef>
                <a:buSzPct val="90000"/>
                <a:buFont typeface="Arial" panose="020B0604020202020204" pitchFamily="34" charset="0"/>
                <a:buChar char="•"/>
                <a:defRPr/>
              </a:pPr>
              <a:endParaRPr lang="en-US" sz="1600" dirty="0">
                <a:solidFill>
                  <a:schemeClr val="tx1"/>
                </a:solidFill>
                <a:cs typeface="Segoe UI" panose="020B0502040204020203" pitchFamily="34" charset="0"/>
              </a:endParaRPr>
            </a:p>
          </p:txBody>
        </p:sp>
      </p:grpSp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886654ED-6A53-906E-D595-E4C9175273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829"/>
          <a:stretch/>
        </p:blipFill>
        <p:spPr>
          <a:xfrm>
            <a:off x="779968" y="3246607"/>
            <a:ext cx="5573662" cy="2603156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F962D17-0397-3860-7D3C-4EAB65D77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32859" y="4900582"/>
            <a:ext cx="1288531" cy="260314"/>
          </a:xfrm>
          <a:prstGeom prst="roundRect">
            <a:avLst/>
          </a:prstGeom>
          <a:noFill/>
          <a:ln w="1270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32472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FF0000"/>
              </a:solidFill>
              <a:cs typeface="Segoe UI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9DE1A2-84DB-1C77-1212-6BC62F1959C9}"/>
              </a:ext>
            </a:extLst>
          </p:cNvPr>
          <p:cNvSpPr/>
          <p:nvPr/>
        </p:nvSpPr>
        <p:spPr bwMode="auto">
          <a:xfrm>
            <a:off x="2002863" y="4782477"/>
            <a:ext cx="236211" cy="236211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rtl="0" fontAlgn="base">
              <a:spcBef>
                <a:spcPct val="0"/>
              </a:spcBef>
              <a:spcAft>
                <a:spcPct val="0"/>
              </a:spcAft>
            </a:pPr>
            <a:r>
              <a:rPr lang="pt-br" sz="105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2202A18-E0C3-89BF-37BA-093AD821E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42889" y="4050049"/>
            <a:ext cx="2574432" cy="260314"/>
          </a:xfrm>
          <a:prstGeom prst="roundRect">
            <a:avLst/>
          </a:prstGeom>
          <a:noFill/>
          <a:ln w="1270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32472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FF0000"/>
              </a:solidFill>
              <a:cs typeface="Segoe UI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3AD61E9-7B89-30EA-E938-047AA4A95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420656" y="4555857"/>
            <a:ext cx="700743" cy="260314"/>
          </a:xfrm>
          <a:prstGeom prst="roundRect">
            <a:avLst/>
          </a:prstGeom>
          <a:noFill/>
          <a:ln w="1270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32472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FF0000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F1CC1B3-3CE0-79DA-5CEA-90F1545020A7}"/>
              </a:ext>
            </a:extLst>
          </p:cNvPr>
          <p:cNvSpPr/>
          <p:nvPr/>
        </p:nvSpPr>
        <p:spPr bwMode="auto">
          <a:xfrm>
            <a:off x="6047372" y="3950219"/>
            <a:ext cx="236211" cy="236211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rtl="0" fontAlgn="base">
              <a:spcBef>
                <a:spcPct val="0"/>
              </a:spcBef>
              <a:spcAft>
                <a:spcPct val="0"/>
              </a:spcAft>
            </a:pPr>
            <a:r>
              <a:rPr lang="pt-br" sz="105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3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CD84ABC-BC74-7A81-E70C-286A3D29D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14904" y="3586482"/>
            <a:ext cx="2703147" cy="260314"/>
          </a:xfrm>
          <a:prstGeom prst="roundRect">
            <a:avLst/>
          </a:prstGeom>
          <a:noFill/>
          <a:ln w="1270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32472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FF0000"/>
              </a:solidFill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14D7F1-EF35-14BA-9AF5-F3D487AAB437}"/>
              </a:ext>
            </a:extLst>
          </p:cNvPr>
          <p:cNvSpPr/>
          <p:nvPr/>
        </p:nvSpPr>
        <p:spPr bwMode="auto">
          <a:xfrm>
            <a:off x="6218051" y="4373592"/>
            <a:ext cx="188470" cy="147617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F025C1-F9BC-379A-2275-0B66020F29C0}"/>
              </a:ext>
            </a:extLst>
          </p:cNvPr>
          <p:cNvSpPr/>
          <p:nvPr/>
        </p:nvSpPr>
        <p:spPr bwMode="auto">
          <a:xfrm>
            <a:off x="5992963" y="4455634"/>
            <a:ext cx="236211" cy="236211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rtl="0" fontAlgn="base">
              <a:spcBef>
                <a:spcPct val="0"/>
              </a:spcBef>
              <a:spcAft>
                <a:spcPct val="0"/>
              </a:spcAft>
            </a:pPr>
            <a:r>
              <a:rPr lang="pt-br" sz="105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9B65508-E4F1-A1CA-13F9-D1044A2CE63D}"/>
              </a:ext>
            </a:extLst>
          </p:cNvPr>
          <p:cNvSpPr/>
          <p:nvPr/>
        </p:nvSpPr>
        <p:spPr bwMode="auto">
          <a:xfrm>
            <a:off x="6117321" y="3459557"/>
            <a:ext cx="236211" cy="236211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rtl="0" fontAlgn="base">
              <a:spcBef>
                <a:spcPct val="0"/>
              </a:spcBef>
              <a:spcAft>
                <a:spcPct val="0"/>
              </a:spcAft>
            </a:pPr>
            <a:r>
              <a:rPr lang="pt-br" sz="105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3320921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CDD559A-25F8-918A-9C24-8A8DF8FB4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1224813"/>
            <a:ext cx="4582132" cy="1645920"/>
          </a:xfrm>
        </p:spPr>
        <p:txBody>
          <a:bodyPr/>
          <a:lstStyle/>
          <a:p>
            <a:r>
              <a:rPr lang="pt-BR" sz="3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Obtenha uma </a:t>
            </a:r>
            <a:br>
              <a:rPr sz="3600" dirty="0"/>
            </a:br>
            <a:r>
              <a:rPr lang="pt-BR" sz="3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Certificação Microsoft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FC82C5-B8CF-CE13-4A23-7C15F1CE3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0699" y="1200446"/>
            <a:ext cx="1110600" cy="1110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5DEF036-DB68-7837-5186-51A159AC8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1385414"/>
            <a:ext cx="740664" cy="7406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322978-A730-EB17-5D62-A209F514E7E2}"/>
              </a:ext>
            </a:extLst>
          </p:cNvPr>
          <p:cNvSpPr txBox="1"/>
          <p:nvPr/>
        </p:nvSpPr>
        <p:spPr>
          <a:xfrm>
            <a:off x="6971476" y="1135039"/>
            <a:ext cx="2196634" cy="822960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>
            <a:defPPr>
              <a:defRPr lang="en-US"/>
            </a:defPPr>
            <a:lvl1pPr>
              <a:defRPr sz="7330" b="1" spc="-50">
                <a:ln w="3175">
                  <a:noFill/>
                </a:ln>
                <a:gradFill>
                  <a:gsLst>
                    <a:gs pos="100000">
                      <a:schemeClr val="accent4"/>
                    </a:gs>
                    <a:gs pos="32000">
                      <a:srgbClr val="FF5C39"/>
                    </a:gs>
                  </a:gsLst>
                  <a:lin ang="3900000" scaled="0"/>
                </a:gradFill>
                <a:latin typeface="Segoe UI Variable Text" pitchFamily="2" charset="0"/>
                <a:cs typeface="Segoe UI Semibold" panose="020B0502040204020203" pitchFamily="34" charset="0"/>
              </a:defRPr>
            </a:lvl1pPr>
          </a:lstStyle>
          <a:p>
            <a:pPr>
              <a:defRPr/>
            </a:pPr>
            <a:r>
              <a:rPr lang="pt-BR" sz="4800" b="1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92</a:t>
            </a:r>
            <a:r>
              <a:rPr lang="pt-BR" sz="4400" b="1" i="0" strike="noStrike" cap="none" baseline="3000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%</a:t>
            </a:r>
            <a:r>
              <a:rPr lang="pt-BR" sz="4800" b="1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 </a:t>
            </a:r>
            <a:endParaRPr kumimoji="0" lang="en-US" sz="4800" b="1" i="0" u="none" strike="noStrike" kern="1200" cap="none" spc="-5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7965D-FCAF-55DD-10B8-5DF1E54A3BC7}"/>
              </a:ext>
            </a:extLst>
          </p:cNvPr>
          <p:cNvSpPr txBox="1"/>
          <p:nvPr/>
        </p:nvSpPr>
        <p:spPr>
          <a:xfrm>
            <a:off x="6971477" y="1832668"/>
            <a:ext cx="3920788" cy="73152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pPr>
              <a:defRPr/>
            </a:pPr>
            <a:r>
              <a:rPr lang="pt-BR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 profissionais de TI certificados se sentem mais confiantes em suas habilidades depois de obter certificações¹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5DCB5-4258-68B1-1A56-68B7CC5D0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flipV="1">
            <a:off x="-1" y="3117681"/>
            <a:ext cx="12192000" cy="3740319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ounded Rectangle 3_1">
            <a:extLst>
              <a:ext uri="{FF2B5EF4-FFF2-40B4-BE49-F238E27FC236}">
                <a16:creationId xmlns:a16="http://schemas.microsoft.com/office/drawing/2014/main" id="{0CC3932D-AF62-994B-BAF6-36B38660AE6A}"/>
              </a:ext>
            </a:extLst>
          </p:cNvPr>
          <p:cNvSpPr/>
          <p:nvPr/>
        </p:nvSpPr>
        <p:spPr>
          <a:xfrm>
            <a:off x="580399" y="3575048"/>
            <a:ext cx="5367964" cy="1992314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1600" b="0" i="0" strike="noStrike" cap="none" baseline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Obtenha reconhecimento com a validação do seu conhecimento técnico pelo setor. Certifique-se de permanecer atualizado com as habilidades e a experiência necessárias para ter sucesso contínuo.</a:t>
            </a:r>
            <a:br>
              <a:rPr sz="1600"/>
            </a:b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1600" b="0" i="0" strike="noStrike" cap="none" baseline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Comece em </a:t>
            </a:r>
            <a:r>
              <a:rPr lang="pt-BR" sz="1600" b="0" i="0" strike="noStrike" cap="none" baseline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  <a:hlinkClick r:id="rId3" history="0"/>
              </a:rPr>
              <a:t>learn.microsoft.com/certifications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43F14745-9308-59B5-B699-2477843145BF}"/>
              </a:ext>
            </a:extLst>
          </p:cNvPr>
          <p:cNvSpPr/>
          <p:nvPr/>
        </p:nvSpPr>
        <p:spPr>
          <a:xfrm>
            <a:off x="6252005" y="3575843"/>
            <a:ext cx="5367964" cy="1992314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As certificações baseadas em função e especialidades da Microsoft exigem renovação anual.</a:t>
            </a:r>
            <a:r>
              <a:rPr lang="pt-BR" sz="1800" b="0" i="0" strike="noStrike" cap="none" baseline="3000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800" baseline="30000" dirty="0">
              <a:solidFill>
                <a:srgbClr val="0D0D0D"/>
              </a:solidFill>
              <a:latin typeface="Segoe UI"/>
            </a:endParaRPr>
          </a:p>
          <a:p>
            <a:pPr defTabSz="914400">
              <a:defRPr/>
            </a:pPr>
            <a:r>
              <a:rPr lang="pt-BR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Saiba mais sobre a renovação da certificação em </a:t>
            </a:r>
            <a:r>
              <a:rPr lang="pt-BR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  <a:hlinkClick r:id="rId4"/>
              </a:rPr>
              <a:t>aka.ms/RenewYourCert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6AEFE-B61B-8AF6-CE8A-695BF709C726}"/>
              </a:ext>
            </a:extLst>
          </p:cNvPr>
          <p:cNvSpPr txBox="1"/>
          <p:nvPr/>
        </p:nvSpPr>
        <p:spPr>
          <a:xfrm>
            <a:off x="583095" y="6084834"/>
            <a:ext cx="11016238" cy="228600"/>
          </a:xfrm>
          <a:prstGeom prst="rect">
            <a:avLst/>
          </a:prstGeom>
          <a:noFill/>
        </p:spPr>
        <p:txBody>
          <a:bodyPr wrap="square" lIns="0" tIns="45720" rIns="91440" bIns="4572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pt-BR" sz="9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¹ </a:t>
            </a:r>
            <a:r>
              <a:rPr lang="pt-BR" sz="9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  <a:hlinkClick r:id="rId5" history="0"/>
              </a:rPr>
              <a:t>"2023 Valor da Certificação de TI | Relatório do Candidato", Pearson VUE, 2023</a:t>
            </a:r>
            <a:r>
              <a:rPr lang="pt-BR" sz="9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  </a:t>
            </a:r>
            <a:r>
              <a:rPr lang="pt-BR" sz="900" b="0" i="0" strike="noStrike" cap="none" baseline="3000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2</a:t>
            </a:r>
            <a:r>
              <a:rPr lang="pt-BR" sz="9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As certificações básicas da Microsoft não expiram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ea typeface="+mn-ea"/>
              <a:cs typeface="Segoe UI" pitchFamily="34" charset="0"/>
              <a:sym typeface="Segoe UI Semibold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E65EAD-DB53-8B16-745F-CE1B01593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</p:spTree>
    <p:extLst>
      <p:ext uri="{BB962C8B-B14F-4D97-AF65-F5344CB8AC3E}">
        <p14:creationId xmlns:p14="http://schemas.microsoft.com/office/powerpoint/2010/main" val="426042234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0201038" cy="307777"/>
          </a:xfrm>
        </p:spPr>
        <p:txBody>
          <a:bodyPr/>
          <a:lstStyle/>
          <a:p>
            <a:r>
              <a:rPr lang="pt-BR" sz="28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Prepare-se para o exame de Certificação da Microsoft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5217" y="1073388"/>
            <a:ext cx="11031840" cy="36576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r>
              <a:rPr lang="pt-BR" sz="1800" b="0" i="0" strike="noStrike" cap="none" baseline="0" dirty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Microsoft Certified: Azure Fundamentals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061EA4-8988-693D-F87C-7BF5591F84CD}"/>
              </a:ext>
            </a:extLst>
          </p:cNvPr>
          <p:cNvSpPr txBox="1"/>
          <p:nvPr/>
        </p:nvSpPr>
        <p:spPr>
          <a:xfrm>
            <a:off x="825500" y="1959331"/>
            <a:ext cx="4879927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1400" b="1" i="0" strike="noStrike" cap="none" baseline="0" dirty="0">
                <a:solidFill>
                  <a:srgbClr val="2A446F"/>
                </a:solidFill>
                <a:effectLst/>
                <a:latin typeface="Segoe UI Semibold"/>
                <a:ea typeface="Segoe UI Semibold"/>
                <a:cs typeface="Segoe UI Semibold"/>
              </a:rPr>
              <a:t>Entenda as habilidades medidas pelo exame</a:t>
            </a:r>
          </a:p>
        </p:txBody>
      </p:sp>
      <p:sp>
        <p:nvSpPr>
          <p:cNvPr id="9" name="Rounded Rectangle 3_1">
            <a:extLst>
              <a:ext uri="{FF2B5EF4-FFF2-40B4-BE49-F238E27FC236}">
                <a16:creationId xmlns:a16="http://schemas.microsoft.com/office/drawing/2014/main" id="{D4BA0CA9-7D1C-CAD8-B69B-7DC32EE7B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3094" y="2283868"/>
            <a:ext cx="5511801" cy="2024181"/>
          </a:xfrm>
          <a:prstGeom prst="roundRect">
            <a:avLst>
              <a:gd name="adj" fmla="val 6425"/>
            </a:avLst>
          </a:prstGeom>
          <a:gradFill flip="none" rotWithShape="1">
            <a:gsLst>
              <a:gs pos="0">
                <a:srgbClr val="2A446F"/>
              </a:gs>
              <a:gs pos="46520">
                <a:schemeClr val="bg1"/>
              </a:gs>
              <a:gs pos="30000">
                <a:srgbClr val="2A446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lvl="0" defTabSz="932742">
              <a:spcBef>
                <a:spcPct val="20000"/>
              </a:spcBef>
              <a:buSzPct val="90000"/>
              <a:defRPr/>
            </a:pPr>
            <a:endParaRPr lang="en-US" sz="1400">
              <a:solidFill>
                <a:schemeClr val="tx1"/>
              </a:solidFill>
              <a:cs typeface="Segoe UI" pitchFamily="34" charset="0"/>
            </a:endParaRP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A464DE02-903A-6800-6755-54FB85E0D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455922"/>
              </p:ext>
            </p:extLst>
          </p:nvPr>
        </p:nvGraphicFramePr>
        <p:xfrm>
          <a:off x="583095" y="2304189"/>
          <a:ext cx="5511800" cy="1845149"/>
        </p:xfrm>
        <a:graphic>
          <a:graphicData uri="http://schemas.openxmlformats.org/drawingml/2006/table">
            <a:tbl>
              <a:tblPr firstRow="1" bandRow="1"/>
              <a:tblGrid>
                <a:gridCol w="4110825">
                  <a:extLst>
                    <a:ext uri="{9D8B030D-6E8A-4147-A177-3AD203B41FA5}">
                      <a16:colId xmlns:a16="http://schemas.microsoft.com/office/drawing/2014/main" val="4041653763"/>
                    </a:ext>
                  </a:extLst>
                </a:gridCol>
                <a:gridCol w="1400975">
                  <a:extLst>
                    <a:ext uri="{9D8B030D-6E8A-4147-A177-3AD203B41FA5}">
                      <a16:colId xmlns:a16="http://schemas.microsoft.com/office/drawing/2014/main" val="3053328036"/>
                    </a:ext>
                  </a:extLst>
                </a:gridCol>
              </a:tblGrid>
              <a:tr h="385443">
                <a:tc>
                  <a:txBody>
                    <a:bodyPr/>
                    <a:lstStyle/>
                    <a:p>
                      <a:r>
                        <a:rPr lang="pt-BR" sz="1200" b="1" i="0" strike="noStrike" cap="none" baseline="0">
                          <a:solidFill>
                            <a:srgbClr val="FFFFFF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Área de estudo</a:t>
                      </a:r>
                    </a:p>
                  </a:txBody>
                  <a:tcPr marL="274320" marR="2743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i="0" strike="noStrike" cap="none" baseline="0">
                          <a:solidFill>
                            <a:srgbClr val="FFFFFF"/>
                          </a:solidFill>
                          <a:effectLst/>
                          <a:latin typeface="Segoe UI Semibold"/>
                          <a:ea typeface="Segoe UI Semibold"/>
                          <a:cs typeface="Segoe UI Semibold"/>
                        </a:rPr>
                        <a:t>Percentual</a:t>
                      </a:r>
                    </a:p>
                  </a:txBody>
                  <a:tcPr marL="274320" marR="2743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888734"/>
                  </a:ext>
                </a:extLst>
              </a:tr>
              <a:tr h="491649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Descrever os conceitos da nuvem</a:t>
                      </a:r>
                    </a:p>
                  </a:txBody>
                  <a:tcPr marL="274320" marR="2743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indent="0"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BR" sz="12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25-30%</a:t>
                      </a:r>
                    </a:p>
                  </a:txBody>
                  <a:tcPr marL="274320" marR="274320" marT="330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015222"/>
                  </a:ext>
                </a:extLst>
              </a:tr>
              <a:tr h="510901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Descrever a arquitetura e os serviços do Azure</a:t>
                      </a:r>
                    </a:p>
                  </a:txBody>
                  <a:tcPr marL="274320" marR="2743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indent="0"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BR" sz="12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35 a 40%</a:t>
                      </a:r>
                    </a:p>
                  </a:txBody>
                  <a:tcPr marL="274320" marR="274320" marT="330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540036"/>
                  </a:ext>
                </a:extLst>
              </a:tr>
              <a:tr h="457156"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200" b="0" i="0" strike="noStrike" cap="none" baseline="0" dirty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Descrever o gerenciamento e a governança do Azure</a:t>
                      </a:r>
                    </a:p>
                  </a:txBody>
                  <a:tcPr marL="274320" marR="2743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indent="0"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BR" sz="1200" b="0" i="0" strike="noStrike" cap="none" baseline="0" dirty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30 a 35%</a:t>
                      </a:r>
                    </a:p>
                  </a:txBody>
                  <a:tcPr marL="274320" marR="274320" marT="330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71751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C07FD58F-F1B5-3570-6A96-B28EABD16FF9}"/>
              </a:ext>
            </a:extLst>
          </p:cNvPr>
          <p:cNvSpPr txBox="1"/>
          <p:nvPr/>
        </p:nvSpPr>
        <p:spPr>
          <a:xfrm>
            <a:off x="6891338" y="1959331"/>
            <a:ext cx="3246945" cy="426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1400" b="1" i="0" strike="noStrike" cap="none" baseline="0" dirty="0">
                <a:solidFill>
                  <a:srgbClr val="2A446F"/>
                </a:solidFill>
                <a:effectLst/>
                <a:latin typeface="Segoe UI Semibold"/>
                <a:ea typeface="Segoe UI Semibold"/>
                <a:cs typeface="Segoe UI Semibold"/>
              </a:rPr>
              <a:t>Crie confiança em suas habilidades</a:t>
            </a:r>
          </a:p>
        </p:txBody>
      </p:sp>
      <p:sp>
        <p:nvSpPr>
          <p:cNvPr id="10" name="Rounded Rectangle 3_1">
            <a:extLst>
              <a:ext uri="{FF2B5EF4-FFF2-40B4-BE49-F238E27FC236}">
                <a16:creationId xmlns:a16="http://schemas.microsoft.com/office/drawing/2014/main" id="{E6ED93DF-B06D-56D2-2BAC-AC6AABBC7E78}"/>
              </a:ext>
            </a:extLst>
          </p:cNvPr>
          <p:cNvSpPr/>
          <p:nvPr/>
        </p:nvSpPr>
        <p:spPr>
          <a:xfrm>
            <a:off x="6634690" y="2283868"/>
            <a:ext cx="4956753" cy="3423913"/>
          </a:xfrm>
          <a:prstGeom prst="roundRect">
            <a:avLst>
              <a:gd name="adj" fmla="val 6425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r>
              <a:rPr lang="pt-BR" sz="14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Na página do exame, encontre recursos </a:t>
            </a:r>
            <a:br>
              <a:rPr sz="1400" dirty="0"/>
            </a:br>
            <a:r>
              <a:rPr lang="pt-BR" sz="14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para ajudar a se preparar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Assistir a vídeos de preparação para exames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Revise o guia de estudo do exame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Demonstração da experiência do exame com a área restrita do exame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/>
            </a:pPr>
            <a:r>
              <a:rPr lang="pt-BR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Fazer uma avaliação prática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235727-61F5-8644-12E4-A21BDD9B7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89300" y="1737603"/>
            <a:ext cx="1110600" cy="1110600"/>
            <a:chOff x="9378893" y="2116300"/>
            <a:chExt cx="1110600" cy="11106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A57567-90BB-A9FB-D6B3-9AF8647B1FF4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AFDA5BB2-FEEB-060D-2DAB-61E228CA5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57C90FC-C3E7-0F4C-A80F-A3776B9374E2}"/>
              </a:ext>
            </a:extLst>
          </p:cNvPr>
          <p:cNvSpPr txBox="1"/>
          <p:nvPr/>
        </p:nvSpPr>
        <p:spPr>
          <a:xfrm>
            <a:off x="583095" y="5947674"/>
            <a:ext cx="11016238" cy="365760"/>
          </a:xfrm>
          <a:prstGeom prst="rect">
            <a:avLst/>
          </a:prstGeom>
          <a:noFill/>
        </p:spPr>
        <p:txBody>
          <a:bodyPr wrap="square" lIns="0" tIns="45720" rIns="91440" bIns="4572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pt-BR" sz="9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As porcentagens indicam o peso relativo de cada área no exame.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pt-BR" sz="9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Quanto maior a porcentagem, mais perguntas você provavelmente verá nessa área.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D84B1C3C-263F-04A9-DF9B-1C9B8DA93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914367">
              <a:defRPr/>
            </a:pPr>
            <a:r>
              <a:rPr lang="pt-BR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os direitos reservados.</a:t>
            </a:r>
          </a:p>
        </p:txBody>
      </p:sp>
    </p:spTree>
    <p:extLst>
      <p:ext uri="{BB962C8B-B14F-4D97-AF65-F5344CB8AC3E}">
        <p14:creationId xmlns:p14="http://schemas.microsoft.com/office/powerpoint/2010/main" val="16496996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.0.1160"/>
  <p:tag name="AS_RELEASE_DATE" val="2023.06.30"/>
  <p:tag name="AS_TITLE" val="Aspose.Slides for Java"/>
  <p:tag name="AS_VERSION" val="23.6.1"/>
</p:tagLst>
</file>

<file path=ppt/theme/theme1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Segoe UI Semibold"/>
        <a:cs typeface="Arial"/>
      </a:majorFont>
      <a:minorFont>
        <a:latin typeface="Segoe UI"/>
        <a:ea typeface="Segoe UI"/>
        <a:cs typeface="Arial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</Words>
  <Application>Microsoft Office PowerPoint</Application>
  <PresentationFormat>Widescreen</PresentationFormat>
  <Paragraphs>135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Segoe UI</vt:lpstr>
      <vt:lpstr>Segoe UI Light</vt:lpstr>
      <vt:lpstr>Segoe UI Semibold</vt:lpstr>
      <vt:lpstr>Wingdings</vt:lpstr>
      <vt:lpstr>LIGHT MODE</vt:lpstr>
      <vt:lpstr>Slide de entrada</vt:lpstr>
      <vt:lpstr>Introdução à infraestrutura de nuvem</vt:lpstr>
      <vt:lpstr>Olá!</vt:lpstr>
      <vt:lpstr>Vamos nos conhecer</vt:lpstr>
      <vt:lpstr>Vamos nos divertir juntos</vt:lpstr>
      <vt:lpstr>Sobre o curso</vt:lpstr>
      <vt:lpstr>Programação do curso</vt:lpstr>
      <vt:lpstr>Obtenha o máximo de seu perfil do Microsoft Learn</vt:lpstr>
      <vt:lpstr>Acessar o material do curso</vt:lpstr>
      <vt:lpstr>Celebre suas realizações e sinta-se empoderado</vt:lpstr>
      <vt:lpstr>Obtenha uma  Certificação Microsoft</vt:lpstr>
      <vt:lpstr>Prepare-se para o exame de Certificação da Microsoft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2023-10-03T15:04:59Z</dcterms:created>
  <dcterms:modified xsi:type="dcterms:W3CDTF">2025-11-06T08:13:47Z</dcterms:modified>
</cp:coreProperties>
</file>