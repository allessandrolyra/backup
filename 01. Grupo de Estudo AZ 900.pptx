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authors.xml" ContentType="application/vnd.ms-powerpoint.author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1"/>
  </p:notesMasterIdLst>
  <p:sldIdLst>
    <p:sldId id="2147483607" r:id="rId5"/>
    <p:sldId id="266" r:id="rId6"/>
    <p:sldId id="2147483638" r:id="rId7"/>
    <p:sldId id="2147483639" r:id="rId8"/>
    <p:sldId id="2147483641" r:id="rId9"/>
    <p:sldId id="2147483637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DD05DB2-8FA2-32FA-8CEB-01594AAEF40E}" name="Danielle Lemos Sene Ribeiro" initials="DR" userId="S::danielle.sene@foursys.com.br::90bc6f0a-e013-43a0-8b7f-1ed7023cb80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3F00"/>
    <a:srgbClr val="FF571E"/>
    <a:srgbClr val="22213A"/>
    <a:srgbClr val="22223B"/>
    <a:srgbClr val="2222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EAAB66-BAF0-0346-8DFC-3A45E4F4E2E0}" v="28" dt="2025-12-03T18:06:26.8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58"/>
  </p:normalViewPr>
  <p:slideViewPr>
    <p:cSldViewPr snapToGrid="0">
      <p:cViewPr varScale="1">
        <p:scale>
          <a:sx n="83" d="100"/>
          <a:sy n="83" d="100"/>
        </p:scale>
        <p:origin x="61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28" Type="http://schemas.microsoft.com/office/2018/10/relationships/authors" Target="author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F5CB5D-C63A-4F1F-9B90-816A4E144175}" type="datetimeFigureOut">
              <a:t>11/02/2026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156E61-92B9-44EC-9CE8-3356801B3CCD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6376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3FC43-BFED-14D1-33DB-ACD986164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D35FD00-15E4-383D-1E5E-7707A25996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23A5809-D23E-FFF6-FE18-07D7841E5F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19397EE-9246-4F69-98C1-704BFDED3E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48577C-9419-445E-9FE9-7BDD134F910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10711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3FC43-BFED-14D1-33DB-ACD986164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D35FD00-15E4-383D-1E5E-7707A25996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23A5809-D23E-FFF6-FE18-07D7841E5F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19397EE-9246-4F69-98C1-704BFDED3E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48577C-9419-445E-9FE9-7BDD134F910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88427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3FC43-BFED-14D1-33DB-ACD986164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D35FD00-15E4-383D-1E5E-7707A25996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23A5809-D23E-FFF6-FE18-07D7841E5F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19397EE-9246-4F69-98C1-704BFDED3E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48577C-9419-445E-9FE9-7BDD134F910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26301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3FC43-BFED-14D1-33DB-ACD986164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D35FD00-15E4-383D-1E5E-7707A25996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23A5809-D23E-FFF6-FE18-07D7841E5F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19397EE-9246-4F69-98C1-704BFDED3E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48577C-9419-445E-9FE9-7BDD134F910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84865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11.02.2026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11.02.2026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11.02.2026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11.02.2026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11.02.2026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11.02.2026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11.02.2026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11.02.2026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11.02.2026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11.02.2026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11.02.2026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29379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11.02.2026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402822" y="5228956"/>
            <a:ext cx="5489711" cy="6095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5720"/>
              </a:lnSpc>
            </a:pPr>
            <a:r>
              <a:rPr lang="pt-BR" sz="2100" dirty="0" smtClean="0">
                <a:solidFill>
                  <a:srgbClr val="FFFFFF"/>
                </a:solidFill>
                <a:latin typeface="Arial"/>
                <a:ea typeface="Poppins Bold"/>
                <a:cs typeface="Arial"/>
                <a:sym typeface="Poppins Bold"/>
              </a:rPr>
              <a:t>Alinhamento </a:t>
            </a:r>
            <a:r>
              <a:rPr lang="pt-BR" sz="2100" dirty="0">
                <a:solidFill>
                  <a:srgbClr val="FFFFFF"/>
                </a:solidFill>
                <a:latin typeface="Arial"/>
                <a:ea typeface="Poppins Bold"/>
                <a:cs typeface="Arial"/>
                <a:sym typeface="Poppins Bold"/>
              </a:rPr>
              <a:t>Inicial  </a:t>
            </a:r>
            <a:endParaRPr lang="pt-BR" sz="2100" noProof="0" dirty="0">
              <a:solidFill>
                <a:srgbClr val="FFFFFF"/>
              </a:solidFill>
              <a:latin typeface="Arial"/>
              <a:ea typeface="Poppins Bold"/>
              <a:cs typeface="Arial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6296096" y="5801278"/>
            <a:ext cx="1066167" cy="24962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270"/>
              </a:lnSpc>
              <a:spcBef>
                <a:spcPct val="0"/>
              </a:spcBef>
            </a:pPr>
            <a:r>
              <a:rPr lang="pt-BR" sz="800" spc="272" noProof="0">
                <a:solidFill>
                  <a:srgbClr val="1C1C37"/>
                </a:solidFill>
                <a:latin typeface="Aptos Narrow" panose="020B0004020202020204" pitchFamily="34" charset="0"/>
                <a:ea typeface="Poppins"/>
                <a:cs typeface="Arial"/>
                <a:sym typeface="Poppins"/>
              </a:rPr>
              <a:t>P2025XXX</a:t>
            </a:r>
            <a:endParaRPr lang="pt-BR" sz="800" spc="272" noProof="0">
              <a:solidFill>
                <a:srgbClr val="F6F6F6"/>
              </a:solidFill>
              <a:latin typeface="Aptos Narrow" panose="020B0004020202020204" pitchFamily="34" charset="0"/>
              <a:ea typeface="Poppins"/>
              <a:cs typeface="Arial"/>
              <a:sym typeface="Poppins"/>
            </a:endParaRPr>
          </a:p>
        </p:txBody>
      </p:sp>
      <p:sp>
        <p:nvSpPr>
          <p:cNvPr id="2" name="TextBox 11">
            <a:extLst>
              <a:ext uri="{FF2B5EF4-FFF2-40B4-BE49-F238E27FC236}">
                <a16:creationId xmlns:a16="http://schemas.microsoft.com/office/drawing/2014/main" id="{B45C0302-1741-EEE3-6F9D-922AB76474E3}"/>
              </a:ext>
            </a:extLst>
          </p:cNvPr>
          <p:cNvSpPr txBox="1"/>
          <p:nvPr/>
        </p:nvSpPr>
        <p:spPr>
          <a:xfrm>
            <a:off x="402822" y="2751892"/>
            <a:ext cx="10163578" cy="3539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300" b="1" dirty="0" smtClean="0">
                <a:solidFill>
                  <a:srgbClr val="FF5315"/>
                </a:solidFill>
                <a:latin typeface="Arial"/>
                <a:cs typeface="Arial"/>
                <a:sym typeface="Poppins"/>
              </a:rPr>
              <a:t>Grupo </a:t>
            </a:r>
            <a:r>
              <a:rPr lang="pt-BR" sz="2300" b="1" dirty="0">
                <a:solidFill>
                  <a:srgbClr val="FF5315"/>
                </a:solidFill>
                <a:latin typeface="Arial"/>
                <a:cs typeface="Arial"/>
                <a:sym typeface="Poppins"/>
              </a:rPr>
              <a:t>de Estudos AZ-900 </a:t>
            </a:r>
            <a:r>
              <a:rPr lang="pt-BR" sz="2300" b="1" dirty="0" smtClean="0">
                <a:solidFill>
                  <a:srgbClr val="FF5315"/>
                </a:solidFill>
                <a:latin typeface="Arial"/>
                <a:cs typeface="Arial"/>
                <a:sym typeface="Poppins"/>
              </a:rPr>
              <a:t> </a:t>
            </a:r>
            <a:endParaRPr lang="pt-BR" sz="2300" b="1" dirty="0">
              <a:solidFill>
                <a:srgbClr val="FF5315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78187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2306D1-0B6C-DB40-0884-2199B242F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tângulo 51">
            <a:extLst>
              <a:ext uri="{FF2B5EF4-FFF2-40B4-BE49-F238E27FC236}">
                <a16:creationId xmlns:a16="http://schemas.microsoft.com/office/drawing/2014/main" id="{4E02A5C5-9AB8-9BFA-F7E9-DF8B8C9209A8}"/>
              </a:ext>
            </a:extLst>
          </p:cNvPr>
          <p:cNvSpPr/>
          <p:nvPr/>
        </p:nvSpPr>
        <p:spPr>
          <a:xfrm>
            <a:off x="2" y="5611166"/>
            <a:ext cx="12191999" cy="1246834"/>
          </a:xfrm>
          <a:prstGeom prst="rect">
            <a:avLst/>
          </a:prstGeom>
          <a:solidFill>
            <a:srgbClr val="1C1C37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09660"/>
            <a:endParaRPr lang="pt-BR" sz="2700">
              <a:solidFill>
                <a:srgbClr val="E2D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F0678A1B-8FD9-1CD6-9191-D62B5C72F8DF}"/>
              </a:ext>
            </a:extLst>
          </p:cNvPr>
          <p:cNvSpPr txBox="1"/>
          <p:nvPr/>
        </p:nvSpPr>
        <p:spPr>
          <a:xfrm>
            <a:off x="446093" y="5855610"/>
            <a:ext cx="9022727" cy="584775"/>
          </a:xfrm>
          <a:prstGeom prst="rect">
            <a:avLst/>
          </a:prstGeom>
          <a:noFill/>
        </p:spPr>
        <p:txBody>
          <a:bodyPr wrap="square" lIns="60960" tIns="30480" rIns="60960" bIns="3048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92">
              <a:defRPr/>
            </a:pPr>
            <a:r>
              <a:rPr lang="pt-BR" sz="1800" b="1" dirty="0">
                <a:solidFill>
                  <a:srgbClr val="FE3F00"/>
                </a:solidFill>
                <a:latin typeface="Arial"/>
                <a:cs typeface="Arial"/>
              </a:rPr>
              <a:t>Nota:</a:t>
            </a:r>
            <a:endParaRPr lang="pt-BR" sz="1600" b="1" dirty="0">
              <a:solidFill>
                <a:srgbClr val="22213A"/>
              </a:solidFill>
              <a:latin typeface="Arial"/>
              <a:cs typeface="Arial"/>
            </a:endParaRPr>
          </a:p>
          <a:p>
            <a:pPr defTabSz="914492">
              <a:defRPr/>
            </a:pPr>
            <a:r>
              <a:rPr lang="pt-BR" sz="1600" b="1" dirty="0">
                <a:solidFill>
                  <a:schemeClr val="bg1"/>
                </a:solidFill>
                <a:latin typeface="Arial"/>
                <a:cs typeface="Arial"/>
              </a:rPr>
              <a:t>O curso da GREEN é nossa base técnica. O grupo reforça, organiza e mantém o ritmo.</a:t>
            </a:r>
            <a:endParaRPr lang="pt-BR" sz="1600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0E51799C-AB6C-B5A0-DD92-5663C83213B9}"/>
              </a:ext>
            </a:extLst>
          </p:cNvPr>
          <p:cNvSpPr txBox="1"/>
          <p:nvPr/>
        </p:nvSpPr>
        <p:spPr>
          <a:xfrm>
            <a:off x="485786" y="1426293"/>
            <a:ext cx="10831505" cy="2708434"/>
          </a:xfrm>
          <a:prstGeom prst="rect">
            <a:avLst/>
          </a:prstGeom>
          <a:noFill/>
        </p:spPr>
        <p:txBody>
          <a:bodyPr wrap="square" lIns="60960" tIns="30480" rIns="60960" bIns="3048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92">
              <a:defRPr/>
            </a:pPr>
            <a:r>
              <a:rPr lang="pt-BR" sz="2400" b="1" dirty="0" smtClean="0">
                <a:solidFill>
                  <a:srgbClr val="FE3F00"/>
                </a:solidFill>
                <a:latin typeface="Arial"/>
                <a:cs typeface="Arial"/>
              </a:rPr>
              <a:t>Objetivo </a:t>
            </a:r>
            <a:r>
              <a:rPr lang="pt-BR" sz="2400" b="1" dirty="0">
                <a:solidFill>
                  <a:srgbClr val="FE3F00"/>
                </a:solidFill>
                <a:latin typeface="Arial"/>
                <a:cs typeface="Arial"/>
              </a:rPr>
              <a:t>do </a:t>
            </a:r>
            <a:r>
              <a:rPr lang="pt-BR" sz="2400" b="1" dirty="0" smtClean="0">
                <a:solidFill>
                  <a:srgbClr val="FE3F00"/>
                </a:solidFill>
                <a:latin typeface="Arial"/>
                <a:cs typeface="Arial"/>
              </a:rPr>
              <a:t>Grupo:</a:t>
            </a:r>
            <a:endParaRPr lang="pt-BR" sz="2400" b="1" dirty="0">
              <a:solidFill>
                <a:srgbClr val="FE3F00"/>
              </a:solidFill>
              <a:latin typeface="Arial"/>
              <a:cs typeface="Arial"/>
            </a:endParaRPr>
          </a:p>
          <a:p>
            <a:pPr defTabSz="914492">
              <a:defRPr/>
            </a:pPr>
            <a:endParaRPr lang="pt-BR" sz="2000" b="1" dirty="0" smtClean="0">
              <a:solidFill>
                <a:srgbClr val="22213A"/>
              </a:solidFill>
              <a:latin typeface="Arial"/>
              <a:cs typeface="Arial"/>
            </a:endParaRPr>
          </a:p>
          <a:p>
            <a:pPr defTabSz="914492">
              <a:defRPr/>
            </a:pPr>
            <a:r>
              <a:rPr lang="pt-BR" sz="2000" b="1" dirty="0" smtClean="0">
                <a:solidFill>
                  <a:srgbClr val="22213A"/>
                </a:solidFill>
                <a:latin typeface="Arial"/>
                <a:cs typeface="Arial"/>
              </a:rPr>
              <a:t>Conteúdo</a:t>
            </a:r>
          </a:p>
          <a:p>
            <a:pPr defTabSz="914492">
              <a:defRPr/>
            </a:pPr>
            <a:endParaRPr lang="pt-BR" sz="2000" b="1" dirty="0">
              <a:solidFill>
                <a:srgbClr val="22213A"/>
              </a:solidFill>
              <a:latin typeface="Arial"/>
              <a:cs typeface="Arial"/>
            </a:endParaRPr>
          </a:p>
          <a:p>
            <a:pPr marL="342900" indent="-342900" defTabSz="914492">
              <a:buFont typeface="Arial" panose="020B0604020202020204" pitchFamily="34" charset="0"/>
              <a:buChar char="•"/>
              <a:defRPr/>
            </a:pPr>
            <a:r>
              <a:rPr lang="pt-BR" sz="1900" b="1" dirty="0" smtClean="0">
                <a:solidFill>
                  <a:srgbClr val="22213A"/>
                </a:solidFill>
                <a:latin typeface="Arial"/>
                <a:cs typeface="Arial"/>
              </a:rPr>
              <a:t>Complementar </a:t>
            </a:r>
            <a:r>
              <a:rPr lang="pt-BR" sz="1900" b="1" dirty="0">
                <a:solidFill>
                  <a:srgbClr val="22213A"/>
                </a:solidFill>
                <a:latin typeface="Arial"/>
                <a:cs typeface="Arial"/>
              </a:rPr>
              <a:t>o curso ao vivo da GREEN</a:t>
            </a:r>
          </a:p>
          <a:p>
            <a:pPr marL="342900" indent="-342900" defTabSz="914492">
              <a:buFont typeface="Arial" panose="020B0604020202020204" pitchFamily="34" charset="0"/>
              <a:buChar char="•"/>
              <a:defRPr/>
            </a:pPr>
            <a:r>
              <a:rPr lang="pt-BR" sz="1900" b="1" dirty="0" smtClean="0">
                <a:solidFill>
                  <a:srgbClr val="22213A"/>
                </a:solidFill>
                <a:latin typeface="Arial"/>
                <a:cs typeface="Arial"/>
              </a:rPr>
              <a:t>Criar </a:t>
            </a:r>
            <a:r>
              <a:rPr lang="pt-BR" sz="1900" b="1" dirty="0">
                <a:solidFill>
                  <a:srgbClr val="22213A"/>
                </a:solidFill>
                <a:latin typeface="Arial"/>
                <a:cs typeface="Arial"/>
              </a:rPr>
              <a:t>um ambiente de apoio, troca e disciplina coletiva</a:t>
            </a:r>
          </a:p>
          <a:p>
            <a:pPr marL="342900" indent="-342900" defTabSz="914492">
              <a:buFont typeface="Arial" panose="020B0604020202020204" pitchFamily="34" charset="0"/>
              <a:buChar char="•"/>
              <a:defRPr/>
            </a:pPr>
            <a:r>
              <a:rPr lang="pt-BR" sz="1900" b="1" dirty="0" smtClean="0">
                <a:solidFill>
                  <a:srgbClr val="22213A"/>
                </a:solidFill>
                <a:latin typeface="Arial"/>
                <a:cs typeface="Arial"/>
              </a:rPr>
              <a:t>Manter </a:t>
            </a:r>
            <a:r>
              <a:rPr lang="pt-BR" sz="1900" b="1" dirty="0">
                <a:solidFill>
                  <a:srgbClr val="22213A"/>
                </a:solidFill>
                <a:latin typeface="Arial"/>
                <a:cs typeface="Arial"/>
              </a:rPr>
              <a:t>constância rumo à certificação AZ-900</a:t>
            </a:r>
          </a:p>
          <a:p>
            <a:pPr marL="342900" indent="-342900" defTabSz="914492">
              <a:buFont typeface="Arial" panose="020B0604020202020204" pitchFamily="34" charset="0"/>
              <a:buChar char="•"/>
              <a:defRPr/>
            </a:pPr>
            <a:r>
              <a:rPr lang="pt-BR" sz="1900" b="1" dirty="0" smtClean="0">
                <a:solidFill>
                  <a:srgbClr val="22213A"/>
                </a:solidFill>
                <a:latin typeface="Arial"/>
                <a:cs typeface="Arial"/>
              </a:rPr>
              <a:t>Facilitar </a:t>
            </a:r>
            <a:r>
              <a:rPr lang="pt-BR" sz="1900" b="1" dirty="0">
                <a:solidFill>
                  <a:srgbClr val="22213A"/>
                </a:solidFill>
                <a:latin typeface="Arial"/>
                <a:cs typeface="Arial"/>
              </a:rPr>
              <a:t>a jornada de aprendizado em </a:t>
            </a:r>
            <a:r>
              <a:rPr lang="pt-BR" sz="1900" b="1" dirty="0" smtClean="0">
                <a:solidFill>
                  <a:srgbClr val="22213A"/>
                </a:solidFill>
                <a:latin typeface="Arial"/>
                <a:cs typeface="Arial"/>
              </a:rPr>
              <a:t>equipe</a:t>
            </a:r>
            <a:endParaRPr lang="pt-BR" sz="1700" b="1" dirty="0">
              <a:solidFill>
                <a:srgbClr val="22213A"/>
              </a:solidFill>
              <a:latin typeface="Arial"/>
              <a:cs typeface="Arial"/>
            </a:endParaRPr>
          </a:p>
          <a:p>
            <a:pPr defTabSz="914492">
              <a:defRPr/>
            </a:pPr>
            <a:endParaRPr lang="pt-BR" dirty="0">
              <a:solidFill>
                <a:srgbClr val="22213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70104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2306D1-0B6C-DB40-0884-2199B242F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tângulo 51">
            <a:extLst>
              <a:ext uri="{FF2B5EF4-FFF2-40B4-BE49-F238E27FC236}">
                <a16:creationId xmlns:a16="http://schemas.microsoft.com/office/drawing/2014/main" id="{4E02A5C5-9AB8-9BFA-F7E9-DF8B8C9209A8}"/>
              </a:ext>
            </a:extLst>
          </p:cNvPr>
          <p:cNvSpPr/>
          <p:nvPr/>
        </p:nvSpPr>
        <p:spPr>
          <a:xfrm>
            <a:off x="2" y="5611166"/>
            <a:ext cx="12191999" cy="1246834"/>
          </a:xfrm>
          <a:prstGeom prst="rect">
            <a:avLst/>
          </a:prstGeom>
          <a:solidFill>
            <a:srgbClr val="1C1C37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09660"/>
            <a:endParaRPr lang="pt-BR" sz="2700">
              <a:solidFill>
                <a:srgbClr val="E2D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F0678A1B-8FD9-1CD6-9191-D62B5C72F8DF}"/>
              </a:ext>
            </a:extLst>
          </p:cNvPr>
          <p:cNvSpPr txBox="1"/>
          <p:nvPr/>
        </p:nvSpPr>
        <p:spPr>
          <a:xfrm>
            <a:off x="446093" y="5855610"/>
            <a:ext cx="9022727" cy="584775"/>
          </a:xfrm>
          <a:prstGeom prst="rect">
            <a:avLst/>
          </a:prstGeom>
          <a:noFill/>
        </p:spPr>
        <p:txBody>
          <a:bodyPr wrap="square" lIns="60960" tIns="30480" rIns="60960" bIns="3048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92">
              <a:defRPr/>
            </a:pPr>
            <a:r>
              <a:rPr lang="pt-BR" sz="1800" b="1" dirty="0">
                <a:solidFill>
                  <a:srgbClr val="FE3F00"/>
                </a:solidFill>
                <a:latin typeface="Arial"/>
                <a:cs typeface="Arial"/>
              </a:rPr>
              <a:t>Nota:</a:t>
            </a:r>
            <a:endParaRPr lang="pt-BR" sz="1600" b="1" dirty="0">
              <a:solidFill>
                <a:srgbClr val="22213A"/>
              </a:solidFill>
              <a:latin typeface="Arial"/>
              <a:cs typeface="Arial"/>
            </a:endParaRPr>
          </a:p>
          <a:p>
            <a:pPr defTabSz="914492">
              <a:defRPr/>
            </a:pPr>
            <a:r>
              <a:rPr lang="pt-BR" sz="1600" b="1" dirty="0" smtClean="0">
                <a:solidFill>
                  <a:schemeClr val="bg1"/>
                </a:solidFill>
                <a:latin typeface="Arial"/>
                <a:cs typeface="Arial"/>
              </a:rPr>
              <a:t>Os </a:t>
            </a:r>
            <a:r>
              <a:rPr lang="pt-BR" sz="1600" b="1" dirty="0">
                <a:solidFill>
                  <a:schemeClr val="bg1"/>
                </a:solidFill>
                <a:latin typeface="Arial"/>
                <a:cs typeface="Arial"/>
              </a:rPr>
              <a:t>encontros não são aulas. São momentos de reforço, prática e alinhamento </a:t>
            </a:r>
            <a:endParaRPr lang="pt-BR" sz="1600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E51799C-AB6C-B5A0-DD92-5663C83213B9}"/>
              </a:ext>
            </a:extLst>
          </p:cNvPr>
          <p:cNvSpPr txBox="1"/>
          <p:nvPr/>
        </p:nvSpPr>
        <p:spPr>
          <a:xfrm>
            <a:off x="446093" y="1021401"/>
            <a:ext cx="10831505" cy="4108817"/>
          </a:xfrm>
          <a:prstGeom prst="rect">
            <a:avLst/>
          </a:prstGeom>
          <a:noFill/>
        </p:spPr>
        <p:txBody>
          <a:bodyPr wrap="square" lIns="60960" tIns="30480" rIns="60960" bIns="3048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92">
              <a:defRPr/>
            </a:pPr>
            <a:r>
              <a:rPr lang="pt-BR" sz="2300" b="1" dirty="0" smtClean="0">
                <a:solidFill>
                  <a:srgbClr val="FE3F00"/>
                </a:solidFill>
                <a:latin typeface="Arial"/>
                <a:cs typeface="Arial"/>
              </a:rPr>
              <a:t>Formato do Encontro:</a:t>
            </a:r>
            <a:endParaRPr lang="pt-BR" sz="2300" b="1" dirty="0">
              <a:solidFill>
                <a:srgbClr val="FE3F00"/>
              </a:solidFill>
              <a:latin typeface="Arial"/>
              <a:cs typeface="Arial"/>
            </a:endParaRPr>
          </a:p>
          <a:p>
            <a:pPr defTabSz="914492">
              <a:defRPr/>
            </a:pPr>
            <a:endParaRPr lang="pt-BR" sz="2000" b="1" dirty="0">
              <a:solidFill>
                <a:srgbClr val="22213A"/>
              </a:solidFill>
              <a:latin typeface="Arial"/>
              <a:cs typeface="Arial"/>
            </a:endParaRPr>
          </a:p>
          <a:p>
            <a:pPr defTabSz="914492">
              <a:defRPr/>
            </a:pPr>
            <a:r>
              <a:rPr lang="pt-BR" sz="2000" b="1" dirty="0" smtClean="0">
                <a:solidFill>
                  <a:srgbClr val="00B0F0"/>
                </a:solidFill>
                <a:latin typeface="Arial"/>
                <a:cs typeface="Arial"/>
              </a:rPr>
              <a:t>Conteúdo</a:t>
            </a:r>
            <a:endParaRPr lang="pt-BR" sz="2000" b="1" dirty="0" smtClean="0">
              <a:solidFill>
                <a:srgbClr val="22213A"/>
              </a:solidFill>
              <a:latin typeface="Arial"/>
              <a:cs typeface="Arial"/>
            </a:endParaRPr>
          </a:p>
          <a:p>
            <a:pPr marL="342900" indent="-342900" defTabSz="914492">
              <a:buFont typeface="Arial" panose="020B0604020202020204" pitchFamily="34" charset="0"/>
              <a:buChar char="•"/>
              <a:defRPr/>
            </a:pPr>
            <a:r>
              <a:rPr lang="pt-BR" sz="2000" b="1" dirty="0" smtClean="0">
                <a:solidFill>
                  <a:srgbClr val="22213A"/>
                </a:solidFill>
                <a:latin typeface="Arial"/>
                <a:cs typeface="Arial"/>
              </a:rPr>
              <a:t>Reuniões </a:t>
            </a:r>
            <a:r>
              <a:rPr lang="pt-BR" sz="2000" b="1" dirty="0">
                <a:solidFill>
                  <a:srgbClr val="22213A"/>
                </a:solidFill>
                <a:latin typeface="Arial"/>
                <a:cs typeface="Arial"/>
              </a:rPr>
              <a:t>rápidas no fim do dia</a:t>
            </a:r>
          </a:p>
          <a:p>
            <a:pPr marL="342900" indent="-342900" defTabSz="914492">
              <a:buFont typeface="Arial" panose="020B0604020202020204" pitchFamily="34" charset="0"/>
              <a:buChar char="•"/>
              <a:defRPr/>
            </a:pPr>
            <a:r>
              <a:rPr lang="pt-BR" sz="2000" b="1" dirty="0" smtClean="0">
                <a:solidFill>
                  <a:srgbClr val="22213A"/>
                </a:solidFill>
                <a:latin typeface="Arial"/>
                <a:cs typeface="Arial"/>
              </a:rPr>
              <a:t>Frequência</a:t>
            </a:r>
            <a:r>
              <a:rPr lang="pt-BR" sz="2000" b="1" dirty="0">
                <a:solidFill>
                  <a:srgbClr val="22213A"/>
                </a:solidFill>
                <a:latin typeface="Arial"/>
                <a:cs typeface="Arial"/>
              </a:rPr>
              <a:t>: semanal</a:t>
            </a:r>
          </a:p>
          <a:p>
            <a:pPr marL="342900" indent="-342900" defTabSz="914492">
              <a:buFont typeface="Arial" panose="020B0604020202020204" pitchFamily="34" charset="0"/>
              <a:buChar char="•"/>
              <a:defRPr/>
            </a:pPr>
            <a:r>
              <a:rPr lang="pt-BR" sz="2000" b="1" dirty="0" smtClean="0">
                <a:solidFill>
                  <a:srgbClr val="22213A"/>
                </a:solidFill>
                <a:latin typeface="Arial"/>
                <a:cs typeface="Arial"/>
              </a:rPr>
              <a:t>Duração</a:t>
            </a:r>
            <a:r>
              <a:rPr lang="pt-BR" sz="2000" b="1" dirty="0">
                <a:solidFill>
                  <a:srgbClr val="22213A"/>
                </a:solidFill>
                <a:latin typeface="Arial"/>
                <a:cs typeface="Arial"/>
              </a:rPr>
              <a:t>: </a:t>
            </a:r>
            <a:r>
              <a:rPr lang="pt-BR" sz="2000" b="1" dirty="0" smtClean="0">
                <a:solidFill>
                  <a:srgbClr val="22213A"/>
                </a:solidFill>
                <a:latin typeface="Arial"/>
                <a:cs typeface="Arial"/>
              </a:rPr>
              <a:t>30 minutos</a:t>
            </a:r>
            <a:endParaRPr lang="pt-BR" sz="2000" b="1" dirty="0">
              <a:solidFill>
                <a:srgbClr val="22213A"/>
              </a:solidFill>
              <a:latin typeface="Arial"/>
              <a:cs typeface="Arial"/>
            </a:endParaRPr>
          </a:p>
          <a:p>
            <a:pPr defTabSz="914492">
              <a:defRPr/>
            </a:pPr>
            <a:endParaRPr lang="pt-BR" sz="2000" b="1" dirty="0" smtClean="0">
              <a:solidFill>
                <a:srgbClr val="22213A"/>
              </a:solidFill>
              <a:latin typeface="Arial"/>
              <a:cs typeface="Arial"/>
            </a:endParaRPr>
          </a:p>
          <a:p>
            <a:pPr defTabSz="914492">
              <a:defRPr/>
            </a:pPr>
            <a:r>
              <a:rPr lang="pt-BR" sz="2000" b="1" dirty="0" smtClean="0">
                <a:solidFill>
                  <a:srgbClr val="00B0F0"/>
                </a:solidFill>
                <a:latin typeface="Arial"/>
                <a:cs typeface="Arial"/>
              </a:rPr>
              <a:t>Foco </a:t>
            </a:r>
            <a:r>
              <a:rPr lang="pt-BR" sz="2000" b="1" dirty="0">
                <a:solidFill>
                  <a:srgbClr val="00B0F0"/>
                </a:solidFill>
                <a:latin typeface="Arial"/>
                <a:cs typeface="Arial"/>
              </a:rPr>
              <a:t>dos </a:t>
            </a:r>
            <a:r>
              <a:rPr lang="pt-BR" sz="2000" b="1" dirty="0" smtClean="0">
                <a:solidFill>
                  <a:srgbClr val="00B0F0"/>
                </a:solidFill>
                <a:latin typeface="Arial"/>
                <a:cs typeface="Arial"/>
              </a:rPr>
              <a:t>encontros</a:t>
            </a:r>
            <a:endParaRPr lang="pt-BR" sz="2000" b="1" dirty="0">
              <a:solidFill>
                <a:srgbClr val="00B0F0"/>
              </a:solidFill>
              <a:latin typeface="Arial"/>
              <a:cs typeface="Arial"/>
            </a:endParaRPr>
          </a:p>
          <a:p>
            <a:pPr marL="342900" indent="-342900" defTabSz="914492">
              <a:buFont typeface="Arial" panose="020B0604020202020204" pitchFamily="34" charset="0"/>
              <a:buChar char="•"/>
              <a:defRPr/>
            </a:pPr>
            <a:r>
              <a:rPr lang="pt-BR" sz="2000" b="1" dirty="0" smtClean="0">
                <a:solidFill>
                  <a:srgbClr val="22213A"/>
                </a:solidFill>
                <a:latin typeface="Arial"/>
                <a:cs typeface="Arial"/>
              </a:rPr>
              <a:t>Revisão </a:t>
            </a:r>
            <a:r>
              <a:rPr lang="pt-BR" sz="2000" b="1" dirty="0">
                <a:solidFill>
                  <a:srgbClr val="22213A"/>
                </a:solidFill>
                <a:latin typeface="Arial"/>
                <a:cs typeface="Arial"/>
              </a:rPr>
              <a:t>do conteúdo visto no curso</a:t>
            </a:r>
          </a:p>
          <a:p>
            <a:pPr marL="342900" indent="-342900" defTabSz="914492">
              <a:buFont typeface="Arial" panose="020B0604020202020204" pitchFamily="34" charset="0"/>
              <a:buChar char="•"/>
              <a:defRPr/>
            </a:pPr>
            <a:r>
              <a:rPr lang="pt-BR" sz="2000" b="1" dirty="0" smtClean="0">
                <a:solidFill>
                  <a:srgbClr val="22213A"/>
                </a:solidFill>
                <a:latin typeface="Arial"/>
                <a:cs typeface="Arial"/>
              </a:rPr>
              <a:t>Resolução </a:t>
            </a:r>
            <a:r>
              <a:rPr lang="pt-BR" sz="2000" b="1" dirty="0">
                <a:solidFill>
                  <a:srgbClr val="22213A"/>
                </a:solidFill>
                <a:latin typeface="Arial"/>
                <a:cs typeface="Arial"/>
              </a:rPr>
              <a:t>de questões</a:t>
            </a:r>
          </a:p>
          <a:p>
            <a:pPr marL="342900" indent="-342900" defTabSz="914492">
              <a:buFont typeface="Arial" panose="020B0604020202020204" pitchFamily="34" charset="0"/>
              <a:buChar char="•"/>
              <a:defRPr/>
            </a:pPr>
            <a:r>
              <a:rPr lang="pt-BR" sz="2000" b="1" dirty="0" smtClean="0">
                <a:solidFill>
                  <a:srgbClr val="22213A"/>
                </a:solidFill>
                <a:latin typeface="Arial"/>
                <a:cs typeface="Arial"/>
              </a:rPr>
              <a:t>Troca </a:t>
            </a:r>
            <a:r>
              <a:rPr lang="pt-BR" sz="2000" b="1" dirty="0">
                <a:solidFill>
                  <a:srgbClr val="22213A"/>
                </a:solidFill>
                <a:latin typeface="Arial"/>
                <a:cs typeface="Arial"/>
              </a:rPr>
              <a:t>de dúvidas</a:t>
            </a:r>
          </a:p>
          <a:p>
            <a:pPr defTabSz="914492">
              <a:defRPr/>
            </a:pPr>
            <a:endParaRPr lang="pt-BR" sz="2000" b="1" dirty="0">
              <a:solidFill>
                <a:srgbClr val="22213A"/>
              </a:solidFill>
              <a:latin typeface="Arial"/>
              <a:cs typeface="Arial"/>
            </a:endParaRPr>
          </a:p>
          <a:p>
            <a:pPr defTabSz="914492">
              <a:defRPr/>
            </a:pPr>
            <a:r>
              <a:rPr lang="pt-BR" sz="2000" b="1" dirty="0" smtClean="0">
                <a:solidFill>
                  <a:srgbClr val="22213A"/>
                </a:solidFill>
                <a:latin typeface="Arial"/>
                <a:cs typeface="Arial"/>
              </a:rPr>
              <a:t>Compartilhamento </a:t>
            </a:r>
            <a:r>
              <a:rPr lang="pt-BR" sz="2000" b="1" dirty="0">
                <a:solidFill>
                  <a:srgbClr val="22213A"/>
                </a:solidFill>
                <a:latin typeface="Arial"/>
                <a:cs typeface="Arial"/>
              </a:rPr>
              <a:t>de insights e </a:t>
            </a:r>
            <a:r>
              <a:rPr lang="pt-BR" sz="2000" b="1" dirty="0" smtClean="0">
                <a:solidFill>
                  <a:srgbClr val="22213A"/>
                </a:solidFill>
                <a:latin typeface="Arial"/>
                <a:cs typeface="Arial"/>
              </a:rPr>
              <a:t>dificuldades</a:t>
            </a:r>
            <a:endParaRPr lang="pt-BR" sz="2000" b="1" dirty="0">
              <a:solidFill>
                <a:srgbClr val="22213A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446904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2306D1-0B6C-DB40-0884-2199B242F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tângulo 51">
            <a:extLst>
              <a:ext uri="{FF2B5EF4-FFF2-40B4-BE49-F238E27FC236}">
                <a16:creationId xmlns:a16="http://schemas.microsoft.com/office/drawing/2014/main" id="{4E02A5C5-9AB8-9BFA-F7E9-DF8B8C9209A8}"/>
              </a:ext>
            </a:extLst>
          </p:cNvPr>
          <p:cNvSpPr/>
          <p:nvPr/>
        </p:nvSpPr>
        <p:spPr>
          <a:xfrm>
            <a:off x="2" y="5611166"/>
            <a:ext cx="12191999" cy="1246834"/>
          </a:xfrm>
          <a:prstGeom prst="rect">
            <a:avLst/>
          </a:prstGeom>
          <a:solidFill>
            <a:srgbClr val="1C1C37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09660"/>
            <a:endParaRPr lang="pt-BR" sz="2700">
              <a:solidFill>
                <a:srgbClr val="E2D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F0678A1B-8FD9-1CD6-9191-D62B5C72F8DF}"/>
              </a:ext>
            </a:extLst>
          </p:cNvPr>
          <p:cNvSpPr txBox="1"/>
          <p:nvPr/>
        </p:nvSpPr>
        <p:spPr>
          <a:xfrm>
            <a:off x="446093" y="5855610"/>
            <a:ext cx="10979289" cy="615553"/>
          </a:xfrm>
          <a:prstGeom prst="rect">
            <a:avLst/>
          </a:prstGeom>
          <a:noFill/>
        </p:spPr>
        <p:txBody>
          <a:bodyPr wrap="square" lIns="60960" tIns="30480" rIns="60960" bIns="3048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92">
              <a:defRPr/>
            </a:pPr>
            <a:r>
              <a:rPr lang="pt-BR" sz="1800" b="1" dirty="0" smtClean="0">
                <a:solidFill>
                  <a:srgbClr val="FE3F00"/>
                </a:solidFill>
                <a:latin typeface="Arial"/>
                <a:cs typeface="Arial"/>
              </a:rPr>
              <a:t>Nota:</a:t>
            </a:r>
            <a:r>
              <a:rPr lang="pt-BR" sz="1800" b="1" dirty="0" smtClean="0">
                <a:solidFill>
                  <a:schemeClr val="bg1"/>
                </a:solidFill>
                <a:latin typeface="Arial"/>
                <a:cs typeface="Arial"/>
              </a:rPr>
              <a:t/>
            </a:r>
            <a:br>
              <a:rPr lang="pt-BR" sz="1800" b="1" dirty="0" smtClean="0">
                <a:solidFill>
                  <a:schemeClr val="bg1"/>
                </a:solidFill>
                <a:latin typeface="Arial"/>
                <a:cs typeface="Arial"/>
              </a:rPr>
            </a:br>
            <a:r>
              <a:rPr lang="pt-BR" sz="1800" b="1" dirty="0" smtClean="0">
                <a:solidFill>
                  <a:schemeClr val="bg1"/>
                </a:solidFill>
                <a:latin typeface="Arial"/>
                <a:cs typeface="Arial"/>
              </a:rPr>
              <a:t>É </a:t>
            </a:r>
            <a:r>
              <a:rPr lang="pt-BR" sz="1800" b="1" dirty="0">
                <a:solidFill>
                  <a:schemeClr val="bg1"/>
                </a:solidFill>
                <a:latin typeface="Arial"/>
                <a:cs typeface="Arial"/>
              </a:rPr>
              <a:t>um esforço compartilhado. Cada pessoa contribui para que o encontro seja produtivo.</a:t>
            </a:r>
            <a:endParaRPr lang="pt-BR" sz="1600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E51799C-AB6C-B5A0-DD92-5663C83213B9}"/>
              </a:ext>
            </a:extLst>
          </p:cNvPr>
          <p:cNvSpPr txBox="1"/>
          <p:nvPr/>
        </p:nvSpPr>
        <p:spPr>
          <a:xfrm>
            <a:off x="446093" y="1409328"/>
            <a:ext cx="10831505" cy="2569934"/>
          </a:xfrm>
          <a:prstGeom prst="rect">
            <a:avLst/>
          </a:prstGeom>
          <a:noFill/>
        </p:spPr>
        <p:txBody>
          <a:bodyPr wrap="square" lIns="60960" tIns="30480" rIns="60960" bIns="3048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92">
              <a:defRPr/>
            </a:pPr>
            <a:r>
              <a:rPr lang="pt-BR" sz="2300" b="1" dirty="0" smtClean="0">
                <a:solidFill>
                  <a:srgbClr val="FE3F00"/>
                </a:solidFill>
                <a:latin typeface="Arial"/>
                <a:cs typeface="Arial"/>
              </a:rPr>
              <a:t>Papel dos Participantes</a:t>
            </a:r>
            <a:endParaRPr lang="pt-BR" sz="2300" b="1" dirty="0">
              <a:solidFill>
                <a:srgbClr val="FE3F00"/>
              </a:solidFill>
              <a:latin typeface="Arial"/>
              <a:cs typeface="Arial"/>
            </a:endParaRPr>
          </a:p>
          <a:p>
            <a:pPr defTabSz="914492">
              <a:defRPr/>
            </a:pPr>
            <a:endParaRPr lang="pt-BR" sz="2000" b="1" dirty="0">
              <a:solidFill>
                <a:srgbClr val="22213A"/>
              </a:solidFill>
              <a:latin typeface="Arial"/>
              <a:cs typeface="Arial"/>
            </a:endParaRPr>
          </a:p>
          <a:p>
            <a:pPr marL="342900" indent="-342900" defTabSz="914492">
              <a:buFont typeface="Arial" panose="020B0604020202020204" pitchFamily="34" charset="0"/>
              <a:buChar char="•"/>
              <a:defRPr/>
            </a:pPr>
            <a:r>
              <a:rPr lang="pt-BR" sz="2000" b="1" dirty="0" smtClean="0">
                <a:solidFill>
                  <a:srgbClr val="22213A"/>
                </a:solidFill>
                <a:latin typeface="Arial"/>
                <a:cs typeface="Arial"/>
              </a:rPr>
              <a:t>O </a:t>
            </a:r>
            <a:r>
              <a:rPr lang="pt-BR" sz="2000" b="1" dirty="0">
                <a:solidFill>
                  <a:srgbClr val="22213A"/>
                </a:solidFill>
                <a:latin typeface="Arial"/>
                <a:cs typeface="Arial"/>
              </a:rPr>
              <a:t>grupo não substitui o curso nem o estudo individual</a:t>
            </a:r>
          </a:p>
          <a:p>
            <a:pPr marL="342900" indent="-342900" defTabSz="914492">
              <a:buFont typeface="Arial" panose="020B0604020202020204" pitchFamily="34" charset="0"/>
              <a:buChar char="•"/>
              <a:defRPr/>
            </a:pPr>
            <a:r>
              <a:rPr lang="pt-BR" sz="2000" b="1" dirty="0" smtClean="0">
                <a:solidFill>
                  <a:srgbClr val="22213A"/>
                </a:solidFill>
                <a:latin typeface="Arial"/>
                <a:cs typeface="Arial"/>
              </a:rPr>
              <a:t>Chegar </a:t>
            </a:r>
            <a:r>
              <a:rPr lang="pt-BR" sz="2000" b="1" dirty="0">
                <a:solidFill>
                  <a:srgbClr val="22213A"/>
                </a:solidFill>
                <a:latin typeface="Arial"/>
                <a:cs typeface="Arial"/>
              </a:rPr>
              <a:t>preparado para aproveitar o encontro</a:t>
            </a:r>
          </a:p>
          <a:p>
            <a:pPr marL="342900" indent="-342900" defTabSz="914492">
              <a:buFont typeface="Arial" panose="020B0604020202020204" pitchFamily="34" charset="0"/>
              <a:buChar char="•"/>
              <a:defRPr/>
            </a:pPr>
            <a:r>
              <a:rPr lang="pt-BR" sz="2000" b="1" dirty="0" smtClean="0">
                <a:solidFill>
                  <a:srgbClr val="22213A"/>
                </a:solidFill>
                <a:latin typeface="Arial"/>
                <a:cs typeface="Arial"/>
              </a:rPr>
              <a:t>Trazer </a:t>
            </a:r>
            <a:r>
              <a:rPr lang="pt-BR" sz="2000" b="1" dirty="0">
                <a:solidFill>
                  <a:srgbClr val="22213A"/>
                </a:solidFill>
                <a:latin typeface="Arial"/>
                <a:cs typeface="Arial"/>
              </a:rPr>
              <a:t>dúvidas anotadas</a:t>
            </a:r>
          </a:p>
          <a:p>
            <a:pPr marL="342900" indent="-342900" defTabSz="914492">
              <a:buFont typeface="Arial" panose="020B0604020202020204" pitchFamily="34" charset="0"/>
              <a:buChar char="•"/>
              <a:defRPr/>
            </a:pPr>
            <a:r>
              <a:rPr lang="pt-BR" sz="2000" b="1" dirty="0" smtClean="0">
                <a:solidFill>
                  <a:srgbClr val="22213A"/>
                </a:solidFill>
                <a:latin typeface="Arial"/>
                <a:cs typeface="Arial"/>
              </a:rPr>
              <a:t>Praticar </a:t>
            </a:r>
            <a:r>
              <a:rPr lang="pt-BR" sz="2000" b="1" dirty="0">
                <a:solidFill>
                  <a:srgbClr val="22213A"/>
                </a:solidFill>
                <a:latin typeface="Arial"/>
                <a:cs typeface="Arial"/>
              </a:rPr>
              <a:t>questões semanalmente</a:t>
            </a:r>
          </a:p>
          <a:p>
            <a:pPr marL="342900" indent="-342900" defTabSz="914492">
              <a:buFont typeface="Arial" panose="020B0604020202020204" pitchFamily="34" charset="0"/>
              <a:buChar char="•"/>
              <a:defRPr/>
            </a:pPr>
            <a:r>
              <a:rPr lang="pt-BR" sz="2000" b="1" dirty="0" smtClean="0">
                <a:solidFill>
                  <a:srgbClr val="22213A"/>
                </a:solidFill>
                <a:latin typeface="Arial"/>
                <a:cs typeface="Arial"/>
              </a:rPr>
              <a:t>Contribuir </a:t>
            </a:r>
            <a:r>
              <a:rPr lang="pt-BR" sz="2000" b="1" dirty="0">
                <a:solidFill>
                  <a:srgbClr val="22213A"/>
                </a:solidFill>
                <a:latin typeface="Arial"/>
                <a:cs typeface="Arial"/>
              </a:rPr>
              <a:t>para um ambiente colaborativo</a:t>
            </a:r>
          </a:p>
          <a:p>
            <a:pPr defTabSz="914492">
              <a:defRPr/>
            </a:pPr>
            <a:endParaRPr lang="pt-BR" sz="2000" b="1" dirty="0" smtClean="0">
              <a:solidFill>
                <a:srgbClr val="22213A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531208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2306D1-0B6C-DB40-0884-2199B242F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tângulo 51">
            <a:extLst>
              <a:ext uri="{FF2B5EF4-FFF2-40B4-BE49-F238E27FC236}">
                <a16:creationId xmlns:a16="http://schemas.microsoft.com/office/drawing/2014/main" id="{4E02A5C5-9AB8-9BFA-F7E9-DF8B8C9209A8}"/>
              </a:ext>
            </a:extLst>
          </p:cNvPr>
          <p:cNvSpPr/>
          <p:nvPr/>
        </p:nvSpPr>
        <p:spPr>
          <a:xfrm>
            <a:off x="2" y="5611166"/>
            <a:ext cx="12191999" cy="1246834"/>
          </a:xfrm>
          <a:prstGeom prst="rect">
            <a:avLst/>
          </a:prstGeom>
          <a:solidFill>
            <a:srgbClr val="1C1C37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09660"/>
            <a:endParaRPr lang="pt-BR" sz="2700">
              <a:solidFill>
                <a:srgbClr val="E2D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F0678A1B-8FD9-1CD6-9191-D62B5C72F8DF}"/>
              </a:ext>
            </a:extLst>
          </p:cNvPr>
          <p:cNvSpPr txBox="1"/>
          <p:nvPr/>
        </p:nvSpPr>
        <p:spPr>
          <a:xfrm>
            <a:off x="446093" y="5855610"/>
            <a:ext cx="10979289" cy="615553"/>
          </a:xfrm>
          <a:prstGeom prst="rect">
            <a:avLst/>
          </a:prstGeom>
          <a:noFill/>
        </p:spPr>
        <p:txBody>
          <a:bodyPr wrap="square" lIns="60960" tIns="30480" rIns="60960" bIns="3048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92">
              <a:defRPr/>
            </a:pPr>
            <a:r>
              <a:rPr lang="pt-BR" sz="1800" b="1" dirty="0" smtClean="0">
                <a:solidFill>
                  <a:srgbClr val="FE3F00"/>
                </a:solidFill>
                <a:latin typeface="Arial"/>
                <a:cs typeface="Arial"/>
              </a:rPr>
              <a:t>Nota:</a:t>
            </a:r>
            <a:r>
              <a:rPr lang="pt-BR" sz="1800" b="1" dirty="0" smtClean="0">
                <a:solidFill>
                  <a:schemeClr val="bg1"/>
                </a:solidFill>
                <a:latin typeface="Arial"/>
                <a:cs typeface="Arial"/>
              </a:rPr>
              <a:t/>
            </a:r>
            <a:br>
              <a:rPr lang="pt-BR" sz="1800" b="1" dirty="0" smtClean="0">
                <a:solidFill>
                  <a:schemeClr val="bg1"/>
                </a:solidFill>
                <a:latin typeface="Arial"/>
                <a:cs typeface="Arial"/>
              </a:rPr>
            </a:br>
            <a:r>
              <a:rPr lang="pt-BR" sz="1800" b="1" dirty="0" smtClean="0">
                <a:solidFill>
                  <a:schemeClr val="bg1"/>
                </a:solidFill>
                <a:latin typeface="Arial"/>
                <a:cs typeface="Arial"/>
              </a:rPr>
              <a:t>Com </a:t>
            </a:r>
            <a:r>
              <a:rPr lang="pt-BR" sz="1800" b="1" dirty="0">
                <a:solidFill>
                  <a:schemeClr val="bg1"/>
                </a:solidFill>
                <a:latin typeface="Arial"/>
                <a:cs typeface="Arial"/>
              </a:rPr>
              <a:t>organização e constância, a certificação fica muito mais </a:t>
            </a:r>
            <a:r>
              <a:rPr lang="pt-BR" sz="1800" b="1" dirty="0" smtClean="0">
                <a:solidFill>
                  <a:schemeClr val="bg1"/>
                </a:solidFill>
                <a:latin typeface="Arial"/>
                <a:cs typeface="Arial"/>
              </a:rPr>
              <a:t>acessível.</a:t>
            </a:r>
            <a:endParaRPr lang="pt-BR" sz="1600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E51799C-AB6C-B5A0-DD92-5663C83213B9}"/>
              </a:ext>
            </a:extLst>
          </p:cNvPr>
          <p:cNvSpPr txBox="1"/>
          <p:nvPr/>
        </p:nvSpPr>
        <p:spPr>
          <a:xfrm>
            <a:off x="446093" y="1409328"/>
            <a:ext cx="10831505" cy="3185487"/>
          </a:xfrm>
          <a:prstGeom prst="rect">
            <a:avLst/>
          </a:prstGeom>
          <a:noFill/>
        </p:spPr>
        <p:txBody>
          <a:bodyPr wrap="square" lIns="60960" tIns="30480" rIns="60960" bIns="3048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92">
              <a:defRPr/>
            </a:pPr>
            <a:r>
              <a:rPr lang="pt-BR" sz="2300" b="1" dirty="0" smtClean="0">
                <a:solidFill>
                  <a:srgbClr val="FE3F00"/>
                </a:solidFill>
                <a:latin typeface="Arial"/>
                <a:cs typeface="Arial"/>
              </a:rPr>
              <a:t>Observação Final</a:t>
            </a:r>
            <a:endParaRPr lang="pt-BR" sz="2300" b="1" dirty="0">
              <a:solidFill>
                <a:srgbClr val="FE3F00"/>
              </a:solidFill>
              <a:latin typeface="Arial"/>
              <a:cs typeface="Arial"/>
            </a:endParaRPr>
          </a:p>
          <a:p>
            <a:pPr defTabSz="914492">
              <a:defRPr/>
            </a:pPr>
            <a:endParaRPr lang="pt-BR" sz="2000" b="1" dirty="0">
              <a:solidFill>
                <a:srgbClr val="22213A"/>
              </a:solidFill>
              <a:latin typeface="Arial"/>
              <a:cs typeface="Arial"/>
            </a:endParaRPr>
          </a:p>
          <a:p>
            <a:pPr marL="342900" indent="-342900" defTabSz="914492">
              <a:buFont typeface="Arial" panose="020B0604020202020204" pitchFamily="34" charset="0"/>
              <a:buChar char="•"/>
              <a:defRPr/>
            </a:pPr>
            <a:r>
              <a:rPr lang="pt-BR" sz="2000" b="1" dirty="0" smtClean="0">
                <a:solidFill>
                  <a:srgbClr val="22213A"/>
                </a:solidFill>
                <a:latin typeface="Arial"/>
                <a:cs typeface="Arial"/>
              </a:rPr>
              <a:t>Hoje </a:t>
            </a:r>
            <a:r>
              <a:rPr lang="pt-BR" sz="2000" b="1" dirty="0">
                <a:solidFill>
                  <a:srgbClr val="22213A"/>
                </a:solidFill>
                <a:latin typeface="Arial"/>
                <a:cs typeface="Arial"/>
              </a:rPr>
              <a:t>não entraremos em conteúdo técnico</a:t>
            </a:r>
          </a:p>
          <a:p>
            <a:pPr marL="342900" indent="-342900" defTabSz="914492">
              <a:buFont typeface="Arial" panose="020B0604020202020204" pitchFamily="34" charset="0"/>
              <a:buChar char="•"/>
              <a:defRPr/>
            </a:pPr>
            <a:r>
              <a:rPr lang="pt-BR" sz="2000" b="1" dirty="0" smtClean="0">
                <a:solidFill>
                  <a:srgbClr val="22213A"/>
                </a:solidFill>
                <a:latin typeface="Arial"/>
                <a:cs typeface="Arial"/>
              </a:rPr>
              <a:t>Objetivo</a:t>
            </a:r>
            <a:r>
              <a:rPr lang="pt-BR" sz="2000" b="1" dirty="0">
                <a:solidFill>
                  <a:srgbClr val="22213A"/>
                </a:solidFill>
                <a:latin typeface="Arial"/>
                <a:cs typeface="Arial"/>
              </a:rPr>
              <a:t>: alinhar como a jornada será organizada</a:t>
            </a:r>
          </a:p>
          <a:p>
            <a:pPr defTabSz="914492">
              <a:defRPr/>
            </a:pPr>
            <a:endParaRPr lang="pt-BR" sz="2000" b="1" dirty="0" smtClean="0">
              <a:solidFill>
                <a:srgbClr val="22213A"/>
              </a:solidFill>
              <a:latin typeface="Arial"/>
              <a:cs typeface="Arial"/>
            </a:endParaRPr>
          </a:p>
          <a:p>
            <a:pPr defTabSz="914492">
              <a:defRPr/>
            </a:pPr>
            <a:endParaRPr lang="pt-BR" sz="2000" b="1" dirty="0" smtClean="0">
              <a:solidFill>
                <a:srgbClr val="22213A"/>
              </a:solidFill>
              <a:latin typeface="Arial"/>
              <a:cs typeface="Arial"/>
            </a:endParaRPr>
          </a:p>
          <a:p>
            <a:pPr defTabSz="914492">
              <a:defRPr/>
            </a:pPr>
            <a:r>
              <a:rPr lang="pt-BR" sz="2000" b="1" dirty="0" smtClean="0">
                <a:solidFill>
                  <a:srgbClr val="00B0F0"/>
                </a:solidFill>
                <a:latin typeface="Arial"/>
                <a:cs typeface="Arial"/>
              </a:rPr>
              <a:t>A </a:t>
            </a:r>
            <a:r>
              <a:rPr lang="pt-BR" sz="2000" b="1" dirty="0">
                <a:solidFill>
                  <a:srgbClr val="00B0F0"/>
                </a:solidFill>
                <a:latin typeface="Arial"/>
                <a:cs typeface="Arial"/>
              </a:rPr>
              <a:t>combinação ideal:</a:t>
            </a:r>
          </a:p>
          <a:p>
            <a:pPr lvl="2" defTabSz="914492">
              <a:defRPr/>
            </a:pPr>
            <a:r>
              <a:rPr lang="pt-BR" sz="2000" b="1" dirty="0">
                <a:solidFill>
                  <a:srgbClr val="22213A"/>
                </a:solidFill>
                <a:latin typeface="Arial"/>
                <a:cs typeface="Arial"/>
              </a:rPr>
              <a:t>Curso GREEN + Estudo Individual + Grupo de Apoio</a:t>
            </a:r>
          </a:p>
          <a:p>
            <a:pPr marL="342900" indent="-342900" defTabSz="914492">
              <a:buFont typeface="Arial" panose="020B0604020202020204" pitchFamily="34" charset="0"/>
              <a:buChar char="•"/>
              <a:defRPr/>
            </a:pPr>
            <a:r>
              <a:rPr lang="pt-BR" sz="2000" b="1" dirty="0" smtClean="0">
                <a:solidFill>
                  <a:srgbClr val="22213A"/>
                </a:solidFill>
                <a:latin typeface="Arial"/>
                <a:cs typeface="Arial"/>
              </a:rPr>
              <a:t>Essa </a:t>
            </a:r>
            <a:r>
              <a:rPr lang="pt-BR" sz="2000" b="1" dirty="0">
                <a:solidFill>
                  <a:srgbClr val="22213A"/>
                </a:solidFill>
                <a:latin typeface="Arial"/>
                <a:cs typeface="Arial"/>
              </a:rPr>
              <a:t>estrutura aumenta muito as chances de aprovação</a:t>
            </a:r>
          </a:p>
          <a:p>
            <a:pPr defTabSz="914492">
              <a:defRPr/>
            </a:pPr>
            <a:endParaRPr lang="pt-BR" sz="2000" b="1" dirty="0" smtClean="0">
              <a:solidFill>
                <a:srgbClr val="22213A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367802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C48B8B-EAB4-0CDC-0F5A-AD1D85EBF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7">
            <a:extLst>
              <a:ext uri="{FF2B5EF4-FFF2-40B4-BE49-F238E27FC236}">
                <a16:creationId xmlns:a16="http://schemas.microsoft.com/office/drawing/2014/main" id="{5FEC7DD1-E5C0-EADA-FC97-86D290F3BC1A}"/>
              </a:ext>
            </a:extLst>
          </p:cNvPr>
          <p:cNvSpPr txBox="1"/>
          <p:nvPr/>
        </p:nvSpPr>
        <p:spPr>
          <a:xfrm>
            <a:off x="6296096" y="5801278"/>
            <a:ext cx="1066167" cy="24962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270"/>
              </a:lnSpc>
              <a:spcBef>
                <a:spcPct val="0"/>
              </a:spcBef>
            </a:pPr>
            <a:r>
              <a:rPr lang="pt-BR" sz="800" spc="272" noProof="0">
                <a:solidFill>
                  <a:srgbClr val="1C1C37"/>
                </a:solidFill>
                <a:latin typeface="Aptos Narrow" panose="020B0004020202020204" pitchFamily="34" charset="0"/>
                <a:ea typeface="Poppins"/>
                <a:cs typeface="Arial"/>
                <a:sym typeface="Poppins"/>
              </a:rPr>
              <a:t>P2025XXX</a:t>
            </a:r>
            <a:endParaRPr lang="pt-BR" sz="800" spc="272" noProof="0">
              <a:solidFill>
                <a:srgbClr val="F6F6F6"/>
              </a:solidFill>
              <a:latin typeface="Aptos Narrow" panose="020B0004020202020204" pitchFamily="34" charset="0"/>
              <a:ea typeface="Poppins"/>
              <a:cs typeface="Arial"/>
              <a:sym typeface="Poppins"/>
            </a:endParaRPr>
          </a:p>
        </p:txBody>
      </p:sp>
      <p:sp>
        <p:nvSpPr>
          <p:cNvPr id="2" name="TextBox 11">
            <a:extLst>
              <a:ext uri="{FF2B5EF4-FFF2-40B4-BE49-F238E27FC236}">
                <a16:creationId xmlns:a16="http://schemas.microsoft.com/office/drawing/2014/main" id="{1C7BBA49-065A-BDB9-7028-AB9B886296E0}"/>
              </a:ext>
            </a:extLst>
          </p:cNvPr>
          <p:cNvSpPr txBox="1"/>
          <p:nvPr/>
        </p:nvSpPr>
        <p:spPr>
          <a:xfrm>
            <a:off x="4790095" y="2984500"/>
            <a:ext cx="489807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900" b="1" dirty="0">
                <a:solidFill>
                  <a:srgbClr val="FFFFFF"/>
                </a:solidFill>
                <a:latin typeface="Arial"/>
                <a:cs typeface="Arial"/>
                <a:sym typeface="Poppins"/>
              </a:rPr>
              <a:t>Obrigado!</a:t>
            </a:r>
            <a:endParaRPr lang="pt-BR" sz="2900" b="1" dirty="0">
              <a:solidFill>
                <a:srgbClr val="FF5315"/>
              </a:solidFill>
              <a:latin typeface="Arial"/>
              <a:cs typeface="Arial"/>
              <a:sym typeface="Poppins"/>
            </a:endParaRPr>
          </a:p>
        </p:txBody>
      </p:sp>
      <p:sp>
        <p:nvSpPr>
          <p:cNvPr id="3" name="TextBox 11">
            <a:extLst>
              <a:ext uri="{FF2B5EF4-FFF2-40B4-BE49-F238E27FC236}">
                <a16:creationId xmlns:a16="http://schemas.microsoft.com/office/drawing/2014/main" id="{7CD9C8A0-D948-60E1-05D8-EF2FCB9D3F9C}"/>
              </a:ext>
            </a:extLst>
          </p:cNvPr>
          <p:cNvSpPr txBox="1"/>
          <p:nvPr/>
        </p:nvSpPr>
        <p:spPr>
          <a:xfrm>
            <a:off x="652883" y="5431946"/>
            <a:ext cx="4898075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600" b="1" dirty="0" smtClean="0">
                <a:solidFill>
                  <a:srgbClr val="FFFFFF"/>
                </a:solidFill>
                <a:latin typeface="Arial"/>
                <a:cs typeface="Arial"/>
                <a:sym typeface="Poppins"/>
              </a:rPr>
              <a:t>Nome: Alessandro Lyra</a:t>
            </a:r>
            <a:endParaRPr lang="pt-BR" sz="1600" b="1" dirty="0">
              <a:solidFill>
                <a:srgbClr val="FFFFFF"/>
              </a:solidFill>
              <a:latin typeface="Arial"/>
              <a:cs typeface="Arial"/>
              <a:sym typeface="Poppins"/>
            </a:endParaRPr>
          </a:p>
          <a:p>
            <a:r>
              <a:rPr lang="pt-BR" sz="1600" b="1" dirty="0" smtClean="0">
                <a:solidFill>
                  <a:srgbClr val="FFFFFF"/>
                </a:solidFill>
                <a:latin typeface="Arial"/>
                <a:cs typeface="Arial"/>
                <a:sym typeface="Poppins"/>
              </a:rPr>
              <a:t>Cargo: Architect Cloud</a:t>
            </a:r>
            <a:endParaRPr lang="pt-BR" sz="1600" dirty="0">
              <a:solidFill>
                <a:srgbClr val="FFFFFF"/>
              </a:solidFill>
              <a:latin typeface="Arial"/>
              <a:cs typeface="Arial"/>
              <a:sym typeface="Poppins"/>
            </a:endParaRPr>
          </a:p>
          <a:p>
            <a:endParaRPr lang="pt-BR" sz="1600" dirty="0">
              <a:solidFill>
                <a:srgbClr val="FF5315"/>
              </a:solidFill>
              <a:latin typeface="Arial"/>
              <a:cs typeface="Arial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36448663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b50e1f8-3a33-4ed9-ad1a-531984fbc799" xsi:nil="true"/>
    <lcf76f155ced4ddcb4097134ff3c332f xmlns="5d1a5361-41e9-4921-8369-c87a7cd8d5ee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971FEC34047B6469A3845923E2A7BA5" ma:contentTypeVersion="11" ma:contentTypeDescription="Crie um novo documento." ma:contentTypeScope="" ma:versionID="dbc0c853e42d7acb7ca926c231e790f1">
  <xsd:schema xmlns:xsd="http://www.w3.org/2001/XMLSchema" xmlns:xs="http://www.w3.org/2001/XMLSchema" xmlns:p="http://schemas.microsoft.com/office/2006/metadata/properties" xmlns:ns2="5d1a5361-41e9-4921-8369-c87a7cd8d5ee" xmlns:ns3="7b50e1f8-3a33-4ed9-ad1a-531984fbc799" targetNamespace="http://schemas.microsoft.com/office/2006/metadata/properties" ma:root="true" ma:fieldsID="b8f6fa299b25e7668f44a7715788ec21" ns2:_="" ns3:_="">
    <xsd:import namespace="5d1a5361-41e9-4921-8369-c87a7cd8d5ee"/>
    <xsd:import namespace="7b50e1f8-3a33-4ed9-ad1a-531984fbc79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1a5361-41e9-4921-8369-c87a7cd8d5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Marcações de imagem" ma:readOnly="false" ma:fieldId="{5cf76f15-5ced-4ddc-b409-7134ff3c332f}" ma:taxonomyMulti="true" ma:sspId="b5d30a5a-d7c7-450e-8bdd-23f2a2888af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50e1f8-3a33-4ed9-ad1a-531984fbc799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bd4a3c61-8042-4e75-9d66-eb90addbe22f}" ma:internalName="TaxCatchAll" ma:showField="CatchAllData" ma:web="7b50e1f8-3a33-4ed9-ad1a-531984fbc79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C140CFD-602C-4100-8347-88E055AE4800}">
  <ds:schemaRefs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purl.org/dc/terms/"/>
    <ds:schemaRef ds:uri="5d1a5361-41e9-4921-8369-c87a7cd8d5ee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7b50e1f8-3a33-4ed9-ad1a-531984fbc799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CB0F62E2-FE5F-4D23-B0C2-9152BF2B4BB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F95BDF2-6783-41B8-8883-4E0F389AE1E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d1a5361-41e9-4921-8369-c87a7cd8d5ee"/>
    <ds:schemaRef ds:uri="7b50e1f8-3a33-4ed9-ad1a-531984fbc79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984</TotalTime>
  <Words>232</Words>
  <Application>Microsoft Office PowerPoint</Application>
  <PresentationFormat>Widescreen</PresentationFormat>
  <Paragraphs>54</Paragraphs>
  <Slides>6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5" baseType="lpstr">
      <vt:lpstr>Aptos</vt:lpstr>
      <vt:lpstr>Aptos Display</vt:lpstr>
      <vt:lpstr>Aptos Narrow</vt:lpstr>
      <vt:lpstr>Arial</vt:lpstr>
      <vt:lpstr>Calibri</vt:lpstr>
      <vt:lpstr>Poppins</vt:lpstr>
      <vt:lpstr>Poppins Bold</vt:lpstr>
      <vt:lpstr>Segoe UI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Alessandro Lisboa de lyra</dc:creator>
  <cp:lastModifiedBy>Alessandro Lisboa de lyra</cp:lastModifiedBy>
  <cp:revision>44</cp:revision>
  <dcterms:created xsi:type="dcterms:W3CDTF">2025-09-19T14:53:15Z</dcterms:created>
  <dcterms:modified xsi:type="dcterms:W3CDTF">2026-02-12T12:21:00Z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0x0101000971FEC34047B6469A3845923E2A7BA5</vt:lpwstr>
  </property>
  <property fmtid="{D5CDD505-2E9C-101B-9397-08002B2CF9AE}" pid="3" name="MediaServiceImageTags">
    <vt:lpwstr/>
  </property>
</Properties>
</file>